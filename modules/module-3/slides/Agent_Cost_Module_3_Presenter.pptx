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 Script" id="{75d8bb20-d8f5-bf3d-1316-810556966d95}">
          <p14:sldIdLst>
            <p14:sldId id="256"/>
            <p14:sldId id="257"/>
            <p14:sldId id="258"/>
          </p14:sldIdLst>
        </p14:section>
        <p14:section name="Setup · Script" id="{63952f82-d4de-d647-99e1-a344b0698e53}">
          <p14:sldIdLst>
            <p14:sldId id="259"/>
            <p14:sldId id="260"/>
          </p14:sldIdLst>
        </p14:section>
        <p14:section name="01 · Script" id="{0f0b04b4-d695-3122-790d-a7e83337104d}">
          <p14:sldIdLst>
            <p14:sldId id="261"/>
            <p14:sldId id="262"/>
            <p14:sldId id="263"/>
          </p14:sldIdLst>
        </p14:section>
        <p14:section name="01 · iPad" id="{06260768-61c4-521d-e27a-cc2f076b26e4}">
          <p14:sldIdLst>
            <p14:sldId id="264"/>
          </p14:sldIdLst>
        </p14:section>
        <p14:section name="02 · Script" id="{ed6424b8-8b9b-fc66-9ed8-8095e3f388e9}">
          <p14:sldIdLst>
            <p14:sldId id="265"/>
            <p14:sldId id="266"/>
            <p14:sldId id="267"/>
          </p14:sldIdLst>
        </p14:section>
        <p14:section name="02 · iPad" id="{b43a88ba-d86d-d23a-b001-284143c9237d}">
          <p14:sldIdLst>
            <p14:sldId id="268"/>
          </p14:sldIdLst>
        </p14:section>
        <p14:section name="03 · Script" id="{8283e892-acb0-62a3-f1c1-4818692199e6}">
          <p14:sldIdLst>
            <p14:sldId id="269"/>
            <p14:sldId id="270"/>
            <p14:sldId id="271"/>
          </p14:sldIdLst>
        </p14:section>
        <p14:section name="03 · iPad" id="{ebb8b28f-db8c-f3fe-6644-39b1121811bc}">
          <p14:sldIdLst>
            <p14:sldId id="272"/>
          </p14:sldIdLst>
        </p14:section>
        <p14:section name="04 · Script" id="{59bdd29a-4fec-8ee3-d9fb-0011cae0111f}">
          <p14:sldIdLst>
            <p14:sldId id="273"/>
            <p14:sldId id="274"/>
            <p14:sldId id="275"/>
          </p14:sldIdLst>
        </p14:section>
        <p14:section name="04 · iPad" id="{4c778c19-4867-7c27-ef02-2875df02c3b9}">
          <p14:sldIdLst>
            <p14:sldId id="276"/>
          </p14:sldIdLst>
        </p14:section>
        <p14:section name="05 · Script" id="{db1bfda8-ae31-3b56-1584-027598936822}">
          <p14:sldIdLst>
            <p14:sldId id="277"/>
            <p14:sldId id="278"/>
            <p14:sldId id="279"/>
          </p14:sldIdLst>
        </p14:section>
        <p14:section name="05 · iPad" id="{ed1c16e6-f68b-e574-f3b0-68e5bd59d6ae}">
          <p14:sldIdLst>
            <p14:sldId id="280"/>
          </p14:sldIdLst>
        </p14:section>
        <p14:section name="06 · Script" id="{03c75aab-f2a4-4d85-5257-dc9989f64580}">
          <p14:sldIdLst>
            <p14:sldId id="281"/>
            <p14:sldId id="282"/>
          </p14:sldIdLst>
        </p14:section>
        <p14:section name="06 · Terminal (VS Code)" id="{a5e01468-cb8b-b372-5f9e-a9358b42c80c}">
          <p14:sldIdLst>
            <p14:sldId id="283"/>
            <p14:sldId id="284"/>
            <p14:sldId id="285"/>
            <p14:sldId id="286"/>
            <p14:sldId id="287"/>
          </p14:sldIdLst>
        </p14:section>
        <p14:section name="Wrap-up · Script" id="{7d671159-8068-235f-cffa-7f660b23f43c}">
          <p14:sldIdLst>
            <p14:sldId id="288"/>
            <p14:sldId id="289"/>
            <p14:sldId id="290"/>
          </p14:sldIdLst>
        </p14:section>
        <p14:section name="Appendix · Reference" id="{c7ec3023-de2d-de42-a76f-82136ab43662}">
          <p14:sldIdLst>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let you see the money leaving. This one stops it. A hard limit that fires by itself at three in the morning, a switch you can flip in seconds, and a decision about what should happen when the money runs out; made now, while you are calm.
[Presenter: Emmanuel Naweji · Runtime ~50 min · 6 sections · Course repo github.com/Here2ServeU/agent-cost-control]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module two we started writing receipts. You can now see the money leaving. That is genuinely useful, and it is not enough, because seeing something happen is not the same as stopping it. Today we stop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to 5 make the decisions; section 6 builds all of it into the envelope from module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Module three adds no new tools. You need the same machine you set up for module one, the virtual environment from module two, and the envelope you built there; everything today goes inside that envelope. The caps and the switch are environment variables to start with, and the daily total needs somewhere that survives between runs: a small file is enough, or Redis if you already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If your machine is not set up yet, stop here and watch the video for your computer. The Mac one is youtu.be/8ZIiXg4XOY0; the Windows one is youtu.be/3e2-GRBibWc. Both walk you through Git, Python and Visual Studio Code from a blank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idea, and there is nothing clever about it. A cap is a coin 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idea, and there is nothing clever about it. A cap is a coin meter.
If you have ever used an old electricity meter, you know how this works. You put in what you are willing to spend. The meter counts down as you use it. When it reaches zero, the power stops. It does not ask you. It does not wait for you to notice. It just stops.
That is exactly what we are building for your agent. You decide in advance how much one task is allowed to cost. The agent spends against that number. When it runs out, the agent stops. At three in the morning. With nobody watching. Which is precisely when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 is a decision you make once, in advance, while you are calm. You have time to think about it. Nothing is on fire. You can talk to someone about it, look at your own numbers from module two, and pick a sensible figure.
The alternative is making the same decision at three in the morning, in a panic, after the money has already gone. It is the same decision either way; how much is this worth? But the conditions are very different.
Some people resist caps because they worry about blocking real work. That is a fair worry, and it is why we spend a whole section later on what should happen when the limit is reached. But here is the thing to hold onto: you already have a limit. It is whatever your company can afford before somebody gets very upset. You just have not written it down, and nothing is enforcing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meter with the draining bar, then the stop, then the contrast panel.
SAY:
Let's draw the meter, because it makes the shape of this obvious. The bar only drains. Nothing tops it up mid-run.
THEN SAY:
That last box is the one I would keep. Every argument you will have about caps, and you will have some, comes back to it. Nobody is against limits in principle. They are against limits chosen badly. So choose them carefully now, with the numbers you collected in module two in front of you, and the conversation is much easier.
→ Next: where to put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want a limit. Where does it actually live? There are three places, and each one can see something the others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place is inside the agent itself. This is the closest to the work. As the agent runs, it keeps a tally of what it has spent so far on this one task, and checks it before each step. What it sees: this task, step by step, in detail. What it cannot see: anything else; it has no idea what the other agents are doing right now, or what this agent spent yesterday.
The second place is the gateway. A gateway is a shared front door; one service that all your agents send their model calls through. If you do not have one, that is fine, it is a thing you can add later. What it sees: every agent, every team, and the whole day. What it cannot see: what any single run is trying to do.
The third place is the provider itself. Most model providers let you set a spending limit on the account or the API key. What it sees: the whole bill, the whole month. What it cannot see: anything about your business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use more than one? Because each catches a failure the others miss.
One task goes mad and loops forever; the agent's own cap catches that, because it can see the steps piling up. But fifty tasks that each behave perfectly well, and together blow the monthly budget; the agent cap never fires, because no individual run did anything wrong. That needs the gateway. And then somebody deploys a new agent that nobody remembered to cap. Only the provider limit catches that one, because it is the only thing that does not need to know the agent exists.
One gate is much better than none. Three gates is how you sleep.
If you only have time to build one, build the first: the cap inside the agent. It is the easiest, it needs no new infrastructure, and it catches the runaway loop, which is the failure that costs the most and happens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Three columns at the top, then the three failure cases underneath.
SAY:
Let's draw all three, with what each one can and cannot see. Each column has a blind spot. The three blind spots do not overlap.
THEN SAY:
If you only have time to build one of these, build the first, the cap inside the agent. It is the easiest, it needs no new infrastructure, and it catches the runaway loop, which is the failure that costs the most and happens most often. The other two are worth adding, and they can wait.
→ Next: the decision most people forget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people skip, and skipping it causes real problems. The budget runs out. Now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is stop. The task fails, and the caller gets a clear message saying the budget ran out. Not a crash, not a timeout; a proper message explaining exactly what happened. Use this when a wrong answer is worse than no answer: fraud, medical notes, contracts. Half an answer is dangerous.
The second is degrade. Instead of failing, give a cheaper answer. Switch to a smaller model, return a simpler result, or serve something from a cache. Use this when something is better than nothing: search results, summaries, suggestions.
The third is queue. Put the task aside and run it later, when the budget refills, usually at midnight. Use this when the work genuinely matters but the timing does not: overnight reports, batch jobs, backfills.
One practical note: you can use different answers in different places. A run-level cap might degrade while a daily team cap stops. That is completely fine, and often correct; just make each choice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fourth thing that can happen, and you get it by not choosing.
If you add a cap without deciding what it does, then what happens is: the agent runs out of budget in the middle of a thought, crashes in some way nobody planned for, and leaves half-finished work behind with no message explaining anything. Somebody then spends an afternoon working out why. And the honest answer, that you added a limit and never decided what it should do, is a bad answer to have to give.
So pick one of the three. On purpose. Before you ship it. And write down which one you picked and why, because the next person will want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Three option cards, then the fourth-option panel underneath; that panel is the point of the section.
SAY:
Let's draw the three choices, and then the fourth one that you get for free if you do not choose.
THEN SAY:
I have seen that fourth box happen more often than any of the three deliberate ones, and always for the same reason. Somebody adds a limit late on a Friday, it works in testing because testing never hits the limit, and then three weeks later it fires in production and behaves in a way nobody has thought about. Ten minutes of deciding now prevents all of it.
→ Next: the switch you flip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 handle the problems you predicted. Now we need something for the ones you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kill switch is one setting you can change by hand, in seconds, that stops the agent taking new work. Not a code change. Not a deployment. One setting.
Why does that matter so much? Because when something is going wrong, the slowest part is almost never deciding what to do. It is doing it. If turning an agent off means editing code, getting a review, waiting for a build and a deploy, that is twenty minutes on a good day. On a bad day the person who knows how is asleep. A switch you can flip removes all of that.
One practical suggestion about where the switch lives. Put it somewhere a person can reach without needing your help: an environment variable they can change, a row in a small table, a feature flag if you already have that system. The whole value is that someone other than you can use it, at a time when you are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already running is allowed to finish. This one surprises people, so let me explain it properly. Say nine tasks are in flight and each is ninety percent done. If you kill everything instantly, you have paid for all of that work and thrown every bit of it away. You will pay for it again when you restart, because they all have to begin from the beginning. Letting them finish costs you the last ten percent. Killing them costs you the whole hundred, twice.
Stopping new work while letting current work finish has a name: draining. You will hear it constantly around deployments and shutdowns, and it means exactly this.
One caution, and it is a real one. A kill switch you have never tested is not a kill switch; it is a hope. The first time you flip it must not be during an actual incident. We test it in section five, deliberately, while everything is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Switch on the left, effects on the right, then the draining comparison underneath.
SAY:
Let's draw the switch and, more importantly, what it does to work that is already running.
THEN SAY:
One practical suggestion about where the switch lives. Put it somewhere a person can reach without needing your help: an environment variable they can change, a row in a small table, a feature flag if you already have that system. The whole value is that someone other than you can use it, at a time when you are not available.
→ Next: break it all, on purpose,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have built today is safety equipment. And safety equipment that has never been tested is just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one: spend past the run cap. Set the cap very low and run one normal task. Three things should happen. It should stop. It should tell you why. And it should not crash. That last one matters; a cap that stops the agent with a stack trace is barely better than no cap.
Test two: spend past the daily cap. Run enough tasks to exhaust a whole day's budget. The next task should be refused clearly; not silently queued, not hung waiting, not passed through anyway. Whatever you chose in section three should be what actually happens.
Test three: flip the kill switch while work is running. Start several tasks, and while they are in flight, turn the switch off. The running tasks should finish. New ones should be refused. If running tasks die instead, your draining is not working, and you have just learned that at zero cost.
Test four: take the malformed input from module one and run it now, with the caps in place.
Write down what actually happened in each test, not what you expected. If any of the four behaved differently from the plan, that is the most valuable thing you will learn all week, and you learned it on a quiet afternoon rather than during an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test four, which is the one I most want you to actually run. Take the malformed input from module one, the one you extrapolated an overnight cost for, and run it now, with the caps in place. It should stop in seconds.
Same input. Same agent. Same model. In module one it was a number that made you uncomfortable. Now it stops by itself, immediately, and tells you why. That is the whole course working, in front of you, in about ten seconds. I would genuinely encourage you to record it, because it is also the single best thing you can show someone when you are explaining why this work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Four numbered rows, then the payoff panel for test four.
SAY:
Let's write down the four tests, with what should happen in each. Do these today. Not when something is wrong.
THEN SAY:
Write down what actually happened in each test, not what you expected. If any of the four behaved differently from the plan, that is the most valuable thing you will learn all week, and you learned it on a quiet afternoon rather than during an incident.
→ Last section: build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adding three things to the envelope we built in module two: a per-run cap, a daily cap, and a kill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adding three things to the envelope we built in module two: a per-run cap, a daily cap, and a kill switch. Five stages, running after each one. Everything goes in the envelope. We are still not touching the agent's own logic.
Production note — Build in an editor with a terminal beside it. Stage 4 is the payoff; let the output sit on screen before narrating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one: the per-run cap. In your envelope, keep a running total of what this run has spent so far. Before each model call, check it against a limit you set as a constant. If the run has already spent more than the limit, raise a clear custom exception; give it a name like BudgetExceeded rather than a generic error.
Two cents is deliberately too low, so a normal task trips it. You should see the run stop partway through with your own message. Read that message as if you were someone else finding it in a log: does it tell you what happened and what to do? If not, rewrite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two: decide what happens. Right now it just raises an exception. Catch it at the top of your agent and implement the behaviour you chose in section three. For most learners, stop is the right first choice; return a clear result saying the task could not be completed because the budget was reached.
Same trip, but now it is a controlled stop with a proper result rather than an exception escaping. That difference is the whole of section three,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three: the daily cap. This one needs memory that survives between runs, because a single run does not know what happened earlier today. Use a small file, or Redis if you already have it. Before starting a run, read today's total; if it is over the daily limit, refuse before doing any work at all.
Run that four or five times in a row. The first few should work. Then one should be refused before it makes a single model call, which is the point, because refusing early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four, and this is the one to watch. Run the malformed input, capped. Keep the timeout on as a backstop, but it should not be needed.
It stopped. By itself, in seconds, at a cost you chose in advance. Compare that to the number you extrapolated in module one and sit with the difference for a moment; that gap is what you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five: the kill switch. Add a setting the envelope checks before starting any new run; an environment variable is fine to start with. If it is off, refuse new work immediately, but let anything already running continue to completion.
Refused instantly, with a clear message, having spent nothing. Now start several runs in the background, flip the setting while they are in flight, and confirm the running ones finish while new ones are refused. That is draining,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module three, and it is the biggest change in the course.
Your agent now has a limit on what one task may cost, a limit on what a whole day may cost, and a switch anyone can flip to stop it taking new work. Each of those behaves in a way you chose deliberately rather than by accident. And you have tested all of them while nothing was wrong.
The runaway from module one, the one with the number attached that made you uncomfortable, now stops on its own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name what is still missing, though, because it is genuinely the next most valuable thing.
Right now, when a run hits its cap, everything it had done is thrown away. If it was on step eleven of twelve, you paid for eleven steps and got nothing. The cap stopped the bleeding, but it did not save any of the work. And a run that fails and gets retried starts again from the beginning. Every time.
That is module four: loops, retries, and the cost of failure. It is where the largest savings in this entire course are, and they do not come from a cheaper model. They come from not paying twice for the same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module four: loops, retries, and the cost of failure. It is where the largest savings in this entire course are, and they do not come from a cheaper model. They come from not paying twice for the same work.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exercises before module 4.
1. Choose your numbers, with reasons. Using your own data from module 2, write down a per-run cap and a daily cap. Beside each, one sentence saying why that number. If you cannot justify it, it is a guess.
2. Build the per-run cap. Running total and the check in the envelope. A named exception, not a generic one. Test with a deliberately tiny limit.
3. Read your own error message. Trip the cap, then read the message as a stranger finding it in a log at 3am. Rewrite until it says what happened and what to do.
4. Pick a behaviour and implement it: stop, degrade or queue. Write down which and why before you code it. A controlled result, not an escaping exception.
5. Build the daily cap. Store today's total somewhere that survives between runs. Confirm a refused run makes zero model calls.
6. Run the fire drill: all four tests from section 5. Write down what actually happened.
7. Cap the runaway. Record how long it takes to stop and what it cost; compare with your module 1 extrapolation. Keep both numbers.
8. Hand the switch to someone else. Write a three-line note telling a colleague how to turn the agent off, and have them do it without your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Cap (budget limit) — A maximum decided in advance. Like a coin meter: when it runs out, things stop, with no human needed.
02 Per-run cap — The most one single task may cost. Catches the runaway loop, because it sees steps piling up.
03 Daily cap — The most a whole day may cost across all runs. Catches many well-behaved runs that add up.
04 The three gates — Inside the agent, at the gateway, at the provider. Each has a blind spot the others cover.
05 Gateway — A shared front door all agents send model calls through. The only place that sees everything now.
06 Stop / degrade / queue — The three deliberate answers at the cap: refuse clearly, answer cheaply, or set it aside.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The fourth option — What you get by not choosing: a crash mid-thought, half-finished work, no explanation.
08 Kill switch — One setting changed by hand, in seconds, with no deployment, that stops new work.
09 Draining — Stopping new work while current work finishes. Killing nine 90% runs means paying twice.
10 Named exception — An error with its own name, like BudgetExceeded, so your code can handle that exact case.
11 Refusing early — Checking the daily cap before any model call, so a refused run costs nothing at all.
12 Fire drill — Testing safety equipment deliberately while nothing is wrong. Untested equipment is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RUN_BUDGET_USD=0.02 python3 run_agent.py … : Set an environment variable for one command only, then run the agent. The variable is gone afterwards.
DAILY_BUDGET_USD=0.10 python3 run_agent.py … : The same trick for the daily cap. Your envelope reads it when the run starts.
AGENT_ENABLED=false python3 run_agent.py … : The kill switch as an environment variable. Your envelope checks it before taking new work.
timeout 120 … : Stop the command after 120 seconds. Here it is only a backstop; the cap should fire first.
--input samples/malformed.json : A flag on the course script: the record the agent cannot process. Module 1's runaway.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NAME=value   /   $env:NAME="value" : Set a variable for the whole session: the first on Mac and Linux, the second in PowerShell.
echo $RUN_BUDGET_USD   /   echo $env:RUN_BUDGET_USD : Print a variable back, to check it is really set in this shell.
python3 run_agent.py … &amp; : A trailing ampersand runs it in the background, so you can start several and flip the switch.
jobs   /   Get-Job : List what you started in the background, to confirm the running ones finished.
BudgetExceeded : Not a command: the name you give your own exception, so your code can catch this exact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python.org/downloads" TargetMode="External"/><Relationship Id="rId4" Type="http://schemas.openxmlformats.org/officeDocument/2006/relationships/hyperlink" Target="https://docs.python.org/3/library/venv.html" TargetMode="External"/><Relationship Id="rId5" Type="http://schemas.openxmlformats.org/officeDocument/2006/relationships/hyperlink" Target="https://code.visualstudio.com/docs/python/environments" TargetMode="External"/><Relationship Id="rId6" Type="http://schemas.openxmlformats.org/officeDocument/2006/relationships/hyperlink" Target="https://redis.io/docs/latest/get-started"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3 OF 6</a:t>
            </a:r>
            <a:endParaRPr lang="en-US" sz="1100" dirty="0"/>
          </a:p>
        </p:txBody>
      </p:sp>
      <p:sp>
        <p:nvSpPr>
          <p:cNvPr id="3" name="Text 1"/>
          <p:cNvSpPr txBox="1"/>
          <p:nvPr/>
        </p:nvSpPr>
        <p:spPr>
          <a:xfrm>
            <a:off x="548640" y="1234440"/>
            <a:ext cx="7772400" cy="15544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Budget Caps and</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Kill Switches</a:t>
            </a:r>
            <a:endParaRPr lang="en-US" sz="4600" dirty="0"/>
          </a:p>
        </p:txBody>
      </p:sp>
      <p:sp>
        <p:nvSpPr>
          <p:cNvPr id="4" name="Text 2"/>
          <p:cNvSpPr txBox="1"/>
          <p:nvPr/>
        </p:nvSpPr>
        <p:spPr>
          <a:xfrm>
            <a:off x="548640" y="2880360"/>
            <a:ext cx="7772400" cy="64008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Module 2 let you see the money leaving. </a:t>
            </a:r>
            <a:pPr indent="0" marL="0">
              <a:buNone/>
            </a:pPr>
            <a:r>
              <a:rPr lang="en-US" sz="1800" b="1" dirty="0">
                <a:solidFill>
                  <a:srgbClr val="FFFFFF"/>
                </a:solidFill>
                <a:latin typeface="Calibri" pitchFamily="34" charset="0"/>
                <a:ea typeface="Calibri" pitchFamily="34" charset="-122"/>
                <a:cs typeface="Calibri" pitchFamily="34" charset="-120"/>
              </a:rPr>
              <a:t>This one stops it.</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~50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MODULE GIVES YOU</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400" b="1" dirty="0">
                <a:solidFill>
                  <a:srgbClr val="111827"/>
                </a:solidFill>
                <a:latin typeface="Cambria" pitchFamily="34" charset="0"/>
                <a:ea typeface="Cambria" pitchFamily="34" charset="-122"/>
                <a:cs typeface="Cambria" pitchFamily="34" charset="-120"/>
              </a:rPr>
              <a:t>Seeing something happen is not</a:t>
            </a:r>
            <a:endParaRPr lang="en-US" sz="3400" dirty="0"/>
          </a:p>
          <a:p>
            <a:pPr indent="0" marL="0">
              <a:buNone/>
            </a:pPr>
            <a:r>
              <a:rPr lang="en-US" sz="3400" b="1" dirty="0">
                <a:solidFill>
                  <a:srgbClr val="111827"/>
                </a:solidFill>
                <a:latin typeface="Cambria" pitchFamily="34" charset="0"/>
                <a:ea typeface="Cambria" pitchFamily="34" charset="-122"/>
                <a:cs typeface="Cambria" pitchFamily="34" charset="-120"/>
              </a:rPr>
              <a:t>the same as stopping it.</a:t>
            </a:r>
            <a:endParaRPr lang="en-US" sz="34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85800" y="2697480"/>
            <a:ext cx="384048" cy="384048"/>
          </a:xfrm>
          <a:prstGeom prst="roundRect">
            <a:avLst>
              <a:gd name="adj" fmla="val 19048"/>
            </a:avLst>
          </a:prstGeom>
          <a:solidFill>
            <a:srgbClr val="B91C1C"/>
          </a:solidFill>
          <a:ln w="12700">
            <a:solidFill>
              <a:srgbClr val="B91C1C"/>
            </a:solidFill>
            <a:prstDash val="solid"/>
          </a:ln>
        </p:spPr>
      </p:sp>
      <p:pic>
        <p:nvPicPr>
          <p:cNvPr id="8" name="Image 0" descr="preencoded.png">    </p:cNvPr>
          <p:cNvPicPr>
            <a:picLocks noChangeAspect="1"/>
          </p:cNvPicPr>
          <p:nvPr/>
        </p:nvPicPr>
        <p:blipFill>
          <a:blip r:embed="rId1"/>
          <a:stretch>
            <a:fillRect/>
          </a:stretch>
        </p:blipFill>
        <p:spPr>
          <a:xfrm>
            <a:off x="768096" y="2779776"/>
            <a:ext cx="219456" cy="219456"/>
          </a:xfrm>
          <a:prstGeom prst="rect">
            <a:avLst/>
          </a:prstGeom>
        </p:spPr>
      </p:pic>
      <p:sp>
        <p:nvSpPr>
          <p:cNvPr id="9" name="Text 6"/>
          <p:cNvSpPr txBox="1"/>
          <p:nvPr/>
        </p:nvSpPr>
        <p:spPr>
          <a:xfrm>
            <a:off x="68580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hard limit</a:t>
            </a:r>
            <a:endParaRPr lang="en-US" sz="1500" dirty="0"/>
          </a:p>
        </p:txBody>
      </p:sp>
      <p:sp>
        <p:nvSpPr>
          <p:cNvPr id="10" name="Text 7"/>
          <p:cNvSpPr txBox="1"/>
          <p:nvPr/>
        </p:nvSpPr>
        <p:spPr>
          <a:xfrm>
            <a:off x="68580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cap that fires by itself at three in the morning, with nobody watching.</a:t>
            </a:r>
            <a:endParaRPr lang="en-US" sz="1200" dirty="0"/>
          </a:p>
        </p:txBody>
      </p:sp>
      <p:sp>
        <p:nvSpPr>
          <p:cNvPr id="11"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2" name="Shape 9"/>
          <p:cNvSpPr/>
          <p:nvPr/>
        </p:nvSpPr>
        <p:spPr>
          <a:xfrm>
            <a:off x="3474720" y="2697480"/>
            <a:ext cx="384048" cy="384048"/>
          </a:xfrm>
          <a:prstGeom prst="roundRect">
            <a:avLst>
              <a:gd name="adj" fmla="val 19048"/>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3557016" y="2779776"/>
            <a:ext cx="219456" cy="219456"/>
          </a:xfrm>
          <a:prstGeom prst="rect">
            <a:avLst/>
          </a:prstGeom>
        </p:spPr>
      </p:pic>
      <p:sp>
        <p:nvSpPr>
          <p:cNvPr id="14" name="Text 10"/>
          <p:cNvSpPr txBox="1"/>
          <p:nvPr/>
        </p:nvSpPr>
        <p:spPr>
          <a:xfrm>
            <a:off x="347472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switch anyone can flip</a:t>
            </a:r>
            <a:endParaRPr lang="en-US" sz="1500" dirty="0"/>
          </a:p>
        </p:txBody>
      </p:sp>
      <p:sp>
        <p:nvSpPr>
          <p:cNvPr id="15" name="Text 11"/>
          <p:cNvSpPr txBox="1"/>
          <p:nvPr/>
        </p:nvSpPr>
        <p:spPr>
          <a:xfrm>
            <a:off x="347472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setting, changed by hand in seconds, with no deployment.</a:t>
            </a:r>
            <a:endParaRPr lang="en-US" sz="1200" dirty="0"/>
          </a:p>
        </p:txBody>
      </p:sp>
      <p:sp>
        <p:nvSpPr>
          <p:cNvPr id="16"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6263640" y="2697480"/>
            <a:ext cx="384048" cy="384048"/>
          </a:xfrm>
          <a:prstGeom prst="roundRect">
            <a:avLst>
              <a:gd name="adj" fmla="val 19048"/>
            </a:avLst>
          </a:prstGeom>
          <a:solidFill>
            <a:srgbClr val="047857"/>
          </a:solidFill>
          <a:ln w="12700">
            <a:solidFill>
              <a:srgbClr val="047857"/>
            </a:solidFill>
            <a:prstDash val="solid"/>
          </a:ln>
        </p:spPr>
      </p:sp>
      <p:pic>
        <p:nvPicPr>
          <p:cNvPr id="18" name="Image 2" descr="preencoded.png">    </p:cNvPr>
          <p:cNvPicPr>
            <a:picLocks noChangeAspect="1"/>
          </p:cNvPicPr>
          <p:nvPr/>
        </p:nvPicPr>
        <p:blipFill>
          <a:blip r:embed="rId3"/>
          <a:stretch>
            <a:fillRect/>
          </a:stretch>
        </p:blipFill>
        <p:spPr>
          <a:xfrm>
            <a:off x="6345936" y="2779776"/>
            <a:ext cx="219456" cy="219456"/>
          </a:xfrm>
          <a:prstGeom prst="rect">
            <a:avLst/>
          </a:prstGeom>
        </p:spPr>
      </p:pic>
      <p:sp>
        <p:nvSpPr>
          <p:cNvPr id="19" name="Text 14"/>
          <p:cNvSpPr txBox="1"/>
          <p:nvPr/>
        </p:nvSpPr>
        <p:spPr>
          <a:xfrm>
            <a:off x="626364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decision made calmly</a:t>
            </a:r>
            <a:endParaRPr lang="en-US" sz="1500" dirty="0"/>
          </a:p>
        </p:txBody>
      </p:sp>
      <p:sp>
        <p:nvSpPr>
          <p:cNvPr id="20" name="Text 1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happens when the money runs out, chosen now rather than in a panic.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habit: decide in advance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2606040" cy="1371600"/>
          </a:xfrm>
          <a:prstGeom prst="roundRect">
            <a:avLst>
              <a:gd name="adj" fmla="val 5333"/>
            </a:avLst>
          </a:prstGeom>
          <a:solidFill>
            <a:srgbClr val="F3F4F6"/>
          </a:solidFill>
          <a:ln w="12700">
            <a:solidFill>
              <a:srgbClr val="F3F4F6"/>
            </a:solidFill>
            <a:prstDash val="solid"/>
          </a:ln>
        </p:spPr>
      </p:sp>
      <p:sp>
        <p:nvSpPr>
          <p:cNvPr id="7" name="Text 5"/>
          <p:cNvSpPr txBox="1"/>
          <p:nvPr/>
        </p:nvSpPr>
        <p:spPr>
          <a:xfrm>
            <a:off x="68580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9" name="Text 7"/>
          <p:cNvSpPr txBox="1"/>
          <p:nvPr/>
        </p:nvSpPr>
        <p:spPr>
          <a:xfrm>
            <a:off x="68580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A Coin Meter</a:t>
            </a:r>
            <a:endParaRPr lang="en-US" sz="1400" dirty="0"/>
          </a:p>
        </p:txBody>
      </p:sp>
      <p:sp>
        <p:nvSpPr>
          <p:cNvPr id="10" name="Shape 8"/>
          <p:cNvSpPr/>
          <p:nvPr/>
        </p:nvSpPr>
        <p:spPr>
          <a:xfrm>
            <a:off x="3246120" y="1417320"/>
            <a:ext cx="2606040" cy="1371600"/>
          </a:xfrm>
          <a:prstGeom prst="roundRect">
            <a:avLst>
              <a:gd name="adj" fmla="val 5333"/>
            </a:avLst>
          </a:prstGeom>
          <a:solidFill>
            <a:srgbClr val="F3F4F6"/>
          </a:solidFill>
          <a:ln w="12700">
            <a:solidFill>
              <a:srgbClr val="F3F4F6"/>
            </a:solidFill>
            <a:prstDash val="solid"/>
          </a:ln>
        </p:spPr>
      </p:sp>
      <p:sp>
        <p:nvSpPr>
          <p:cNvPr id="11" name="Text 9"/>
          <p:cNvSpPr txBox="1"/>
          <p:nvPr/>
        </p:nvSpPr>
        <p:spPr>
          <a:xfrm>
            <a:off x="347472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3" name="Text 11"/>
          <p:cNvSpPr txBox="1"/>
          <p:nvPr/>
        </p:nvSpPr>
        <p:spPr>
          <a:xfrm>
            <a:off x="347472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Three Gates</a:t>
            </a:r>
            <a:endParaRPr lang="en-US" sz="1400" dirty="0"/>
          </a:p>
        </p:txBody>
      </p:sp>
      <p:sp>
        <p:nvSpPr>
          <p:cNvPr id="14" name="Shape 12"/>
          <p:cNvSpPr/>
          <p:nvPr/>
        </p:nvSpPr>
        <p:spPr>
          <a:xfrm>
            <a:off x="6035040" y="1417320"/>
            <a:ext cx="2606040" cy="1371600"/>
          </a:xfrm>
          <a:prstGeom prst="roundRect">
            <a:avLst>
              <a:gd name="adj" fmla="val 5333"/>
            </a:avLst>
          </a:prstGeom>
          <a:solidFill>
            <a:srgbClr val="F3F4F6"/>
          </a:solidFill>
          <a:ln w="12700">
            <a:solidFill>
              <a:srgbClr val="F3F4F6"/>
            </a:solidFill>
            <a:prstDash val="solid"/>
          </a:ln>
        </p:spPr>
      </p:sp>
      <p:sp>
        <p:nvSpPr>
          <p:cNvPr id="15" name="Text 13"/>
          <p:cNvSpPr txBox="1"/>
          <p:nvPr/>
        </p:nvSpPr>
        <p:spPr>
          <a:xfrm>
            <a:off x="626364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7" name="Text 15"/>
          <p:cNvSpPr txBox="1"/>
          <p:nvPr/>
        </p:nvSpPr>
        <p:spPr>
          <a:xfrm>
            <a:off x="626364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What Happens</a:t>
            </a:r>
            <a:endParaRPr lang="en-US" sz="1400" dirty="0"/>
          </a:p>
        </p:txBody>
      </p:sp>
      <p:sp>
        <p:nvSpPr>
          <p:cNvPr id="18" name="Shape 16"/>
          <p:cNvSpPr/>
          <p:nvPr/>
        </p:nvSpPr>
        <p:spPr>
          <a:xfrm>
            <a:off x="457200" y="2971800"/>
            <a:ext cx="2606040" cy="1371600"/>
          </a:xfrm>
          <a:prstGeom prst="roundRect">
            <a:avLst>
              <a:gd name="adj" fmla="val 5333"/>
            </a:avLst>
          </a:prstGeom>
          <a:solidFill>
            <a:srgbClr val="F3F4F6"/>
          </a:solidFill>
          <a:ln w="12700">
            <a:solidFill>
              <a:srgbClr val="F3F4F6"/>
            </a:solidFill>
            <a:prstDash val="solid"/>
          </a:ln>
        </p:spPr>
      </p:sp>
      <p:sp>
        <p:nvSpPr>
          <p:cNvPr id="19" name="Text 17"/>
          <p:cNvSpPr txBox="1"/>
          <p:nvPr/>
        </p:nvSpPr>
        <p:spPr>
          <a:xfrm>
            <a:off x="68580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1" name="Text 19"/>
          <p:cNvSpPr txBox="1"/>
          <p:nvPr/>
        </p:nvSpPr>
        <p:spPr>
          <a:xfrm>
            <a:off x="68580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Switch</a:t>
            </a:r>
            <a:endParaRPr lang="en-US" sz="1400" dirty="0"/>
          </a:p>
        </p:txBody>
      </p:sp>
      <p:sp>
        <p:nvSpPr>
          <p:cNvPr id="22" name="Shape 20"/>
          <p:cNvSpPr/>
          <p:nvPr/>
        </p:nvSpPr>
        <p:spPr>
          <a:xfrm>
            <a:off x="3246120" y="2971800"/>
            <a:ext cx="260604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347472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5" name="Text 23"/>
          <p:cNvSpPr txBox="1"/>
          <p:nvPr/>
        </p:nvSpPr>
        <p:spPr>
          <a:xfrm>
            <a:off x="347472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Fire Drill</a:t>
            </a:r>
            <a:endParaRPr lang="en-US" sz="1400" dirty="0"/>
          </a:p>
        </p:txBody>
      </p:sp>
      <p:sp>
        <p:nvSpPr>
          <p:cNvPr id="26" name="Shape 24"/>
          <p:cNvSpPr/>
          <p:nvPr/>
        </p:nvSpPr>
        <p:spPr>
          <a:xfrm>
            <a:off x="6035040" y="2971800"/>
            <a:ext cx="2606040" cy="1371600"/>
          </a:xfrm>
          <a:prstGeom prst="roundRect">
            <a:avLst>
              <a:gd name="adj" fmla="val 5333"/>
            </a:avLst>
          </a:prstGeom>
          <a:solidFill>
            <a:srgbClr val="111827"/>
          </a:solidFill>
          <a:ln w="12700">
            <a:solidFill>
              <a:srgbClr val="111827"/>
            </a:solidFill>
            <a:prstDash val="solid"/>
          </a:ln>
        </p:spPr>
      </p:sp>
      <p:sp>
        <p:nvSpPr>
          <p:cNvPr id="27" name="Text 25"/>
          <p:cNvSpPr txBox="1"/>
          <p:nvPr/>
        </p:nvSpPr>
        <p:spPr>
          <a:xfrm>
            <a:off x="6263640" y="315468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21868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~10 min</a:t>
            </a:r>
            <a:endParaRPr lang="en-US" sz="1100" dirty="0"/>
          </a:p>
        </p:txBody>
      </p:sp>
      <p:sp>
        <p:nvSpPr>
          <p:cNvPr id="29" name="Text 27"/>
          <p:cNvSpPr txBox="1"/>
          <p:nvPr/>
        </p:nvSpPr>
        <p:spPr>
          <a:xfrm>
            <a:off x="6263640" y="3721608"/>
            <a:ext cx="219456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python3 --version &amp;&amp; git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py --version; git --version</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3 ADDS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Your module 2 envelope</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everything is added inside it</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Environment variables</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the caps and the switch</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A small file or Redis</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so the daily total survives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Python</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1" name="Text 19">
            <a:hlinkClick r:id="rId3" tooltip=""/>
          </p:cNvPr>
          <p:cNvSpPr txBox="1"/>
          <p:nvPr/>
        </p:nvSpPr>
        <p:spPr>
          <a:xfrm>
            <a:off x="269748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python.org/downloads</a:t>
            </a:r>
            <a:endParaRPr lang="en-US" sz="8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Virtual environments</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venv how-to</a:t>
            </a:r>
            <a:endParaRPr lang="en-US" sz="900" dirty="0"/>
          </a:p>
        </p:txBody>
      </p:sp>
      <p:sp>
        <p:nvSpPr>
          <p:cNvPr id="25" name="Text 23">
            <a:hlinkClick r:id="rId4" tooltip=""/>
          </p:cNvPr>
          <p:cNvSpPr txBox="1"/>
          <p:nvPr/>
        </p:nvSpPr>
        <p:spPr>
          <a:xfrm>
            <a:off x="690372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docs.python.org/3/library/venv.html</a:t>
            </a:r>
            <a:endParaRPr lang="en-US" sz="8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Environment variables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How env vars work in VS Code</a:t>
            </a:r>
            <a:endParaRPr lang="en-US" sz="900" dirty="0"/>
          </a:p>
        </p:txBody>
      </p:sp>
      <p:sp>
        <p:nvSpPr>
          <p:cNvPr id="29" name="Text 27">
            <a:hlinkClick r:id="rId5" tooltip=""/>
          </p:cNvPr>
          <p:cNvSpPr txBox="1"/>
          <p:nvPr/>
        </p:nvSpPr>
        <p:spPr>
          <a:xfrm>
            <a:off x="269748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code.visualstudio.com/docs/python/environments</a:t>
            </a:r>
            <a:endParaRPr lang="en-US" sz="8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Redis, if you use it</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quick start</a:t>
            </a:r>
            <a:endParaRPr lang="en-US" sz="900" dirty="0"/>
          </a:p>
        </p:txBody>
      </p:sp>
      <p:sp>
        <p:nvSpPr>
          <p:cNvPr id="33" name="Text 31">
            <a:hlinkClick r:id="rId6" tooltip=""/>
          </p:cNvPr>
          <p:cNvSpPr txBox="1"/>
          <p:nvPr/>
        </p:nvSpPr>
        <p:spPr>
          <a:xfrm>
            <a:off x="690372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redis.io/docs/latest/get-started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Cap Is a Coin Meter</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A COIN METER</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Put in what you are willing to spend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457200" y="1188720"/>
            <a:ext cx="4023360" cy="13716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If you have ever used an old electricity meter, you know how this works. You put in what you are willing to spend. The meter counts down. When it reaches zero, the power stops. It does not ask you.</a:t>
            </a:r>
            <a:endParaRPr lang="en-US" sz="1500" dirty="0"/>
          </a:p>
        </p:txBody>
      </p:sp>
      <p:sp>
        <p:nvSpPr>
          <p:cNvPr id="7" name="Text 5"/>
          <p:cNvSpPr txBox="1"/>
          <p:nvPr/>
        </p:nvSpPr>
        <p:spPr>
          <a:xfrm>
            <a:off x="457200" y="2651760"/>
            <a:ext cx="4023360" cy="10972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That is exactly what we are building. You decide in advance how much one task may cost. When it runs out, the agent stops.</a:t>
            </a:r>
            <a:endParaRPr lang="en-US" sz="1500" dirty="0"/>
          </a:p>
        </p:txBody>
      </p:sp>
      <p:sp>
        <p:nvSpPr>
          <p:cNvPr id="8" name="Text 6"/>
          <p:cNvSpPr txBox="1"/>
          <p:nvPr/>
        </p:nvSpPr>
        <p:spPr>
          <a:xfrm>
            <a:off x="457200" y="3749040"/>
            <a:ext cx="4023360" cy="822960"/>
          </a:xfrm>
          <a:prstGeom prst="rect">
            <a:avLst/>
          </a:prstGeom>
          <a:noFill/>
          <a:ln/>
        </p:spPr>
        <p:txBody>
          <a:bodyPr wrap="square" lIns="0" tIns="0" rIns="0" bIns="0" rtlCol="0" anchor="t"/>
          <a:lstStyle/>
          <a:p>
            <a:pPr indent="0" marL="0">
              <a:buNone/>
            </a:pPr>
            <a:r>
              <a:rPr lang="en-US" sz="1500" b="1" i="1" dirty="0">
                <a:solidFill>
                  <a:srgbClr val="B45309"/>
                </a:solidFill>
                <a:latin typeface="Calibri" pitchFamily="34" charset="0"/>
                <a:ea typeface="Calibri" pitchFamily="34" charset="-122"/>
                <a:cs typeface="Calibri" pitchFamily="34" charset="-120"/>
              </a:rPr>
              <a:t>At three in the morning. With nobody watching. Which is precisely when you need it.</a:t>
            </a:r>
            <a:endParaRPr lang="en-US" sz="1500" dirty="0"/>
          </a:p>
        </p:txBody>
      </p:sp>
      <p:sp>
        <p:nvSpPr>
          <p:cNvPr id="9" name="Shape 7"/>
          <p:cNvSpPr/>
          <p:nvPr/>
        </p:nvSpPr>
        <p:spPr>
          <a:xfrm>
            <a:off x="4754880" y="1188720"/>
            <a:ext cx="3931920" cy="1828800"/>
          </a:xfrm>
          <a:prstGeom prst="roundRect">
            <a:avLst>
              <a:gd name="adj" fmla="val 4000"/>
            </a:avLst>
          </a:prstGeom>
          <a:solidFill>
            <a:srgbClr val="F3F4F6"/>
          </a:solidFill>
          <a:ln w="12700">
            <a:solidFill>
              <a:srgbClr val="F3F4F6"/>
            </a:solidFill>
            <a:prstDash val="solid"/>
          </a:ln>
        </p:spPr>
      </p:sp>
      <p:sp>
        <p:nvSpPr>
          <p:cNvPr id="10" name="Text 8"/>
          <p:cNvSpPr txBox="1"/>
          <p:nvPr/>
        </p:nvSpPr>
        <p:spPr>
          <a:xfrm>
            <a:off x="4983480" y="1325880"/>
            <a:ext cx="347472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THE METER</a:t>
            </a:r>
            <a:endParaRPr lang="en-US" sz="1000" dirty="0"/>
          </a:p>
        </p:txBody>
      </p:sp>
      <p:sp>
        <p:nvSpPr>
          <p:cNvPr id="11" name="Shape 9"/>
          <p:cNvSpPr/>
          <p:nvPr/>
        </p:nvSpPr>
        <p:spPr>
          <a:xfrm>
            <a:off x="4983480" y="1645920"/>
            <a:ext cx="3474720" cy="777240"/>
          </a:xfrm>
          <a:prstGeom prst="roundRect">
            <a:avLst>
              <a:gd name="adj" fmla="val 9412"/>
            </a:avLst>
          </a:prstGeom>
          <a:solidFill>
            <a:srgbClr val="111827"/>
          </a:solidFill>
          <a:ln w="12700">
            <a:solidFill>
              <a:srgbClr val="111827"/>
            </a:solidFill>
            <a:prstDash val="solid"/>
          </a:ln>
        </p:spPr>
      </p:sp>
      <p:sp>
        <p:nvSpPr>
          <p:cNvPr id="12" name="Text 10"/>
          <p:cNvSpPr txBox="1"/>
          <p:nvPr/>
        </p:nvSpPr>
        <p:spPr>
          <a:xfrm>
            <a:off x="4983480" y="1691640"/>
            <a:ext cx="3474720" cy="457200"/>
          </a:xfrm>
          <a:prstGeom prst="rect">
            <a:avLst/>
          </a:prstGeom>
          <a:noFill/>
          <a:ln/>
        </p:spPr>
        <p:txBody>
          <a:bodyPr wrap="square" lIns="0" tIns="0" rIns="0" bIns="0" rtlCol="0" anchor="t"/>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$2.00</a:t>
            </a:r>
            <a:endParaRPr lang="en-US" sz="2600" dirty="0"/>
          </a:p>
        </p:txBody>
      </p:sp>
      <p:sp>
        <p:nvSpPr>
          <p:cNvPr id="13" name="Text 11"/>
          <p:cNvSpPr txBox="1"/>
          <p:nvPr/>
        </p:nvSpPr>
        <p:spPr>
          <a:xfrm>
            <a:off x="4983480" y="2130552"/>
            <a:ext cx="3474720" cy="228600"/>
          </a:xfrm>
          <a:prstGeom prst="rect">
            <a:avLst/>
          </a:prstGeom>
          <a:noFill/>
          <a:ln/>
        </p:spPr>
        <p:txBody>
          <a:bodyPr wrap="square" lIns="0" tIns="0" rIns="0" bIns="0" rtlCol="0" anchor="t"/>
          <a:lstStyle/>
          <a:p>
            <a:pPr algn="ctr" indent="0" marL="0">
              <a:buNone/>
            </a:pPr>
            <a:r>
              <a:rPr lang="en-US" sz="1000" dirty="0">
                <a:solidFill>
                  <a:srgbClr val="9CA3AF"/>
                </a:solidFill>
                <a:latin typeface="Calibri" pitchFamily="34" charset="0"/>
                <a:ea typeface="Calibri" pitchFamily="34" charset="-122"/>
                <a:cs typeface="Calibri" pitchFamily="34" charset="-120"/>
              </a:rPr>
              <a:t>remaining</a:t>
            </a:r>
            <a:endParaRPr lang="en-US" sz="1000" dirty="0"/>
          </a:p>
        </p:txBody>
      </p:sp>
      <p:sp>
        <p:nvSpPr>
          <p:cNvPr id="14" name="Shape 12"/>
          <p:cNvSpPr/>
          <p:nvPr/>
        </p:nvSpPr>
        <p:spPr>
          <a:xfrm>
            <a:off x="4983480" y="2542032"/>
            <a:ext cx="3474720" cy="256032"/>
          </a:xfrm>
          <a:prstGeom prst="roundRect">
            <a:avLst>
              <a:gd name="adj" fmla="val 50000"/>
            </a:avLst>
          </a:prstGeom>
          <a:solidFill>
            <a:srgbClr val="E5E7EB"/>
          </a:solidFill>
          <a:ln w="12700">
            <a:solidFill>
              <a:srgbClr val="E5E7EB"/>
            </a:solidFill>
            <a:prstDash val="solid"/>
          </a:ln>
        </p:spPr>
      </p:sp>
      <p:sp>
        <p:nvSpPr>
          <p:cNvPr id="15" name="Shape 13"/>
          <p:cNvSpPr/>
          <p:nvPr/>
        </p:nvSpPr>
        <p:spPr>
          <a:xfrm>
            <a:off x="4983480" y="2542032"/>
            <a:ext cx="2286000" cy="256032"/>
          </a:xfrm>
          <a:prstGeom prst="roundRect">
            <a:avLst>
              <a:gd name="adj" fmla="val 50000"/>
            </a:avLst>
          </a:prstGeom>
          <a:solidFill>
            <a:srgbClr val="B45309"/>
          </a:solidFill>
          <a:ln w="12700">
            <a:solidFill>
              <a:srgbClr val="B45309"/>
            </a:solidFill>
            <a:prstDash val="solid"/>
          </a:ln>
        </p:spPr>
      </p:sp>
      <p:sp>
        <p:nvSpPr>
          <p:cNvPr id="16" name="Shape 14"/>
          <p:cNvSpPr/>
          <p:nvPr/>
        </p:nvSpPr>
        <p:spPr>
          <a:xfrm>
            <a:off x="4754880" y="3200400"/>
            <a:ext cx="3931920" cy="1371600"/>
          </a:xfrm>
          <a:prstGeom prst="roundRect">
            <a:avLst>
              <a:gd name="adj" fmla="val 5333"/>
            </a:avLst>
          </a:prstGeom>
          <a:solidFill>
            <a:srgbClr val="FEF2F2"/>
          </a:solidFill>
          <a:ln w="12700">
            <a:solidFill>
              <a:srgbClr val="FEF2F2"/>
            </a:solidFill>
            <a:prstDash val="solid"/>
          </a:ln>
        </p:spPr>
      </p:sp>
      <p:sp>
        <p:nvSpPr>
          <p:cNvPr id="17" name="Text 15"/>
          <p:cNvSpPr txBox="1"/>
          <p:nvPr/>
        </p:nvSpPr>
        <p:spPr>
          <a:xfrm>
            <a:off x="4983480" y="3310128"/>
            <a:ext cx="3474720" cy="274320"/>
          </a:xfrm>
          <a:prstGeom prst="rect">
            <a:avLst/>
          </a:prstGeom>
          <a:noFill/>
          <a:ln/>
        </p:spPr>
        <p:txBody>
          <a:bodyPr wrap="square" lIns="0" tIns="0" rIns="0" bIns="0" rtlCol="0" anchor="t"/>
          <a:lstStyle/>
          <a:p>
            <a:pPr indent="0" marL="0">
              <a:buNone/>
            </a:pPr>
            <a:r>
              <a:rPr lang="en-US" sz="1000" b="1" spc="200" kern="0" dirty="0">
                <a:solidFill>
                  <a:srgbClr val="B91C1C"/>
                </a:solidFill>
                <a:latin typeface="Calibri" pitchFamily="34" charset="0"/>
                <a:ea typeface="Calibri" pitchFamily="34" charset="-122"/>
                <a:cs typeface="Calibri" pitchFamily="34" charset="-120"/>
              </a:rPr>
              <a:t>EMPTY?</a:t>
            </a:r>
            <a:endParaRPr lang="en-US" sz="1000" dirty="0"/>
          </a:p>
        </p:txBody>
      </p:sp>
      <p:sp>
        <p:nvSpPr>
          <p:cNvPr id="18" name="Text 16"/>
          <p:cNvSpPr txBox="1"/>
          <p:nvPr/>
        </p:nvSpPr>
        <p:spPr>
          <a:xfrm>
            <a:off x="4983480" y="3566160"/>
            <a:ext cx="3474720" cy="548640"/>
          </a:xfrm>
          <a:prstGeom prst="rect">
            <a:avLst/>
          </a:prstGeom>
          <a:noFill/>
          <a:ln/>
        </p:spPr>
        <p:txBody>
          <a:bodyPr wrap="square" lIns="0" tIns="0" rIns="0" bIns="0" rtlCol="0" anchor="t"/>
          <a:lstStyle/>
          <a:p>
            <a:pPr indent="0" marL="0">
              <a:buNone/>
            </a:pPr>
            <a:r>
              <a:rPr lang="en-US" sz="3400" b="1" dirty="0">
                <a:solidFill>
                  <a:srgbClr val="B91C1C"/>
                </a:solidFill>
                <a:latin typeface="Cambria" pitchFamily="34" charset="0"/>
                <a:ea typeface="Cambria" pitchFamily="34" charset="-122"/>
                <a:cs typeface="Cambria" pitchFamily="34" charset="-120"/>
              </a:rPr>
              <a:t>STOP</a:t>
            </a:r>
            <a:endParaRPr lang="en-US" sz="3400" dirty="0"/>
          </a:p>
        </p:txBody>
      </p:sp>
      <p:sp>
        <p:nvSpPr>
          <p:cNvPr id="19" name="Text 17"/>
          <p:cNvSpPr txBox="1"/>
          <p:nvPr/>
        </p:nvSpPr>
        <p:spPr>
          <a:xfrm>
            <a:off x="4983480" y="4114800"/>
            <a:ext cx="347472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agent stops, by itself, with nobody watching.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A COIN METER</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You already have a limit; it is just not written down</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280160"/>
            <a:ext cx="4023360" cy="1737360"/>
          </a:xfrm>
          <a:prstGeom prst="roundRect">
            <a:avLst>
              <a:gd name="adj" fmla="val 4211"/>
            </a:avLst>
          </a:prstGeom>
          <a:solidFill>
            <a:srgbClr val="ECFDF5"/>
          </a:solidFill>
          <a:ln w="12700">
            <a:solidFill>
              <a:srgbClr val="ECFDF5"/>
            </a:solidFill>
            <a:prstDash val="solid"/>
          </a:ln>
        </p:spPr>
      </p:sp>
      <p:sp>
        <p:nvSpPr>
          <p:cNvPr id="7" name="Text 5"/>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000" b="1" spc="200" kern="0" dirty="0">
                <a:solidFill>
                  <a:srgbClr val="047857"/>
                </a:solidFill>
                <a:latin typeface="Calibri" pitchFamily="34" charset="0"/>
                <a:ea typeface="Calibri" pitchFamily="34" charset="-122"/>
                <a:cs typeface="Calibri" pitchFamily="34" charset="-120"/>
              </a:rPr>
              <a:t>DECIDE NOW</a:t>
            </a:r>
            <a:endParaRPr lang="en-US" sz="1000" dirty="0"/>
          </a:p>
        </p:txBody>
      </p:sp>
      <p:sp>
        <p:nvSpPr>
          <p:cNvPr id="8" name="Text 6"/>
          <p:cNvSpPr txBox="1"/>
          <p:nvPr/>
        </p:nvSpPr>
        <p:spPr>
          <a:xfrm>
            <a:off x="685800" y="1737360"/>
            <a:ext cx="356616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You are calm. You have time to think. Nothing is on fire. You can look at your own numbers from module 2 and pick a sensible figure.</a:t>
            </a:r>
            <a:endParaRPr lang="en-US" sz="1400" dirty="0"/>
          </a:p>
        </p:txBody>
      </p:sp>
      <p:sp>
        <p:nvSpPr>
          <p:cNvPr id="9" name="Shape 7"/>
          <p:cNvSpPr/>
          <p:nvPr/>
        </p:nvSpPr>
        <p:spPr>
          <a:xfrm>
            <a:off x="4663440" y="1280160"/>
            <a:ext cx="4023360" cy="1737360"/>
          </a:xfrm>
          <a:prstGeom prst="roundRect">
            <a:avLst>
              <a:gd name="adj" fmla="val 4211"/>
            </a:avLst>
          </a:prstGeom>
          <a:solidFill>
            <a:srgbClr val="FEF2F2"/>
          </a:solidFill>
          <a:ln w="12700">
            <a:solidFill>
              <a:srgbClr val="FEF2F2"/>
            </a:solidFill>
            <a:prstDash val="solid"/>
          </a:ln>
        </p:spPr>
      </p:sp>
      <p:sp>
        <p:nvSpPr>
          <p:cNvPr id="10" name="Text 8"/>
          <p:cNvSpPr txBox="1"/>
          <p:nvPr/>
        </p:nvSpPr>
        <p:spPr>
          <a:xfrm>
            <a:off x="4892040" y="1417320"/>
            <a:ext cx="3566160" cy="274320"/>
          </a:xfrm>
          <a:prstGeom prst="rect">
            <a:avLst/>
          </a:prstGeom>
          <a:noFill/>
          <a:ln/>
        </p:spPr>
        <p:txBody>
          <a:bodyPr wrap="square" lIns="0" tIns="0" rIns="0" bIns="0" rtlCol="0" anchor="t"/>
          <a:lstStyle/>
          <a:p>
            <a:pPr indent="0" marL="0">
              <a:buNone/>
            </a:pPr>
            <a:r>
              <a:rPr lang="en-US" sz="1000" b="1" spc="200" kern="0" dirty="0">
                <a:solidFill>
                  <a:srgbClr val="B91C1C"/>
                </a:solidFill>
                <a:latin typeface="Calibri" pitchFamily="34" charset="0"/>
                <a:ea typeface="Calibri" pitchFamily="34" charset="-122"/>
                <a:cs typeface="Calibri" pitchFamily="34" charset="-120"/>
              </a:rPr>
              <a:t>OR DECIDE AT 3AM</a:t>
            </a:r>
            <a:endParaRPr lang="en-US" sz="1000" dirty="0"/>
          </a:p>
        </p:txBody>
      </p:sp>
      <p:sp>
        <p:nvSpPr>
          <p:cNvPr id="11" name="Text 9"/>
          <p:cNvSpPr txBox="1"/>
          <p:nvPr/>
        </p:nvSpPr>
        <p:spPr>
          <a:xfrm>
            <a:off x="4892040" y="1737360"/>
            <a:ext cx="356616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The same question: how much is this worth? Asked in a panic, after the money has already gone.</a:t>
            </a:r>
            <a:endParaRPr lang="en-US" sz="1400" dirty="0"/>
          </a:p>
        </p:txBody>
      </p:sp>
      <p:sp>
        <p:nvSpPr>
          <p:cNvPr id="12" name="Shape 10"/>
          <p:cNvSpPr/>
          <p:nvPr/>
        </p:nvSpPr>
        <p:spPr>
          <a:xfrm>
            <a:off x="457200" y="3246120"/>
            <a:ext cx="8229600" cy="1234440"/>
          </a:xfrm>
          <a:prstGeom prst="roundRect">
            <a:avLst>
              <a:gd name="adj" fmla="val 5926"/>
            </a:avLst>
          </a:prstGeom>
          <a:solidFill>
            <a:srgbClr val="111827"/>
          </a:solidFill>
          <a:ln w="12700">
            <a:solidFill>
              <a:srgbClr val="111827"/>
            </a:solidFill>
            <a:prstDash val="solid"/>
          </a:ln>
        </p:spPr>
      </p:sp>
      <p:sp>
        <p:nvSpPr>
          <p:cNvPr id="13" name="Text 11"/>
          <p:cNvSpPr txBox="1"/>
          <p:nvPr/>
        </p:nvSpPr>
        <p:spPr>
          <a:xfrm>
            <a:off x="731520" y="3246120"/>
            <a:ext cx="7680960" cy="123444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You already have a limit.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It is whatever your company can afford before somebody gets very upset. You just have not written it down, and nothing is enforcing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01 · A Coin Meter</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meter</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meter with the draining bar, then the stop, then the contrast panel.</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Tall box on the left: THE METER. A coin slot at the top; under it: you put in what you are willing to spend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 the middle, a dark rectangle with an amount inside: two dollars. Under it: remaining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Below, a long thin bar with rounded ends, shaded about two thirds from the left. Under it: it only goes down · nothing tops it up mid-run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Arrow from the meter pointing right, labelled: empty?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end of the arrow, a box with a large filled circle reading STOP. Under it: the agent stops · by itself · at 3am with nobody watching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To the right, a smaller dashed box: WITHOUT A CAP. Inside: it keeps going until a human happens to look. In another colour: that is module one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across the bottom: a cap is a decision you make once, in advance. Calm, time to think, nothing on fire. The alternative is 3am, in a panic, after the money is gone.</a:t>
            </a:r>
            <a:endParaRPr lang="en-US" sz="950" dirty="0"/>
          </a:p>
        </p:txBody>
      </p:sp>
      <p:sp>
        <p:nvSpPr>
          <p:cNvPr id="12" name="Shape 8"/>
          <p:cNvSpPr/>
          <p:nvPr/>
        </p:nvSpPr>
        <p:spPr>
          <a:xfrm>
            <a:off x="3886200" y="1536192"/>
            <a:ext cx="4800600" cy="2184035"/>
          </a:xfrm>
          <a:prstGeom prst="roundRect">
            <a:avLst>
              <a:gd name="adj" fmla="val 334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726835"/>
          </a:xfrm>
          <a:prstGeom prst="rect">
            <a:avLst/>
          </a:prstGeom>
        </p:spPr>
      </p:pic>
      <p:sp>
        <p:nvSpPr>
          <p:cNvPr id="15" name="Shape 10"/>
          <p:cNvSpPr/>
          <p:nvPr/>
        </p:nvSpPr>
        <p:spPr>
          <a:xfrm>
            <a:off x="3886200" y="3875675"/>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875675"/>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bar only drains. Nothing tops it up mid-run.”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Three Places to Put the Gate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THREE GATES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What each gate sees, and what it misses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234440"/>
            <a:ext cx="2606040" cy="3291840"/>
          </a:xfrm>
          <a:prstGeom prst="roundRect">
            <a:avLst>
              <a:gd name="adj" fmla="val 2807"/>
            </a:avLst>
          </a:prstGeom>
          <a:solidFill>
            <a:srgbClr val="F3F4F6"/>
          </a:solidFill>
          <a:ln w="12700">
            <a:solidFill>
              <a:srgbClr val="F3F4F6"/>
            </a:solidFill>
            <a:prstDash val="solid"/>
          </a:ln>
        </p:spPr>
      </p:sp>
      <p:sp>
        <p:nvSpPr>
          <p:cNvPr id="7" name="Text 5"/>
          <p:cNvSpPr txBox="1"/>
          <p:nvPr/>
        </p:nvSpPr>
        <p:spPr>
          <a:xfrm>
            <a:off x="658368" y="1371600"/>
            <a:ext cx="2240280" cy="320040"/>
          </a:xfrm>
          <a:prstGeom prst="rect">
            <a:avLst/>
          </a:prstGeom>
          <a:noFill/>
          <a:ln/>
        </p:spPr>
        <p:txBody>
          <a:bodyPr wrap="square" lIns="0" tIns="0" rIns="0" bIns="0" rtlCol="0" anchor="t"/>
          <a:lstStyle/>
          <a:p>
            <a:pPr indent="0" marL="0">
              <a:buNone/>
            </a:pPr>
            <a:r>
              <a:rPr lang="en-US" sz="1500" b="1" dirty="0">
                <a:solidFill>
                  <a:srgbClr val="1D4ED8"/>
                </a:solidFill>
                <a:latin typeface="Calibri" pitchFamily="34" charset="0"/>
                <a:ea typeface="Calibri" pitchFamily="34" charset="-122"/>
                <a:cs typeface="Calibri" pitchFamily="34" charset="-120"/>
              </a:rPr>
              <a:t>Inside the agent</a:t>
            </a:r>
            <a:endParaRPr lang="en-US" sz="1500" dirty="0"/>
          </a:p>
        </p:txBody>
      </p:sp>
      <p:sp>
        <p:nvSpPr>
          <p:cNvPr id="8" name="Text 6"/>
          <p:cNvSpPr txBox="1"/>
          <p:nvPr/>
        </p:nvSpPr>
        <p:spPr>
          <a:xfrm>
            <a:off x="658368" y="1673352"/>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closest to the work</a:t>
            </a:r>
            <a:endParaRPr lang="en-US" sz="1050" dirty="0"/>
          </a:p>
        </p:txBody>
      </p:sp>
      <p:sp>
        <p:nvSpPr>
          <p:cNvPr id="9" name="Text 7"/>
          <p:cNvSpPr txBox="1"/>
          <p:nvPr/>
        </p:nvSpPr>
        <p:spPr>
          <a:xfrm>
            <a:off x="658368" y="196596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SEES</a:t>
            </a:r>
            <a:endParaRPr lang="en-US" sz="900" dirty="0"/>
          </a:p>
        </p:txBody>
      </p:sp>
      <p:sp>
        <p:nvSpPr>
          <p:cNvPr id="10" name="Text 8"/>
          <p:cNvSpPr txBox="1"/>
          <p:nvPr/>
        </p:nvSpPr>
        <p:spPr>
          <a:xfrm>
            <a:off x="658368" y="2176272"/>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This one task, step by step. It knows the run is on step eleven and has spent eighty cents.</a:t>
            </a:r>
            <a:endParaRPr lang="en-US" sz="1150" dirty="0"/>
          </a:p>
        </p:txBody>
      </p:sp>
      <p:sp>
        <p:nvSpPr>
          <p:cNvPr id="11" name="Text 9"/>
          <p:cNvSpPr txBox="1"/>
          <p:nvPr/>
        </p:nvSpPr>
        <p:spPr>
          <a:xfrm>
            <a:off x="658368" y="310896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CANNOT SEE</a:t>
            </a:r>
            <a:endParaRPr lang="en-US" sz="900" dirty="0"/>
          </a:p>
        </p:txBody>
      </p:sp>
      <p:sp>
        <p:nvSpPr>
          <p:cNvPr id="12" name="Text 10"/>
          <p:cNvSpPr txBox="1"/>
          <p:nvPr/>
        </p:nvSpPr>
        <p:spPr>
          <a:xfrm>
            <a:off x="658368" y="3319272"/>
            <a:ext cx="224028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other agents, or yesterday.</a:t>
            </a:r>
            <a:endParaRPr lang="en-US" sz="1150" dirty="0"/>
          </a:p>
        </p:txBody>
      </p:sp>
      <p:sp>
        <p:nvSpPr>
          <p:cNvPr id="13" name="Shape 11"/>
          <p:cNvSpPr/>
          <p:nvPr/>
        </p:nvSpPr>
        <p:spPr>
          <a:xfrm>
            <a:off x="658368" y="3931920"/>
            <a:ext cx="2240280" cy="411480"/>
          </a:xfrm>
          <a:prstGeom prst="roundRect">
            <a:avLst>
              <a:gd name="adj" fmla="val 17778"/>
            </a:avLst>
          </a:prstGeom>
          <a:solidFill>
            <a:srgbClr val="FFFFFF"/>
          </a:solidFill>
          <a:ln w="12700">
            <a:solidFill>
              <a:srgbClr val="FFFFFF"/>
            </a:solidFill>
            <a:prstDash val="solid"/>
          </a:ln>
        </p:spPr>
      </p:sp>
      <p:sp>
        <p:nvSpPr>
          <p:cNvPr id="14" name="Text 12"/>
          <p:cNvSpPr txBox="1"/>
          <p:nvPr/>
        </p:nvSpPr>
        <p:spPr>
          <a:xfrm>
            <a:off x="658368" y="3931920"/>
            <a:ext cx="2240280" cy="411480"/>
          </a:xfrm>
          <a:prstGeom prst="rect">
            <a:avLst/>
          </a:prstGeom>
          <a:noFill/>
          <a:ln/>
        </p:spPr>
        <p:txBody>
          <a:bodyPr wrap="square" lIns="0" tIns="0" rIns="0" bIns="0" rtlCol="0" anchor="ctr"/>
          <a:lstStyle/>
          <a:p>
            <a:pPr algn="ctr" indent="0" marL="0">
              <a:buNone/>
            </a:pPr>
            <a:r>
              <a:rPr lang="en-US" sz="1050" b="1" dirty="0">
                <a:solidFill>
                  <a:srgbClr val="111827"/>
                </a:solidFill>
                <a:latin typeface="Calibri" pitchFamily="34" charset="0"/>
                <a:ea typeface="Calibri" pitchFamily="34" charset="-122"/>
                <a:cs typeface="Calibri" pitchFamily="34" charset="-120"/>
              </a:rPr>
              <a:t>Good for: One run</a:t>
            </a:r>
            <a:endParaRPr lang="en-US" sz="1050" dirty="0"/>
          </a:p>
        </p:txBody>
      </p:sp>
      <p:sp>
        <p:nvSpPr>
          <p:cNvPr id="15" name="Shape 13"/>
          <p:cNvSpPr/>
          <p:nvPr/>
        </p:nvSpPr>
        <p:spPr>
          <a:xfrm>
            <a:off x="3246120" y="1234440"/>
            <a:ext cx="2606040" cy="3291840"/>
          </a:xfrm>
          <a:prstGeom prst="roundRect">
            <a:avLst>
              <a:gd name="adj" fmla="val 2807"/>
            </a:avLst>
          </a:prstGeom>
          <a:solidFill>
            <a:srgbClr val="F3F4F6"/>
          </a:solidFill>
          <a:ln w="12700">
            <a:solidFill>
              <a:srgbClr val="F3F4F6"/>
            </a:solidFill>
            <a:prstDash val="solid"/>
          </a:ln>
        </p:spPr>
      </p:sp>
      <p:sp>
        <p:nvSpPr>
          <p:cNvPr id="16" name="Text 14"/>
          <p:cNvSpPr txBox="1"/>
          <p:nvPr/>
        </p:nvSpPr>
        <p:spPr>
          <a:xfrm>
            <a:off x="3447288" y="1371600"/>
            <a:ext cx="2240280" cy="320040"/>
          </a:xfrm>
          <a:prstGeom prst="rect">
            <a:avLst/>
          </a:prstGeom>
          <a:noFill/>
          <a:ln/>
        </p:spPr>
        <p:txBody>
          <a:bodyPr wrap="square" lIns="0" tIns="0" rIns="0" bIns="0" rtlCol="0" anchor="t"/>
          <a:lstStyle/>
          <a:p>
            <a:pPr indent="0" marL="0">
              <a:buNone/>
            </a:pPr>
            <a:r>
              <a:rPr lang="en-US" sz="1500" b="1" dirty="0">
                <a:solidFill>
                  <a:srgbClr val="6D28D9"/>
                </a:solidFill>
                <a:latin typeface="Calibri" pitchFamily="34" charset="0"/>
                <a:ea typeface="Calibri" pitchFamily="34" charset="-122"/>
                <a:cs typeface="Calibri" pitchFamily="34" charset="-120"/>
              </a:rPr>
              <a:t>At the gateway</a:t>
            </a:r>
            <a:endParaRPr lang="en-US" sz="1500" dirty="0"/>
          </a:p>
        </p:txBody>
      </p:sp>
      <p:sp>
        <p:nvSpPr>
          <p:cNvPr id="17" name="Text 15"/>
          <p:cNvSpPr txBox="1"/>
          <p:nvPr/>
        </p:nvSpPr>
        <p:spPr>
          <a:xfrm>
            <a:off x="3447288" y="1673352"/>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 shared front door</a:t>
            </a:r>
            <a:endParaRPr lang="en-US" sz="1050" dirty="0"/>
          </a:p>
        </p:txBody>
      </p:sp>
      <p:sp>
        <p:nvSpPr>
          <p:cNvPr id="18" name="Text 16"/>
          <p:cNvSpPr txBox="1"/>
          <p:nvPr/>
        </p:nvSpPr>
        <p:spPr>
          <a:xfrm>
            <a:off x="3447288" y="196596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SEES</a:t>
            </a:r>
            <a:endParaRPr lang="en-US" sz="900" dirty="0"/>
          </a:p>
        </p:txBody>
      </p:sp>
      <p:sp>
        <p:nvSpPr>
          <p:cNvPr id="19" name="Text 17"/>
          <p:cNvSpPr txBox="1"/>
          <p:nvPr/>
        </p:nvSpPr>
        <p:spPr>
          <a:xfrm>
            <a:off x="3447288" y="2176272"/>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Every agent, every team, today. This team has spent ninety dollars across eleven agents.</a:t>
            </a:r>
            <a:endParaRPr lang="en-US" sz="1150" dirty="0"/>
          </a:p>
        </p:txBody>
      </p:sp>
      <p:sp>
        <p:nvSpPr>
          <p:cNvPr id="20" name="Text 18"/>
          <p:cNvSpPr txBox="1"/>
          <p:nvPr/>
        </p:nvSpPr>
        <p:spPr>
          <a:xfrm>
            <a:off x="3447288" y="310896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CANNOT SEE</a:t>
            </a:r>
            <a:endParaRPr lang="en-US" sz="900" dirty="0"/>
          </a:p>
        </p:txBody>
      </p:sp>
      <p:sp>
        <p:nvSpPr>
          <p:cNvPr id="21" name="Text 19"/>
          <p:cNvSpPr txBox="1"/>
          <p:nvPr/>
        </p:nvSpPr>
        <p:spPr>
          <a:xfrm>
            <a:off x="3447288" y="3319272"/>
            <a:ext cx="224028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What a single run is trying to do.</a:t>
            </a:r>
            <a:endParaRPr lang="en-US" sz="1150" dirty="0"/>
          </a:p>
        </p:txBody>
      </p:sp>
      <p:sp>
        <p:nvSpPr>
          <p:cNvPr id="22" name="Shape 20"/>
          <p:cNvSpPr/>
          <p:nvPr/>
        </p:nvSpPr>
        <p:spPr>
          <a:xfrm>
            <a:off x="3447288" y="3931920"/>
            <a:ext cx="2240280" cy="411480"/>
          </a:xfrm>
          <a:prstGeom prst="roundRect">
            <a:avLst>
              <a:gd name="adj" fmla="val 17778"/>
            </a:avLst>
          </a:prstGeom>
          <a:solidFill>
            <a:srgbClr val="FFFFFF"/>
          </a:solidFill>
          <a:ln w="12700">
            <a:solidFill>
              <a:srgbClr val="FFFFFF"/>
            </a:solidFill>
            <a:prstDash val="solid"/>
          </a:ln>
        </p:spPr>
      </p:sp>
      <p:sp>
        <p:nvSpPr>
          <p:cNvPr id="23" name="Text 21"/>
          <p:cNvSpPr txBox="1"/>
          <p:nvPr/>
        </p:nvSpPr>
        <p:spPr>
          <a:xfrm>
            <a:off x="3447288" y="3931920"/>
            <a:ext cx="2240280" cy="411480"/>
          </a:xfrm>
          <a:prstGeom prst="rect">
            <a:avLst/>
          </a:prstGeom>
          <a:noFill/>
          <a:ln/>
        </p:spPr>
        <p:txBody>
          <a:bodyPr wrap="square" lIns="0" tIns="0" rIns="0" bIns="0" rtlCol="0" anchor="ctr"/>
          <a:lstStyle/>
          <a:p>
            <a:pPr algn="ctr" indent="0" marL="0">
              <a:buNone/>
            </a:pPr>
            <a:r>
              <a:rPr lang="en-US" sz="1050" b="1" dirty="0">
                <a:solidFill>
                  <a:srgbClr val="111827"/>
                </a:solidFill>
                <a:latin typeface="Calibri" pitchFamily="34" charset="0"/>
                <a:ea typeface="Calibri" pitchFamily="34" charset="-122"/>
                <a:cs typeface="Calibri" pitchFamily="34" charset="-120"/>
              </a:rPr>
              <a:t>Good for: One day, one team</a:t>
            </a:r>
            <a:endParaRPr lang="en-US" sz="1050" dirty="0"/>
          </a:p>
        </p:txBody>
      </p:sp>
      <p:sp>
        <p:nvSpPr>
          <p:cNvPr id="24" name="Shape 22"/>
          <p:cNvSpPr/>
          <p:nvPr/>
        </p:nvSpPr>
        <p:spPr>
          <a:xfrm>
            <a:off x="6035040" y="1234440"/>
            <a:ext cx="2606040" cy="3291840"/>
          </a:xfrm>
          <a:prstGeom prst="roundRect">
            <a:avLst>
              <a:gd name="adj" fmla="val 2807"/>
            </a:avLst>
          </a:prstGeom>
          <a:solidFill>
            <a:srgbClr val="F3F4F6"/>
          </a:solidFill>
          <a:ln w="12700">
            <a:solidFill>
              <a:srgbClr val="F3F4F6"/>
            </a:solidFill>
            <a:prstDash val="solid"/>
          </a:ln>
        </p:spPr>
      </p:sp>
      <p:sp>
        <p:nvSpPr>
          <p:cNvPr id="25" name="Text 23"/>
          <p:cNvSpPr txBox="1"/>
          <p:nvPr/>
        </p:nvSpPr>
        <p:spPr>
          <a:xfrm>
            <a:off x="6236208" y="1371600"/>
            <a:ext cx="2240280" cy="32004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At the provider</a:t>
            </a:r>
            <a:endParaRPr lang="en-US" sz="1500" dirty="0"/>
          </a:p>
        </p:txBody>
      </p:sp>
      <p:sp>
        <p:nvSpPr>
          <p:cNvPr id="26" name="Text 24"/>
          <p:cNvSpPr txBox="1"/>
          <p:nvPr/>
        </p:nvSpPr>
        <p:spPr>
          <a:xfrm>
            <a:off x="6236208" y="1673352"/>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 account itself</a:t>
            </a:r>
            <a:endParaRPr lang="en-US" sz="1050" dirty="0"/>
          </a:p>
        </p:txBody>
      </p:sp>
      <p:sp>
        <p:nvSpPr>
          <p:cNvPr id="27" name="Text 25"/>
          <p:cNvSpPr txBox="1"/>
          <p:nvPr/>
        </p:nvSpPr>
        <p:spPr>
          <a:xfrm>
            <a:off x="6236208" y="196596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SEES</a:t>
            </a:r>
            <a:endParaRPr lang="en-US" sz="900" dirty="0"/>
          </a:p>
        </p:txBody>
      </p:sp>
      <p:sp>
        <p:nvSpPr>
          <p:cNvPr id="28" name="Text 26"/>
          <p:cNvSpPr txBox="1"/>
          <p:nvPr/>
        </p:nvSpPr>
        <p:spPr>
          <a:xfrm>
            <a:off x="6236208" y="2176272"/>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whole bill, the whole month. It is the outermost wall.</a:t>
            </a:r>
            <a:endParaRPr lang="en-US" sz="1150" dirty="0"/>
          </a:p>
        </p:txBody>
      </p:sp>
      <p:sp>
        <p:nvSpPr>
          <p:cNvPr id="29" name="Text 27"/>
          <p:cNvSpPr txBox="1"/>
          <p:nvPr/>
        </p:nvSpPr>
        <p:spPr>
          <a:xfrm>
            <a:off x="6236208" y="310896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CANNOT SEE</a:t>
            </a:r>
            <a:endParaRPr lang="en-US" sz="900" dirty="0"/>
          </a:p>
        </p:txBody>
      </p:sp>
      <p:sp>
        <p:nvSpPr>
          <p:cNvPr id="30" name="Text 28"/>
          <p:cNvSpPr txBox="1"/>
          <p:nvPr/>
        </p:nvSpPr>
        <p:spPr>
          <a:xfrm>
            <a:off x="6236208" y="3319272"/>
            <a:ext cx="224028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Anything about your business at all.</a:t>
            </a:r>
            <a:endParaRPr lang="en-US" sz="1150" dirty="0"/>
          </a:p>
        </p:txBody>
      </p:sp>
      <p:sp>
        <p:nvSpPr>
          <p:cNvPr id="31" name="Shape 29"/>
          <p:cNvSpPr/>
          <p:nvPr/>
        </p:nvSpPr>
        <p:spPr>
          <a:xfrm>
            <a:off x="6236208" y="3931920"/>
            <a:ext cx="2240280" cy="411480"/>
          </a:xfrm>
          <a:prstGeom prst="roundRect">
            <a:avLst>
              <a:gd name="adj" fmla="val 17778"/>
            </a:avLst>
          </a:prstGeom>
          <a:solidFill>
            <a:srgbClr val="FFFFFF"/>
          </a:solidFill>
          <a:ln w="12700">
            <a:solidFill>
              <a:srgbClr val="FFFFFF"/>
            </a:solidFill>
            <a:prstDash val="solid"/>
          </a:ln>
        </p:spPr>
      </p:sp>
      <p:sp>
        <p:nvSpPr>
          <p:cNvPr id="32" name="Text 30"/>
          <p:cNvSpPr txBox="1"/>
          <p:nvPr/>
        </p:nvSpPr>
        <p:spPr>
          <a:xfrm>
            <a:off x="6236208" y="3931920"/>
            <a:ext cx="2240280" cy="411480"/>
          </a:xfrm>
          <a:prstGeom prst="rect">
            <a:avLst/>
          </a:prstGeom>
          <a:noFill/>
          <a:ln/>
        </p:spPr>
        <p:txBody>
          <a:bodyPr wrap="square" lIns="0" tIns="0" rIns="0" bIns="0" rtlCol="0" anchor="ctr"/>
          <a:lstStyle/>
          <a:p>
            <a:pPr algn="ctr" indent="0" marL="0">
              <a:buNone/>
            </a:pPr>
            <a:r>
              <a:rPr lang="en-US" sz="1050" b="1" dirty="0">
                <a:solidFill>
                  <a:srgbClr val="111827"/>
                </a:solidFill>
                <a:latin typeface="Calibri" pitchFamily="34" charset="0"/>
                <a:ea typeface="Calibri" pitchFamily="34" charset="-122"/>
                <a:cs typeface="Calibri" pitchFamily="34" charset="-120"/>
              </a:rPr>
              <a:t>Good for: The last resort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THREE GATES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Each gate catches a failure the others miss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280160"/>
            <a:ext cx="8229600" cy="777240"/>
          </a:xfrm>
          <a:prstGeom prst="roundRect">
            <a:avLst>
              <a:gd name="adj" fmla="val 9412"/>
            </a:avLst>
          </a:prstGeom>
          <a:solidFill>
            <a:srgbClr val="F3F4F6"/>
          </a:solidFill>
          <a:ln w="12700">
            <a:solidFill>
              <a:srgbClr val="F3F4F6"/>
            </a:solidFill>
            <a:prstDash val="solid"/>
          </a:ln>
        </p:spPr>
      </p:sp>
      <p:sp>
        <p:nvSpPr>
          <p:cNvPr id="7" name="Text 5"/>
          <p:cNvSpPr txBox="1"/>
          <p:nvPr/>
        </p:nvSpPr>
        <p:spPr>
          <a:xfrm>
            <a:off x="731520" y="1280160"/>
            <a:ext cx="475488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One task goes mad and loops forever</a:t>
            </a:r>
            <a:endParaRPr lang="en-US" sz="1400" dirty="0"/>
          </a:p>
        </p:txBody>
      </p:sp>
      <p:pic>
        <p:nvPicPr>
          <p:cNvPr id="8" name="Image 0" descr="preencoded.png">    </p:cNvPr>
          <p:cNvPicPr>
            <a:picLocks noChangeAspect="1"/>
          </p:cNvPicPr>
          <p:nvPr/>
        </p:nvPicPr>
        <p:blipFill>
          <a:blip r:embed="rId1"/>
          <a:stretch>
            <a:fillRect/>
          </a:stretch>
        </p:blipFill>
        <p:spPr>
          <a:xfrm>
            <a:off x="5577840" y="1572768"/>
            <a:ext cx="201168" cy="201168"/>
          </a:xfrm>
          <a:prstGeom prst="rect">
            <a:avLst/>
          </a:prstGeom>
        </p:spPr>
      </p:pic>
      <p:sp>
        <p:nvSpPr>
          <p:cNvPr id="9" name="Text 6"/>
          <p:cNvSpPr txBox="1"/>
          <p:nvPr/>
        </p:nvSpPr>
        <p:spPr>
          <a:xfrm>
            <a:off x="5943600" y="1280160"/>
            <a:ext cx="2560320" cy="777240"/>
          </a:xfrm>
          <a:prstGeom prst="rect">
            <a:avLst/>
          </a:prstGeom>
          <a:noFill/>
          <a:ln/>
        </p:spPr>
        <p:txBody>
          <a:bodyPr wrap="square" lIns="0" tIns="0" rIns="0" bIns="0" rtlCol="0" anchor="ctr"/>
          <a:lstStyle/>
          <a:p>
            <a:pPr indent="0" marL="0">
              <a:buNone/>
            </a:pPr>
            <a:r>
              <a:rPr lang="en-US" sz="1400" b="1" dirty="0">
                <a:solidFill>
                  <a:srgbClr val="1D4ED8"/>
                </a:solidFill>
                <a:latin typeface="Calibri" pitchFamily="34" charset="0"/>
                <a:ea typeface="Calibri" pitchFamily="34" charset="-122"/>
                <a:cs typeface="Calibri" pitchFamily="34" charset="-120"/>
              </a:rPr>
              <a:t>caught inside the agent</a:t>
            </a:r>
            <a:endParaRPr lang="en-US" sz="1400" dirty="0"/>
          </a:p>
        </p:txBody>
      </p:sp>
      <p:sp>
        <p:nvSpPr>
          <p:cNvPr id="10" name="Shape 7"/>
          <p:cNvSpPr/>
          <p:nvPr/>
        </p:nvSpPr>
        <p:spPr>
          <a:xfrm>
            <a:off x="457200" y="2194560"/>
            <a:ext cx="8229600" cy="777240"/>
          </a:xfrm>
          <a:prstGeom prst="roundRect">
            <a:avLst>
              <a:gd name="adj" fmla="val 9412"/>
            </a:avLst>
          </a:prstGeom>
          <a:solidFill>
            <a:srgbClr val="F3F4F6"/>
          </a:solidFill>
          <a:ln w="12700">
            <a:solidFill>
              <a:srgbClr val="F3F4F6"/>
            </a:solidFill>
            <a:prstDash val="solid"/>
          </a:ln>
        </p:spPr>
      </p:sp>
      <p:sp>
        <p:nvSpPr>
          <p:cNvPr id="11" name="Text 8"/>
          <p:cNvSpPr txBox="1"/>
          <p:nvPr/>
        </p:nvSpPr>
        <p:spPr>
          <a:xfrm>
            <a:off x="731520" y="2194560"/>
            <a:ext cx="475488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Fifty tasks each behave, but together they blow the budget</a:t>
            </a:r>
            <a:endParaRPr lang="en-US" sz="1400" dirty="0"/>
          </a:p>
        </p:txBody>
      </p:sp>
      <p:pic>
        <p:nvPicPr>
          <p:cNvPr id="12" name="Image 1" descr="preencoded.png">    </p:cNvPr>
          <p:cNvPicPr>
            <a:picLocks noChangeAspect="1"/>
          </p:cNvPicPr>
          <p:nvPr/>
        </p:nvPicPr>
        <p:blipFill>
          <a:blip r:embed="rId2"/>
          <a:stretch>
            <a:fillRect/>
          </a:stretch>
        </p:blipFill>
        <p:spPr>
          <a:xfrm>
            <a:off x="5577840" y="2487168"/>
            <a:ext cx="201168" cy="201168"/>
          </a:xfrm>
          <a:prstGeom prst="rect">
            <a:avLst/>
          </a:prstGeom>
        </p:spPr>
      </p:pic>
      <p:sp>
        <p:nvSpPr>
          <p:cNvPr id="13" name="Text 9"/>
          <p:cNvSpPr txBox="1"/>
          <p:nvPr/>
        </p:nvSpPr>
        <p:spPr>
          <a:xfrm>
            <a:off x="5943600" y="2194560"/>
            <a:ext cx="2560320" cy="777240"/>
          </a:xfrm>
          <a:prstGeom prst="rect">
            <a:avLst/>
          </a:prstGeom>
          <a:noFill/>
          <a:ln/>
        </p:spPr>
        <p:txBody>
          <a:bodyPr wrap="square" lIns="0" tIns="0" rIns="0" bIns="0" rtlCol="0" anchor="ctr"/>
          <a:lstStyle/>
          <a:p>
            <a:pPr indent="0" marL="0">
              <a:buNone/>
            </a:pPr>
            <a:r>
              <a:rPr lang="en-US" sz="1400" b="1" dirty="0">
                <a:solidFill>
                  <a:srgbClr val="6D28D9"/>
                </a:solidFill>
                <a:latin typeface="Calibri" pitchFamily="34" charset="0"/>
                <a:ea typeface="Calibri" pitchFamily="34" charset="-122"/>
                <a:cs typeface="Calibri" pitchFamily="34" charset="-120"/>
              </a:rPr>
              <a:t>caught at the gateway</a:t>
            </a:r>
            <a:endParaRPr lang="en-US" sz="1400" dirty="0"/>
          </a:p>
        </p:txBody>
      </p:sp>
      <p:sp>
        <p:nvSpPr>
          <p:cNvPr id="14" name="Shape 10"/>
          <p:cNvSpPr/>
          <p:nvPr/>
        </p:nvSpPr>
        <p:spPr>
          <a:xfrm>
            <a:off x="457200" y="3108960"/>
            <a:ext cx="8229600" cy="777240"/>
          </a:xfrm>
          <a:prstGeom prst="roundRect">
            <a:avLst>
              <a:gd name="adj" fmla="val 9412"/>
            </a:avLst>
          </a:prstGeom>
          <a:solidFill>
            <a:srgbClr val="F3F4F6"/>
          </a:solidFill>
          <a:ln w="12700">
            <a:solidFill>
              <a:srgbClr val="F3F4F6"/>
            </a:solidFill>
            <a:prstDash val="solid"/>
          </a:ln>
        </p:spPr>
      </p:sp>
      <p:sp>
        <p:nvSpPr>
          <p:cNvPr id="15" name="Text 11"/>
          <p:cNvSpPr txBox="1"/>
          <p:nvPr/>
        </p:nvSpPr>
        <p:spPr>
          <a:xfrm>
            <a:off x="731520" y="3108960"/>
            <a:ext cx="475488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Someone deploys a new agent that nobody capped</a:t>
            </a:r>
            <a:endParaRPr lang="en-US" sz="1400" dirty="0"/>
          </a:p>
        </p:txBody>
      </p:sp>
      <p:pic>
        <p:nvPicPr>
          <p:cNvPr id="16" name="Image 2" descr="preencoded.png">    </p:cNvPr>
          <p:cNvPicPr>
            <a:picLocks noChangeAspect="1"/>
          </p:cNvPicPr>
          <p:nvPr/>
        </p:nvPicPr>
        <p:blipFill>
          <a:blip r:embed="rId3"/>
          <a:stretch>
            <a:fillRect/>
          </a:stretch>
        </p:blipFill>
        <p:spPr>
          <a:xfrm>
            <a:off x="5577840" y="3401568"/>
            <a:ext cx="201168" cy="201168"/>
          </a:xfrm>
          <a:prstGeom prst="rect">
            <a:avLst/>
          </a:prstGeom>
        </p:spPr>
      </p:pic>
      <p:sp>
        <p:nvSpPr>
          <p:cNvPr id="17" name="Text 12"/>
          <p:cNvSpPr txBox="1"/>
          <p:nvPr/>
        </p:nvSpPr>
        <p:spPr>
          <a:xfrm>
            <a:off x="5943600" y="3108960"/>
            <a:ext cx="2560320" cy="77724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caught at the provider</a:t>
            </a:r>
            <a:endParaRPr lang="en-US" sz="1400" dirty="0"/>
          </a:p>
        </p:txBody>
      </p:sp>
      <p:sp>
        <p:nvSpPr>
          <p:cNvPr id="18" name="Shape 13"/>
          <p:cNvSpPr/>
          <p:nvPr/>
        </p:nvSpPr>
        <p:spPr>
          <a:xfrm>
            <a:off x="457200" y="4023360"/>
            <a:ext cx="8229600" cy="640080"/>
          </a:xfrm>
          <a:prstGeom prst="roundRect">
            <a:avLst>
              <a:gd name="adj" fmla="val 11429"/>
            </a:avLst>
          </a:prstGeom>
          <a:solidFill>
            <a:srgbClr val="111827"/>
          </a:solidFill>
          <a:ln w="12700">
            <a:solidFill>
              <a:srgbClr val="111827"/>
            </a:solidFill>
            <a:prstDash val="solid"/>
          </a:ln>
        </p:spPr>
      </p:sp>
      <p:sp>
        <p:nvSpPr>
          <p:cNvPr id="19" name="Text 14"/>
          <p:cNvSpPr txBox="1"/>
          <p:nvPr/>
        </p:nvSpPr>
        <p:spPr>
          <a:xfrm>
            <a:off x="457200" y="4023360"/>
            <a:ext cx="822960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One gate is better than none. Three gates is how you sleep.</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02 · Three Gates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gates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Three columns at the top, then the three failure cases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tall columns: INSIDE THE AGENT · AT THE GATEWAY · AT THE PROVIDER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each title a short note: closest to the work · the shared front door · the account itself</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 each column write SEES: this one task step by step · every agent, every team, today · the whole bill, the whole month</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Then CANNOT SEE: the other agents or yesterday · what a single run is trying to do · anything about your business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bottom of each column a small GOOD FOR box: one run · one day, one team · the last resort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Underneath, three wide rows: failure on the left, arrow, the gate that catches it on the right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Rows: one task goes mad → the agent · fifty tasks together blow the budget → the gateway · a new agent nobody capped → the provider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very bottom: one gate is better than none, three gates is how you sleep</a:t>
            </a:r>
            <a:endParaRPr lang="en-US" sz="950" dirty="0"/>
          </a:p>
        </p:txBody>
      </p:sp>
      <p:sp>
        <p:nvSpPr>
          <p:cNvPr id="12" name="Shape 8"/>
          <p:cNvSpPr/>
          <p:nvPr/>
        </p:nvSpPr>
        <p:spPr>
          <a:xfrm>
            <a:off x="3886200" y="1536192"/>
            <a:ext cx="4800600" cy="2177845"/>
          </a:xfrm>
          <a:prstGeom prst="roundRect">
            <a:avLst>
              <a:gd name="adj" fmla="val 335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720645"/>
          </a:xfrm>
          <a:prstGeom prst="rect">
            <a:avLst/>
          </a:prstGeom>
        </p:spPr>
      </p:pic>
      <p:sp>
        <p:nvSpPr>
          <p:cNvPr id="15" name="Shape 10"/>
          <p:cNvSpPr/>
          <p:nvPr/>
        </p:nvSpPr>
        <p:spPr>
          <a:xfrm>
            <a:off x="3886200" y="3869485"/>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869485"/>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“Each column has a blind spot. The three blind spots do not overlap.”</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Should Happen When It Runs Out?</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WHAT HAPPENS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sensible answers; pick one deliberately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457200" y="1234440"/>
            <a:ext cx="2606040" cy="3108960"/>
          </a:xfrm>
          <a:prstGeom prst="roundRect">
            <a:avLst>
              <a:gd name="adj" fmla="val 2807"/>
            </a:avLst>
          </a:prstGeom>
          <a:solidFill>
            <a:srgbClr val="FEF2F2"/>
          </a:solidFill>
          <a:ln w="12700">
            <a:solidFill>
              <a:srgbClr val="FEF2F2"/>
            </a:solidFill>
            <a:prstDash val="solid"/>
          </a:ln>
        </p:spPr>
      </p:sp>
      <p:sp>
        <p:nvSpPr>
          <p:cNvPr id="7" name="Text 5"/>
          <p:cNvSpPr txBox="1"/>
          <p:nvPr/>
        </p:nvSpPr>
        <p:spPr>
          <a:xfrm>
            <a:off x="658368" y="1371600"/>
            <a:ext cx="2240280" cy="411480"/>
          </a:xfrm>
          <a:prstGeom prst="rect">
            <a:avLst/>
          </a:prstGeom>
          <a:noFill/>
          <a:ln/>
        </p:spPr>
        <p:txBody>
          <a:bodyPr wrap="square" lIns="0" tIns="0" rIns="0" bIns="0" rtlCol="0" anchor="t"/>
          <a:lstStyle/>
          <a:p>
            <a:pPr indent="0" marL="0">
              <a:buNone/>
            </a:pPr>
            <a:r>
              <a:rPr lang="en-US" sz="2400" b="1" dirty="0">
                <a:solidFill>
                  <a:srgbClr val="B91C1C"/>
                </a:solidFill>
                <a:latin typeface="Cambria" pitchFamily="34" charset="0"/>
                <a:ea typeface="Cambria" pitchFamily="34" charset="-122"/>
                <a:cs typeface="Cambria" pitchFamily="34" charset="-120"/>
              </a:rPr>
              <a:t>STOP</a:t>
            </a:r>
            <a:endParaRPr lang="en-US" sz="2400" dirty="0"/>
          </a:p>
        </p:txBody>
      </p:sp>
      <p:sp>
        <p:nvSpPr>
          <p:cNvPr id="8" name="Text 6"/>
          <p:cNvSpPr txBox="1"/>
          <p:nvPr/>
        </p:nvSpPr>
        <p:spPr>
          <a:xfrm>
            <a:off x="658368" y="1783080"/>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refuse, and say why</a:t>
            </a:r>
            <a:endParaRPr lang="en-US" sz="1050" dirty="0"/>
          </a:p>
        </p:txBody>
      </p:sp>
      <p:sp>
        <p:nvSpPr>
          <p:cNvPr id="9" name="Text 7"/>
          <p:cNvSpPr txBox="1"/>
          <p:nvPr/>
        </p:nvSpPr>
        <p:spPr>
          <a:xfrm>
            <a:off x="658368" y="2084832"/>
            <a:ext cx="2240280" cy="914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task fails; the caller gets a clear message saying the budget ran out.</a:t>
            </a:r>
            <a:endParaRPr lang="en-US" sz="1200" dirty="0"/>
          </a:p>
        </p:txBody>
      </p:sp>
      <p:sp>
        <p:nvSpPr>
          <p:cNvPr id="10" name="Text 8"/>
          <p:cNvSpPr txBox="1"/>
          <p:nvPr/>
        </p:nvSpPr>
        <p:spPr>
          <a:xfrm>
            <a:off x="658368" y="3017520"/>
            <a:ext cx="2240280" cy="201168"/>
          </a:xfrm>
          <a:prstGeom prst="rect">
            <a:avLst/>
          </a:prstGeom>
          <a:noFill/>
          <a:ln/>
        </p:spPr>
        <p:txBody>
          <a:bodyPr wrap="square" lIns="0" tIns="0" rIns="0" bIns="0" rtlCol="0" anchor="t"/>
          <a:lstStyle/>
          <a:p>
            <a:pPr indent="0" marL="0">
              <a:buNone/>
            </a:pPr>
            <a:r>
              <a:rPr lang="en-US" sz="900" b="1" spc="150" kern="0" dirty="0">
                <a:solidFill>
                  <a:srgbClr val="B91C1C"/>
                </a:solidFill>
                <a:latin typeface="Calibri" pitchFamily="34" charset="0"/>
                <a:ea typeface="Calibri" pitchFamily="34" charset="-122"/>
                <a:cs typeface="Calibri" pitchFamily="34" charset="-120"/>
              </a:rPr>
              <a:t>USE IT WHEN</a:t>
            </a:r>
            <a:endParaRPr lang="en-US" sz="900" dirty="0"/>
          </a:p>
        </p:txBody>
      </p:sp>
      <p:sp>
        <p:nvSpPr>
          <p:cNvPr id="11" name="Text 9"/>
          <p:cNvSpPr txBox="1"/>
          <p:nvPr/>
        </p:nvSpPr>
        <p:spPr>
          <a:xfrm>
            <a:off x="658368" y="322783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wrong answer is worse than no answer.</a:t>
            </a:r>
            <a:endParaRPr lang="en-US" sz="1150" dirty="0"/>
          </a:p>
        </p:txBody>
      </p:sp>
      <p:sp>
        <p:nvSpPr>
          <p:cNvPr id="12" name="Text 10"/>
          <p:cNvSpPr txBox="1"/>
          <p:nvPr/>
        </p:nvSpPr>
        <p:spPr>
          <a:xfrm>
            <a:off x="658368" y="3931920"/>
            <a:ext cx="2240280" cy="32004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fraud checks · medical · legal</a:t>
            </a:r>
            <a:endParaRPr lang="en-US" sz="1050" dirty="0"/>
          </a:p>
        </p:txBody>
      </p:sp>
      <p:sp>
        <p:nvSpPr>
          <p:cNvPr id="13" name="Shape 11"/>
          <p:cNvSpPr/>
          <p:nvPr/>
        </p:nvSpPr>
        <p:spPr>
          <a:xfrm>
            <a:off x="3246120" y="1234440"/>
            <a:ext cx="2606040" cy="3108960"/>
          </a:xfrm>
          <a:prstGeom prst="roundRect">
            <a:avLst>
              <a:gd name="adj" fmla="val 2807"/>
            </a:avLst>
          </a:prstGeom>
          <a:solidFill>
            <a:srgbClr val="FFFBEB"/>
          </a:solidFill>
          <a:ln w="12700">
            <a:solidFill>
              <a:srgbClr val="FFFBEB"/>
            </a:solidFill>
            <a:prstDash val="solid"/>
          </a:ln>
        </p:spPr>
      </p:sp>
      <p:sp>
        <p:nvSpPr>
          <p:cNvPr id="14" name="Text 12"/>
          <p:cNvSpPr txBox="1"/>
          <p:nvPr/>
        </p:nvSpPr>
        <p:spPr>
          <a:xfrm>
            <a:off x="3447288" y="1371600"/>
            <a:ext cx="2240280" cy="41148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DEGRADE</a:t>
            </a:r>
            <a:endParaRPr lang="en-US" sz="2400" dirty="0"/>
          </a:p>
        </p:txBody>
      </p:sp>
      <p:sp>
        <p:nvSpPr>
          <p:cNvPr id="15" name="Text 13"/>
          <p:cNvSpPr txBox="1"/>
          <p:nvPr/>
        </p:nvSpPr>
        <p:spPr>
          <a:xfrm>
            <a:off x="3447288" y="1783080"/>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give a cheaper answer</a:t>
            </a:r>
            <a:endParaRPr lang="en-US" sz="1050" dirty="0"/>
          </a:p>
        </p:txBody>
      </p:sp>
      <p:sp>
        <p:nvSpPr>
          <p:cNvPr id="16" name="Text 14"/>
          <p:cNvSpPr txBox="1"/>
          <p:nvPr/>
        </p:nvSpPr>
        <p:spPr>
          <a:xfrm>
            <a:off x="3447288" y="2084832"/>
            <a:ext cx="2240280" cy="914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Switch to a smaller model, return a simpler result, or serve one from cache.</a:t>
            </a:r>
            <a:endParaRPr lang="en-US" sz="1200" dirty="0"/>
          </a:p>
        </p:txBody>
      </p:sp>
      <p:sp>
        <p:nvSpPr>
          <p:cNvPr id="17" name="Text 15"/>
          <p:cNvSpPr txBox="1"/>
          <p:nvPr/>
        </p:nvSpPr>
        <p:spPr>
          <a:xfrm>
            <a:off x="3447288" y="3017520"/>
            <a:ext cx="2240280" cy="201168"/>
          </a:xfrm>
          <a:prstGeom prst="rect">
            <a:avLst/>
          </a:prstGeom>
          <a:noFill/>
          <a:ln/>
        </p:spPr>
        <p:txBody>
          <a:bodyPr wrap="square" lIns="0" tIns="0" rIns="0" bIns="0" rtlCol="0" anchor="t"/>
          <a:lstStyle/>
          <a:p>
            <a:pPr indent="0" marL="0">
              <a:buNone/>
            </a:pPr>
            <a:r>
              <a:rPr lang="en-US" sz="900" b="1" spc="150" kern="0" dirty="0">
                <a:solidFill>
                  <a:srgbClr val="B45309"/>
                </a:solidFill>
                <a:latin typeface="Calibri" pitchFamily="34" charset="0"/>
                <a:ea typeface="Calibri" pitchFamily="34" charset="-122"/>
                <a:cs typeface="Calibri" pitchFamily="34" charset="-120"/>
              </a:rPr>
              <a:t>USE IT WHEN</a:t>
            </a:r>
            <a:endParaRPr lang="en-US" sz="900" dirty="0"/>
          </a:p>
        </p:txBody>
      </p:sp>
      <p:sp>
        <p:nvSpPr>
          <p:cNvPr id="18" name="Text 16"/>
          <p:cNvSpPr txBox="1"/>
          <p:nvPr/>
        </p:nvSpPr>
        <p:spPr>
          <a:xfrm>
            <a:off x="3447288" y="322783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Something is better than nothing.</a:t>
            </a:r>
            <a:endParaRPr lang="en-US" sz="1150" dirty="0"/>
          </a:p>
        </p:txBody>
      </p:sp>
      <p:sp>
        <p:nvSpPr>
          <p:cNvPr id="19" name="Text 17"/>
          <p:cNvSpPr txBox="1"/>
          <p:nvPr/>
        </p:nvSpPr>
        <p:spPr>
          <a:xfrm>
            <a:off x="3447288" y="3931920"/>
            <a:ext cx="2240280" cy="32004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search · summaries · suggestions</a:t>
            </a:r>
            <a:endParaRPr lang="en-US" sz="1050" dirty="0"/>
          </a:p>
        </p:txBody>
      </p:sp>
      <p:sp>
        <p:nvSpPr>
          <p:cNvPr id="20" name="Shape 18"/>
          <p:cNvSpPr/>
          <p:nvPr/>
        </p:nvSpPr>
        <p:spPr>
          <a:xfrm>
            <a:off x="6035040" y="1234440"/>
            <a:ext cx="2606040" cy="3108960"/>
          </a:xfrm>
          <a:prstGeom prst="roundRect">
            <a:avLst>
              <a:gd name="adj" fmla="val 2807"/>
            </a:avLst>
          </a:prstGeom>
          <a:solidFill>
            <a:srgbClr val="ECFDF5"/>
          </a:solidFill>
          <a:ln w="12700">
            <a:solidFill>
              <a:srgbClr val="ECFDF5"/>
            </a:solidFill>
            <a:prstDash val="solid"/>
          </a:ln>
        </p:spPr>
      </p:sp>
      <p:sp>
        <p:nvSpPr>
          <p:cNvPr id="21" name="Text 19"/>
          <p:cNvSpPr txBox="1"/>
          <p:nvPr/>
        </p:nvSpPr>
        <p:spPr>
          <a:xfrm>
            <a:off x="6236208" y="1371600"/>
            <a:ext cx="2240280" cy="411480"/>
          </a:xfrm>
          <a:prstGeom prst="rect">
            <a:avLst/>
          </a:prstGeom>
          <a:noFill/>
          <a:ln/>
        </p:spPr>
        <p:txBody>
          <a:bodyPr wrap="square" lIns="0" tIns="0" rIns="0" bIns="0" rtlCol="0" anchor="t"/>
          <a:lstStyle/>
          <a:p>
            <a:pPr indent="0" marL="0">
              <a:buNone/>
            </a:pPr>
            <a:r>
              <a:rPr lang="en-US" sz="2400" b="1" dirty="0">
                <a:solidFill>
                  <a:srgbClr val="047857"/>
                </a:solidFill>
                <a:latin typeface="Cambria" pitchFamily="34" charset="0"/>
                <a:ea typeface="Cambria" pitchFamily="34" charset="-122"/>
                <a:cs typeface="Cambria" pitchFamily="34" charset="-120"/>
              </a:rPr>
              <a:t>QUEUE</a:t>
            </a:r>
            <a:endParaRPr lang="en-US" sz="2400" dirty="0"/>
          </a:p>
        </p:txBody>
      </p:sp>
      <p:sp>
        <p:nvSpPr>
          <p:cNvPr id="22" name="Text 20"/>
          <p:cNvSpPr txBox="1"/>
          <p:nvPr/>
        </p:nvSpPr>
        <p:spPr>
          <a:xfrm>
            <a:off x="6236208" y="1783080"/>
            <a:ext cx="224028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try again later</a:t>
            </a:r>
            <a:endParaRPr lang="en-US" sz="1050" dirty="0"/>
          </a:p>
        </p:txBody>
      </p:sp>
      <p:sp>
        <p:nvSpPr>
          <p:cNvPr id="23" name="Text 21"/>
          <p:cNvSpPr txBox="1"/>
          <p:nvPr/>
        </p:nvSpPr>
        <p:spPr>
          <a:xfrm>
            <a:off x="6236208" y="2084832"/>
            <a:ext cx="2240280" cy="9144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Put the task aside and run it when the budget refills, usually at midnight.</a:t>
            </a:r>
            <a:endParaRPr lang="en-US" sz="1200" dirty="0"/>
          </a:p>
        </p:txBody>
      </p:sp>
      <p:sp>
        <p:nvSpPr>
          <p:cNvPr id="24" name="Text 22"/>
          <p:cNvSpPr txBox="1"/>
          <p:nvPr/>
        </p:nvSpPr>
        <p:spPr>
          <a:xfrm>
            <a:off x="6236208" y="3017520"/>
            <a:ext cx="2240280" cy="201168"/>
          </a:xfrm>
          <a:prstGeom prst="rect">
            <a:avLst/>
          </a:prstGeom>
          <a:noFill/>
          <a:ln/>
        </p:spPr>
        <p:txBody>
          <a:bodyPr wrap="square" lIns="0" tIns="0" rIns="0" bIns="0" rtlCol="0" anchor="t"/>
          <a:lstStyle/>
          <a:p>
            <a:pPr indent="0" marL="0">
              <a:buNone/>
            </a:pPr>
            <a:r>
              <a:rPr lang="en-US" sz="900" b="1" spc="150" kern="0" dirty="0">
                <a:solidFill>
                  <a:srgbClr val="047857"/>
                </a:solidFill>
                <a:latin typeface="Calibri" pitchFamily="34" charset="0"/>
                <a:ea typeface="Calibri" pitchFamily="34" charset="-122"/>
                <a:cs typeface="Calibri" pitchFamily="34" charset="-120"/>
              </a:rPr>
              <a:t>USE IT WHEN</a:t>
            </a:r>
            <a:endParaRPr lang="en-US" sz="900" dirty="0"/>
          </a:p>
        </p:txBody>
      </p:sp>
      <p:sp>
        <p:nvSpPr>
          <p:cNvPr id="25" name="Text 23"/>
          <p:cNvSpPr txBox="1"/>
          <p:nvPr/>
        </p:nvSpPr>
        <p:spPr>
          <a:xfrm>
            <a:off x="6236208" y="322783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work matters but the timing does not.</a:t>
            </a:r>
            <a:endParaRPr lang="en-US" sz="1150" dirty="0"/>
          </a:p>
        </p:txBody>
      </p:sp>
      <p:sp>
        <p:nvSpPr>
          <p:cNvPr id="26" name="Text 24"/>
          <p:cNvSpPr txBox="1"/>
          <p:nvPr/>
        </p:nvSpPr>
        <p:spPr>
          <a:xfrm>
            <a:off x="6236208" y="3931920"/>
            <a:ext cx="2240280" cy="32004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reports · batch jobs · backfills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WHAT HAPPENS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fourth option, which you get by not choosing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234440"/>
            <a:ext cx="8229600" cy="1828800"/>
          </a:xfrm>
          <a:prstGeom prst="roundRect">
            <a:avLst>
              <a:gd name="adj" fmla="val 4000"/>
            </a:avLst>
          </a:prstGeom>
          <a:solidFill>
            <a:srgbClr val="FEF2F2"/>
          </a:solidFill>
          <a:ln w="31750">
            <a:solidFill>
              <a:srgbClr val="B91C1C"/>
            </a:solidFill>
            <a:prstDash val="solid"/>
          </a:ln>
        </p:spPr>
      </p:sp>
      <p:pic>
        <p:nvPicPr>
          <p:cNvPr id="7" name="Image 0" descr="preencoded.png">    </p:cNvPr>
          <p:cNvPicPr>
            <a:picLocks noChangeAspect="1"/>
          </p:cNvPicPr>
          <p:nvPr/>
        </p:nvPicPr>
        <p:blipFill>
          <a:blip r:embed="rId1"/>
          <a:stretch>
            <a:fillRect/>
          </a:stretch>
        </p:blipFill>
        <p:spPr>
          <a:xfrm>
            <a:off x="731520" y="1463040"/>
            <a:ext cx="457200" cy="457200"/>
          </a:xfrm>
          <a:prstGeom prst="rect">
            <a:avLst/>
          </a:prstGeom>
        </p:spPr>
      </p:pic>
      <p:sp>
        <p:nvSpPr>
          <p:cNvPr id="8" name="Text 5"/>
          <p:cNvSpPr txBox="1"/>
          <p:nvPr/>
        </p:nvSpPr>
        <p:spPr>
          <a:xfrm>
            <a:off x="1371600" y="1417320"/>
            <a:ext cx="7040880" cy="9144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The agent runs out of budget in the middle of a thought, crashes in some way nobody planned for, and leaves half-finished work behind with no message explaining anything.</a:t>
            </a:r>
            <a:endParaRPr lang="en-US" sz="1600" dirty="0"/>
          </a:p>
        </p:txBody>
      </p:sp>
      <p:sp>
        <p:nvSpPr>
          <p:cNvPr id="9" name="Text 6"/>
          <p:cNvSpPr txBox="1"/>
          <p:nvPr/>
        </p:nvSpPr>
        <p:spPr>
          <a:xfrm>
            <a:off x="1371600" y="2377440"/>
            <a:ext cx="7040880" cy="548640"/>
          </a:xfrm>
          <a:prstGeom prst="rect">
            <a:avLst/>
          </a:prstGeom>
          <a:noFill/>
          <a:ln/>
        </p:spPr>
        <p:txBody>
          <a:bodyPr wrap="square" lIns="0" tIns="0" rIns="0" bIns="0" rtlCol="0" anchor="t"/>
          <a:lstStyle/>
          <a:p>
            <a:pPr indent="0" marL="0">
              <a:buNone/>
            </a:pPr>
            <a:r>
              <a:rPr lang="en-US" sz="1300" i="1" dirty="0">
                <a:solidFill>
                  <a:srgbClr val="B91C1C"/>
                </a:solidFill>
                <a:latin typeface="Calibri" pitchFamily="34" charset="0"/>
                <a:ea typeface="Calibri" pitchFamily="34" charset="-122"/>
                <a:cs typeface="Calibri" pitchFamily="34" charset="-120"/>
              </a:rPr>
              <a:t>Somebody then spends an afternoon working out why; and the honest answer is that you added a limit and never decided what it should do.</a:t>
            </a:r>
            <a:endParaRPr lang="en-US" sz="1300" dirty="0"/>
          </a:p>
        </p:txBody>
      </p:sp>
      <p:sp>
        <p:nvSpPr>
          <p:cNvPr id="10" name="Shape 7"/>
          <p:cNvSpPr/>
          <p:nvPr/>
        </p:nvSpPr>
        <p:spPr>
          <a:xfrm>
            <a:off x="457200" y="3291840"/>
            <a:ext cx="8229600" cy="1188720"/>
          </a:xfrm>
          <a:prstGeom prst="roundRect">
            <a:avLst>
              <a:gd name="adj" fmla="val 6154"/>
            </a:avLst>
          </a:prstGeom>
          <a:solidFill>
            <a:srgbClr val="111827"/>
          </a:solidFill>
          <a:ln w="12700">
            <a:solidFill>
              <a:srgbClr val="111827"/>
            </a:solidFill>
            <a:prstDash val="solid"/>
          </a:ln>
        </p:spPr>
      </p:sp>
      <p:sp>
        <p:nvSpPr>
          <p:cNvPr id="11" name="Text 8"/>
          <p:cNvSpPr txBox="1"/>
          <p:nvPr/>
        </p:nvSpPr>
        <p:spPr>
          <a:xfrm>
            <a:off x="731520" y="3291840"/>
            <a:ext cx="7680960" cy="118872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Pick one of the three. On purpose. Before you ship it.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Write down which one you picked and why, because the next person will want to know.</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03 · What Happens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choices, and the fourth</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Three option cards, then the fourth-option panel underneath; that panel is the point of the section.</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tall cards, large titles: STOP · DEGRADE · QUEUE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each title a short description: refuse and say why · give a cheaper answer · try again later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STOP: the task fails, the caller gets a clear message. USE IT WHEN a wrong answer is worse than no answer. Examples: fraud, medical, legal</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DEGRADE: smaller model, simpler result, or cached. USE IT WHEN something is better than nothing. Examples: search, summaries, suggestions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QUEUE: set it aside, run it when the budget refills at midnight. USE IT WHEN the work matters but the timing does not. Examples: reports, batch jobs, backfills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Underneath, a wide box with a heavy outline: AND THE FOURTH OPTION, WHICH YOU GET BY NOT CHOOSING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Inside: runs out mid-thought, crashes in a way nobody planned for, half-finished work, no message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Then a line, and under it: pick one of the three above. On purpose. Before you ship it.</a:t>
            </a:r>
            <a:endParaRPr lang="en-US" sz="950" dirty="0"/>
          </a:p>
        </p:txBody>
      </p:sp>
      <p:sp>
        <p:nvSpPr>
          <p:cNvPr id="12" name="Shape 8"/>
          <p:cNvSpPr/>
          <p:nvPr/>
        </p:nvSpPr>
        <p:spPr>
          <a:xfrm>
            <a:off x="3886200" y="1536192"/>
            <a:ext cx="4800600" cy="2010792"/>
          </a:xfrm>
          <a:prstGeom prst="roundRect">
            <a:avLst>
              <a:gd name="adj" fmla="val 3638"/>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553592"/>
          </a:xfrm>
          <a:prstGeom prst="rect">
            <a:avLst/>
          </a:prstGeom>
        </p:spPr>
      </p:pic>
      <p:sp>
        <p:nvSpPr>
          <p:cNvPr id="15" name="Shape 10"/>
          <p:cNvSpPr/>
          <p:nvPr/>
        </p:nvSpPr>
        <p:spPr>
          <a:xfrm>
            <a:off x="3886200" y="3702432"/>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702432"/>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bottom panel is what happens by default. It is nobody's intention and everybody's outcome.”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Kill Switch</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THE SWITCH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setting, flipped by hand, in seconds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a:t>
            </a:r>
            <a:endParaRPr lang="en-US" sz="900" dirty="0"/>
          </a:p>
        </p:txBody>
      </p:sp>
      <p:sp>
        <p:nvSpPr>
          <p:cNvPr id="6" name="Text 4"/>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Not a code change. Not a deployment. One setting the agent checks, so flipping it takes effect within seconds.</a:t>
            </a:r>
            <a:endParaRPr lang="en-US" sz="1400" dirty="0"/>
          </a:p>
        </p:txBody>
      </p:sp>
      <p:sp>
        <p:nvSpPr>
          <p:cNvPr id="7" name="Shape 5"/>
          <p:cNvSpPr/>
          <p:nvPr/>
        </p:nvSpPr>
        <p:spPr>
          <a:xfrm>
            <a:off x="457200" y="1645920"/>
            <a:ext cx="2651760" cy="2286000"/>
          </a:xfrm>
          <a:prstGeom prst="roundRect">
            <a:avLst>
              <a:gd name="adj" fmla="val 3200"/>
            </a:avLst>
          </a:prstGeom>
          <a:solidFill>
            <a:srgbClr val="F3F4F6"/>
          </a:solidFill>
          <a:ln w="12700">
            <a:solidFill>
              <a:srgbClr val="F3F4F6"/>
            </a:solidFill>
            <a:prstDash val="solid"/>
          </a:ln>
        </p:spPr>
      </p:sp>
      <p:sp>
        <p:nvSpPr>
          <p:cNvPr id="8" name="Text 6"/>
          <p:cNvSpPr txBox="1"/>
          <p:nvPr/>
        </p:nvSpPr>
        <p:spPr>
          <a:xfrm>
            <a:off x="640080" y="1783080"/>
            <a:ext cx="22860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ONE SETTING</a:t>
            </a:r>
            <a:endParaRPr lang="en-US" sz="1000" dirty="0"/>
          </a:p>
        </p:txBody>
      </p:sp>
      <p:sp>
        <p:nvSpPr>
          <p:cNvPr id="9" name="Shape 7"/>
          <p:cNvSpPr/>
          <p:nvPr/>
        </p:nvSpPr>
        <p:spPr>
          <a:xfrm>
            <a:off x="685800" y="2148840"/>
            <a:ext cx="1097280" cy="457200"/>
          </a:xfrm>
          <a:prstGeom prst="roundRect">
            <a:avLst>
              <a:gd name="adj" fmla="val 50000"/>
            </a:avLst>
          </a:prstGeom>
          <a:solidFill>
            <a:srgbClr val="047857"/>
          </a:solidFill>
          <a:ln w="12700">
            <a:solidFill>
              <a:srgbClr val="047857"/>
            </a:solidFill>
            <a:prstDash val="solid"/>
          </a:ln>
        </p:spPr>
      </p:sp>
      <p:sp>
        <p:nvSpPr>
          <p:cNvPr id="10" name="Shape 8"/>
          <p:cNvSpPr/>
          <p:nvPr/>
        </p:nvSpPr>
        <p:spPr>
          <a:xfrm>
            <a:off x="1371600" y="2212848"/>
            <a:ext cx="329184" cy="329184"/>
          </a:xfrm>
          <a:prstGeom prst="ellipse">
            <a:avLst/>
          </a:prstGeom>
          <a:solidFill>
            <a:srgbClr val="FFFFFF"/>
          </a:solidFill>
          <a:ln w="12700">
            <a:solidFill>
              <a:srgbClr val="FFFFFF"/>
            </a:solidFill>
            <a:prstDash val="solid"/>
          </a:ln>
        </p:spPr>
      </p:sp>
      <p:sp>
        <p:nvSpPr>
          <p:cNvPr id="11" name="Text 9"/>
          <p:cNvSpPr txBox="1"/>
          <p:nvPr/>
        </p:nvSpPr>
        <p:spPr>
          <a:xfrm>
            <a:off x="1874520" y="2148840"/>
            <a:ext cx="1097280" cy="45720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ON</a:t>
            </a:r>
            <a:endParaRPr lang="en-US" sz="1300" dirty="0"/>
          </a:p>
        </p:txBody>
      </p:sp>
      <p:sp>
        <p:nvSpPr>
          <p:cNvPr id="12" name="Shape 10"/>
          <p:cNvSpPr/>
          <p:nvPr/>
        </p:nvSpPr>
        <p:spPr>
          <a:xfrm>
            <a:off x="685800" y="2834640"/>
            <a:ext cx="1097280" cy="457200"/>
          </a:xfrm>
          <a:prstGeom prst="roundRect">
            <a:avLst>
              <a:gd name="adj" fmla="val 50000"/>
            </a:avLst>
          </a:prstGeom>
          <a:solidFill>
            <a:srgbClr val="B91C1C"/>
          </a:solidFill>
          <a:ln w="12700">
            <a:solidFill>
              <a:srgbClr val="B91C1C"/>
            </a:solidFill>
            <a:prstDash val="solid"/>
          </a:ln>
        </p:spPr>
      </p:sp>
      <p:sp>
        <p:nvSpPr>
          <p:cNvPr id="13" name="Shape 11"/>
          <p:cNvSpPr/>
          <p:nvPr/>
        </p:nvSpPr>
        <p:spPr>
          <a:xfrm>
            <a:off x="749808" y="2898648"/>
            <a:ext cx="329184" cy="329184"/>
          </a:xfrm>
          <a:prstGeom prst="ellipse">
            <a:avLst/>
          </a:prstGeom>
          <a:solidFill>
            <a:srgbClr val="FFFFFF"/>
          </a:solidFill>
          <a:ln w="12700">
            <a:solidFill>
              <a:srgbClr val="FFFFFF"/>
            </a:solidFill>
            <a:prstDash val="solid"/>
          </a:ln>
        </p:spPr>
      </p:sp>
      <p:sp>
        <p:nvSpPr>
          <p:cNvPr id="14" name="Text 12"/>
          <p:cNvSpPr txBox="1"/>
          <p:nvPr/>
        </p:nvSpPr>
        <p:spPr>
          <a:xfrm>
            <a:off x="1874520" y="2834640"/>
            <a:ext cx="1097280" cy="45720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OFF</a:t>
            </a:r>
            <a:endParaRPr lang="en-US" sz="1300" dirty="0"/>
          </a:p>
        </p:txBody>
      </p:sp>
      <p:sp>
        <p:nvSpPr>
          <p:cNvPr id="15" name="Text 13"/>
          <p:cNvSpPr txBox="1"/>
          <p:nvPr/>
        </p:nvSpPr>
        <p:spPr>
          <a:xfrm>
            <a:off x="685800" y="3429000"/>
            <a:ext cx="2194560" cy="320040"/>
          </a:xfrm>
          <a:prstGeom prst="rect">
            <a:avLst/>
          </a:prstGeom>
          <a:noFill/>
          <a:ln/>
        </p:spPr>
        <p:txBody>
          <a:bodyPr wrap="square" lIns="0" tIns="0" rIns="0" bIns="0" rtlCol="0" anchor="t"/>
          <a:lstStyle/>
          <a:p>
            <a:pPr indent="0" marL="0">
              <a:buNone/>
            </a:pPr>
            <a:r>
              <a:rPr lang="en-US" sz="1200" i="1" dirty="0">
                <a:solidFill>
                  <a:srgbClr val="B45309"/>
                </a:solidFill>
                <a:latin typeface="Calibri" pitchFamily="34" charset="0"/>
                <a:ea typeface="Calibri" pitchFamily="34" charset="-122"/>
                <a:cs typeface="Calibri" pitchFamily="34" charset="-120"/>
              </a:rPr>
              <a:t>flip it</a:t>
            </a:r>
            <a:endParaRPr lang="en-US" sz="1200" dirty="0"/>
          </a:p>
        </p:txBody>
      </p:sp>
      <p:sp>
        <p:nvSpPr>
          <p:cNvPr id="16" name="Shape 14"/>
          <p:cNvSpPr/>
          <p:nvPr/>
        </p:nvSpPr>
        <p:spPr>
          <a:xfrm>
            <a:off x="3383280" y="1645920"/>
            <a:ext cx="5303520" cy="2286000"/>
          </a:xfrm>
          <a:prstGeom prst="roundRect">
            <a:avLst>
              <a:gd name="adj" fmla="val 3200"/>
            </a:avLst>
          </a:prstGeom>
          <a:solidFill>
            <a:srgbClr val="F3F4F6"/>
          </a:solidFill>
          <a:ln w="12700">
            <a:solidFill>
              <a:srgbClr val="F3F4F6"/>
            </a:solidFill>
            <a:prstDash val="solid"/>
          </a:ln>
        </p:spPr>
      </p:sp>
      <p:sp>
        <p:nvSpPr>
          <p:cNvPr id="17" name="Text 15"/>
          <p:cNvSpPr txBox="1"/>
          <p:nvPr/>
        </p:nvSpPr>
        <p:spPr>
          <a:xfrm>
            <a:off x="3611880" y="1783080"/>
            <a:ext cx="484632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HAPPENS IMMEDIATELY</a:t>
            </a:r>
            <a:endParaRPr lang="en-US" sz="1000" dirty="0"/>
          </a:p>
        </p:txBody>
      </p:sp>
      <p:sp>
        <p:nvSpPr>
          <p:cNvPr id="18" name="Text 16"/>
          <p:cNvSpPr txBox="1"/>
          <p:nvPr/>
        </p:nvSpPr>
        <p:spPr>
          <a:xfrm>
            <a:off x="3611880" y="2148840"/>
            <a:ext cx="210312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New work</a:t>
            </a:r>
            <a:endParaRPr lang="en-US" sz="1400" dirty="0"/>
          </a:p>
        </p:txBody>
      </p:sp>
      <p:sp>
        <p:nvSpPr>
          <p:cNvPr id="19" name="Text 17"/>
          <p:cNvSpPr txBox="1"/>
          <p:nvPr/>
        </p:nvSpPr>
        <p:spPr>
          <a:xfrm>
            <a:off x="5760720" y="2148840"/>
            <a:ext cx="274320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is refused, politely</a:t>
            </a:r>
            <a:endParaRPr lang="en-US" sz="1400" dirty="0"/>
          </a:p>
        </p:txBody>
      </p:sp>
      <p:sp>
        <p:nvSpPr>
          <p:cNvPr id="20" name="Text 18"/>
          <p:cNvSpPr txBox="1"/>
          <p:nvPr/>
        </p:nvSpPr>
        <p:spPr>
          <a:xfrm>
            <a:off x="3611880" y="2697480"/>
            <a:ext cx="210312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Work already running</a:t>
            </a:r>
            <a:endParaRPr lang="en-US" sz="1400" dirty="0"/>
          </a:p>
        </p:txBody>
      </p:sp>
      <p:sp>
        <p:nvSpPr>
          <p:cNvPr id="21" name="Text 19"/>
          <p:cNvSpPr txBox="1"/>
          <p:nvPr/>
        </p:nvSpPr>
        <p:spPr>
          <a:xfrm>
            <a:off x="5760720" y="2697480"/>
            <a:ext cx="274320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is allowed to finish</a:t>
            </a:r>
            <a:endParaRPr lang="en-US" sz="1400" dirty="0"/>
          </a:p>
        </p:txBody>
      </p:sp>
      <p:sp>
        <p:nvSpPr>
          <p:cNvPr id="22" name="Text 20"/>
          <p:cNvSpPr txBox="1"/>
          <p:nvPr/>
        </p:nvSpPr>
        <p:spPr>
          <a:xfrm>
            <a:off x="3611880" y="3246120"/>
            <a:ext cx="2103120" cy="4572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Nothing</a:t>
            </a:r>
            <a:endParaRPr lang="en-US" sz="1400" dirty="0"/>
          </a:p>
        </p:txBody>
      </p:sp>
      <p:sp>
        <p:nvSpPr>
          <p:cNvPr id="23" name="Text 21"/>
          <p:cNvSpPr txBox="1"/>
          <p:nvPr/>
        </p:nvSpPr>
        <p:spPr>
          <a:xfrm>
            <a:off x="5760720" y="3246120"/>
            <a:ext cx="274320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needs redeploying</a:t>
            </a:r>
            <a:endParaRPr lang="en-US" sz="1400" dirty="0"/>
          </a:p>
        </p:txBody>
      </p:sp>
      <p:sp>
        <p:nvSpPr>
          <p:cNvPr id="24" name="Shape 22"/>
          <p:cNvSpPr/>
          <p:nvPr/>
        </p:nvSpPr>
        <p:spPr>
          <a:xfrm>
            <a:off x="457200" y="4114800"/>
            <a:ext cx="8229600" cy="594360"/>
          </a:xfrm>
          <a:prstGeom prst="roundRect">
            <a:avLst>
              <a:gd name="adj" fmla="val 12308"/>
            </a:avLst>
          </a:prstGeom>
          <a:solidFill>
            <a:srgbClr val="111827"/>
          </a:solidFill>
          <a:ln w="12700">
            <a:solidFill>
              <a:srgbClr val="111827"/>
            </a:solidFill>
            <a:prstDash val="solid"/>
          </a:ln>
        </p:spPr>
      </p:sp>
      <p:sp>
        <p:nvSpPr>
          <p:cNvPr id="25" name="Text 23"/>
          <p:cNvSpPr txBox="1"/>
          <p:nvPr/>
        </p:nvSpPr>
        <p:spPr>
          <a:xfrm>
            <a:off x="457200" y="4114800"/>
            <a:ext cx="8229600" cy="5943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Someone with no context can turn it off and ask questions afterwards. That is the point.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THE SWITCH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Let running work finish; it is called draining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234440"/>
            <a:ext cx="4023360" cy="2011680"/>
          </a:xfrm>
          <a:prstGeom prst="roundRect">
            <a:avLst>
              <a:gd name="adj" fmla="val 3636"/>
            </a:avLst>
          </a:prstGeom>
          <a:solidFill>
            <a:srgbClr val="FEF2F2"/>
          </a:solidFill>
          <a:ln w="12700">
            <a:solidFill>
              <a:srgbClr val="FEF2F2"/>
            </a:solidFill>
            <a:prstDash val="solid"/>
          </a:ln>
        </p:spPr>
      </p:sp>
      <p:sp>
        <p:nvSpPr>
          <p:cNvPr id="7" name="Text 5"/>
          <p:cNvSpPr txBox="1"/>
          <p:nvPr/>
        </p:nvSpPr>
        <p:spPr>
          <a:xfrm>
            <a:off x="685800" y="137160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KILL EVERYTHING AT ONCE</a:t>
            </a:r>
            <a:endParaRPr lang="en-US" sz="1000" dirty="0"/>
          </a:p>
        </p:txBody>
      </p:sp>
      <p:sp>
        <p:nvSpPr>
          <p:cNvPr id="8" name="Text 6"/>
          <p:cNvSpPr txBox="1"/>
          <p:nvPr/>
        </p:nvSpPr>
        <p:spPr>
          <a:xfrm>
            <a:off x="685800" y="1737360"/>
            <a:ext cx="356616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Nine runs were ninety percent done. You paid for all of that work and threw every bit of it away; you pay for it again when you restart.</a:t>
            </a:r>
            <a:endParaRPr lang="en-US" sz="1400" dirty="0"/>
          </a:p>
        </p:txBody>
      </p:sp>
      <p:sp>
        <p:nvSpPr>
          <p:cNvPr id="9" name="Shape 7"/>
          <p:cNvSpPr/>
          <p:nvPr/>
        </p:nvSpPr>
        <p:spPr>
          <a:xfrm>
            <a:off x="4663440" y="1234440"/>
            <a:ext cx="4023360" cy="2011680"/>
          </a:xfrm>
          <a:prstGeom prst="roundRect">
            <a:avLst>
              <a:gd name="adj" fmla="val 3636"/>
            </a:avLst>
          </a:prstGeom>
          <a:solidFill>
            <a:srgbClr val="ECFDF5"/>
          </a:solidFill>
          <a:ln w="12700">
            <a:solidFill>
              <a:srgbClr val="ECFDF5"/>
            </a:solidFill>
            <a:prstDash val="solid"/>
          </a:ln>
        </p:spPr>
      </p:sp>
      <p:sp>
        <p:nvSpPr>
          <p:cNvPr id="10" name="Text 8"/>
          <p:cNvSpPr txBox="1"/>
          <p:nvPr/>
        </p:nvSpPr>
        <p:spPr>
          <a:xfrm>
            <a:off x="4892040" y="137160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DRAIN INSTEAD</a:t>
            </a:r>
            <a:endParaRPr lang="en-US" sz="1000" dirty="0"/>
          </a:p>
        </p:txBody>
      </p:sp>
      <p:sp>
        <p:nvSpPr>
          <p:cNvPr id="11" name="Text 9"/>
          <p:cNvSpPr txBox="1"/>
          <p:nvPr/>
        </p:nvSpPr>
        <p:spPr>
          <a:xfrm>
            <a:off x="4892040" y="1737360"/>
            <a:ext cx="356616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Stop taking new work, let the nine finish. It costs you the last ten percent, and the bleeding stops either way.</a:t>
            </a:r>
            <a:endParaRPr lang="en-US" sz="1400" dirty="0"/>
          </a:p>
        </p:txBody>
      </p:sp>
      <p:sp>
        <p:nvSpPr>
          <p:cNvPr id="12" name="Shape 10"/>
          <p:cNvSpPr/>
          <p:nvPr/>
        </p:nvSpPr>
        <p:spPr>
          <a:xfrm>
            <a:off x="457200" y="3474720"/>
            <a:ext cx="8229600" cy="1188720"/>
          </a:xfrm>
          <a:prstGeom prst="roundRect">
            <a:avLst>
              <a:gd name="adj" fmla="val 6154"/>
            </a:avLst>
          </a:prstGeom>
          <a:solidFill>
            <a:srgbClr val="111827"/>
          </a:solidFill>
          <a:ln w="12700">
            <a:solidFill>
              <a:srgbClr val="111827"/>
            </a:solidFill>
            <a:prstDash val="solid"/>
          </a:ln>
        </p:spPr>
      </p:sp>
      <p:pic>
        <p:nvPicPr>
          <p:cNvPr id="13" name="Image 0" descr="preencoded.png">    </p:cNvPr>
          <p:cNvPicPr>
            <a:picLocks noChangeAspect="1"/>
          </p:cNvPicPr>
          <p:nvPr/>
        </p:nvPicPr>
        <p:blipFill>
          <a:blip r:embed="rId1"/>
          <a:stretch>
            <a:fillRect/>
          </a:stretch>
        </p:blipFill>
        <p:spPr>
          <a:xfrm>
            <a:off x="777240" y="3840480"/>
            <a:ext cx="411480" cy="411480"/>
          </a:xfrm>
          <a:prstGeom prst="rect">
            <a:avLst/>
          </a:prstGeom>
        </p:spPr>
      </p:pic>
      <p:sp>
        <p:nvSpPr>
          <p:cNvPr id="14" name="Text 11"/>
          <p:cNvSpPr txBox="1"/>
          <p:nvPr/>
        </p:nvSpPr>
        <p:spPr>
          <a:xfrm>
            <a:off x="1417320" y="3474720"/>
            <a:ext cx="6949440" cy="11887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 kill switch you have never tested is not a kill switch. </a:t>
            </a:r>
            <a:pPr indent="0" marL="0">
              <a:buNone/>
            </a:pPr>
            <a:r>
              <a:rPr lang="en-US" sz="1400" dirty="0">
                <a:solidFill>
                  <a:srgbClr val="FFFFFF"/>
                </a:solidFill>
                <a:latin typeface="Calibri" pitchFamily="34" charset="0"/>
                <a:ea typeface="Calibri" pitchFamily="34" charset="-122"/>
                <a:cs typeface="Calibri" pitchFamily="34" charset="-120"/>
              </a:rPr>
              <a:t>It is a hope. The first time you flip it must not be during an actual incident; we test it in section five, deliberately, while everything is calm.</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04 · The Switch</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switch and the draining</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Switch on the left, effects on the right, then the draining comparison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a box titled ONE SETTING with two rounded toggles stacked; ON with its circle to the right, OFF with its circle to the left, shaded differently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Arrow pointing right, labelled: flip it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a wider box titled WHAT HAPPENS IMMEDIATELY, with three rows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Rows: new work is refused politely · work already running is allowed to finish · nothing needs redeploying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underneath: why let running work finish? It is called draining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box KILL EVERYTHING AT ONCE: nine runs were ninety percent done; you paid for all of it and threw it away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box DRAIN INSTEAD: stop taking new work, let the nine finish; the bleeding stops either way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very bottom: a kill switch you have never tested is not a kill switch, it is a hope</a:t>
            </a:r>
            <a:endParaRPr lang="en-US" sz="950" dirty="0"/>
          </a:p>
        </p:txBody>
      </p:sp>
      <p:sp>
        <p:nvSpPr>
          <p:cNvPr id="12" name="Shape 8"/>
          <p:cNvSpPr/>
          <p:nvPr/>
        </p:nvSpPr>
        <p:spPr>
          <a:xfrm>
            <a:off x="3886200" y="1536192"/>
            <a:ext cx="4800600" cy="2339788"/>
          </a:xfrm>
          <a:prstGeom prst="roundRect">
            <a:avLst>
              <a:gd name="adj" fmla="val 312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882588"/>
          </a:xfrm>
          <a:prstGeom prst="rect">
            <a:avLst/>
          </a:prstGeom>
        </p:spPr>
      </p:pic>
      <p:sp>
        <p:nvSpPr>
          <p:cNvPr id="15" name="Shape 10"/>
          <p:cNvSpPr/>
          <p:nvPr/>
        </p:nvSpPr>
        <p:spPr>
          <a:xfrm>
            <a:off x="3886200" y="4031428"/>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031428"/>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draining comparison underneath is the part people get wrong.”</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Fire Drill</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FIRE DRILL</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tests, today, while nothing is wrong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234440"/>
            <a:ext cx="8229600" cy="731520"/>
          </a:xfrm>
          <a:prstGeom prst="roundRect">
            <a:avLst>
              <a:gd name="adj" fmla="val 10000"/>
            </a:avLst>
          </a:prstGeom>
          <a:solidFill>
            <a:srgbClr val="F3F4F6"/>
          </a:solidFill>
          <a:ln w="12700">
            <a:solidFill>
              <a:srgbClr val="F3F4F6"/>
            </a:solidFill>
            <a:prstDash val="solid"/>
          </a:ln>
        </p:spPr>
      </p:sp>
      <p:sp>
        <p:nvSpPr>
          <p:cNvPr id="7" name="Text 5"/>
          <p:cNvSpPr txBox="1"/>
          <p:nvPr/>
        </p:nvSpPr>
        <p:spPr>
          <a:xfrm>
            <a:off x="685800" y="1234440"/>
            <a:ext cx="411480" cy="73152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1188720" y="1234440"/>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Spend past the run cap</a:t>
            </a:r>
            <a:endParaRPr lang="en-US" sz="1400" dirty="0"/>
          </a:p>
        </p:txBody>
      </p:sp>
      <p:sp>
        <p:nvSpPr>
          <p:cNvPr id="9" name="Text 7"/>
          <p:cNvSpPr txBox="1"/>
          <p:nvPr/>
        </p:nvSpPr>
        <p:spPr>
          <a:xfrm>
            <a:off x="3931920" y="1234440"/>
            <a:ext cx="2377440" cy="7315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Set the cap very low, run one normal task.</a:t>
            </a:r>
            <a:endParaRPr lang="en-US" sz="1150" dirty="0"/>
          </a:p>
        </p:txBody>
      </p:sp>
      <p:sp>
        <p:nvSpPr>
          <p:cNvPr id="10" name="Text 8"/>
          <p:cNvSpPr txBox="1"/>
          <p:nvPr/>
        </p:nvSpPr>
        <p:spPr>
          <a:xfrm>
            <a:off x="6400800" y="1234440"/>
            <a:ext cx="2103120" cy="731520"/>
          </a:xfrm>
          <a:prstGeom prst="rect">
            <a:avLst/>
          </a:prstGeom>
          <a:noFill/>
          <a:ln/>
        </p:spPr>
        <p:txBody>
          <a:bodyPr wrap="square" lIns="0" tIns="0" rIns="0" bIns="0" rtlCol="0" anchor="ctr"/>
          <a:lstStyle/>
          <a:p>
            <a:pPr indent="0" marL="0">
              <a:buNone/>
            </a:pPr>
            <a:r>
              <a:rPr lang="en-US" sz="1150" b="1" dirty="0">
                <a:solidFill>
                  <a:srgbClr val="047857"/>
                </a:solidFill>
                <a:latin typeface="Calibri" pitchFamily="34" charset="0"/>
                <a:ea typeface="Calibri" pitchFamily="34" charset="-122"/>
                <a:cs typeface="Calibri" pitchFamily="34" charset="-120"/>
              </a:rPr>
              <a:t>It stops, says why, and does not crash.</a:t>
            </a:r>
            <a:endParaRPr lang="en-US" sz="1150" dirty="0"/>
          </a:p>
        </p:txBody>
      </p:sp>
      <p:sp>
        <p:nvSpPr>
          <p:cNvPr id="11" name="Shape 9"/>
          <p:cNvSpPr/>
          <p:nvPr/>
        </p:nvSpPr>
        <p:spPr>
          <a:xfrm>
            <a:off x="457200" y="2075688"/>
            <a:ext cx="8229600" cy="731520"/>
          </a:xfrm>
          <a:prstGeom prst="roundRect">
            <a:avLst>
              <a:gd name="adj" fmla="val 10000"/>
            </a:avLst>
          </a:prstGeom>
          <a:solidFill>
            <a:srgbClr val="F3F4F6"/>
          </a:solidFill>
          <a:ln w="12700">
            <a:solidFill>
              <a:srgbClr val="F3F4F6"/>
            </a:solidFill>
            <a:prstDash val="solid"/>
          </a:ln>
        </p:spPr>
      </p:sp>
      <p:sp>
        <p:nvSpPr>
          <p:cNvPr id="12" name="Text 10"/>
          <p:cNvSpPr txBox="1"/>
          <p:nvPr/>
        </p:nvSpPr>
        <p:spPr>
          <a:xfrm>
            <a:off x="685800" y="2075688"/>
            <a:ext cx="411480" cy="73152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1188720" y="2075688"/>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Spend past the day cap</a:t>
            </a:r>
            <a:endParaRPr lang="en-US" sz="1400" dirty="0"/>
          </a:p>
        </p:txBody>
      </p:sp>
      <p:sp>
        <p:nvSpPr>
          <p:cNvPr id="14" name="Text 12"/>
          <p:cNvSpPr txBox="1"/>
          <p:nvPr/>
        </p:nvSpPr>
        <p:spPr>
          <a:xfrm>
            <a:off x="3931920" y="2075688"/>
            <a:ext cx="2377440" cy="7315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Run enough tasks to exhaust the daily budget.</a:t>
            </a:r>
            <a:endParaRPr lang="en-US" sz="1150" dirty="0"/>
          </a:p>
        </p:txBody>
      </p:sp>
      <p:sp>
        <p:nvSpPr>
          <p:cNvPr id="15" name="Text 13"/>
          <p:cNvSpPr txBox="1"/>
          <p:nvPr/>
        </p:nvSpPr>
        <p:spPr>
          <a:xfrm>
            <a:off x="6400800" y="2075688"/>
            <a:ext cx="2103120" cy="731520"/>
          </a:xfrm>
          <a:prstGeom prst="rect">
            <a:avLst/>
          </a:prstGeom>
          <a:noFill/>
          <a:ln/>
        </p:spPr>
        <p:txBody>
          <a:bodyPr wrap="square" lIns="0" tIns="0" rIns="0" bIns="0" rtlCol="0" anchor="ctr"/>
          <a:lstStyle/>
          <a:p>
            <a:pPr indent="0" marL="0">
              <a:buNone/>
            </a:pPr>
            <a:r>
              <a:rPr lang="en-US" sz="1150" b="1" dirty="0">
                <a:solidFill>
                  <a:srgbClr val="047857"/>
                </a:solidFill>
                <a:latin typeface="Calibri" pitchFamily="34" charset="0"/>
                <a:ea typeface="Calibri" pitchFamily="34" charset="-122"/>
                <a:cs typeface="Calibri" pitchFamily="34" charset="-120"/>
              </a:rPr>
              <a:t>The next task is refused clearly, not queued silently.</a:t>
            </a:r>
            <a:endParaRPr lang="en-US" sz="1150" dirty="0"/>
          </a:p>
        </p:txBody>
      </p:sp>
      <p:sp>
        <p:nvSpPr>
          <p:cNvPr id="16" name="Shape 14"/>
          <p:cNvSpPr/>
          <p:nvPr/>
        </p:nvSpPr>
        <p:spPr>
          <a:xfrm>
            <a:off x="457200" y="2916936"/>
            <a:ext cx="8229600" cy="731520"/>
          </a:xfrm>
          <a:prstGeom prst="roundRect">
            <a:avLst>
              <a:gd name="adj" fmla="val 10000"/>
            </a:avLst>
          </a:prstGeom>
          <a:solidFill>
            <a:srgbClr val="F3F4F6"/>
          </a:solidFill>
          <a:ln w="12700">
            <a:solidFill>
              <a:srgbClr val="F3F4F6"/>
            </a:solidFill>
            <a:prstDash val="solid"/>
          </a:ln>
        </p:spPr>
      </p:sp>
      <p:sp>
        <p:nvSpPr>
          <p:cNvPr id="17" name="Text 15"/>
          <p:cNvSpPr txBox="1"/>
          <p:nvPr/>
        </p:nvSpPr>
        <p:spPr>
          <a:xfrm>
            <a:off x="685800" y="2916936"/>
            <a:ext cx="411480" cy="73152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1188720" y="2916936"/>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Flip the switch mid-run</a:t>
            </a:r>
            <a:endParaRPr lang="en-US" sz="1400" dirty="0"/>
          </a:p>
        </p:txBody>
      </p:sp>
      <p:sp>
        <p:nvSpPr>
          <p:cNvPr id="19" name="Text 17"/>
          <p:cNvSpPr txBox="1"/>
          <p:nvPr/>
        </p:nvSpPr>
        <p:spPr>
          <a:xfrm>
            <a:off x="3931920" y="2916936"/>
            <a:ext cx="2377440" cy="7315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Turn it off while several tasks are in flight.</a:t>
            </a:r>
            <a:endParaRPr lang="en-US" sz="1150" dirty="0"/>
          </a:p>
        </p:txBody>
      </p:sp>
      <p:sp>
        <p:nvSpPr>
          <p:cNvPr id="20" name="Text 18"/>
          <p:cNvSpPr txBox="1"/>
          <p:nvPr/>
        </p:nvSpPr>
        <p:spPr>
          <a:xfrm>
            <a:off x="6400800" y="2916936"/>
            <a:ext cx="2103120" cy="731520"/>
          </a:xfrm>
          <a:prstGeom prst="rect">
            <a:avLst/>
          </a:prstGeom>
          <a:noFill/>
          <a:ln/>
        </p:spPr>
        <p:txBody>
          <a:bodyPr wrap="square" lIns="0" tIns="0" rIns="0" bIns="0" rtlCol="0" anchor="ctr"/>
          <a:lstStyle/>
          <a:p>
            <a:pPr indent="0" marL="0">
              <a:buNone/>
            </a:pPr>
            <a:r>
              <a:rPr lang="en-US" sz="1150" b="1" dirty="0">
                <a:solidFill>
                  <a:srgbClr val="047857"/>
                </a:solidFill>
                <a:latin typeface="Calibri" pitchFamily="34" charset="0"/>
                <a:ea typeface="Calibri" pitchFamily="34" charset="-122"/>
                <a:cs typeface="Calibri" pitchFamily="34" charset="-120"/>
              </a:rPr>
              <a:t>Running work finishes; new work is refused.</a:t>
            </a:r>
            <a:endParaRPr lang="en-US" sz="1150" dirty="0"/>
          </a:p>
        </p:txBody>
      </p:sp>
      <p:sp>
        <p:nvSpPr>
          <p:cNvPr id="21" name="Shape 19"/>
          <p:cNvSpPr/>
          <p:nvPr/>
        </p:nvSpPr>
        <p:spPr>
          <a:xfrm>
            <a:off x="457200" y="3758184"/>
            <a:ext cx="8229600" cy="731520"/>
          </a:xfrm>
          <a:prstGeom prst="roundRect">
            <a:avLst>
              <a:gd name="adj" fmla="val 10000"/>
            </a:avLst>
          </a:prstGeom>
          <a:solidFill>
            <a:srgbClr val="111827"/>
          </a:solidFill>
          <a:ln w="12700">
            <a:solidFill>
              <a:srgbClr val="111827"/>
            </a:solidFill>
            <a:prstDash val="solid"/>
          </a:ln>
        </p:spPr>
      </p:sp>
      <p:sp>
        <p:nvSpPr>
          <p:cNvPr id="22" name="Text 20"/>
          <p:cNvSpPr txBox="1"/>
          <p:nvPr/>
        </p:nvSpPr>
        <p:spPr>
          <a:xfrm>
            <a:off x="685800" y="3758184"/>
            <a:ext cx="411480" cy="731520"/>
          </a:xfrm>
          <a:prstGeom prst="rect">
            <a:avLst/>
          </a:prstGeom>
          <a:noFill/>
          <a:ln/>
        </p:spPr>
        <p:txBody>
          <a:bodyPr wrap="square" lIns="0" tIns="0" rIns="0" bIns="0" rtlCol="0" anchor="ctr"/>
          <a:lstStyle/>
          <a:p>
            <a:pPr indent="0" marL="0">
              <a:buNone/>
            </a:pPr>
            <a:r>
              <a:rPr lang="en-US" sz="2400" b="1" dirty="0">
                <a:solidFill>
                  <a:srgbClr val="F59E0B"/>
                </a:solidFill>
                <a:latin typeface="Cambria" pitchFamily="34" charset="0"/>
                <a:ea typeface="Cambria" pitchFamily="34" charset="-122"/>
                <a:cs typeface="Cambria" pitchFamily="34" charset="-120"/>
              </a:rPr>
              <a:t>4</a:t>
            </a:r>
            <a:endParaRPr lang="en-US" sz="2400" dirty="0"/>
          </a:p>
        </p:txBody>
      </p:sp>
      <p:sp>
        <p:nvSpPr>
          <p:cNvPr id="23" name="Text 21"/>
          <p:cNvSpPr txBox="1"/>
          <p:nvPr/>
        </p:nvSpPr>
        <p:spPr>
          <a:xfrm>
            <a:off x="1188720" y="3758184"/>
            <a:ext cx="265176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 the runaway, capped</a:t>
            </a:r>
            <a:endParaRPr lang="en-US" sz="1400" dirty="0"/>
          </a:p>
        </p:txBody>
      </p:sp>
      <p:sp>
        <p:nvSpPr>
          <p:cNvPr id="24" name="Text 22"/>
          <p:cNvSpPr txBox="1"/>
          <p:nvPr/>
        </p:nvSpPr>
        <p:spPr>
          <a:xfrm>
            <a:off x="3931920" y="3758184"/>
            <a:ext cx="2377440" cy="731520"/>
          </a:xfrm>
          <a:prstGeom prst="rect">
            <a:avLst/>
          </a:prstGeom>
          <a:noFill/>
          <a:ln/>
        </p:spPr>
        <p:txBody>
          <a:bodyPr wrap="square" lIns="0" tIns="0" rIns="0" bIns="0" rtlCol="0" anchor="ctr"/>
          <a:lstStyle/>
          <a:p>
            <a:pPr indent="0" marL="0">
              <a:buNone/>
            </a:pPr>
            <a:r>
              <a:rPr lang="en-US" sz="1150" dirty="0">
                <a:solidFill>
                  <a:srgbClr val="9CA3AF"/>
                </a:solidFill>
                <a:latin typeface="Calibri" pitchFamily="34" charset="0"/>
                <a:ea typeface="Calibri" pitchFamily="34" charset="-122"/>
                <a:cs typeface="Calibri" pitchFamily="34" charset="-120"/>
              </a:rPr>
              <a:t>The malformed input from module one.</a:t>
            </a:r>
            <a:endParaRPr lang="en-US" sz="1150" dirty="0"/>
          </a:p>
        </p:txBody>
      </p:sp>
      <p:sp>
        <p:nvSpPr>
          <p:cNvPr id="25" name="Text 23"/>
          <p:cNvSpPr txBox="1"/>
          <p:nvPr/>
        </p:nvSpPr>
        <p:spPr>
          <a:xfrm>
            <a:off x="6400800" y="3758184"/>
            <a:ext cx="2103120" cy="731520"/>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It stops in seconds instead of hours.</a:t>
            </a:r>
            <a:endParaRPr lang="en-US" sz="1150" dirty="0"/>
          </a:p>
        </p:txBody>
      </p:sp>
      <p:sp>
        <p:nvSpPr>
          <p:cNvPr id="26" name="Text 24"/>
          <p:cNvSpPr txBox="1"/>
          <p:nvPr/>
        </p:nvSpPr>
        <p:spPr>
          <a:xfrm>
            <a:off x="457200" y="4572000"/>
            <a:ext cx="822960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Write down what actually happened in each test, not what you expected.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05 · FIRE DRILL</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3</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
        <p:nvSpPr>
          <p:cNvPr id="5" name="Text 3"/>
          <p:cNvSpPr txBox="1"/>
          <p:nvPr/>
        </p:nvSpPr>
        <p:spPr>
          <a:xfrm>
            <a:off x="457200" y="1097280"/>
            <a:ext cx="7955280" cy="45720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Same input. Same agent. Same model.</a:t>
            </a:r>
            <a:endParaRPr lang="en-US" sz="1800" dirty="0"/>
          </a:p>
        </p:txBody>
      </p:sp>
      <p:sp>
        <p:nvSpPr>
          <p:cNvPr id="6" name="Text 4"/>
          <p:cNvSpPr txBox="1"/>
          <p:nvPr/>
        </p:nvSpPr>
        <p:spPr>
          <a:xfrm>
            <a:off x="457200" y="1645920"/>
            <a:ext cx="8229600" cy="82296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It stops in seconds.</a:t>
            </a:r>
            <a:endParaRPr lang="en-US" sz="4200" dirty="0"/>
          </a:p>
        </p:txBody>
      </p:sp>
      <p:sp>
        <p:nvSpPr>
          <p:cNvPr id="7" name="Text 5"/>
          <p:cNvSpPr txBox="1"/>
          <p:nvPr/>
        </p:nvSpPr>
        <p:spPr>
          <a:xfrm>
            <a:off x="457200" y="2651760"/>
            <a:ext cx="7772400" cy="100584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In module one it was a number that made you uncomfortable. Now it stops by itself, immediately, and tells you why. That is the whole course working, in front of you, in about ten seconds.</a:t>
            </a:r>
            <a:endParaRPr lang="en-US" sz="1600" dirty="0"/>
          </a:p>
        </p:txBody>
      </p:sp>
      <p:sp>
        <p:nvSpPr>
          <p:cNvPr id="8" name="Text 6"/>
          <p:cNvSpPr txBox="1"/>
          <p:nvPr/>
        </p:nvSpPr>
        <p:spPr>
          <a:xfrm>
            <a:off x="457200" y="3794760"/>
            <a:ext cx="7772400" cy="457200"/>
          </a:xfrm>
          <a:prstGeom prst="rect">
            <a:avLst/>
          </a:prstGeom>
          <a:noFill/>
          <a:ln/>
        </p:spPr>
        <p:txBody>
          <a:bodyPr wrap="square" lIns="0" tIns="0" rIns="0" bIns="0" rtlCol="0" anchor="t"/>
          <a:lstStyle/>
          <a:p>
            <a:pPr indent="0" marL="0">
              <a:buNone/>
            </a:pPr>
            <a:r>
              <a:rPr lang="en-US" sz="1400" i="1" dirty="0">
                <a:solidFill>
                  <a:srgbClr val="F59E0B"/>
                </a:solidFill>
                <a:latin typeface="Calibri" pitchFamily="34" charset="0"/>
                <a:ea typeface="Calibri" pitchFamily="34" charset="-122"/>
                <a:cs typeface="Calibri" pitchFamily="34" charset="-120"/>
              </a:rPr>
              <a:t>Record it. It is the best thing you can show someone when you explain why this work mattered.</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05 · Fire Drill</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four tests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Four numbered rows, then the payoff panel for test four.</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Four wide rows down the page, each with a numbered circle on the left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one SPEND PAST THE RUN CAP: set the cap very low, run one normal task. It should stop, say why, and not crash</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two SPEND PAST THE DAY CAP: run enough tasks to exhaust the daily budget. The next task is refused, not queued silently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three FLIP THE KILL SWITCH MID-RUN: turn it off while several tasks are in flight. Running work finishes, new work is refused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four RUN THE RUNAWAY, CAPPED: the malformed input from module one. It stops in seconds instead of hours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Underneath, a wide box: test four is the one to actually run. Same input that cost you an extrapolated fortune in module one; now it stops by itself in seconds. That is the whole course, working, in front of you.</a:t>
            </a:r>
            <a:endParaRPr lang="en-US" sz="950" dirty="0"/>
          </a:p>
        </p:txBody>
      </p:sp>
      <p:sp>
        <p:nvSpPr>
          <p:cNvPr id="12" name="Shape 8"/>
          <p:cNvSpPr/>
          <p:nvPr/>
        </p:nvSpPr>
        <p:spPr>
          <a:xfrm>
            <a:off x="3886200" y="1536192"/>
            <a:ext cx="4800600" cy="1765265"/>
          </a:xfrm>
          <a:prstGeom prst="roundRect">
            <a:avLst>
              <a:gd name="adj" fmla="val 41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308065"/>
          </a:xfrm>
          <a:prstGeom prst="rect">
            <a:avLst/>
          </a:prstGeom>
        </p:spPr>
      </p:pic>
      <p:sp>
        <p:nvSpPr>
          <p:cNvPr id="15" name="Shape 10"/>
          <p:cNvSpPr/>
          <p:nvPr/>
        </p:nvSpPr>
        <p:spPr>
          <a:xfrm>
            <a:off x="3886200" y="3456905"/>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456905"/>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“Do these today. Not when something is wrong.”</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Build It: Caps That Actually Fire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~10 min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Five stages; run after every 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457200" y="1280160"/>
            <a:ext cx="2606040" cy="1280160"/>
          </a:xfrm>
          <a:prstGeom prst="roundRect">
            <a:avLst>
              <a:gd name="adj" fmla="val 5714"/>
            </a:avLst>
          </a:prstGeom>
          <a:solidFill>
            <a:srgbClr val="F3F4F6"/>
          </a:solidFill>
          <a:ln w="12700">
            <a:solidFill>
              <a:srgbClr val="F3F4F6"/>
            </a:solidFill>
            <a:prstDash val="solid"/>
          </a:ln>
        </p:spPr>
      </p:sp>
      <p:sp>
        <p:nvSpPr>
          <p:cNvPr id="7" name="Text 5"/>
          <p:cNvSpPr txBox="1"/>
          <p:nvPr/>
        </p:nvSpPr>
        <p:spPr>
          <a:xfrm>
            <a:off x="65836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1</a:t>
            </a:r>
            <a:endParaRPr lang="en-US" sz="900" dirty="0"/>
          </a:p>
        </p:txBody>
      </p:sp>
      <p:sp>
        <p:nvSpPr>
          <p:cNvPr id="8" name="Text 6"/>
          <p:cNvSpPr txBox="1"/>
          <p:nvPr/>
        </p:nvSpPr>
        <p:spPr>
          <a:xfrm>
            <a:off x="65836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per-run cap</a:t>
            </a:r>
            <a:endParaRPr lang="en-US" sz="1500" dirty="0"/>
          </a:p>
        </p:txBody>
      </p:sp>
      <p:sp>
        <p:nvSpPr>
          <p:cNvPr id="9" name="Text 7"/>
          <p:cNvSpPr txBox="1"/>
          <p:nvPr/>
        </p:nvSpPr>
        <p:spPr>
          <a:xfrm>
            <a:off x="65836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running total inside the envelope, checked before each call.</a:t>
            </a:r>
            <a:endParaRPr lang="en-US" sz="1100" dirty="0"/>
          </a:p>
        </p:txBody>
      </p:sp>
      <p:sp>
        <p:nvSpPr>
          <p:cNvPr id="10" name="Shape 8"/>
          <p:cNvSpPr/>
          <p:nvPr/>
        </p:nvSpPr>
        <p:spPr>
          <a:xfrm>
            <a:off x="3246120" y="1280160"/>
            <a:ext cx="2606040" cy="1280160"/>
          </a:xfrm>
          <a:prstGeom prst="roundRect">
            <a:avLst>
              <a:gd name="adj" fmla="val 5714"/>
            </a:avLst>
          </a:prstGeom>
          <a:solidFill>
            <a:srgbClr val="F3F4F6"/>
          </a:solidFill>
          <a:ln w="12700">
            <a:solidFill>
              <a:srgbClr val="F3F4F6"/>
            </a:solidFill>
            <a:prstDash val="solid"/>
          </a:ln>
        </p:spPr>
      </p:sp>
      <p:sp>
        <p:nvSpPr>
          <p:cNvPr id="11" name="Text 9"/>
          <p:cNvSpPr txBox="1"/>
          <p:nvPr/>
        </p:nvSpPr>
        <p:spPr>
          <a:xfrm>
            <a:off x="344728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2</a:t>
            </a:r>
            <a:endParaRPr lang="en-US" sz="900" dirty="0"/>
          </a:p>
        </p:txBody>
      </p:sp>
      <p:sp>
        <p:nvSpPr>
          <p:cNvPr id="12" name="Text 10"/>
          <p:cNvSpPr txBox="1"/>
          <p:nvPr/>
        </p:nvSpPr>
        <p:spPr>
          <a:xfrm>
            <a:off x="344728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Decide what happens</a:t>
            </a:r>
            <a:endParaRPr lang="en-US" sz="1500" dirty="0"/>
          </a:p>
        </p:txBody>
      </p:sp>
      <p:sp>
        <p:nvSpPr>
          <p:cNvPr id="13" name="Text 11"/>
          <p:cNvSpPr txBox="1"/>
          <p:nvPr/>
        </p:nvSpPr>
        <p:spPr>
          <a:xfrm>
            <a:off x="344728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Catch the exception and do what you chose in section 3.</a:t>
            </a:r>
            <a:endParaRPr lang="en-US" sz="1100" dirty="0"/>
          </a:p>
        </p:txBody>
      </p:sp>
      <p:sp>
        <p:nvSpPr>
          <p:cNvPr id="14" name="Shape 12"/>
          <p:cNvSpPr/>
          <p:nvPr/>
        </p:nvSpPr>
        <p:spPr>
          <a:xfrm>
            <a:off x="6035040" y="1280160"/>
            <a:ext cx="2606040" cy="1280160"/>
          </a:xfrm>
          <a:prstGeom prst="roundRect">
            <a:avLst>
              <a:gd name="adj" fmla="val 5714"/>
            </a:avLst>
          </a:prstGeom>
          <a:solidFill>
            <a:srgbClr val="F3F4F6"/>
          </a:solidFill>
          <a:ln w="12700">
            <a:solidFill>
              <a:srgbClr val="F3F4F6"/>
            </a:solidFill>
            <a:prstDash val="solid"/>
          </a:ln>
        </p:spPr>
      </p:sp>
      <p:sp>
        <p:nvSpPr>
          <p:cNvPr id="15" name="Text 13"/>
          <p:cNvSpPr txBox="1"/>
          <p:nvPr/>
        </p:nvSpPr>
        <p:spPr>
          <a:xfrm>
            <a:off x="623620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3</a:t>
            </a:r>
            <a:endParaRPr lang="en-US" sz="900" dirty="0"/>
          </a:p>
        </p:txBody>
      </p:sp>
      <p:sp>
        <p:nvSpPr>
          <p:cNvPr id="16" name="Text 14"/>
          <p:cNvSpPr txBox="1"/>
          <p:nvPr/>
        </p:nvSpPr>
        <p:spPr>
          <a:xfrm>
            <a:off x="6236208" y="164592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daily cap</a:t>
            </a:r>
            <a:endParaRPr lang="en-US" sz="1500" dirty="0"/>
          </a:p>
        </p:txBody>
      </p:sp>
      <p:sp>
        <p:nvSpPr>
          <p:cNvPr id="17" name="Text 15"/>
          <p:cNvSpPr txBox="1"/>
          <p:nvPr/>
        </p:nvSpPr>
        <p:spPr>
          <a:xfrm>
            <a:off x="623620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total that survives between runs, checked before any work.</a:t>
            </a:r>
            <a:endParaRPr lang="en-US" sz="1100" dirty="0"/>
          </a:p>
        </p:txBody>
      </p:sp>
      <p:sp>
        <p:nvSpPr>
          <p:cNvPr id="18" name="Shape 16"/>
          <p:cNvSpPr/>
          <p:nvPr/>
        </p:nvSpPr>
        <p:spPr>
          <a:xfrm>
            <a:off x="457200" y="2743200"/>
            <a:ext cx="2606040" cy="1280160"/>
          </a:xfrm>
          <a:prstGeom prst="roundRect">
            <a:avLst>
              <a:gd name="adj" fmla="val 5714"/>
            </a:avLst>
          </a:prstGeom>
          <a:solidFill>
            <a:srgbClr val="F3F4F6"/>
          </a:solidFill>
          <a:ln w="12700">
            <a:solidFill>
              <a:srgbClr val="F3F4F6"/>
            </a:solidFill>
            <a:prstDash val="solid"/>
          </a:ln>
        </p:spPr>
      </p:sp>
      <p:sp>
        <p:nvSpPr>
          <p:cNvPr id="19" name="Text 17"/>
          <p:cNvSpPr txBox="1"/>
          <p:nvPr/>
        </p:nvSpPr>
        <p:spPr>
          <a:xfrm>
            <a:off x="65836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4</a:t>
            </a:r>
            <a:endParaRPr lang="en-US" sz="900" dirty="0"/>
          </a:p>
        </p:txBody>
      </p:sp>
      <p:sp>
        <p:nvSpPr>
          <p:cNvPr id="20" name="Text 18"/>
          <p:cNvSpPr txBox="1"/>
          <p:nvPr/>
        </p:nvSpPr>
        <p:spPr>
          <a:xfrm>
            <a:off x="658368" y="310896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Cap the runaway</a:t>
            </a:r>
            <a:endParaRPr lang="en-US" sz="1500" dirty="0"/>
          </a:p>
        </p:txBody>
      </p:sp>
      <p:sp>
        <p:nvSpPr>
          <p:cNvPr id="21" name="Text 19"/>
          <p:cNvSpPr txBox="1"/>
          <p:nvPr/>
        </p:nvSpPr>
        <p:spPr>
          <a:xfrm>
            <a:off x="65836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The malformed input from module one, with caps on.</a:t>
            </a:r>
            <a:endParaRPr lang="en-US" sz="1100" dirty="0"/>
          </a:p>
        </p:txBody>
      </p:sp>
      <p:sp>
        <p:nvSpPr>
          <p:cNvPr id="22" name="Shape 20"/>
          <p:cNvSpPr/>
          <p:nvPr/>
        </p:nvSpPr>
        <p:spPr>
          <a:xfrm>
            <a:off x="3246120" y="2743200"/>
            <a:ext cx="2606040" cy="1280160"/>
          </a:xfrm>
          <a:prstGeom prst="roundRect">
            <a:avLst>
              <a:gd name="adj" fmla="val 5714"/>
            </a:avLst>
          </a:prstGeom>
          <a:solidFill>
            <a:srgbClr val="F3F4F6"/>
          </a:solidFill>
          <a:ln w="12700">
            <a:solidFill>
              <a:srgbClr val="F3F4F6"/>
            </a:solidFill>
            <a:prstDash val="solid"/>
          </a:ln>
        </p:spPr>
      </p:sp>
      <p:sp>
        <p:nvSpPr>
          <p:cNvPr id="23" name="Text 21"/>
          <p:cNvSpPr txBox="1"/>
          <p:nvPr/>
        </p:nvSpPr>
        <p:spPr>
          <a:xfrm>
            <a:off x="344728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5</a:t>
            </a:r>
            <a:endParaRPr lang="en-US" sz="900" dirty="0"/>
          </a:p>
        </p:txBody>
      </p:sp>
      <p:sp>
        <p:nvSpPr>
          <p:cNvPr id="24" name="Text 22"/>
          <p:cNvSpPr txBox="1"/>
          <p:nvPr/>
        </p:nvSpPr>
        <p:spPr>
          <a:xfrm>
            <a:off x="3447288" y="3108960"/>
            <a:ext cx="224028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kill switch</a:t>
            </a:r>
            <a:endParaRPr lang="en-US" sz="1500" dirty="0"/>
          </a:p>
        </p:txBody>
      </p:sp>
      <p:sp>
        <p:nvSpPr>
          <p:cNvPr id="25" name="Text 23"/>
          <p:cNvSpPr txBox="1"/>
          <p:nvPr/>
        </p:nvSpPr>
        <p:spPr>
          <a:xfrm>
            <a:off x="344728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One setting checked before starting any new run.</a:t>
            </a:r>
            <a:endParaRPr lang="en-US" sz="1100" dirty="0"/>
          </a:p>
        </p:txBody>
      </p:sp>
      <p:sp>
        <p:nvSpPr>
          <p:cNvPr id="26" name="Shape 24"/>
          <p:cNvSpPr/>
          <p:nvPr/>
        </p:nvSpPr>
        <p:spPr>
          <a:xfrm>
            <a:off x="6035040" y="2743200"/>
            <a:ext cx="2606040" cy="1280160"/>
          </a:xfrm>
          <a:prstGeom prst="roundRect">
            <a:avLst>
              <a:gd name="adj" fmla="val 5714"/>
            </a:avLst>
          </a:prstGeom>
          <a:solidFill>
            <a:srgbClr val="111827"/>
          </a:solidFill>
          <a:ln w="12700">
            <a:solidFill>
              <a:srgbClr val="111827"/>
            </a:solidFill>
            <a:prstDash val="solid"/>
          </a:ln>
        </p:spPr>
      </p:sp>
      <p:sp>
        <p:nvSpPr>
          <p:cNvPr id="27" name="Text 25"/>
          <p:cNvSpPr txBox="1"/>
          <p:nvPr/>
        </p:nvSpPr>
        <p:spPr>
          <a:xfrm>
            <a:off x="6217920" y="2743200"/>
            <a:ext cx="2286000" cy="12801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Everything goes in the envelope. We are still not touching the agent's own logic.</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1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per-run cap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457200" y="1188720"/>
            <a:ext cx="822960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 your envelope, keep a running total of what this run has spent. Before each model call, check it against a limit. If the run is already over, raise a clear named exception; call it something like BudgetExceeded rather than a generic error.</a:t>
            </a:r>
            <a:endParaRPr lang="en-US" sz="1400" dirty="0"/>
          </a:p>
        </p:txBody>
      </p:sp>
      <p:sp>
        <p:nvSpPr>
          <p:cNvPr id="7" name="Shape 5"/>
          <p:cNvSpPr/>
          <p:nvPr/>
        </p:nvSpPr>
        <p:spPr>
          <a:xfrm>
            <a:off x="365760" y="21031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103120"/>
            <a:ext cx="8092440" cy="868680"/>
          </a:xfrm>
          <a:prstGeom prst="rect">
            <a:avLst/>
          </a:prstGeom>
          <a:noFill/>
          <a:ln/>
        </p:spPr>
        <p:txBody>
          <a:bodyPr wrap="square" lIns="0" tIns="0" rIns="0" bIns="0" rtlCol="0" anchor="ctr"/>
          <a:lstStyle/>
          <a:p>
            <a:pPr indent="0" marL="0">
              <a:buNone/>
            </a:pPr>
            <a:r>
              <a:rPr lang="en-US" sz="1476" b="1" dirty="0">
                <a:solidFill>
                  <a:srgbClr val="F59E0B"/>
                </a:solidFill>
                <a:latin typeface="Courier New" pitchFamily="34" charset="0"/>
                <a:ea typeface="Courier New" pitchFamily="34" charset="-122"/>
                <a:cs typeface="Courier New" pitchFamily="34" charset="-120"/>
              </a:rPr>
              <a:t>$ </a:t>
            </a:r>
            <a:pPr indent="0" marL="0">
              <a:buNone/>
            </a:pPr>
            <a:r>
              <a:rPr lang="en-US" sz="1476" dirty="0">
                <a:solidFill>
                  <a:srgbClr val="E8EAED"/>
                </a:solidFill>
                <a:latin typeface="Courier New" pitchFamily="34" charset="0"/>
                <a:ea typeface="Courier New" pitchFamily="34" charset="-122"/>
                <a:cs typeface="Courier New" pitchFamily="34" charset="-120"/>
              </a:rPr>
              <a:t>RUN_BUDGET_USD=0.02 python3 run_agent.py --input samples/normal.json</a:t>
            </a:r>
            <a:endParaRPr lang="en-US" sz="1476" dirty="0"/>
          </a:p>
        </p:txBody>
      </p:sp>
      <p:sp>
        <p:nvSpPr>
          <p:cNvPr id="9" name="Shape 7"/>
          <p:cNvSpPr/>
          <p:nvPr/>
        </p:nvSpPr>
        <p:spPr>
          <a:xfrm>
            <a:off x="457200" y="3200400"/>
            <a:ext cx="8229600" cy="1143000"/>
          </a:xfrm>
          <a:prstGeom prst="roundRect">
            <a:avLst>
              <a:gd name="adj" fmla="val 6400"/>
            </a:avLst>
          </a:prstGeom>
          <a:solidFill>
            <a:srgbClr val="FEF3C7"/>
          </a:solidFill>
          <a:ln w="12700">
            <a:solidFill>
              <a:srgbClr val="FEF3C7"/>
            </a:solidFill>
            <a:prstDash val="solid"/>
          </a:ln>
        </p:spPr>
      </p:sp>
      <p:sp>
        <p:nvSpPr>
          <p:cNvPr id="10" name="Text 8"/>
          <p:cNvSpPr txBox="1"/>
          <p:nvPr/>
        </p:nvSpPr>
        <p:spPr>
          <a:xfrm>
            <a:off x="731520" y="3200400"/>
            <a:ext cx="7680960" cy="114300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Two cents is deliberately too low, so a normal task trips it. </a:t>
            </a:r>
            <a:pPr indent="0" marL="0">
              <a:buNone/>
            </a:pPr>
            <a:r>
              <a:rPr lang="en-US" sz="1400" dirty="0">
                <a:solidFill>
                  <a:srgbClr val="1F2937"/>
                </a:solidFill>
                <a:latin typeface="Calibri" pitchFamily="34" charset="0"/>
                <a:ea typeface="Calibri" pitchFamily="34" charset="-122"/>
                <a:cs typeface="Calibri" pitchFamily="34" charset="-120"/>
              </a:rPr>
              <a:t>Read your own message as if you were someone else finding it in a log: does it say what happened and what to do? If not, rewrite it now.</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2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Decide what happens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457200" y="1188720"/>
            <a:ext cx="822960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Right now it just raises an exception. Catch it at the top of your agent and implement the behaviour you chose in section three. For most learners, stop is the right first choice: return a clear result saying the task could not be completed because the budget was reached.</a:t>
            </a:r>
            <a:endParaRPr lang="en-US" sz="1400" dirty="0"/>
          </a:p>
        </p:txBody>
      </p:sp>
      <p:sp>
        <p:nvSpPr>
          <p:cNvPr id="7" name="Shape 5"/>
          <p:cNvSpPr/>
          <p:nvPr/>
        </p:nvSpPr>
        <p:spPr>
          <a:xfrm>
            <a:off x="365760" y="21031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103120"/>
            <a:ext cx="8092440" cy="868680"/>
          </a:xfrm>
          <a:prstGeom prst="rect">
            <a:avLst/>
          </a:prstGeom>
          <a:noFill/>
          <a:ln/>
        </p:spPr>
        <p:txBody>
          <a:bodyPr wrap="square" lIns="0" tIns="0" rIns="0" bIns="0" rtlCol="0" anchor="ctr"/>
          <a:lstStyle/>
          <a:p>
            <a:pPr indent="0" marL="0">
              <a:buNone/>
            </a:pPr>
            <a:r>
              <a:rPr lang="en-US" sz="1476" b="1" dirty="0">
                <a:solidFill>
                  <a:srgbClr val="F59E0B"/>
                </a:solidFill>
                <a:latin typeface="Courier New" pitchFamily="34" charset="0"/>
                <a:ea typeface="Courier New" pitchFamily="34" charset="-122"/>
                <a:cs typeface="Courier New" pitchFamily="34" charset="-120"/>
              </a:rPr>
              <a:t>$ </a:t>
            </a:r>
            <a:pPr indent="0" marL="0">
              <a:buNone/>
            </a:pPr>
            <a:r>
              <a:rPr lang="en-US" sz="1476" dirty="0">
                <a:solidFill>
                  <a:srgbClr val="E8EAED"/>
                </a:solidFill>
                <a:latin typeface="Courier New" pitchFamily="34" charset="0"/>
                <a:ea typeface="Courier New" pitchFamily="34" charset="-122"/>
                <a:cs typeface="Courier New" pitchFamily="34" charset="-120"/>
              </a:rPr>
              <a:t>RUN_BUDGET_USD=0.02 python3 run_agent.py --input samples/normal.json</a:t>
            </a:r>
            <a:endParaRPr lang="en-US" sz="1476" dirty="0"/>
          </a:p>
        </p:txBody>
      </p:sp>
      <p:sp>
        <p:nvSpPr>
          <p:cNvPr id="9" name="Shape 7"/>
          <p:cNvSpPr/>
          <p:nvPr/>
        </p:nvSpPr>
        <p:spPr>
          <a:xfrm>
            <a:off x="457200" y="3200400"/>
            <a:ext cx="8229600" cy="1143000"/>
          </a:xfrm>
          <a:prstGeom prst="roundRect">
            <a:avLst>
              <a:gd name="adj" fmla="val 6400"/>
            </a:avLst>
          </a:prstGeom>
          <a:solidFill>
            <a:srgbClr val="ECFDF5"/>
          </a:solidFill>
          <a:ln w="12700">
            <a:solidFill>
              <a:srgbClr val="ECFDF5"/>
            </a:solidFill>
            <a:prstDash val="solid"/>
          </a:ln>
        </p:spPr>
      </p:sp>
      <p:sp>
        <p:nvSpPr>
          <p:cNvPr id="10" name="Text 8"/>
          <p:cNvSpPr txBox="1"/>
          <p:nvPr/>
        </p:nvSpPr>
        <p:spPr>
          <a:xfrm>
            <a:off x="731520" y="3200400"/>
            <a:ext cx="7680960" cy="114300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Same trip, but now it is a controlled stop with a proper result. </a:t>
            </a:r>
            <a:pPr indent="0" marL="0">
              <a:buNone/>
            </a:pPr>
            <a:r>
              <a:rPr lang="en-US" sz="1400" dirty="0">
                <a:solidFill>
                  <a:srgbClr val="1F2937"/>
                </a:solidFill>
                <a:latin typeface="Calibri" pitchFamily="34" charset="0"/>
                <a:ea typeface="Calibri" pitchFamily="34" charset="-122"/>
                <a:cs typeface="Calibri" pitchFamily="34" charset="-120"/>
              </a:rPr>
              <a:t>That difference is the whole of section three, in code.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3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daily cap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457200" y="1188720"/>
            <a:ext cx="8229600"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This one needs memory that survives between runs, because a single run does not know what happened earlier today. Use a small file, or Redis if you already have it. Before starting a run, read today's total; if it is over the limit, refuse before doing any work at all.</a:t>
            </a:r>
            <a:endParaRPr lang="en-US" sz="1400" dirty="0"/>
          </a:p>
        </p:txBody>
      </p:sp>
      <p:sp>
        <p:nvSpPr>
          <p:cNvPr id="7" name="Shape 5"/>
          <p:cNvSpPr/>
          <p:nvPr/>
        </p:nvSpPr>
        <p:spPr>
          <a:xfrm>
            <a:off x="365760" y="210312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103120"/>
            <a:ext cx="8092440" cy="868680"/>
          </a:xfrm>
          <a:prstGeom prst="rect">
            <a:avLst/>
          </a:prstGeom>
          <a:noFill/>
          <a:ln/>
        </p:spPr>
        <p:txBody>
          <a:bodyPr wrap="square" lIns="0" tIns="0" rIns="0" bIns="0" rtlCol="0" anchor="ctr"/>
          <a:lstStyle/>
          <a:p>
            <a:pPr indent="0" marL="0">
              <a:buNone/>
            </a:pPr>
            <a:r>
              <a:rPr lang="en-US" sz="1435" b="1" dirty="0">
                <a:solidFill>
                  <a:srgbClr val="F59E0B"/>
                </a:solidFill>
                <a:latin typeface="Courier New" pitchFamily="34" charset="0"/>
                <a:ea typeface="Courier New" pitchFamily="34" charset="-122"/>
                <a:cs typeface="Courier New" pitchFamily="34" charset="-120"/>
              </a:rPr>
              <a:t>$ </a:t>
            </a:r>
            <a:pPr indent="0" marL="0">
              <a:buNone/>
            </a:pPr>
            <a:r>
              <a:rPr lang="en-US" sz="1435" dirty="0">
                <a:solidFill>
                  <a:srgbClr val="E8EAED"/>
                </a:solidFill>
                <a:latin typeface="Courier New" pitchFamily="34" charset="0"/>
                <a:ea typeface="Courier New" pitchFamily="34" charset="-122"/>
                <a:cs typeface="Courier New" pitchFamily="34" charset="-120"/>
              </a:rPr>
              <a:t>DAILY_BUDGET_USD=0.10 python3 run_agent.py --input samples/normal.json</a:t>
            </a:r>
            <a:endParaRPr lang="en-US" sz="1435" dirty="0"/>
          </a:p>
        </p:txBody>
      </p:sp>
      <p:sp>
        <p:nvSpPr>
          <p:cNvPr id="9" name="Shape 7"/>
          <p:cNvSpPr/>
          <p:nvPr/>
        </p:nvSpPr>
        <p:spPr>
          <a:xfrm>
            <a:off x="457200" y="3200400"/>
            <a:ext cx="8229600" cy="1143000"/>
          </a:xfrm>
          <a:prstGeom prst="roundRect">
            <a:avLst>
              <a:gd name="adj" fmla="val 6400"/>
            </a:avLst>
          </a:prstGeom>
          <a:solidFill>
            <a:srgbClr val="F3F4F6"/>
          </a:solidFill>
          <a:ln w="12700">
            <a:solidFill>
              <a:srgbClr val="F3F4F6"/>
            </a:solidFill>
            <a:prstDash val="solid"/>
          </a:ln>
        </p:spPr>
      </p:sp>
      <p:sp>
        <p:nvSpPr>
          <p:cNvPr id="10" name="Text 8"/>
          <p:cNvSpPr txBox="1"/>
          <p:nvPr/>
        </p:nvSpPr>
        <p:spPr>
          <a:xfrm>
            <a:off x="731520" y="3200400"/>
            <a:ext cx="7680960" cy="114300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Run that four or five times in a row. </a:t>
            </a:r>
            <a:pPr indent="0" marL="0">
              <a:buNone/>
            </a:pPr>
            <a:r>
              <a:rPr lang="en-US" sz="1400" dirty="0">
                <a:solidFill>
                  <a:srgbClr val="1F2937"/>
                </a:solidFill>
                <a:latin typeface="Calibri" pitchFamily="34" charset="0"/>
                <a:ea typeface="Calibri" pitchFamily="34" charset="-122"/>
                <a:cs typeface="Calibri" pitchFamily="34" charset="-120"/>
              </a:rPr>
              <a:t>The first few should work. Then one should be refused before it makes a single model call, which is the point: refusing early costs nothing.</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4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Cap the runaway; this is the one to watch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Text 4"/>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Run the malformed input, capped. Keep the timeout on as a backstop, but it should not be needed.</a:t>
            </a:r>
            <a:endParaRPr lang="en-US" sz="1400" dirty="0"/>
          </a:p>
        </p:txBody>
      </p:sp>
      <p:sp>
        <p:nvSpPr>
          <p:cNvPr id="7" name="Shape 5"/>
          <p:cNvSpPr/>
          <p:nvPr/>
        </p:nvSpPr>
        <p:spPr>
          <a:xfrm>
            <a:off x="365760" y="17373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737360"/>
            <a:ext cx="8092440" cy="868680"/>
          </a:xfrm>
          <a:prstGeom prst="rect">
            <a:avLst/>
          </a:prstGeom>
          <a:noFill/>
          <a:ln/>
        </p:spPr>
        <p:txBody>
          <a:bodyPr wrap="square" lIns="0" tIns="0" rIns="0" bIns="0" rtlCol="0" anchor="ctr"/>
          <a:lstStyle/>
          <a:p>
            <a:pPr indent="0" marL="0">
              <a:buNone/>
            </a:pPr>
            <a:r>
              <a:rPr lang="en-US" sz="1216" b="1" dirty="0">
                <a:solidFill>
                  <a:srgbClr val="F59E0B"/>
                </a:solidFill>
                <a:latin typeface="Courier New" pitchFamily="34" charset="0"/>
                <a:ea typeface="Courier New" pitchFamily="34" charset="-122"/>
                <a:cs typeface="Courier New" pitchFamily="34" charset="-120"/>
              </a:rPr>
              <a:t>$ </a:t>
            </a:r>
            <a:pPr indent="0" marL="0">
              <a:buNone/>
            </a:pPr>
            <a:r>
              <a:rPr lang="en-US" sz="1216" dirty="0">
                <a:solidFill>
                  <a:srgbClr val="E8EAED"/>
                </a:solidFill>
                <a:latin typeface="Courier New" pitchFamily="34" charset="0"/>
                <a:ea typeface="Courier New" pitchFamily="34" charset="-122"/>
                <a:cs typeface="Courier New" pitchFamily="34" charset="-120"/>
              </a:rPr>
              <a:t>RUN_BUDGET_USD=0.50 timeout 120 python3 run_agent.py --input samples/malformed.json</a:t>
            </a:r>
            <a:endParaRPr lang="en-US" sz="1216" dirty="0"/>
          </a:p>
        </p:txBody>
      </p:sp>
      <p:sp>
        <p:nvSpPr>
          <p:cNvPr id="9" name="Shape 7"/>
          <p:cNvSpPr/>
          <p:nvPr/>
        </p:nvSpPr>
        <p:spPr>
          <a:xfrm>
            <a:off x="457200" y="2834640"/>
            <a:ext cx="8229600" cy="1554480"/>
          </a:xfrm>
          <a:prstGeom prst="roundRect">
            <a:avLst>
              <a:gd name="adj" fmla="val 4706"/>
            </a:avLst>
          </a:prstGeom>
          <a:solidFill>
            <a:srgbClr val="111827"/>
          </a:solidFill>
          <a:ln w="12700">
            <a:solidFill>
              <a:srgbClr val="111827"/>
            </a:solidFill>
            <a:prstDash val="solid"/>
          </a:ln>
        </p:spPr>
      </p:sp>
      <p:sp>
        <p:nvSpPr>
          <p:cNvPr id="10" name="Text 8"/>
          <p:cNvSpPr txBox="1"/>
          <p:nvPr/>
        </p:nvSpPr>
        <p:spPr>
          <a:xfrm>
            <a:off x="731520" y="2834640"/>
            <a:ext cx="7680960" cy="155448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It stopped. By itself, in seconds, at a cost you chose in advance.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Compare that with the number you extrapolated in module one and sit with the difference for a moment; that gap is what you built.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5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kill switch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32</a:t>
            </a:r>
            <a:endParaRPr lang="en-US" sz="900" dirty="0"/>
          </a:p>
        </p:txBody>
      </p:sp>
      <p:sp>
        <p:nvSpPr>
          <p:cNvPr id="6" name="Text 4"/>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Add a setting the envelope checks before starting any new run; an environment variable is fine to start with. If it is off, refuse new work immediately, but let anything already running continue to completion.</a:t>
            </a:r>
            <a:endParaRPr lang="en-US" sz="1400" dirty="0"/>
          </a:p>
        </p:txBody>
      </p:sp>
      <p:sp>
        <p:nvSpPr>
          <p:cNvPr id="7" name="Shape 5"/>
          <p:cNvSpPr/>
          <p:nvPr/>
        </p:nvSpPr>
        <p:spPr>
          <a:xfrm>
            <a:off x="365760" y="19659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965960"/>
            <a:ext cx="8092440" cy="868680"/>
          </a:xfrm>
          <a:prstGeom prst="rect">
            <a:avLst/>
          </a:prstGeom>
          <a:noFill/>
          <a:ln/>
        </p:spPr>
        <p:txBody>
          <a:bodyPr wrap="square" lIns="0" tIns="0" rIns="0" bIns="0" rtlCol="0" anchor="ctr"/>
          <a:lstStyle/>
          <a:p>
            <a:pPr indent="0" marL="0">
              <a:buNone/>
            </a:pPr>
            <a:r>
              <a:rPr lang="en-US" sz="1476" b="1" dirty="0">
                <a:solidFill>
                  <a:srgbClr val="F59E0B"/>
                </a:solidFill>
                <a:latin typeface="Courier New" pitchFamily="34" charset="0"/>
                <a:ea typeface="Courier New" pitchFamily="34" charset="-122"/>
                <a:cs typeface="Courier New" pitchFamily="34" charset="-120"/>
              </a:rPr>
              <a:t>$ </a:t>
            </a:r>
            <a:pPr indent="0" marL="0">
              <a:buNone/>
            </a:pPr>
            <a:r>
              <a:rPr lang="en-US" sz="1476" dirty="0">
                <a:solidFill>
                  <a:srgbClr val="E8EAED"/>
                </a:solidFill>
                <a:latin typeface="Courier New" pitchFamily="34" charset="0"/>
                <a:ea typeface="Courier New" pitchFamily="34" charset="-122"/>
                <a:cs typeface="Courier New" pitchFamily="34" charset="-120"/>
              </a:rPr>
              <a:t>AGENT_ENABLED=false python3 run_agent.py --input samples/normal.json</a:t>
            </a:r>
            <a:endParaRPr lang="en-US" sz="1476" dirty="0"/>
          </a:p>
        </p:txBody>
      </p:sp>
      <p:sp>
        <p:nvSpPr>
          <p:cNvPr id="9" name="Shape 7"/>
          <p:cNvSpPr/>
          <p:nvPr/>
        </p:nvSpPr>
        <p:spPr>
          <a:xfrm>
            <a:off x="457200" y="3063240"/>
            <a:ext cx="4023360" cy="1280160"/>
          </a:xfrm>
          <a:prstGeom prst="roundRect">
            <a:avLst>
              <a:gd name="adj" fmla="val 5714"/>
            </a:avLst>
          </a:prstGeom>
          <a:solidFill>
            <a:srgbClr val="ECFDF5"/>
          </a:solidFill>
          <a:ln w="12700">
            <a:solidFill>
              <a:srgbClr val="ECFDF5"/>
            </a:solidFill>
            <a:prstDash val="solid"/>
          </a:ln>
        </p:spPr>
      </p:sp>
      <p:sp>
        <p:nvSpPr>
          <p:cNvPr id="10" name="Text 8"/>
          <p:cNvSpPr txBox="1"/>
          <p:nvPr/>
        </p:nvSpPr>
        <p:spPr>
          <a:xfrm>
            <a:off x="685800" y="3063240"/>
            <a:ext cx="3566160" cy="128016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Refused instantly, with a clear message, having spent nothing.</a:t>
            </a:r>
            <a:endParaRPr lang="en-US" sz="1350" dirty="0"/>
          </a:p>
        </p:txBody>
      </p:sp>
      <p:sp>
        <p:nvSpPr>
          <p:cNvPr id="11" name="Shape 9"/>
          <p:cNvSpPr/>
          <p:nvPr/>
        </p:nvSpPr>
        <p:spPr>
          <a:xfrm>
            <a:off x="4663440" y="3063240"/>
            <a:ext cx="4023360" cy="1280160"/>
          </a:xfrm>
          <a:prstGeom prst="roundRect">
            <a:avLst>
              <a:gd name="adj" fmla="val 5714"/>
            </a:avLst>
          </a:prstGeom>
          <a:solidFill>
            <a:srgbClr val="F3F4F6"/>
          </a:solidFill>
          <a:ln w="12700">
            <a:solidFill>
              <a:srgbClr val="F3F4F6"/>
            </a:solidFill>
            <a:prstDash val="solid"/>
          </a:ln>
        </p:spPr>
      </p:sp>
      <p:sp>
        <p:nvSpPr>
          <p:cNvPr id="12" name="Text 10"/>
          <p:cNvSpPr txBox="1"/>
          <p:nvPr/>
        </p:nvSpPr>
        <p:spPr>
          <a:xfrm>
            <a:off x="4892040" y="3063240"/>
            <a:ext cx="3566160" cy="12801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Now start several runs in the background, flip the setting while they are in flight, and confirm the running ones finish while new ones are refused. That is draining, tested.</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biggest change in the course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457200" y="1325880"/>
            <a:ext cx="4023360" cy="1280160"/>
          </a:xfrm>
          <a:prstGeom prst="roundRect">
            <a:avLst>
              <a:gd name="adj" fmla="val 5714"/>
            </a:avLst>
          </a:prstGeom>
          <a:solidFill>
            <a:srgbClr val="F3F4F6"/>
          </a:solidFill>
          <a:ln w="12700">
            <a:solidFill>
              <a:srgbClr val="F3F4F6"/>
            </a:solidFill>
            <a:prstDash val="solid"/>
          </a:ln>
        </p:spPr>
      </p:sp>
      <p:sp>
        <p:nvSpPr>
          <p:cNvPr id="7" name="Shape 5"/>
          <p:cNvSpPr/>
          <p:nvPr/>
        </p:nvSpPr>
        <p:spPr>
          <a:xfrm>
            <a:off x="685800" y="1554480"/>
            <a:ext cx="411480" cy="411480"/>
          </a:xfrm>
          <a:prstGeom prst="ellipse">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776326" y="1645006"/>
            <a:ext cx="230429" cy="230429"/>
          </a:xfrm>
          <a:prstGeom prst="rect">
            <a:avLst/>
          </a:prstGeom>
        </p:spPr>
      </p:pic>
      <p:sp>
        <p:nvSpPr>
          <p:cNvPr id="9" name="Text 6"/>
          <p:cNvSpPr txBox="1"/>
          <p:nvPr/>
        </p:nvSpPr>
        <p:spPr>
          <a:xfrm>
            <a:off x="128016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limit on one task</a:t>
            </a:r>
            <a:endParaRPr lang="en-US" sz="1500" dirty="0"/>
          </a:p>
        </p:txBody>
      </p:sp>
      <p:sp>
        <p:nvSpPr>
          <p:cNvPr id="10" name="Text 7"/>
          <p:cNvSpPr txBox="1"/>
          <p:nvPr/>
        </p:nvSpPr>
        <p:spPr>
          <a:xfrm>
            <a:off x="128016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per-run cap stops a single runaway before it becomes a number.</a:t>
            </a:r>
            <a:endParaRPr lang="en-US" sz="1200" dirty="0"/>
          </a:p>
        </p:txBody>
      </p:sp>
      <p:sp>
        <p:nvSpPr>
          <p:cNvPr id="11" name="Shape 8"/>
          <p:cNvSpPr/>
          <p:nvPr/>
        </p:nvSpPr>
        <p:spPr>
          <a:xfrm>
            <a:off x="4663440" y="1325880"/>
            <a:ext cx="4023360" cy="1280160"/>
          </a:xfrm>
          <a:prstGeom prst="roundRect">
            <a:avLst>
              <a:gd name="adj" fmla="val 5714"/>
            </a:avLst>
          </a:prstGeom>
          <a:solidFill>
            <a:srgbClr val="F3F4F6"/>
          </a:solidFill>
          <a:ln w="12700">
            <a:solidFill>
              <a:srgbClr val="F3F4F6"/>
            </a:solidFill>
            <a:prstDash val="solid"/>
          </a:ln>
        </p:spPr>
      </p:sp>
      <p:sp>
        <p:nvSpPr>
          <p:cNvPr id="12" name="Shape 9"/>
          <p:cNvSpPr/>
          <p:nvPr/>
        </p:nvSpPr>
        <p:spPr>
          <a:xfrm>
            <a:off x="4892040" y="1554480"/>
            <a:ext cx="411480" cy="411480"/>
          </a:xfrm>
          <a:prstGeom prst="ellipse">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4982566" y="1645006"/>
            <a:ext cx="230429" cy="230429"/>
          </a:xfrm>
          <a:prstGeom prst="rect">
            <a:avLst/>
          </a:prstGeom>
        </p:spPr>
      </p:pic>
      <p:sp>
        <p:nvSpPr>
          <p:cNvPr id="14" name="Text 10"/>
          <p:cNvSpPr txBox="1"/>
          <p:nvPr/>
        </p:nvSpPr>
        <p:spPr>
          <a:xfrm>
            <a:off x="548640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limit on one day</a:t>
            </a:r>
            <a:endParaRPr lang="en-US" sz="1500" dirty="0"/>
          </a:p>
        </p:txBody>
      </p:sp>
      <p:sp>
        <p:nvSpPr>
          <p:cNvPr id="15" name="Text 11"/>
          <p:cNvSpPr txBox="1"/>
          <p:nvPr/>
        </p:nvSpPr>
        <p:spPr>
          <a:xfrm>
            <a:off x="548640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daily cap catches the case where every run behaved but the total did not.</a:t>
            </a:r>
            <a:endParaRPr lang="en-US" sz="1200" dirty="0"/>
          </a:p>
        </p:txBody>
      </p:sp>
      <p:sp>
        <p:nvSpPr>
          <p:cNvPr id="16" name="Shape 12"/>
          <p:cNvSpPr/>
          <p:nvPr/>
        </p:nvSpPr>
        <p:spPr>
          <a:xfrm>
            <a:off x="457200" y="2788920"/>
            <a:ext cx="4023360" cy="1280160"/>
          </a:xfrm>
          <a:prstGeom prst="roundRect">
            <a:avLst>
              <a:gd name="adj" fmla="val 5714"/>
            </a:avLst>
          </a:prstGeom>
          <a:solidFill>
            <a:srgbClr val="F3F4F6"/>
          </a:solidFill>
          <a:ln w="12700">
            <a:solidFill>
              <a:srgbClr val="F3F4F6"/>
            </a:solidFill>
            <a:prstDash val="solid"/>
          </a:ln>
        </p:spPr>
      </p:sp>
      <p:sp>
        <p:nvSpPr>
          <p:cNvPr id="17" name="Shape 13"/>
          <p:cNvSpPr/>
          <p:nvPr/>
        </p:nvSpPr>
        <p:spPr>
          <a:xfrm>
            <a:off x="685800" y="3017520"/>
            <a:ext cx="411480" cy="411480"/>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776326" y="3108046"/>
            <a:ext cx="230429" cy="230429"/>
          </a:xfrm>
          <a:prstGeom prst="rect">
            <a:avLst/>
          </a:prstGeom>
        </p:spPr>
      </p:pic>
      <p:sp>
        <p:nvSpPr>
          <p:cNvPr id="19" name="Text 14"/>
          <p:cNvSpPr txBox="1"/>
          <p:nvPr/>
        </p:nvSpPr>
        <p:spPr>
          <a:xfrm>
            <a:off x="128016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switch anyone can flip</a:t>
            </a:r>
            <a:endParaRPr lang="en-US" sz="1500" dirty="0"/>
          </a:p>
        </p:txBody>
      </p:sp>
      <p:sp>
        <p:nvSpPr>
          <p:cNvPr id="20" name="Text 15"/>
          <p:cNvSpPr txBox="1"/>
          <p:nvPr/>
        </p:nvSpPr>
        <p:spPr>
          <a:xfrm>
            <a:off x="128016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New work refused, running work drained, nothing redeployed.</a:t>
            </a:r>
            <a:endParaRPr lang="en-US" sz="1200" dirty="0"/>
          </a:p>
        </p:txBody>
      </p:sp>
      <p:sp>
        <p:nvSpPr>
          <p:cNvPr id="21" name="Shape 16"/>
          <p:cNvSpPr/>
          <p:nvPr/>
        </p:nvSpPr>
        <p:spPr>
          <a:xfrm>
            <a:off x="4663440" y="2788920"/>
            <a:ext cx="4023360" cy="1280160"/>
          </a:xfrm>
          <a:prstGeom prst="roundRect">
            <a:avLst>
              <a:gd name="adj" fmla="val 5714"/>
            </a:avLst>
          </a:prstGeom>
          <a:solidFill>
            <a:srgbClr val="F3F4F6"/>
          </a:solidFill>
          <a:ln w="12700">
            <a:solidFill>
              <a:srgbClr val="F3F4F6"/>
            </a:solidFill>
            <a:prstDash val="solid"/>
          </a:ln>
        </p:spPr>
      </p:sp>
      <p:sp>
        <p:nvSpPr>
          <p:cNvPr id="22" name="Shape 17"/>
          <p:cNvSpPr/>
          <p:nvPr/>
        </p:nvSpPr>
        <p:spPr>
          <a:xfrm>
            <a:off x="4892040" y="3017520"/>
            <a:ext cx="411480" cy="411480"/>
          </a:xfrm>
          <a:prstGeom prst="ellipse">
            <a:avLst/>
          </a:prstGeom>
          <a:solidFill>
            <a:srgbClr val="B45309"/>
          </a:solidFill>
          <a:ln w="12700">
            <a:solidFill>
              <a:srgbClr val="B45309"/>
            </a:solidFill>
            <a:prstDash val="solid"/>
          </a:ln>
        </p:spPr>
      </p:sp>
      <p:pic>
        <p:nvPicPr>
          <p:cNvPr id="23" name="Image 3" descr="preencoded.png">    </p:cNvPr>
          <p:cNvPicPr>
            <a:picLocks noChangeAspect="1"/>
          </p:cNvPicPr>
          <p:nvPr/>
        </p:nvPicPr>
        <p:blipFill>
          <a:blip r:embed="rId4"/>
          <a:stretch>
            <a:fillRect/>
          </a:stretch>
        </p:blipFill>
        <p:spPr>
          <a:xfrm>
            <a:off x="4982566" y="3108046"/>
            <a:ext cx="230429" cy="230429"/>
          </a:xfrm>
          <a:prstGeom prst="rect">
            <a:avLst/>
          </a:prstGeom>
        </p:spPr>
      </p:pic>
      <p:sp>
        <p:nvSpPr>
          <p:cNvPr id="24" name="Text 18"/>
          <p:cNvSpPr txBox="1"/>
          <p:nvPr/>
        </p:nvSpPr>
        <p:spPr>
          <a:xfrm>
            <a:off x="548640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All of it tested</a:t>
            </a:r>
            <a:endParaRPr lang="en-US" sz="1500" dirty="0"/>
          </a:p>
        </p:txBody>
      </p:sp>
      <p:sp>
        <p:nvSpPr>
          <p:cNvPr id="25" name="Text 19"/>
          <p:cNvSpPr txBox="1"/>
          <p:nvPr/>
        </p:nvSpPr>
        <p:spPr>
          <a:xfrm>
            <a:off x="548640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 ran the fire drill while nothing was wrong.</a:t>
            </a:r>
            <a:endParaRPr lang="en-US" sz="1200" dirty="0"/>
          </a:p>
        </p:txBody>
      </p:sp>
      <p:sp>
        <p:nvSpPr>
          <p:cNvPr id="26" name="Text 2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700" b="1" i="1" dirty="0">
                <a:solidFill>
                  <a:srgbClr val="B45309"/>
                </a:solidFill>
                <a:latin typeface="Cambria" pitchFamily="34" charset="0"/>
                <a:ea typeface="Cambria" pitchFamily="34" charset="-122"/>
                <a:cs typeface="Cambria" pitchFamily="34" charset="-120"/>
              </a:rPr>
              <a:t>The runaway from module one now stops on its own, in seconds.</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WHAT IS STILL MISSING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3</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5" name="Text 3"/>
          <p:cNvSpPr txBox="1"/>
          <p:nvPr/>
        </p:nvSpPr>
        <p:spPr>
          <a:xfrm>
            <a:off x="457200" y="1005840"/>
            <a:ext cx="822960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cap stopped the bleeding.</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It did not save the work.</a:t>
            </a:r>
            <a:endParaRPr lang="en-US" sz="3400" dirty="0"/>
          </a:p>
        </p:txBody>
      </p:sp>
      <p:sp>
        <p:nvSpPr>
          <p:cNvPr id="6" name="Text 4"/>
          <p:cNvSpPr txBox="1"/>
          <p:nvPr/>
        </p:nvSpPr>
        <p:spPr>
          <a:xfrm>
            <a:off x="457200" y="2377440"/>
            <a:ext cx="7863840" cy="109728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When a run hits its cap, everything it had done is thrown away. On step eleven of twelve, you paid for eleven steps and got nothing. And a run that fails and is retried starts again from the beginning. Every time.</a:t>
            </a:r>
            <a:endParaRPr lang="en-US" sz="1600" dirty="0"/>
          </a:p>
        </p:txBody>
      </p:sp>
      <p:sp>
        <p:nvSpPr>
          <p:cNvPr id="7" name="Text 5"/>
          <p:cNvSpPr txBox="1"/>
          <p:nvPr/>
        </p:nvSpPr>
        <p:spPr>
          <a:xfrm>
            <a:off x="457200" y="3611880"/>
            <a:ext cx="7863840" cy="822960"/>
          </a:xfrm>
          <a:prstGeom prst="rect">
            <a:avLst/>
          </a:prstGeom>
          <a:noFill/>
          <a:ln/>
        </p:spPr>
        <p:txBody>
          <a:bodyPr wrap="square" lIns="0" tIns="0" rIns="0" bIns="0" rtlCol="0" anchor="t"/>
          <a:lstStyle/>
          <a:p>
            <a:pPr indent="0" marL="0">
              <a:buNone/>
            </a:pPr>
            <a:r>
              <a:rPr lang="en-US" sz="1500" b="1" dirty="0">
                <a:solidFill>
                  <a:srgbClr val="F59E0B"/>
                </a:solidFill>
                <a:latin typeface="Calibri" pitchFamily="34" charset="0"/>
                <a:ea typeface="Calibri" pitchFamily="34" charset="-122"/>
                <a:cs typeface="Calibri" pitchFamily="34" charset="-120"/>
              </a:rPr>
              <a:t>That is module four: loops, retries, and the cost of failure; where the largest savings in this course are, and they do not come from a cheaper model.</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NEXT · MODULE 4 OF 6</a:t>
            </a:r>
            <a:endParaRPr lang="en-US" sz="1100" dirty="0"/>
          </a:p>
        </p:txBody>
      </p:sp>
      <p:sp>
        <p:nvSpPr>
          <p:cNvPr id="3" name="Text 1"/>
          <p:cNvSpPr txBox="1"/>
          <p:nvPr/>
        </p:nvSpPr>
        <p:spPr>
          <a:xfrm>
            <a:off x="548640" y="1463040"/>
            <a:ext cx="777240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Stop paying twice.</a:t>
            </a:r>
            <a:endParaRPr lang="en-US" sz="4600" dirty="0"/>
          </a:p>
        </p:txBody>
      </p:sp>
      <p:sp>
        <p:nvSpPr>
          <p:cNvPr id="4" name="Text 2"/>
          <p:cNvSpPr txBox="1"/>
          <p:nvPr/>
        </p:nvSpPr>
        <p:spPr>
          <a:xfrm>
            <a:off x="548640" y="2514600"/>
            <a:ext cx="7132320" cy="82296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Loops, retries, and the cost of failure; the largest savings in the course, and none of them come from a cheaper model.</a:t>
            </a:r>
            <a:endParaRPr lang="en-US" sz="1800" dirty="0"/>
          </a:p>
        </p:txBody>
      </p:sp>
      <p:sp>
        <p:nvSpPr>
          <p:cNvPr id="5" name="Text 3"/>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600" i="1" dirty="0">
                <a:solidFill>
                  <a:srgbClr val="F59E0B"/>
                </a:solidFill>
                <a:latin typeface="Cambria" pitchFamily="34" charset="0"/>
                <a:ea typeface="Cambria" pitchFamily="34" charset="-122"/>
                <a:cs typeface="Cambria" pitchFamily="34" charset="-120"/>
              </a:rPr>
              <a:t>Caps  ·  Behaviour  ·  The switch</a:t>
            </a:r>
            <a:endParaRPr lang="en-US" sz="1600" dirty="0"/>
          </a:p>
        </p:txBody>
      </p:sp>
      <p:sp>
        <p:nvSpPr>
          <p:cNvPr id="6" name="Text 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do these before Module 4</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01</a:t>
            </a:r>
            <a:endParaRPr lang="en-US" sz="2000" dirty="0"/>
          </a:p>
        </p:txBody>
      </p:sp>
      <p:sp>
        <p:nvSpPr>
          <p:cNvPr id="8" name="Text 6"/>
          <p:cNvSpPr txBox="1"/>
          <p:nvPr/>
        </p:nvSpPr>
        <p:spPr>
          <a:xfrm>
            <a:off x="621792"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Choose your numbers</a:t>
            </a:r>
            <a:endParaRPr lang="en-US" sz="1200" dirty="0"/>
          </a:p>
        </p:txBody>
      </p:sp>
      <p:sp>
        <p:nvSpPr>
          <p:cNvPr id="9" name="Text 7"/>
          <p:cNvSpPr txBox="1"/>
          <p:nvPr/>
        </p:nvSpPr>
        <p:spPr>
          <a:xfrm>
            <a:off x="621792"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 per-run cap and a daily cap from your own module 2 data, with one sentence of why for each.</a:t>
            </a:r>
            <a:endParaRPr lang="en-US" sz="90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02</a:t>
            </a:r>
            <a:endParaRPr lang="en-US" sz="2000" dirty="0"/>
          </a:p>
        </p:txBody>
      </p:sp>
      <p:sp>
        <p:nvSpPr>
          <p:cNvPr id="12" name="Text 10"/>
          <p:cNvSpPr txBox="1"/>
          <p:nvPr/>
        </p:nvSpPr>
        <p:spPr>
          <a:xfrm>
            <a:off x="2706624"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Build the per-run cap</a:t>
            </a:r>
            <a:endParaRPr lang="en-US" sz="1200" dirty="0"/>
          </a:p>
        </p:txBody>
      </p:sp>
      <p:sp>
        <p:nvSpPr>
          <p:cNvPr id="13" name="Text 11"/>
          <p:cNvSpPr txBox="1"/>
          <p:nvPr/>
        </p:nvSpPr>
        <p:spPr>
          <a:xfrm>
            <a:off x="2706624"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Running total plus the check. A named exception, not a generic one.</a:t>
            </a:r>
            <a:endParaRPr lang="en-US" sz="90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4791456"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Read your own message</a:t>
            </a:r>
            <a:endParaRPr lang="en-US" sz="1200" dirty="0"/>
          </a:p>
        </p:txBody>
      </p:sp>
      <p:sp>
        <p:nvSpPr>
          <p:cNvPr id="17" name="Text 15"/>
          <p:cNvSpPr txBox="1"/>
          <p:nvPr/>
        </p:nvSpPr>
        <p:spPr>
          <a:xfrm>
            <a:off x="4791456"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Trip the cap; read the message as a stranger would at 3am. Rewrite until it is clear.</a:t>
            </a:r>
            <a:endParaRPr lang="en-US" sz="90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04</a:t>
            </a:r>
            <a:endParaRPr lang="en-US" sz="2000" dirty="0"/>
          </a:p>
        </p:txBody>
      </p:sp>
      <p:sp>
        <p:nvSpPr>
          <p:cNvPr id="20" name="Text 18"/>
          <p:cNvSpPr txBox="1"/>
          <p:nvPr/>
        </p:nvSpPr>
        <p:spPr>
          <a:xfrm>
            <a:off x="6876288" y="180136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Pick a behaviour</a:t>
            </a:r>
            <a:endParaRPr lang="en-US" sz="1200" dirty="0"/>
          </a:p>
        </p:txBody>
      </p:sp>
      <p:sp>
        <p:nvSpPr>
          <p:cNvPr id="21" name="Text 19"/>
          <p:cNvSpPr txBox="1"/>
          <p:nvPr/>
        </p:nvSpPr>
        <p:spPr>
          <a:xfrm>
            <a:off x="6876288" y="213055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Stop, degrade or queue. Write down which and why, then implement it properly.</a:t>
            </a:r>
            <a:endParaRPr lang="en-US" sz="90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05</a:t>
            </a:r>
            <a:endParaRPr lang="en-US" sz="2000" dirty="0"/>
          </a:p>
        </p:txBody>
      </p:sp>
      <p:sp>
        <p:nvSpPr>
          <p:cNvPr id="24" name="Text 22"/>
          <p:cNvSpPr txBox="1"/>
          <p:nvPr/>
        </p:nvSpPr>
        <p:spPr>
          <a:xfrm>
            <a:off x="621792" y="344728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Build the daily cap</a:t>
            </a:r>
            <a:endParaRPr lang="en-US" sz="1200" dirty="0"/>
          </a:p>
        </p:txBody>
      </p:sp>
      <p:sp>
        <p:nvSpPr>
          <p:cNvPr id="25" name="Text 23"/>
          <p:cNvSpPr txBox="1"/>
          <p:nvPr/>
        </p:nvSpPr>
        <p:spPr>
          <a:xfrm>
            <a:off x="621792" y="377647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 total that survives between runs. A refused run must make zero model calls.</a:t>
            </a:r>
            <a:endParaRPr lang="en-US" sz="900" dirty="0"/>
          </a:p>
        </p:txBody>
      </p:sp>
      <p:sp>
        <p:nvSpPr>
          <p:cNvPr id="26" name="Shape 24"/>
          <p:cNvSpPr/>
          <p:nvPr/>
        </p:nvSpPr>
        <p:spPr>
          <a:xfrm>
            <a:off x="2542032" y="2971800"/>
            <a:ext cx="1938528" cy="1481328"/>
          </a:xfrm>
          <a:prstGeom prst="roundRect">
            <a:avLst>
              <a:gd name="adj" fmla="val 4938"/>
            </a:avLst>
          </a:prstGeom>
          <a:solidFill>
            <a:srgbClr val="111827"/>
          </a:solidFill>
          <a:ln w="12700">
            <a:solidFill>
              <a:srgbClr val="111827"/>
            </a:solidFill>
            <a:prstDash val="solid"/>
          </a:ln>
        </p:spPr>
      </p:sp>
      <p:sp>
        <p:nvSpPr>
          <p:cNvPr id="27" name="Text 25"/>
          <p:cNvSpPr txBox="1"/>
          <p:nvPr/>
        </p:nvSpPr>
        <p:spPr>
          <a:xfrm>
            <a:off x="2706624" y="3090672"/>
            <a:ext cx="731520" cy="365760"/>
          </a:xfrm>
          <a:prstGeom prst="rect">
            <a:avLst/>
          </a:prstGeom>
          <a:noFill/>
          <a:ln/>
        </p:spPr>
        <p:txBody>
          <a:bodyPr wrap="square" lIns="0" tIns="0" rIns="0" bIns="0" rtlCol="0" anchor="t"/>
          <a:lstStyle/>
          <a:p>
            <a:pPr indent="0" marL="0">
              <a:buNone/>
            </a:pPr>
            <a:r>
              <a:rPr lang="en-US" sz="2000" b="1" dirty="0">
                <a:solidFill>
                  <a:srgbClr val="F59E0B"/>
                </a:solidFill>
                <a:latin typeface="Cambria" pitchFamily="34" charset="0"/>
                <a:ea typeface="Cambria" pitchFamily="34" charset="-122"/>
                <a:cs typeface="Cambria" pitchFamily="34" charset="-120"/>
              </a:rPr>
              <a:t>06</a:t>
            </a:r>
            <a:endParaRPr lang="en-US" sz="2000" dirty="0"/>
          </a:p>
        </p:txBody>
      </p:sp>
      <p:sp>
        <p:nvSpPr>
          <p:cNvPr id="28" name="Text 26"/>
          <p:cNvSpPr txBox="1"/>
          <p:nvPr/>
        </p:nvSpPr>
        <p:spPr>
          <a:xfrm>
            <a:off x="2706624" y="3447288"/>
            <a:ext cx="1691640" cy="3200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Run the fire drill</a:t>
            </a:r>
            <a:endParaRPr lang="en-US" sz="1200" dirty="0"/>
          </a:p>
        </p:txBody>
      </p:sp>
      <p:sp>
        <p:nvSpPr>
          <p:cNvPr id="29" name="Text 27"/>
          <p:cNvSpPr txBox="1"/>
          <p:nvPr/>
        </p:nvSpPr>
        <p:spPr>
          <a:xfrm>
            <a:off x="2706624" y="3776472"/>
            <a:ext cx="1664208" cy="640080"/>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All four tests. Write down what actually happened, not what you expected.</a:t>
            </a:r>
            <a:endParaRPr lang="en-US" sz="90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07</a:t>
            </a:r>
            <a:endParaRPr lang="en-US" sz="2000" dirty="0"/>
          </a:p>
        </p:txBody>
      </p:sp>
      <p:sp>
        <p:nvSpPr>
          <p:cNvPr id="32" name="Text 30"/>
          <p:cNvSpPr txBox="1"/>
          <p:nvPr/>
        </p:nvSpPr>
        <p:spPr>
          <a:xfrm>
            <a:off x="4791456" y="344728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Cap the runaway</a:t>
            </a:r>
            <a:endParaRPr lang="en-US" sz="1200" dirty="0"/>
          </a:p>
        </p:txBody>
      </p:sp>
      <p:sp>
        <p:nvSpPr>
          <p:cNvPr id="33" name="Text 31"/>
          <p:cNvSpPr txBox="1"/>
          <p:nvPr/>
        </p:nvSpPr>
        <p:spPr>
          <a:xfrm>
            <a:off x="4791456" y="377647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Record how long it takes to stop and what it cost. Compare with module 1.</a:t>
            </a:r>
            <a:endParaRPr lang="en-US" sz="900" dirty="0"/>
          </a:p>
        </p:txBody>
      </p:sp>
      <p:sp>
        <p:nvSpPr>
          <p:cNvPr id="34" name="Shape 32"/>
          <p:cNvSpPr/>
          <p:nvPr/>
        </p:nvSpPr>
        <p:spPr>
          <a:xfrm>
            <a:off x="6711696" y="2971800"/>
            <a:ext cx="1938528" cy="1481328"/>
          </a:xfrm>
          <a:prstGeom prst="roundRect">
            <a:avLst>
              <a:gd name="adj" fmla="val 4938"/>
            </a:avLst>
          </a:prstGeom>
          <a:solidFill>
            <a:srgbClr val="F3F4F6"/>
          </a:solidFill>
          <a:ln w="12700">
            <a:solidFill>
              <a:srgbClr val="F3F4F6"/>
            </a:solidFill>
            <a:prstDash val="solid"/>
          </a:ln>
        </p:spPr>
      </p:sp>
      <p:sp>
        <p:nvSpPr>
          <p:cNvPr id="35" name="Text 33"/>
          <p:cNvSpPr txBox="1"/>
          <p:nvPr/>
        </p:nvSpPr>
        <p:spPr>
          <a:xfrm>
            <a:off x="6876288"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08</a:t>
            </a:r>
            <a:endParaRPr lang="en-US" sz="2000" dirty="0"/>
          </a:p>
        </p:txBody>
      </p:sp>
      <p:sp>
        <p:nvSpPr>
          <p:cNvPr id="36" name="Text 34"/>
          <p:cNvSpPr txBox="1"/>
          <p:nvPr/>
        </p:nvSpPr>
        <p:spPr>
          <a:xfrm>
            <a:off x="6876288" y="3447288"/>
            <a:ext cx="1691640" cy="320040"/>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Hand over the switch</a:t>
            </a:r>
            <a:endParaRPr lang="en-US" sz="1200" dirty="0"/>
          </a:p>
        </p:txBody>
      </p:sp>
      <p:sp>
        <p:nvSpPr>
          <p:cNvPr id="37" name="Text 35"/>
          <p:cNvSpPr txBox="1"/>
          <p:nvPr/>
        </p:nvSpPr>
        <p:spPr>
          <a:xfrm>
            <a:off x="6876288" y="3776472"/>
            <a:ext cx="1664208" cy="6400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 three-line note; a colleague turns the agent off without your help.</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caps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Cap (budget limit)</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maximum decided in advance. Like a coin meter: when it runs out, things stop, with no human needed.</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Per-run cap</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most one single task may cost. Catches the runaway loop, because it sees steps piling up.</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Daily cap</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most a whole day may cost across all runs. Catches many well-behaved runs that add up.</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three gates</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Inside the agent, at the gateway, at the provider. Each has a blind spot the others cover.</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05</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Gateway</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shared front door all agents send model calls through. The only place that sees everything now.</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06</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Stop / degrade / queue</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three deliberate answers at the cap: refuse clearly, answer cheaply, or set it aside.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switch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07</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fourth option</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What you get by not choosing: a crash mid-thought, half-finished work, no explanation.</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08</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Kill switch</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One setting changed by hand, in seconds, with no deployment, that stops new work.</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09</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Draining</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Stopping new work while current work finishes. Killing nine 90% runs means paying twice.</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10</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Named exception</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An error with its own name, like BudgetExceeded, so your code can handle that exact case.</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11</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Refusing early</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Checking the daily cap before any model call, so a refused run costs nothing at all.</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12</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Fire drill</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Testing safety equipment deliberately while nothing is wrong. Untested equipment is decoration.</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Setting the caps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RUN_BUDGET_USD=0.02 python3 run_agent.py …</a:t>
            </a:r>
            <a:endParaRPr lang="en-US" sz="850" dirty="0"/>
          </a:p>
        </p:txBody>
      </p:sp>
      <p:sp>
        <p:nvSpPr>
          <p:cNvPr id="8" name="Text 6"/>
          <p:cNvSpPr txBox="1"/>
          <p:nvPr/>
        </p:nvSpPr>
        <p:spPr>
          <a:xfrm>
            <a:off x="4023360" y="1325880"/>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Set an environment variable for one command only, then run the agent. The variable is gone afterwards.</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DAILY_BUDGET_USD=0.10 python3 run_agent.py …</a:t>
            </a:r>
            <a:endParaRPr lang="en-US" sz="850" dirty="0"/>
          </a:p>
        </p:txBody>
      </p:sp>
      <p:sp>
        <p:nvSpPr>
          <p:cNvPr id="11" name="Text 9"/>
          <p:cNvSpPr txBox="1"/>
          <p:nvPr/>
        </p:nvSpPr>
        <p:spPr>
          <a:xfrm>
            <a:off x="4023360" y="1947672"/>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same trick for the daily cap. Your envelope reads it when the run starts.</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AGENT_ENABLED=false python3 run_agent.py …</a:t>
            </a:r>
            <a:endParaRPr lang="en-US" sz="850" dirty="0"/>
          </a:p>
        </p:txBody>
      </p:sp>
      <p:sp>
        <p:nvSpPr>
          <p:cNvPr id="14" name="Text 12"/>
          <p:cNvSpPr txBox="1"/>
          <p:nvPr/>
        </p:nvSpPr>
        <p:spPr>
          <a:xfrm>
            <a:off x="4023360" y="2569464"/>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kill switch as an environment variable. Your envelope checks it before taking new work.</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timeout 120 …</a:t>
            </a:r>
            <a:endParaRPr lang="en-US" sz="850" dirty="0"/>
          </a:p>
        </p:txBody>
      </p:sp>
      <p:sp>
        <p:nvSpPr>
          <p:cNvPr id="17" name="Text 15"/>
          <p:cNvSpPr txBox="1"/>
          <p:nvPr/>
        </p:nvSpPr>
        <p:spPr>
          <a:xfrm>
            <a:off x="4023360" y="3191256"/>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Stop the command after 120 seconds. Here it is only a backstop; the cap should fire first.</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--input samples/malformed.json</a:t>
            </a:r>
            <a:endParaRPr lang="en-US" sz="850" dirty="0"/>
          </a:p>
        </p:txBody>
      </p:sp>
      <p:sp>
        <p:nvSpPr>
          <p:cNvPr id="20" name="Text 18"/>
          <p:cNvSpPr txBox="1"/>
          <p:nvPr/>
        </p:nvSpPr>
        <p:spPr>
          <a:xfrm>
            <a:off x="4023360" y="3813048"/>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flag on the course script: the record the agent cannot process. Module 1's runaway.</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Shell helpers for the fire drill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3</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export NAME=value   /   $env:NAME="value"</a:t>
            </a:r>
            <a:endParaRPr lang="en-US" sz="850" dirty="0"/>
          </a:p>
        </p:txBody>
      </p:sp>
      <p:sp>
        <p:nvSpPr>
          <p:cNvPr id="8" name="Text 6"/>
          <p:cNvSpPr txBox="1"/>
          <p:nvPr/>
        </p:nvSpPr>
        <p:spPr>
          <a:xfrm>
            <a:off x="4023360" y="1325880"/>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Set a variable for the whole session: the first on Mac and Linux, the second in PowerShell.</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echo $RUN_BUDGET_USD   /   echo $env:RUN_BUDGET_USD</a:t>
            </a:r>
            <a:endParaRPr lang="en-US" sz="850" dirty="0"/>
          </a:p>
        </p:txBody>
      </p:sp>
      <p:sp>
        <p:nvSpPr>
          <p:cNvPr id="11" name="Text 9"/>
          <p:cNvSpPr txBox="1"/>
          <p:nvPr/>
        </p:nvSpPr>
        <p:spPr>
          <a:xfrm>
            <a:off x="4023360" y="1947672"/>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Print a variable back, to check it is really set in this shell.</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python3 run_agent.py … &amp;</a:t>
            </a:r>
            <a:endParaRPr lang="en-US" sz="850" dirty="0"/>
          </a:p>
        </p:txBody>
      </p:sp>
      <p:sp>
        <p:nvSpPr>
          <p:cNvPr id="14" name="Text 12"/>
          <p:cNvSpPr txBox="1"/>
          <p:nvPr/>
        </p:nvSpPr>
        <p:spPr>
          <a:xfrm>
            <a:off x="4023360" y="2569464"/>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trailing ampersand runs it in the background, so you can start several and flip the switch.</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jobs   /   Get-Job</a:t>
            </a:r>
            <a:endParaRPr lang="en-US" sz="850" dirty="0"/>
          </a:p>
        </p:txBody>
      </p:sp>
      <p:sp>
        <p:nvSpPr>
          <p:cNvPr id="17" name="Text 15"/>
          <p:cNvSpPr txBox="1"/>
          <p:nvPr/>
        </p:nvSpPr>
        <p:spPr>
          <a:xfrm>
            <a:off x="4023360" y="3191256"/>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List what you started in the background, to confirm the running ones finished.</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291840" cy="548640"/>
          </a:xfrm>
          <a:prstGeom prst="rect">
            <a:avLst/>
          </a:prstGeom>
          <a:noFill/>
          <a:ln/>
        </p:spPr>
        <p:txBody>
          <a:bodyPr wrap="square" lIns="0" tIns="0" rIns="0" bIns="0" rtlCol="0" anchor="ctr"/>
          <a:lstStyle/>
          <a:p>
            <a:pPr indent="0" marL="0">
              <a:buNone/>
            </a:pPr>
            <a:r>
              <a:rPr lang="en-US" sz="850" b="1" dirty="0">
                <a:solidFill>
                  <a:srgbClr val="6D28D9"/>
                </a:solidFill>
                <a:latin typeface="Courier New" pitchFamily="34" charset="0"/>
                <a:ea typeface="Courier New" pitchFamily="34" charset="-122"/>
                <a:cs typeface="Courier New" pitchFamily="34" charset="-120"/>
              </a:rPr>
              <a:t>BudgetExceeded</a:t>
            </a:r>
            <a:endParaRPr lang="en-US" sz="850" dirty="0"/>
          </a:p>
        </p:txBody>
      </p:sp>
      <p:sp>
        <p:nvSpPr>
          <p:cNvPr id="20" name="Text 18"/>
          <p:cNvSpPr txBox="1"/>
          <p:nvPr/>
        </p:nvSpPr>
        <p:spPr>
          <a:xfrm>
            <a:off x="4023360" y="3813048"/>
            <a:ext cx="457200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Not a command: the name you give your own exception, so your code can catch this exact case.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Budget Caps and Kill Switches</dc:title>
  <dc:subject>PptxGenJS Presentation</dc:subject>
  <dc:creator>Emmanuel Naweji</dc:creator>
  <cp:lastModifiedBy>Emmanuel Naweji</cp:lastModifiedBy>
  <cp:revision>1</cp:revision>
  <dcterms:created xsi:type="dcterms:W3CDTF">2026-09-23T12:51:09Z</dcterms:created>
  <dcterms:modified xsi:type="dcterms:W3CDTF">2026-09-23T12:51:09Z</dcterms:modified>
</cp:coreProperties>
</file>