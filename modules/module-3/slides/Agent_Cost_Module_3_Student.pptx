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d07eabd-ce4b-182a-d1ef-a6b1fa1fea0b}">
          <p14:sldIdLst>
            <p14:sldId id="256"/>
            <p14:sldId id="257"/>
            <p14:sldId id="258"/>
          </p14:sldIdLst>
        </p14:section>
        <p14:section name="Before you start" id="{61f6c6c2-c768-7c6a-9103-4ea130cc0e28}">
          <p14:sldIdLst>
            <p14:sldId id="259"/>
            <p14:sldId id="260"/>
          </p14:sldIdLst>
        </p14:section>
        <p14:section name="01 · A Coin Meter" id="{9b04d26b-e135-29dc-d743-9f9944dbf442}">
          <p14:sldIdLst>
            <p14:sldId id="261"/>
            <p14:sldId id="262"/>
            <p14:sldId id="263"/>
          </p14:sldIdLst>
        </p14:section>
        <p14:section name="02 · Three Gates" id="{f7bed31b-7811-33e1-ebce-e70f1055c840}">
          <p14:sldIdLst>
            <p14:sldId id="264"/>
            <p14:sldId id="265"/>
            <p14:sldId id="266"/>
          </p14:sldIdLst>
        </p14:section>
        <p14:section name="03 · What Happens" id="{f5911840-8c6f-1d32-d380-59d391445418}">
          <p14:sldIdLst>
            <p14:sldId id="267"/>
            <p14:sldId id="268"/>
            <p14:sldId id="269"/>
          </p14:sldIdLst>
        </p14:section>
        <p14:section name="04 · The Switch" id="{1d4df8f2-8172-01ac-95b5-b19862338009}">
          <p14:sldIdLst>
            <p14:sldId id="270"/>
            <p14:sldId id="271"/>
            <p14:sldId id="272"/>
          </p14:sldIdLst>
        </p14:section>
        <p14:section name="05 · Fire Drill" id="{525447cc-3b3e-0575-8214-6ccff695c2b8}">
          <p14:sldIdLst>
            <p14:sldId id="273"/>
            <p14:sldId id="274"/>
            <p14:sldId id="275"/>
          </p14:sldIdLst>
        </p14:section>
        <p14:section name="06 · Build It" id="{80cefb59-1b57-8b8e-1efc-eccdc87ef366}">
          <p14:sldIdLst>
            <p14:sldId id="276"/>
            <p14:sldId id="277"/>
            <p14:sldId id="278"/>
            <p14:sldId id="279"/>
            <p14:sldId id="280"/>
            <p14:sldId id="281"/>
            <p14:sldId id="282"/>
          </p14:sldIdLst>
        </p14:section>
        <p14:section name="Wrap-up" id="{4aee0b90-7118-c283-be1e-e52549a1e261}">
          <p14:sldIdLst>
            <p14:sldId id="283"/>
            <p14:sldId id="284"/>
            <p14:sldId id="285"/>
          </p14:sldIdLst>
        </p14:section>
        <p14:section name="Appendix" id="{af64d250-7425-5fe1-23da-b8c2620c202a}">
          <p14:sldIdLst>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youtu.be/8ZIiXg4XOY0" TargetMode="External"/><Relationship Id="rId2" Type="http://schemas.openxmlformats.org/officeDocument/2006/relationships/hyperlink" Target="https://youtu.be/3e2-GRBibWc" TargetMode="External"/><Relationship Id="rId3" Type="http://schemas.openxmlformats.org/officeDocument/2006/relationships/hyperlink" Target="https://python.org/downloads" TargetMode="External"/><Relationship Id="rId4" Type="http://schemas.openxmlformats.org/officeDocument/2006/relationships/hyperlink" Target="https://docs.python.org/3/library/venv.html" TargetMode="External"/><Relationship Id="rId5" Type="http://schemas.openxmlformats.org/officeDocument/2006/relationships/hyperlink" Target="https://code.visualstudio.com/docs/python/environments" TargetMode="External"/><Relationship Id="rId6" Type="http://schemas.openxmlformats.org/officeDocument/2006/relationships/hyperlink" Target="https://redis.io/docs/latest/get-started"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MODULE 3 OF 6</a:t>
            </a:r>
            <a:endParaRPr lang="en-US" sz="1100" dirty="0"/>
          </a:p>
        </p:txBody>
      </p:sp>
      <p:sp>
        <p:nvSpPr>
          <p:cNvPr id="3" name="Text 1"/>
          <p:cNvSpPr txBox="1"/>
          <p:nvPr/>
        </p:nvSpPr>
        <p:spPr>
          <a:xfrm>
            <a:off x="548640" y="1234440"/>
            <a:ext cx="7772400" cy="15544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Budget Caps and</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Kill Switches</a:t>
            </a:r>
            <a:endParaRPr lang="en-US" sz="4600" dirty="0"/>
          </a:p>
        </p:txBody>
      </p:sp>
      <p:sp>
        <p:nvSpPr>
          <p:cNvPr id="4" name="Text 2"/>
          <p:cNvSpPr txBox="1"/>
          <p:nvPr/>
        </p:nvSpPr>
        <p:spPr>
          <a:xfrm>
            <a:off x="548640" y="2880360"/>
            <a:ext cx="7772400" cy="64008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Module 2 let you see the money leaving. </a:t>
            </a:r>
            <a:pPr indent="0" marL="0">
              <a:buNone/>
            </a:pPr>
            <a:r>
              <a:rPr lang="en-US" sz="1800" b="1" dirty="0">
                <a:solidFill>
                  <a:srgbClr val="FFFFFF"/>
                </a:solidFill>
                <a:latin typeface="Calibri" pitchFamily="34" charset="0"/>
                <a:ea typeface="Calibri" pitchFamily="34" charset="-122"/>
                <a:cs typeface="Calibri" pitchFamily="34" charset="-120"/>
              </a:rPr>
              <a:t>This one stops it.</a:t>
            </a:r>
            <a:endParaRPr lang="en-US" sz="1800" dirty="0"/>
          </a:p>
        </p:txBody>
      </p:sp>
      <p:sp>
        <p:nvSpPr>
          <p:cNvPr id="5" name="Text 3"/>
          <p:cNvSpPr txBox="1"/>
          <p:nvPr/>
        </p:nvSpPr>
        <p:spPr>
          <a:xfrm>
            <a:off x="54864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PRESENTER</a:t>
            </a:r>
            <a:endParaRPr lang="en-US" sz="900" dirty="0"/>
          </a:p>
        </p:txBody>
      </p:sp>
      <p:sp>
        <p:nvSpPr>
          <p:cNvPr id="6" name="Text 4"/>
          <p:cNvSpPr txBox="1"/>
          <p:nvPr/>
        </p:nvSpPr>
        <p:spPr>
          <a:xfrm>
            <a:off x="54864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Emmanuel Naweji</a:t>
            </a:r>
            <a:endParaRPr lang="en-US" sz="1200" dirty="0"/>
          </a:p>
        </p:txBody>
      </p:sp>
      <p:sp>
        <p:nvSpPr>
          <p:cNvPr id="7" name="Text 5"/>
          <p:cNvSpPr txBox="1"/>
          <p:nvPr/>
        </p:nvSpPr>
        <p:spPr>
          <a:xfrm>
            <a:off x="265176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RUNTIME</a:t>
            </a:r>
            <a:endParaRPr lang="en-US" sz="900" dirty="0"/>
          </a:p>
        </p:txBody>
      </p:sp>
      <p:sp>
        <p:nvSpPr>
          <p:cNvPr id="8" name="Text 6"/>
          <p:cNvSpPr txBox="1"/>
          <p:nvPr/>
        </p:nvSpPr>
        <p:spPr>
          <a:xfrm>
            <a:off x="265176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~50 min · 6 sections</a:t>
            </a:r>
            <a:endParaRPr lang="en-US" sz="1200" dirty="0"/>
          </a:p>
        </p:txBody>
      </p:sp>
      <p:sp>
        <p:nvSpPr>
          <p:cNvPr id="9" name="Text 7"/>
          <p:cNvSpPr txBox="1"/>
          <p:nvPr/>
        </p:nvSpPr>
        <p:spPr>
          <a:xfrm>
            <a:off x="4754880" y="3931920"/>
            <a:ext cx="384048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COURSE REPO</a:t>
            </a:r>
            <a:endParaRPr lang="en-US" sz="900" dirty="0"/>
          </a:p>
        </p:txBody>
      </p:sp>
      <p:sp>
        <p:nvSpPr>
          <p:cNvPr id="10" name="Text 8"/>
          <p:cNvSpPr txBox="1"/>
          <p:nvPr/>
        </p:nvSpPr>
        <p:spPr>
          <a:xfrm>
            <a:off x="4754880" y="4160520"/>
            <a:ext cx="384048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github.com/Here2ServeU/agent-cost-control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WHAT THIS MODULE GIVES YOU</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731520"/>
            <a:ext cx="8229600" cy="1371600"/>
          </a:xfrm>
          <a:prstGeom prst="rect">
            <a:avLst/>
          </a:prstGeom>
          <a:noFill/>
          <a:ln/>
        </p:spPr>
        <p:txBody>
          <a:bodyPr wrap="square" lIns="0" tIns="0" rIns="0" bIns="0" rtlCol="0" anchor="t"/>
          <a:lstStyle/>
          <a:p>
            <a:pPr indent="0" marL="0">
              <a:buNone/>
            </a:pPr>
            <a:r>
              <a:rPr lang="en-US" sz="3400" b="1" dirty="0">
                <a:solidFill>
                  <a:srgbClr val="111827"/>
                </a:solidFill>
                <a:latin typeface="Cambria" pitchFamily="34" charset="0"/>
                <a:ea typeface="Cambria" pitchFamily="34" charset="-122"/>
                <a:cs typeface="Cambria" pitchFamily="34" charset="-120"/>
              </a:rPr>
              <a:t>Seeing something happen is not</a:t>
            </a:r>
            <a:endParaRPr lang="en-US" sz="3400" dirty="0"/>
          </a:p>
          <a:p>
            <a:pPr indent="0" marL="0">
              <a:buNone/>
            </a:pPr>
            <a:r>
              <a:rPr lang="en-US" sz="3400" b="1" dirty="0">
                <a:solidFill>
                  <a:srgbClr val="111827"/>
                </a:solidFill>
                <a:latin typeface="Cambria" pitchFamily="34" charset="0"/>
                <a:ea typeface="Cambria" pitchFamily="34" charset="-122"/>
                <a:cs typeface="Cambria" pitchFamily="34" charset="-120"/>
              </a:rPr>
              <a:t>the same as stopping it.</a:t>
            </a:r>
            <a:endParaRPr lang="en-US" sz="3400" dirty="0"/>
          </a:p>
        </p:txBody>
      </p:sp>
      <p:sp>
        <p:nvSpPr>
          <p:cNvPr id="6" name="Shape 4"/>
          <p:cNvSpPr/>
          <p:nvPr/>
        </p:nvSpPr>
        <p:spPr>
          <a:xfrm>
            <a:off x="457200" y="2514600"/>
            <a:ext cx="2606040" cy="1920240"/>
          </a:xfrm>
          <a:prstGeom prst="roundRect">
            <a:avLst>
              <a:gd name="adj" fmla="val 3810"/>
            </a:avLst>
          </a:prstGeom>
          <a:solidFill>
            <a:srgbClr val="F3F4F6"/>
          </a:solidFill>
          <a:ln w="12700">
            <a:solidFill>
              <a:srgbClr val="F3F4F6"/>
            </a:solidFill>
            <a:prstDash val="solid"/>
          </a:ln>
        </p:spPr>
      </p:sp>
      <p:sp>
        <p:nvSpPr>
          <p:cNvPr id="7" name="Shape 5"/>
          <p:cNvSpPr/>
          <p:nvPr/>
        </p:nvSpPr>
        <p:spPr>
          <a:xfrm>
            <a:off x="685800" y="2697480"/>
            <a:ext cx="384048" cy="384048"/>
          </a:xfrm>
          <a:prstGeom prst="roundRect">
            <a:avLst>
              <a:gd name="adj" fmla="val 19048"/>
            </a:avLst>
          </a:prstGeom>
          <a:solidFill>
            <a:srgbClr val="B91C1C"/>
          </a:solidFill>
          <a:ln w="12700">
            <a:solidFill>
              <a:srgbClr val="B91C1C"/>
            </a:solidFill>
            <a:prstDash val="solid"/>
          </a:ln>
        </p:spPr>
      </p:sp>
      <p:pic>
        <p:nvPicPr>
          <p:cNvPr id="8" name="Image 0" descr="preencoded.png">    </p:cNvPr>
          <p:cNvPicPr>
            <a:picLocks noChangeAspect="1"/>
          </p:cNvPicPr>
          <p:nvPr/>
        </p:nvPicPr>
        <p:blipFill>
          <a:blip r:embed="rId1"/>
          <a:stretch>
            <a:fillRect/>
          </a:stretch>
        </p:blipFill>
        <p:spPr>
          <a:xfrm>
            <a:off x="768096" y="2779776"/>
            <a:ext cx="219456" cy="219456"/>
          </a:xfrm>
          <a:prstGeom prst="rect">
            <a:avLst/>
          </a:prstGeom>
        </p:spPr>
      </p:pic>
      <p:sp>
        <p:nvSpPr>
          <p:cNvPr id="9" name="Text 6"/>
          <p:cNvSpPr txBox="1"/>
          <p:nvPr/>
        </p:nvSpPr>
        <p:spPr>
          <a:xfrm>
            <a:off x="68580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hard limit</a:t>
            </a:r>
            <a:endParaRPr lang="en-US" sz="1500" dirty="0"/>
          </a:p>
        </p:txBody>
      </p:sp>
      <p:sp>
        <p:nvSpPr>
          <p:cNvPr id="10" name="Text 7"/>
          <p:cNvSpPr txBox="1"/>
          <p:nvPr/>
        </p:nvSpPr>
        <p:spPr>
          <a:xfrm>
            <a:off x="68580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cap that fires by itself at three in the morning, with nobody watching.</a:t>
            </a:r>
            <a:endParaRPr lang="en-US" sz="1200" dirty="0"/>
          </a:p>
        </p:txBody>
      </p:sp>
      <p:sp>
        <p:nvSpPr>
          <p:cNvPr id="11" name="Shape 8"/>
          <p:cNvSpPr/>
          <p:nvPr/>
        </p:nvSpPr>
        <p:spPr>
          <a:xfrm>
            <a:off x="3246120" y="2514600"/>
            <a:ext cx="2606040" cy="1920240"/>
          </a:xfrm>
          <a:prstGeom prst="roundRect">
            <a:avLst>
              <a:gd name="adj" fmla="val 3810"/>
            </a:avLst>
          </a:prstGeom>
          <a:solidFill>
            <a:srgbClr val="F3F4F6"/>
          </a:solidFill>
          <a:ln w="12700">
            <a:solidFill>
              <a:srgbClr val="F3F4F6"/>
            </a:solidFill>
            <a:prstDash val="solid"/>
          </a:ln>
        </p:spPr>
      </p:sp>
      <p:sp>
        <p:nvSpPr>
          <p:cNvPr id="12" name="Shape 9"/>
          <p:cNvSpPr/>
          <p:nvPr/>
        </p:nvSpPr>
        <p:spPr>
          <a:xfrm>
            <a:off x="3474720" y="2697480"/>
            <a:ext cx="384048" cy="384048"/>
          </a:xfrm>
          <a:prstGeom prst="roundRect">
            <a:avLst>
              <a:gd name="adj" fmla="val 19048"/>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3557016" y="2779776"/>
            <a:ext cx="219456" cy="219456"/>
          </a:xfrm>
          <a:prstGeom prst="rect">
            <a:avLst/>
          </a:prstGeom>
        </p:spPr>
      </p:pic>
      <p:sp>
        <p:nvSpPr>
          <p:cNvPr id="14" name="Text 10"/>
          <p:cNvSpPr txBox="1"/>
          <p:nvPr/>
        </p:nvSpPr>
        <p:spPr>
          <a:xfrm>
            <a:off x="347472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switch anyone can flip</a:t>
            </a:r>
            <a:endParaRPr lang="en-US" sz="1500" dirty="0"/>
          </a:p>
        </p:txBody>
      </p:sp>
      <p:sp>
        <p:nvSpPr>
          <p:cNvPr id="15" name="Text 11"/>
          <p:cNvSpPr txBox="1"/>
          <p:nvPr/>
        </p:nvSpPr>
        <p:spPr>
          <a:xfrm>
            <a:off x="347472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setting, changed by hand in seconds, with no deployment.</a:t>
            </a:r>
            <a:endParaRPr lang="en-US" sz="1200" dirty="0"/>
          </a:p>
        </p:txBody>
      </p:sp>
      <p:sp>
        <p:nvSpPr>
          <p:cNvPr id="16" name="Shape 12"/>
          <p:cNvSpPr/>
          <p:nvPr/>
        </p:nvSpPr>
        <p:spPr>
          <a:xfrm>
            <a:off x="6035040" y="2514600"/>
            <a:ext cx="2606040" cy="1920240"/>
          </a:xfrm>
          <a:prstGeom prst="roundRect">
            <a:avLst>
              <a:gd name="adj" fmla="val 3810"/>
            </a:avLst>
          </a:prstGeom>
          <a:solidFill>
            <a:srgbClr val="F3F4F6"/>
          </a:solidFill>
          <a:ln w="12700">
            <a:solidFill>
              <a:srgbClr val="F3F4F6"/>
            </a:solidFill>
            <a:prstDash val="solid"/>
          </a:ln>
        </p:spPr>
      </p:sp>
      <p:sp>
        <p:nvSpPr>
          <p:cNvPr id="17" name="Shape 13"/>
          <p:cNvSpPr/>
          <p:nvPr/>
        </p:nvSpPr>
        <p:spPr>
          <a:xfrm>
            <a:off x="6263640" y="2697480"/>
            <a:ext cx="384048" cy="384048"/>
          </a:xfrm>
          <a:prstGeom prst="roundRect">
            <a:avLst>
              <a:gd name="adj" fmla="val 19048"/>
            </a:avLst>
          </a:prstGeom>
          <a:solidFill>
            <a:srgbClr val="047857"/>
          </a:solidFill>
          <a:ln w="12700">
            <a:solidFill>
              <a:srgbClr val="047857"/>
            </a:solidFill>
            <a:prstDash val="solid"/>
          </a:ln>
        </p:spPr>
      </p:sp>
      <p:pic>
        <p:nvPicPr>
          <p:cNvPr id="18" name="Image 2" descr="preencoded.png">    </p:cNvPr>
          <p:cNvPicPr>
            <a:picLocks noChangeAspect="1"/>
          </p:cNvPicPr>
          <p:nvPr/>
        </p:nvPicPr>
        <p:blipFill>
          <a:blip r:embed="rId3"/>
          <a:stretch>
            <a:fillRect/>
          </a:stretch>
        </p:blipFill>
        <p:spPr>
          <a:xfrm>
            <a:off x="6345936" y="2779776"/>
            <a:ext cx="219456" cy="219456"/>
          </a:xfrm>
          <a:prstGeom prst="rect">
            <a:avLst/>
          </a:prstGeom>
        </p:spPr>
      </p:pic>
      <p:sp>
        <p:nvSpPr>
          <p:cNvPr id="19" name="Text 14"/>
          <p:cNvSpPr txBox="1"/>
          <p:nvPr/>
        </p:nvSpPr>
        <p:spPr>
          <a:xfrm>
            <a:off x="626364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decision made calmly</a:t>
            </a:r>
            <a:endParaRPr lang="en-US" sz="1500" dirty="0"/>
          </a:p>
        </p:txBody>
      </p:sp>
      <p:sp>
        <p:nvSpPr>
          <p:cNvPr id="20" name="Text 15"/>
          <p:cNvSpPr txBox="1"/>
          <p:nvPr/>
        </p:nvSpPr>
        <p:spPr>
          <a:xfrm>
            <a:off x="626364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What happens when the money runs out, chosen now rather than in a panic.</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SECTIONS AT A GLANCE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sections; one habit: decide in advance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417320"/>
            <a:ext cx="2606040" cy="1371600"/>
          </a:xfrm>
          <a:prstGeom prst="roundRect">
            <a:avLst>
              <a:gd name="adj" fmla="val 5333"/>
            </a:avLst>
          </a:prstGeom>
          <a:solidFill>
            <a:srgbClr val="F3F4F6"/>
          </a:solidFill>
          <a:ln w="12700">
            <a:solidFill>
              <a:srgbClr val="F3F4F6"/>
            </a:solidFill>
            <a:prstDash val="solid"/>
          </a:ln>
        </p:spPr>
      </p:sp>
      <p:sp>
        <p:nvSpPr>
          <p:cNvPr id="7" name="Text 5"/>
          <p:cNvSpPr txBox="1"/>
          <p:nvPr/>
        </p:nvSpPr>
        <p:spPr>
          <a:xfrm>
            <a:off x="68580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01</a:t>
            </a:r>
            <a:endParaRPr lang="en-US" sz="2800" dirty="0"/>
          </a:p>
        </p:txBody>
      </p:sp>
      <p:sp>
        <p:nvSpPr>
          <p:cNvPr id="8" name="Text 6"/>
          <p:cNvSpPr txBox="1"/>
          <p:nvPr/>
        </p:nvSpPr>
        <p:spPr>
          <a:xfrm>
            <a:off x="192024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9" name="Text 7"/>
          <p:cNvSpPr txBox="1"/>
          <p:nvPr/>
        </p:nvSpPr>
        <p:spPr>
          <a:xfrm>
            <a:off x="68580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A Coin Meter</a:t>
            </a:r>
            <a:endParaRPr lang="en-US" sz="1400" dirty="0"/>
          </a:p>
        </p:txBody>
      </p:sp>
      <p:sp>
        <p:nvSpPr>
          <p:cNvPr id="10" name="Shape 8"/>
          <p:cNvSpPr/>
          <p:nvPr/>
        </p:nvSpPr>
        <p:spPr>
          <a:xfrm>
            <a:off x="3246120" y="1417320"/>
            <a:ext cx="2606040" cy="1371600"/>
          </a:xfrm>
          <a:prstGeom prst="roundRect">
            <a:avLst>
              <a:gd name="adj" fmla="val 5333"/>
            </a:avLst>
          </a:prstGeom>
          <a:solidFill>
            <a:srgbClr val="F3F4F6"/>
          </a:solidFill>
          <a:ln w="12700">
            <a:solidFill>
              <a:srgbClr val="F3F4F6"/>
            </a:solidFill>
            <a:prstDash val="solid"/>
          </a:ln>
        </p:spPr>
      </p:sp>
      <p:sp>
        <p:nvSpPr>
          <p:cNvPr id="11" name="Text 9"/>
          <p:cNvSpPr txBox="1"/>
          <p:nvPr/>
        </p:nvSpPr>
        <p:spPr>
          <a:xfrm>
            <a:off x="347472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02</a:t>
            </a:r>
            <a:endParaRPr lang="en-US" sz="2800" dirty="0"/>
          </a:p>
        </p:txBody>
      </p:sp>
      <p:sp>
        <p:nvSpPr>
          <p:cNvPr id="12" name="Text 10"/>
          <p:cNvSpPr txBox="1"/>
          <p:nvPr/>
        </p:nvSpPr>
        <p:spPr>
          <a:xfrm>
            <a:off x="470916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~9 min</a:t>
            </a:r>
            <a:endParaRPr lang="en-US" sz="1100" dirty="0"/>
          </a:p>
        </p:txBody>
      </p:sp>
      <p:sp>
        <p:nvSpPr>
          <p:cNvPr id="13" name="Text 11"/>
          <p:cNvSpPr txBox="1"/>
          <p:nvPr/>
        </p:nvSpPr>
        <p:spPr>
          <a:xfrm>
            <a:off x="347472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Three Gates</a:t>
            </a:r>
            <a:endParaRPr lang="en-US" sz="1400" dirty="0"/>
          </a:p>
        </p:txBody>
      </p:sp>
      <p:sp>
        <p:nvSpPr>
          <p:cNvPr id="14" name="Shape 12"/>
          <p:cNvSpPr/>
          <p:nvPr/>
        </p:nvSpPr>
        <p:spPr>
          <a:xfrm>
            <a:off x="6035040" y="1417320"/>
            <a:ext cx="2606040" cy="1371600"/>
          </a:xfrm>
          <a:prstGeom prst="roundRect">
            <a:avLst>
              <a:gd name="adj" fmla="val 5333"/>
            </a:avLst>
          </a:prstGeom>
          <a:solidFill>
            <a:srgbClr val="F3F4F6"/>
          </a:solidFill>
          <a:ln w="12700">
            <a:solidFill>
              <a:srgbClr val="F3F4F6"/>
            </a:solidFill>
            <a:prstDash val="solid"/>
          </a:ln>
        </p:spPr>
      </p:sp>
      <p:sp>
        <p:nvSpPr>
          <p:cNvPr id="15" name="Text 13"/>
          <p:cNvSpPr txBox="1"/>
          <p:nvPr/>
        </p:nvSpPr>
        <p:spPr>
          <a:xfrm>
            <a:off x="626364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03</a:t>
            </a:r>
            <a:endParaRPr lang="en-US" sz="2800" dirty="0"/>
          </a:p>
        </p:txBody>
      </p:sp>
      <p:sp>
        <p:nvSpPr>
          <p:cNvPr id="16" name="Text 14"/>
          <p:cNvSpPr txBox="1"/>
          <p:nvPr/>
        </p:nvSpPr>
        <p:spPr>
          <a:xfrm>
            <a:off x="749808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~9 min</a:t>
            </a:r>
            <a:endParaRPr lang="en-US" sz="1100" dirty="0"/>
          </a:p>
        </p:txBody>
      </p:sp>
      <p:sp>
        <p:nvSpPr>
          <p:cNvPr id="17" name="Text 15"/>
          <p:cNvSpPr txBox="1"/>
          <p:nvPr/>
        </p:nvSpPr>
        <p:spPr>
          <a:xfrm>
            <a:off x="626364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What Happens</a:t>
            </a:r>
            <a:endParaRPr lang="en-US" sz="1400" dirty="0"/>
          </a:p>
        </p:txBody>
      </p:sp>
      <p:sp>
        <p:nvSpPr>
          <p:cNvPr id="18" name="Shape 16"/>
          <p:cNvSpPr/>
          <p:nvPr/>
        </p:nvSpPr>
        <p:spPr>
          <a:xfrm>
            <a:off x="457200" y="2971800"/>
            <a:ext cx="2606040" cy="1371600"/>
          </a:xfrm>
          <a:prstGeom prst="roundRect">
            <a:avLst>
              <a:gd name="adj" fmla="val 5333"/>
            </a:avLst>
          </a:prstGeom>
          <a:solidFill>
            <a:srgbClr val="F3F4F6"/>
          </a:solidFill>
          <a:ln w="12700">
            <a:solidFill>
              <a:srgbClr val="F3F4F6"/>
            </a:solidFill>
            <a:prstDash val="solid"/>
          </a:ln>
        </p:spPr>
      </p:sp>
      <p:sp>
        <p:nvSpPr>
          <p:cNvPr id="19" name="Text 17"/>
          <p:cNvSpPr txBox="1"/>
          <p:nvPr/>
        </p:nvSpPr>
        <p:spPr>
          <a:xfrm>
            <a:off x="68580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04</a:t>
            </a:r>
            <a:endParaRPr lang="en-US" sz="2800" dirty="0"/>
          </a:p>
        </p:txBody>
      </p:sp>
      <p:sp>
        <p:nvSpPr>
          <p:cNvPr id="20" name="Text 18"/>
          <p:cNvSpPr txBox="1"/>
          <p:nvPr/>
        </p:nvSpPr>
        <p:spPr>
          <a:xfrm>
            <a:off x="192024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21" name="Text 19"/>
          <p:cNvSpPr txBox="1"/>
          <p:nvPr/>
        </p:nvSpPr>
        <p:spPr>
          <a:xfrm>
            <a:off x="68580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Switch</a:t>
            </a:r>
            <a:endParaRPr lang="en-US" sz="1400" dirty="0"/>
          </a:p>
        </p:txBody>
      </p:sp>
      <p:sp>
        <p:nvSpPr>
          <p:cNvPr id="22" name="Shape 20"/>
          <p:cNvSpPr/>
          <p:nvPr/>
        </p:nvSpPr>
        <p:spPr>
          <a:xfrm>
            <a:off x="3246120" y="2971800"/>
            <a:ext cx="2606040" cy="1371600"/>
          </a:xfrm>
          <a:prstGeom prst="roundRect">
            <a:avLst>
              <a:gd name="adj" fmla="val 5333"/>
            </a:avLst>
          </a:prstGeom>
          <a:solidFill>
            <a:srgbClr val="F3F4F6"/>
          </a:solidFill>
          <a:ln w="12700">
            <a:solidFill>
              <a:srgbClr val="F3F4F6"/>
            </a:solidFill>
            <a:prstDash val="solid"/>
          </a:ln>
        </p:spPr>
      </p:sp>
      <p:sp>
        <p:nvSpPr>
          <p:cNvPr id="23" name="Text 21"/>
          <p:cNvSpPr txBox="1"/>
          <p:nvPr/>
        </p:nvSpPr>
        <p:spPr>
          <a:xfrm>
            <a:off x="347472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05</a:t>
            </a:r>
            <a:endParaRPr lang="en-US" sz="2800" dirty="0"/>
          </a:p>
        </p:txBody>
      </p:sp>
      <p:sp>
        <p:nvSpPr>
          <p:cNvPr id="24" name="Text 22"/>
          <p:cNvSpPr txBox="1"/>
          <p:nvPr/>
        </p:nvSpPr>
        <p:spPr>
          <a:xfrm>
            <a:off x="470916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25" name="Text 23"/>
          <p:cNvSpPr txBox="1"/>
          <p:nvPr/>
        </p:nvSpPr>
        <p:spPr>
          <a:xfrm>
            <a:off x="347472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Fire Drill</a:t>
            </a:r>
            <a:endParaRPr lang="en-US" sz="1400" dirty="0"/>
          </a:p>
        </p:txBody>
      </p:sp>
      <p:sp>
        <p:nvSpPr>
          <p:cNvPr id="26" name="Shape 24"/>
          <p:cNvSpPr/>
          <p:nvPr/>
        </p:nvSpPr>
        <p:spPr>
          <a:xfrm>
            <a:off x="6035040" y="2971800"/>
            <a:ext cx="2606040" cy="1371600"/>
          </a:xfrm>
          <a:prstGeom prst="roundRect">
            <a:avLst>
              <a:gd name="adj" fmla="val 5333"/>
            </a:avLst>
          </a:prstGeom>
          <a:solidFill>
            <a:srgbClr val="111827"/>
          </a:solidFill>
          <a:ln w="12700">
            <a:solidFill>
              <a:srgbClr val="111827"/>
            </a:solidFill>
            <a:prstDash val="solid"/>
          </a:ln>
        </p:spPr>
      </p:sp>
      <p:sp>
        <p:nvSpPr>
          <p:cNvPr id="27" name="Text 25"/>
          <p:cNvSpPr txBox="1"/>
          <p:nvPr/>
        </p:nvSpPr>
        <p:spPr>
          <a:xfrm>
            <a:off x="6263640" y="3154680"/>
            <a:ext cx="914400" cy="457200"/>
          </a:xfrm>
          <a:prstGeom prst="rect">
            <a:avLst/>
          </a:prstGeom>
          <a:noFill/>
          <a:ln/>
        </p:spPr>
        <p:txBody>
          <a:bodyPr wrap="square" lIns="0" tIns="0" rIns="0" bIns="0" rtlCol="0" anchor="t"/>
          <a:lstStyle/>
          <a:p>
            <a:pPr indent="0" marL="0">
              <a:buNone/>
            </a:pPr>
            <a:r>
              <a:rPr lang="en-US" sz="2800" b="1" dirty="0">
                <a:solidFill>
                  <a:srgbClr val="F59E0B"/>
                </a:solidFill>
                <a:latin typeface="Cambria" pitchFamily="34" charset="0"/>
                <a:ea typeface="Cambria" pitchFamily="34" charset="-122"/>
                <a:cs typeface="Cambria" pitchFamily="34" charset="-120"/>
              </a:rPr>
              <a:t>06</a:t>
            </a:r>
            <a:endParaRPr lang="en-US" sz="2800" dirty="0"/>
          </a:p>
        </p:txBody>
      </p:sp>
      <p:sp>
        <p:nvSpPr>
          <p:cNvPr id="28" name="Text 26"/>
          <p:cNvSpPr txBox="1"/>
          <p:nvPr/>
        </p:nvSpPr>
        <p:spPr>
          <a:xfrm>
            <a:off x="7498080" y="3218688"/>
            <a:ext cx="960120" cy="274320"/>
          </a:xfrm>
          <a:prstGeom prst="rect">
            <a:avLst/>
          </a:prstGeom>
          <a:noFill/>
          <a:ln/>
        </p:spPr>
        <p:txBody>
          <a:bodyPr wrap="square" lIns="0" tIns="0" rIns="0" bIns="0" rtlCol="0" anchor="t"/>
          <a:lstStyle/>
          <a:p>
            <a:pPr algn="r" indent="0" marL="0">
              <a:buNone/>
            </a:pPr>
            <a:r>
              <a:rPr lang="en-US" sz="1100" dirty="0">
                <a:solidFill>
                  <a:srgbClr val="9CA3AF"/>
                </a:solidFill>
                <a:latin typeface="Calibri" pitchFamily="34" charset="0"/>
                <a:ea typeface="Calibri" pitchFamily="34" charset="-122"/>
                <a:cs typeface="Calibri" pitchFamily="34" charset="-120"/>
              </a:rPr>
              <a:t>~10 min</a:t>
            </a:r>
            <a:endParaRPr lang="en-US" sz="1100" dirty="0"/>
          </a:p>
        </p:txBody>
      </p:sp>
      <p:sp>
        <p:nvSpPr>
          <p:cNvPr id="29" name="Text 27"/>
          <p:cNvSpPr txBox="1"/>
          <p:nvPr/>
        </p:nvSpPr>
        <p:spPr>
          <a:xfrm>
            <a:off x="6263640" y="3721608"/>
            <a:ext cx="219456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Build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what you need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Ten minutes once, and every command in this module will run. Pick your side.</a:t>
            </a:r>
            <a:endParaRPr lang="en-US" sz="1400" dirty="0"/>
          </a:p>
        </p:txBody>
      </p:sp>
      <p:sp>
        <p:nvSpPr>
          <p:cNvPr id="7" name="Shape 5"/>
          <p:cNvSpPr/>
          <p:nvPr/>
        </p:nvSpPr>
        <p:spPr>
          <a:xfrm>
            <a:off x="457200" y="1600200"/>
            <a:ext cx="4023360" cy="2148840"/>
          </a:xfrm>
          <a:prstGeom prst="roundRect">
            <a:avLst>
              <a:gd name="adj" fmla="val 3404"/>
            </a:avLst>
          </a:prstGeom>
          <a:solidFill>
            <a:srgbClr val="F3F4F6"/>
          </a:solidFill>
          <a:ln w="12700">
            <a:solidFill>
              <a:srgbClr val="F3F4F6"/>
            </a:solidFill>
            <a:prstDash val="solid"/>
          </a:ln>
        </p:spPr>
      </p:sp>
      <p:sp>
        <p:nvSpPr>
          <p:cNvPr id="8" name="Text 6"/>
          <p:cNvSpPr txBox="1"/>
          <p:nvPr/>
        </p:nvSpPr>
        <p:spPr>
          <a:xfrm>
            <a:off x="685800" y="1737360"/>
            <a:ext cx="3566160" cy="274320"/>
          </a:xfrm>
          <a:prstGeom prst="rect">
            <a:avLst/>
          </a:prstGeom>
          <a:noFill/>
          <a:ln/>
        </p:spPr>
        <p:txBody>
          <a:bodyPr wrap="square" lIns="0" tIns="0" rIns="0" bIns="0" rtlCol="0" anchor="t"/>
          <a:lstStyle/>
          <a:p>
            <a:pPr indent="0" marL="0">
              <a:buNone/>
            </a:pPr>
            <a:r>
              <a:rPr lang="en-US" sz="1100" b="1" spc="100" kern="0" dirty="0">
                <a:solidFill>
                  <a:srgbClr val="1D4ED8"/>
                </a:solidFill>
                <a:latin typeface="Calibri" pitchFamily="34" charset="0"/>
                <a:ea typeface="Calibri" pitchFamily="34" charset="-122"/>
                <a:cs typeface="Calibri" pitchFamily="34" charset="-120"/>
              </a:rPr>
              <a:t>macOS  ·  TERMINAL</a:t>
            </a:r>
            <a:endParaRPr lang="en-US" sz="1100" dirty="0"/>
          </a:p>
        </p:txBody>
      </p:sp>
      <p:sp>
        <p:nvSpPr>
          <p:cNvPr id="9" name="Shape 7"/>
          <p:cNvSpPr/>
          <p:nvPr/>
        </p:nvSpPr>
        <p:spPr>
          <a:xfrm>
            <a:off x="685800" y="2057400"/>
            <a:ext cx="3566160" cy="1508760"/>
          </a:xfrm>
          <a:prstGeom prst="roundRect">
            <a:avLst>
              <a:gd name="adj" fmla="val 4848"/>
            </a:avLst>
          </a:prstGeom>
          <a:solidFill>
            <a:srgbClr val="0F172A"/>
          </a:solidFill>
          <a:ln w="12700">
            <a:solidFill>
              <a:srgbClr val="0F172A"/>
            </a:solidFill>
            <a:prstDash val="solid"/>
          </a:ln>
        </p:spPr>
      </p:sp>
      <p:sp>
        <p:nvSpPr>
          <p:cNvPr id="10" name="Text 8"/>
          <p:cNvSpPr txBox="1"/>
          <p:nvPr/>
        </p:nvSpPr>
        <p:spPr>
          <a:xfrm>
            <a:off x="86868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install Homebrew first: brew.sh</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python 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--cask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python3 --version &amp;&amp; git --version</a:t>
            </a:r>
            <a:endParaRPr lang="en-US" sz="950" dirty="0"/>
          </a:p>
        </p:txBody>
      </p:sp>
      <p:sp>
        <p:nvSpPr>
          <p:cNvPr id="11" name="Shape 9"/>
          <p:cNvSpPr/>
          <p:nvPr/>
        </p:nvSpPr>
        <p:spPr>
          <a:xfrm>
            <a:off x="4663440" y="1600200"/>
            <a:ext cx="4023360" cy="2148840"/>
          </a:xfrm>
          <a:prstGeom prst="roundRect">
            <a:avLst>
              <a:gd name="adj" fmla="val 3404"/>
            </a:avLst>
          </a:prstGeom>
          <a:solidFill>
            <a:srgbClr val="F3F4F6"/>
          </a:solidFill>
          <a:ln w="12700">
            <a:solidFill>
              <a:srgbClr val="F3F4F6"/>
            </a:solidFill>
            <a:prstDash val="solid"/>
          </a:ln>
        </p:spPr>
      </p:sp>
      <p:sp>
        <p:nvSpPr>
          <p:cNvPr id="12" name="Text 10"/>
          <p:cNvSpPr txBox="1"/>
          <p:nvPr/>
        </p:nvSpPr>
        <p:spPr>
          <a:xfrm>
            <a:off x="4892040" y="1737360"/>
            <a:ext cx="3566160" cy="274320"/>
          </a:xfrm>
          <a:prstGeom prst="rect">
            <a:avLst/>
          </a:prstGeom>
          <a:noFill/>
          <a:ln/>
        </p:spPr>
        <p:txBody>
          <a:bodyPr wrap="square" lIns="0" tIns="0" rIns="0" bIns="0" rtlCol="0" anchor="t"/>
          <a:lstStyle/>
          <a:p>
            <a:pPr indent="0" marL="0">
              <a:buNone/>
            </a:pPr>
            <a:r>
              <a:rPr lang="en-US" sz="1100" b="1" spc="100" kern="0" dirty="0">
                <a:solidFill>
                  <a:srgbClr val="6D28D9"/>
                </a:solidFill>
                <a:latin typeface="Calibri" pitchFamily="34" charset="0"/>
                <a:ea typeface="Calibri" pitchFamily="34" charset="-122"/>
                <a:cs typeface="Calibri" pitchFamily="34" charset="-120"/>
              </a:rPr>
              <a:t>WINDOWS  ·  POWERSHELL</a:t>
            </a:r>
            <a:endParaRPr lang="en-US" sz="1100" dirty="0"/>
          </a:p>
        </p:txBody>
      </p:sp>
      <p:sp>
        <p:nvSpPr>
          <p:cNvPr id="13" name="Shape 11"/>
          <p:cNvSpPr/>
          <p:nvPr/>
        </p:nvSpPr>
        <p:spPr>
          <a:xfrm>
            <a:off x="4892040" y="2057400"/>
            <a:ext cx="3566160" cy="1508760"/>
          </a:xfrm>
          <a:prstGeom prst="roundRect">
            <a:avLst>
              <a:gd name="adj" fmla="val 4848"/>
            </a:avLst>
          </a:prstGeom>
          <a:solidFill>
            <a:srgbClr val="0F172A"/>
          </a:solidFill>
          <a:ln w="12700">
            <a:solidFill>
              <a:srgbClr val="0F172A"/>
            </a:solidFill>
            <a:prstDash val="solid"/>
          </a:ln>
        </p:spPr>
      </p:sp>
      <p:sp>
        <p:nvSpPr>
          <p:cNvPr id="14" name="Text 12"/>
          <p:cNvSpPr txBox="1"/>
          <p:nvPr/>
        </p:nvSpPr>
        <p:spPr>
          <a:xfrm>
            <a:off x="507492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winget ships with Windows 11</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Python.Python.3.12</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Git.Git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Microsoft.VisualStudioCode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py --version; git --version</a:t>
            </a:r>
            <a:endParaRPr lang="en-US" sz="950" dirty="0"/>
          </a:p>
        </p:txBody>
      </p:sp>
      <p:sp>
        <p:nvSpPr>
          <p:cNvPr id="15" name="Text 13"/>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MODULE 3 ADDS</a:t>
            </a:r>
            <a:endParaRPr lang="en-US" sz="1000" dirty="0"/>
          </a:p>
        </p:txBody>
      </p:sp>
      <p:sp>
        <p:nvSpPr>
          <p:cNvPr id="16" name="Shape 14"/>
          <p:cNvSpPr/>
          <p:nvPr/>
        </p:nvSpPr>
        <p:spPr>
          <a:xfrm>
            <a:off x="457200" y="4114800"/>
            <a:ext cx="2606040" cy="594360"/>
          </a:xfrm>
          <a:prstGeom prst="roundRect">
            <a:avLst>
              <a:gd name="adj" fmla="val 12308"/>
            </a:avLst>
          </a:prstGeom>
          <a:solidFill>
            <a:srgbClr val="ECFDF5"/>
          </a:solidFill>
          <a:ln w="12700">
            <a:solidFill>
              <a:srgbClr val="ECFDF5"/>
            </a:solidFill>
            <a:prstDash val="solid"/>
          </a:ln>
        </p:spPr>
      </p:sp>
      <p:sp>
        <p:nvSpPr>
          <p:cNvPr id="17" name="Text 15"/>
          <p:cNvSpPr txBox="1"/>
          <p:nvPr/>
        </p:nvSpPr>
        <p:spPr>
          <a:xfrm>
            <a:off x="64008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Your module 2 envelope</a:t>
            </a:r>
            <a:endParaRPr lang="en-US" sz="1150" dirty="0"/>
          </a:p>
        </p:txBody>
      </p:sp>
      <p:sp>
        <p:nvSpPr>
          <p:cNvPr id="18" name="Text 16"/>
          <p:cNvSpPr txBox="1"/>
          <p:nvPr/>
        </p:nvSpPr>
        <p:spPr>
          <a:xfrm>
            <a:off x="64008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everything is added inside it</a:t>
            </a:r>
            <a:endParaRPr lang="en-US" sz="950" dirty="0"/>
          </a:p>
        </p:txBody>
      </p:sp>
      <p:sp>
        <p:nvSpPr>
          <p:cNvPr id="19" name="Shape 17"/>
          <p:cNvSpPr/>
          <p:nvPr/>
        </p:nvSpPr>
        <p:spPr>
          <a:xfrm>
            <a:off x="3246120" y="4114800"/>
            <a:ext cx="2606040" cy="594360"/>
          </a:xfrm>
          <a:prstGeom prst="roundRect">
            <a:avLst>
              <a:gd name="adj" fmla="val 12308"/>
            </a:avLst>
          </a:prstGeom>
          <a:solidFill>
            <a:srgbClr val="ECFDF5"/>
          </a:solidFill>
          <a:ln w="12700">
            <a:solidFill>
              <a:srgbClr val="ECFDF5"/>
            </a:solidFill>
            <a:prstDash val="solid"/>
          </a:ln>
        </p:spPr>
      </p:sp>
      <p:sp>
        <p:nvSpPr>
          <p:cNvPr id="20" name="Text 18"/>
          <p:cNvSpPr txBox="1"/>
          <p:nvPr/>
        </p:nvSpPr>
        <p:spPr>
          <a:xfrm>
            <a:off x="342900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Environment variables</a:t>
            </a:r>
            <a:endParaRPr lang="en-US" sz="1150" dirty="0"/>
          </a:p>
        </p:txBody>
      </p:sp>
      <p:sp>
        <p:nvSpPr>
          <p:cNvPr id="21" name="Text 19"/>
          <p:cNvSpPr txBox="1"/>
          <p:nvPr/>
        </p:nvSpPr>
        <p:spPr>
          <a:xfrm>
            <a:off x="342900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the caps and the switch</a:t>
            </a:r>
            <a:endParaRPr lang="en-US" sz="950" dirty="0"/>
          </a:p>
        </p:txBody>
      </p:sp>
      <p:sp>
        <p:nvSpPr>
          <p:cNvPr id="22" name="Shape 20"/>
          <p:cNvSpPr/>
          <p:nvPr/>
        </p:nvSpPr>
        <p:spPr>
          <a:xfrm>
            <a:off x="6035040" y="4114800"/>
            <a:ext cx="2606040" cy="594360"/>
          </a:xfrm>
          <a:prstGeom prst="roundRect">
            <a:avLst>
              <a:gd name="adj" fmla="val 12308"/>
            </a:avLst>
          </a:prstGeom>
          <a:solidFill>
            <a:srgbClr val="ECFDF5"/>
          </a:solidFill>
          <a:ln w="12700">
            <a:solidFill>
              <a:srgbClr val="ECFDF5"/>
            </a:solidFill>
            <a:prstDash val="solid"/>
          </a:ln>
        </p:spPr>
      </p:sp>
      <p:sp>
        <p:nvSpPr>
          <p:cNvPr id="23" name="Text 21"/>
          <p:cNvSpPr txBox="1"/>
          <p:nvPr/>
        </p:nvSpPr>
        <p:spPr>
          <a:xfrm>
            <a:off x="621792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A small file or Redis</a:t>
            </a:r>
            <a:endParaRPr lang="en-US" sz="1150" dirty="0"/>
          </a:p>
        </p:txBody>
      </p:sp>
      <p:sp>
        <p:nvSpPr>
          <p:cNvPr id="24" name="Text 22"/>
          <p:cNvSpPr txBox="1"/>
          <p:nvPr/>
        </p:nvSpPr>
        <p:spPr>
          <a:xfrm>
            <a:off x="621792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so the daily total survives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these before you install anything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457200" y="1143000"/>
            <a:ext cx="8229600" cy="3200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Two short videos take you from a blank machine to Git, Python and VS Code installed. Pick the one for your computer.</a:t>
            </a:r>
            <a:endParaRPr lang="en-US" sz="1300" dirty="0"/>
          </a:p>
        </p:txBody>
      </p:sp>
      <p:sp>
        <p:nvSpPr>
          <p:cNvPr id="7" name="Shape 5"/>
          <p:cNvSpPr/>
          <p:nvPr/>
        </p:nvSpPr>
        <p:spPr>
          <a:xfrm>
            <a:off x="457200" y="1554480"/>
            <a:ext cx="402336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737360"/>
            <a:ext cx="1143000" cy="292608"/>
          </a:xfrm>
          <a:prstGeom prst="roundRect">
            <a:avLst>
              <a:gd name="adj" fmla="val 50000"/>
            </a:avLst>
          </a:prstGeom>
          <a:solidFill>
            <a:srgbClr val="1D4ED8"/>
          </a:solidFill>
          <a:ln w="12700">
            <a:solidFill>
              <a:srgbClr val="1D4ED8"/>
            </a:solidFill>
            <a:prstDash val="solid"/>
          </a:ln>
        </p:spPr>
      </p:sp>
      <p:sp>
        <p:nvSpPr>
          <p:cNvPr id="9" name="Text 7"/>
          <p:cNvSpPr txBox="1"/>
          <p:nvPr/>
        </p:nvSpPr>
        <p:spPr>
          <a:xfrm>
            <a:off x="68580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macOS</a:t>
            </a:r>
            <a:endParaRPr lang="en-US" sz="950" dirty="0"/>
          </a:p>
        </p:txBody>
      </p:sp>
      <p:sp>
        <p:nvSpPr>
          <p:cNvPr id="10" name="Text 8"/>
          <p:cNvSpPr txBox="1"/>
          <p:nvPr/>
        </p:nvSpPr>
        <p:spPr>
          <a:xfrm>
            <a:off x="68580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a Mac</a:t>
            </a:r>
            <a:endParaRPr lang="en-US" sz="1400" dirty="0"/>
          </a:p>
        </p:txBody>
      </p:sp>
      <p:sp>
        <p:nvSpPr>
          <p:cNvPr id="11" name="Text 9">
            <a:hlinkClick r:id="rId1" tooltip=""/>
          </p:cNvPr>
          <p:cNvSpPr txBox="1"/>
          <p:nvPr/>
        </p:nvSpPr>
        <p:spPr>
          <a:xfrm>
            <a:off x="685800" y="2560320"/>
            <a:ext cx="3566160" cy="274320"/>
          </a:xfrm>
          <a:prstGeom prst="rect">
            <a:avLst/>
          </a:prstGeom>
          <a:noFill/>
          <a:ln/>
        </p:spPr>
        <p:txBody>
          <a:bodyPr wrap="square" lIns="0" tIns="0" rIns="0" bIns="0" rtlCol="0" anchor="ctr"/>
          <a:lstStyle/>
          <a:p>
            <a:pPr indent="0" marL="0">
              <a:buNone/>
            </a:pPr>
            <a:r>
              <a:rPr lang="en-US" sz="1100" u="sng" dirty="0">
                <a:solidFill>
                  <a:srgbClr val="1D4E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https://youtu.be/8ZIiXg4XOY0</a:t>
            </a:r>
            <a:endParaRPr lang="en-US" sz="1100" dirty="0"/>
          </a:p>
        </p:txBody>
      </p:sp>
      <p:sp>
        <p:nvSpPr>
          <p:cNvPr id="12" name="Shape 10"/>
          <p:cNvSpPr/>
          <p:nvPr/>
        </p:nvSpPr>
        <p:spPr>
          <a:xfrm>
            <a:off x="4663440" y="1554480"/>
            <a:ext cx="4023360" cy="1371600"/>
          </a:xfrm>
          <a:prstGeom prst="roundRect">
            <a:avLst>
              <a:gd name="adj" fmla="val 5333"/>
            </a:avLst>
          </a:prstGeom>
          <a:solidFill>
            <a:srgbClr val="F3F4F6"/>
          </a:solidFill>
          <a:ln w="12700">
            <a:solidFill>
              <a:srgbClr val="F3F4F6"/>
            </a:solidFill>
            <a:prstDash val="solid"/>
          </a:ln>
        </p:spPr>
      </p:sp>
      <p:sp>
        <p:nvSpPr>
          <p:cNvPr id="13" name="Shape 11"/>
          <p:cNvSpPr/>
          <p:nvPr/>
        </p:nvSpPr>
        <p:spPr>
          <a:xfrm>
            <a:off x="4892040" y="1737360"/>
            <a:ext cx="1143000" cy="292608"/>
          </a:xfrm>
          <a:prstGeom prst="roundRect">
            <a:avLst>
              <a:gd name="adj" fmla="val 50000"/>
            </a:avLst>
          </a:prstGeom>
          <a:solidFill>
            <a:srgbClr val="6D28D9"/>
          </a:solidFill>
          <a:ln w="12700">
            <a:solidFill>
              <a:srgbClr val="6D28D9"/>
            </a:solidFill>
            <a:prstDash val="solid"/>
          </a:ln>
        </p:spPr>
      </p:sp>
      <p:sp>
        <p:nvSpPr>
          <p:cNvPr id="14" name="Text 12"/>
          <p:cNvSpPr txBox="1"/>
          <p:nvPr/>
        </p:nvSpPr>
        <p:spPr>
          <a:xfrm>
            <a:off x="489204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WINDOWS</a:t>
            </a:r>
            <a:endParaRPr lang="en-US" sz="950" dirty="0"/>
          </a:p>
        </p:txBody>
      </p:sp>
      <p:sp>
        <p:nvSpPr>
          <p:cNvPr id="15" name="Text 13"/>
          <p:cNvSpPr txBox="1"/>
          <p:nvPr/>
        </p:nvSpPr>
        <p:spPr>
          <a:xfrm>
            <a:off x="489204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Windows</a:t>
            </a:r>
            <a:endParaRPr lang="en-US" sz="1400" dirty="0"/>
          </a:p>
        </p:txBody>
      </p:sp>
      <p:sp>
        <p:nvSpPr>
          <p:cNvPr id="16" name="Text 14">
            <a:hlinkClick r:id="rId2" tooltip=""/>
          </p:cNvPr>
          <p:cNvSpPr txBox="1"/>
          <p:nvPr/>
        </p:nvSpPr>
        <p:spPr>
          <a:xfrm>
            <a:off x="4892040" y="2560320"/>
            <a:ext cx="3566160" cy="274320"/>
          </a:xfrm>
          <a:prstGeom prst="rect">
            <a:avLst/>
          </a:prstGeom>
          <a:noFill/>
          <a:ln/>
        </p:spPr>
        <p:txBody>
          <a:bodyPr wrap="square" lIns="0" tIns="0" rIns="0" bIns="0" rtlCol="0" anchor="ctr"/>
          <a:lstStyle/>
          <a:p>
            <a:pPr indent="0" marL="0">
              <a:buNone/>
            </a:pPr>
            <a:r>
              <a:rPr lang="en-US" sz="1100" u="sng" dirty="0">
                <a:solidFill>
                  <a:srgbClr val="6D28D9"/>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https://youtu.be/3e2-GRBibWc</a:t>
            </a:r>
            <a:endParaRPr lang="en-US" sz="1100" dirty="0"/>
          </a:p>
        </p:txBody>
      </p:sp>
      <p:sp>
        <p:nvSpPr>
          <p:cNvPr id="17" name="Text 15"/>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OFFICIAL PAGES, IF YOU PREFER TO READ</a:t>
            </a:r>
            <a:endParaRPr lang="en-US" sz="950" dirty="0"/>
          </a:p>
        </p:txBody>
      </p:sp>
      <p:sp>
        <p:nvSpPr>
          <p:cNvPr id="18" name="Shape 16"/>
          <p:cNvSpPr/>
          <p:nvPr/>
        </p:nvSpPr>
        <p:spPr>
          <a:xfrm>
            <a:off x="457200" y="3429000"/>
            <a:ext cx="4023360" cy="566928"/>
          </a:xfrm>
          <a:prstGeom prst="roundRect">
            <a:avLst>
              <a:gd name="adj" fmla="val 12903"/>
            </a:avLst>
          </a:prstGeom>
          <a:solidFill>
            <a:srgbClr val="F3F4F6"/>
          </a:solidFill>
          <a:ln w="12700">
            <a:solidFill>
              <a:srgbClr val="F3F4F6"/>
            </a:solidFill>
            <a:prstDash val="solid"/>
          </a:ln>
        </p:spPr>
      </p:sp>
      <p:sp>
        <p:nvSpPr>
          <p:cNvPr id="19" name="Text 17"/>
          <p:cNvSpPr txBox="1"/>
          <p:nvPr/>
        </p:nvSpPr>
        <p:spPr>
          <a:xfrm>
            <a:off x="65836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Install Python</a:t>
            </a:r>
            <a:endParaRPr lang="en-US" sz="1150" dirty="0"/>
          </a:p>
        </p:txBody>
      </p:sp>
      <p:sp>
        <p:nvSpPr>
          <p:cNvPr id="20" name="Text 18"/>
          <p:cNvSpPr txBox="1"/>
          <p:nvPr/>
        </p:nvSpPr>
        <p:spPr>
          <a:xfrm>
            <a:off x="65836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downloads, Mac and Windows</a:t>
            </a:r>
            <a:endParaRPr lang="en-US" sz="900" dirty="0"/>
          </a:p>
        </p:txBody>
      </p:sp>
      <p:sp>
        <p:nvSpPr>
          <p:cNvPr id="21" name="Text 19">
            <a:hlinkClick r:id="rId3" tooltip=""/>
          </p:cNvPr>
          <p:cNvSpPr txBox="1"/>
          <p:nvPr/>
        </p:nvSpPr>
        <p:spPr>
          <a:xfrm>
            <a:off x="269748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python.org/downloads</a:t>
            </a:r>
            <a:endParaRPr lang="en-US" sz="800" dirty="0"/>
          </a:p>
        </p:txBody>
      </p:sp>
      <p:sp>
        <p:nvSpPr>
          <p:cNvPr id="22" name="Shape 20"/>
          <p:cNvSpPr/>
          <p:nvPr/>
        </p:nvSpPr>
        <p:spPr>
          <a:xfrm>
            <a:off x="4663440" y="3429000"/>
            <a:ext cx="4023360" cy="566928"/>
          </a:xfrm>
          <a:prstGeom prst="roundRect">
            <a:avLst>
              <a:gd name="adj" fmla="val 12903"/>
            </a:avLst>
          </a:prstGeom>
          <a:solidFill>
            <a:srgbClr val="F3F4F6"/>
          </a:solidFill>
          <a:ln w="12700">
            <a:solidFill>
              <a:srgbClr val="F3F4F6"/>
            </a:solidFill>
            <a:prstDash val="solid"/>
          </a:ln>
        </p:spPr>
      </p:sp>
      <p:sp>
        <p:nvSpPr>
          <p:cNvPr id="23" name="Text 21"/>
          <p:cNvSpPr txBox="1"/>
          <p:nvPr/>
        </p:nvSpPr>
        <p:spPr>
          <a:xfrm>
            <a:off x="486460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Virtual environments</a:t>
            </a:r>
            <a:endParaRPr lang="en-US" sz="1150" dirty="0"/>
          </a:p>
        </p:txBody>
      </p:sp>
      <p:sp>
        <p:nvSpPr>
          <p:cNvPr id="24" name="Text 22"/>
          <p:cNvSpPr txBox="1"/>
          <p:nvPr/>
        </p:nvSpPr>
        <p:spPr>
          <a:xfrm>
            <a:off x="486460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 official venv how-to</a:t>
            </a:r>
            <a:endParaRPr lang="en-US" sz="900" dirty="0"/>
          </a:p>
        </p:txBody>
      </p:sp>
      <p:sp>
        <p:nvSpPr>
          <p:cNvPr id="25" name="Text 23">
            <a:hlinkClick r:id="rId4" tooltip=""/>
          </p:cNvPr>
          <p:cNvSpPr txBox="1"/>
          <p:nvPr/>
        </p:nvSpPr>
        <p:spPr>
          <a:xfrm>
            <a:off x="690372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docs.python.org/3/library/venv.html</a:t>
            </a:r>
            <a:endParaRPr lang="en-US" sz="800" dirty="0"/>
          </a:p>
        </p:txBody>
      </p:sp>
      <p:sp>
        <p:nvSpPr>
          <p:cNvPr id="26" name="Shape 24"/>
          <p:cNvSpPr/>
          <p:nvPr/>
        </p:nvSpPr>
        <p:spPr>
          <a:xfrm>
            <a:off x="457200" y="4087368"/>
            <a:ext cx="4023360" cy="566928"/>
          </a:xfrm>
          <a:prstGeom prst="roundRect">
            <a:avLst>
              <a:gd name="adj" fmla="val 12903"/>
            </a:avLst>
          </a:prstGeom>
          <a:solidFill>
            <a:srgbClr val="F3F4F6"/>
          </a:solidFill>
          <a:ln w="12700">
            <a:solidFill>
              <a:srgbClr val="F3F4F6"/>
            </a:solidFill>
            <a:prstDash val="solid"/>
          </a:ln>
        </p:spPr>
      </p:sp>
      <p:sp>
        <p:nvSpPr>
          <p:cNvPr id="27" name="Text 25"/>
          <p:cNvSpPr txBox="1"/>
          <p:nvPr/>
        </p:nvSpPr>
        <p:spPr>
          <a:xfrm>
            <a:off x="65836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Environment variables</a:t>
            </a:r>
            <a:endParaRPr lang="en-US" sz="1150" dirty="0"/>
          </a:p>
        </p:txBody>
      </p:sp>
      <p:sp>
        <p:nvSpPr>
          <p:cNvPr id="28" name="Text 26"/>
          <p:cNvSpPr txBox="1"/>
          <p:nvPr/>
        </p:nvSpPr>
        <p:spPr>
          <a:xfrm>
            <a:off x="65836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How env vars work in VS Code</a:t>
            </a:r>
            <a:endParaRPr lang="en-US" sz="900" dirty="0"/>
          </a:p>
        </p:txBody>
      </p:sp>
      <p:sp>
        <p:nvSpPr>
          <p:cNvPr id="29" name="Text 27">
            <a:hlinkClick r:id="rId5" tooltip=""/>
          </p:cNvPr>
          <p:cNvSpPr txBox="1"/>
          <p:nvPr/>
        </p:nvSpPr>
        <p:spPr>
          <a:xfrm>
            <a:off x="269748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code.visualstudio.com/docs/python/environments</a:t>
            </a:r>
            <a:endParaRPr lang="en-US" sz="800" dirty="0"/>
          </a:p>
        </p:txBody>
      </p:sp>
      <p:sp>
        <p:nvSpPr>
          <p:cNvPr id="30" name="Shape 28"/>
          <p:cNvSpPr/>
          <p:nvPr/>
        </p:nvSpPr>
        <p:spPr>
          <a:xfrm>
            <a:off x="4663440" y="4087368"/>
            <a:ext cx="4023360" cy="566928"/>
          </a:xfrm>
          <a:prstGeom prst="roundRect">
            <a:avLst>
              <a:gd name="adj" fmla="val 12903"/>
            </a:avLst>
          </a:prstGeom>
          <a:solidFill>
            <a:srgbClr val="F3F4F6"/>
          </a:solidFill>
          <a:ln w="12700">
            <a:solidFill>
              <a:srgbClr val="F3F4F6"/>
            </a:solidFill>
            <a:prstDash val="solid"/>
          </a:ln>
        </p:spPr>
      </p:sp>
      <p:sp>
        <p:nvSpPr>
          <p:cNvPr id="31" name="Text 29"/>
          <p:cNvSpPr txBox="1"/>
          <p:nvPr/>
        </p:nvSpPr>
        <p:spPr>
          <a:xfrm>
            <a:off x="486460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Redis, if you use it</a:t>
            </a:r>
            <a:endParaRPr lang="en-US" sz="1150" dirty="0"/>
          </a:p>
        </p:txBody>
      </p:sp>
      <p:sp>
        <p:nvSpPr>
          <p:cNvPr id="32" name="Text 30"/>
          <p:cNvSpPr txBox="1"/>
          <p:nvPr/>
        </p:nvSpPr>
        <p:spPr>
          <a:xfrm>
            <a:off x="486460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quick start</a:t>
            </a:r>
            <a:endParaRPr lang="en-US" sz="900" dirty="0"/>
          </a:p>
        </p:txBody>
      </p:sp>
      <p:sp>
        <p:nvSpPr>
          <p:cNvPr id="33" name="Text 31">
            <a:hlinkClick r:id="rId6" tooltip=""/>
          </p:cNvPr>
          <p:cNvSpPr txBox="1"/>
          <p:nvPr/>
        </p:nvSpPr>
        <p:spPr>
          <a:xfrm>
            <a:off x="690372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redis.io/docs/latest/get-started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Cap Is a Coin Meter</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A COIN METER</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Put in what you are willing to spend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
        <p:nvSpPr>
          <p:cNvPr id="6" name="Text 4"/>
          <p:cNvSpPr txBox="1"/>
          <p:nvPr/>
        </p:nvSpPr>
        <p:spPr>
          <a:xfrm>
            <a:off x="457200" y="1188720"/>
            <a:ext cx="4023360" cy="137160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If you have ever used an old electricity meter, you know how this works. You put in what you are willing to spend. The meter counts down. When it reaches zero, the power stops. It does not ask you.</a:t>
            </a:r>
            <a:endParaRPr lang="en-US" sz="1500" dirty="0"/>
          </a:p>
        </p:txBody>
      </p:sp>
      <p:sp>
        <p:nvSpPr>
          <p:cNvPr id="7" name="Text 5"/>
          <p:cNvSpPr txBox="1"/>
          <p:nvPr/>
        </p:nvSpPr>
        <p:spPr>
          <a:xfrm>
            <a:off x="457200" y="2651760"/>
            <a:ext cx="4023360" cy="10972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That is exactly what we are building. You decide in advance how much one task may cost. When it runs out, the agent stops.</a:t>
            </a:r>
            <a:endParaRPr lang="en-US" sz="1500" dirty="0"/>
          </a:p>
        </p:txBody>
      </p:sp>
      <p:sp>
        <p:nvSpPr>
          <p:cNvPr id="8" name="Text 6"/>
          <p:cNvSpPr txBox="1"/>
          <p:nvPr/>
        </p:nvSpPr>
        <p:spPr>
          <a:xfrm>
            <a:off x="457200" y="3749040"/>
            <a:ext cx="4023360" cy="822960"/>
          </a:xfrm>
          <a:prstGeom prst="rect">
            <a:avLst/>
          </a:prstGeom>
          <a:noFill/>
          <a:ln/>
        </p:spPr>
        <p:txBody>
          <a:bodyPr wrap="square" lIns="0" tIns="0" rIns="0" bIns="0" rtlCol="0" anchor="t"/>
          <a:lstStyle/>
          <a:p>
            <a:pPr indent="0" marL="0">
              <a:buNone/>
            </a:pPr>
            <a:r>
              <a:rPr lang="en-US" sz="1500" b="1" i="1" dirty="0">
                <a:solidFill>
                  <a:srgbClr val="B45309"/>
                </a:solidFill>
                <a:latin typeface="Calibri" pitchFamily="34" charset="0"/>
                <a:ea typeface="Calibri" pitchFamily="34" charset="-122"/>
                <a:cs typeface="Calibri" pitchFamily="34" charset="-120"/>
              </a:rPr>
              <a:t>At three in the morning. With nobody watching. Which is precisely when you need it.</a:t>
            </a:r>
            <a:endParaRPr lang="en-US" sz="1500" dirty="0"/>
          </a:p>
        </p:txBody>
      </p:sp>
      <p:sp>
        <p:nvSpPr>
          <p:cNvPr id="9" name="Shape 7"/>
          <p:cNvSpPr/>
          <p:nvPr/>
        </p:nvSpPr>
        <p:spPr>
          <a:xfrm>
            <a:off x="4754880" y="1188720"/>
            <a:ext cx="3931920" cy="1828800"/>
          </a:xfrm>
          <a:prstGeom prst="roundRect">
            <a:avLst>
              <a:gd name="adj" fmla="val 4000"/>
            </a:avLst>
          </a:prstGeom>
          <a:solidFill>
            <a:srgbClr val="F3F4F6"/>
          </a:solidFill>
          <a:ln w="12700">
            <a:solidFill>
              <a:srgbClr val="F3F4F6"/>
            </a:solidFill>
            <a:prstDash val="solid"/>
          </a:ln>
        </p:spPr>
      </p:sp>
      <p:sp>
        <p:nvSpPr>
          <p:cNvPr id="10" name="Text 8"/>
          <p:cNvSpPr txBox="1"/>
          <p:nvPr/>
        </p:nvSpPr>
        <p:spPr>
          <a:xfrm>
            <a:off x="4983480" y="1325880"/>
            <a:ext cx="347472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THE METER</a:t>
            </a:r>
            <a:endParaRPr lang="en-US" sz="1000" dirty="0"/>
          </a:p>
        </p:txBody>
      </p:sp>
      <p:sp>
        <p:nvSpPr>
          <p:cNvPr id="11" name="Shape 9"/>
          <p:cNvSpPr/>
          <p:nvPr/>
        </p:nvSpPr>
        <p:spPr>
          <a:xfrm>
            <a:off x="4983480" y="1645920"/>
            <a:ext cx="3474720" cy="777240"/>
          </a:xfrm>
          <a:prstGeom prst="roundRect">
            <a:avLst>
              <a:gd name="adj" fmla="val 9412"/>
            </a:avLst>
          </a:prstGeom>
          <a:solidFill>
            <a:srgbClr val="111827"/>
          </a:solidFill>
          <a:ln w="12700">
            <a:solidFill>
              <a:srgbClr val="111827"/>
            </a:solidFill>
            <a:prstDash val="solid"/>
          </a:ln>
        </p:spPr>
      </p:sp>
      <p:sp>
        <p:nvSpPr>
          <p:cNvPr id="12" name="Text 10"/>
          <p:cNvSpPr txBox="1"/>
          <p:nvPr/>
        </p:nvSpPr>
        <p:spPr>
          <a:xfrm>
            <a:off x="4983480" y="1691640"/>
            <a:ext cx="3474720" cy="457200"/>
          </a:xfrm>
          <a:prstGeom prst="rect">
            <a:avLst/>
          </a:prstGeom>
          <a:noFill/>
          <a:ln/>
        </p:spPr>
        <p:txBody>
          <a:bodyPr wrap="square" lIns="0" tIns="0" rIns="0" bIns="0" rtlCol="0" anchor="t"/>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$2.00</a:t>
            </a:r>
            <a:endParaRPr lang="en-US" sz="2600" dirty="0"/>
          </a:p>
        </p:txBody>
      </p:sp>
      <p:sp>
        <p:nvSpPr>
          <p:cNvPr id="13" name="Text 11"/>
          <p:cNvSpPr txBox="1"/>
          <p:nvPr/>
        </p:nvSpPr>
        <p:spPr>
          <a:xfrm>
            <a:off x="4983480" y="2130552"/>
            <a:ext cx="3474720" cy="228600"/>
          </a:xfrm>
          <a:prstGeom prst="rect">
            <a:avLst/>
          </a:prstGeom>
          <a:noFill/>
          <a:ln/>
        </p:spPr>
        <p:txBody>
          <a:bodyPr wrap="square" lIns="0" tIns="0" rIns="0" bIns="0" rtlCol="0" anchor="t"/>
          <a:lstStyle/>
          <a:p>
            <a:pPr algn="ctr" indent="0" marL="0">
              <a:buNone/>
            </a:pPr>
            <a:r>
              <a:rPr lang="en-US" sz="1000" dirty="0">
                <a:solidFill>
                  <a:srgbClr val="9CA3AF"/>
                </a:solidFill>
                <a:latin typeface="Calibri" pitchFamily="34" charset="0"/>
                <a:ea typeface="Calibri" pitchFamily="34" charset="-122"/>
                <a:cs typeface="Calibri" pitchFamily="34" charset="-120"/>
              </a:rPr>
              <a:t>remaining</a:t>
            </a:r>
            <a:endParaRPr lang="en-US" sz="1000" dirty="0"/>
          </a:p>
        </p:txBody>
      </p:sp>
      <p:sp>
        <p:nvSpPr>
          <p:cNvPr id="14" name="Shape 12"/>
          <p:cNvSpPr/>
          <p:nvPr/>
        </p:nvSpPr>
        <p:spPr>
          <a:xfrm>
            <a:off x="4983480" y="2542032"/>
            <a:ext cx="3474720" cy="256032"/>
          </a:xfrm>
          <a:prstGeom prst="roundRect">
            <a:avLst>
              <a:gd name="adj" fmla="val 50000"/>
            </a:avLst>
          </a:prstGeom>
          <a:solidFill>
            <a:srgbClr val="E5E7EB"/>
          </a:solidFill>
          <a:ln w="12700">
            <a:solidFill>
              <a:srgbClr val="E5E7EB"/>
            </a:solidFill>
            <a:prstDash val="solid"/>
          </a:ln>
        </p:spPr>
      </p:sp>
      <p:sp>
        <p:nvSpPr>
          <p:cNvPr id="15" name="Shape 13"/>
          <p:cNvSpPr/>
          <p:nvPr/>
        </p:nvSpPr>
        <p:spPr>
          <a:xfrm>
            <a:off x="4983480" y="2542032"/>
            <a:ext cx="2286000" cy="256032"/>
          </a:xfrm>
          <a:prstGeom prst="roundRect">
            <a:avLst>
              <a:gd name="adj" fmla="val 50000"/>
            </a:avLst>
          </a:prstGeom>
          <a:solidFill>
            <a:srgbClr val="B45309"/>
          </a:solidFill>
          <a:ln w="12700">
            <a:solidFill>
              <a:srgbClr val="B45309"/>
            </a:solidFill>
            <a:prstDash val="solid"/>
          </a:ln>
        </p:spPr>
      </p:sp>
      <p:sp>
        <p:nvSpPr>
          <p:cNvPr id="16" name="Shape 14"/>
          <p:cNvSpPr/>
          <p:nvPr/>
        </p:nvSpPr>
        <p:spPr>
          <a:xfrm>
            <a:off x="4754880" y="3200400"/>
            <a:ext cx="3931920" cy="1371600"/>
          </a:xfrm>
          <a:prstGeom prst="roundRect">
            <a:avLst>
              <a:gd name="adj" fmla="val 5333"/>
            </a:avLst>
          </a:prstGeom>
          <a:solidFill>
            <a:srgbClr val="FEF2F2"/>
          </a:solidFill>
          <a:ln w="12700">
            <a:solidFill>
              <a:srgbClr val="FEF2F2"/>
            </a:solidFill>
            <a:prstDash val="solid"/>
          </a:ln>
        </p:spPr>
      </p:sp>
      <p:sp>
        <p:nvSpPr>
          <p:cNvPr id="17" name="Text 15"/>
          <p:cNvSpPr txBox="1"/>
          <p:nvPr/>
        </p:nvSpPr>
        <p:spPr>
          <a:xfrm>
            <a:off x="4983480" y="3310128"/>
            <a:ext cx="3474720" cy="274320"/>
          </a:xfrm>
          <a:prstGeom prst="rect">
            <a:avLst/>
          </a:prstGeom>
          <a:noFill/>
          <a:ln/>
        </p:spPr>
        <p:txBody>
          <a:bodyPr wrap="square" lIns="0" tIns="0" rIns="0" bIns="0" rtlCol="0" anchor="t"/>
          <a:lstStyle/>
          <a:p>
            <a:pPr indent="0" marL="0">
              <a:buNone/>
            </a:pPr>
            <a:r>
              <a:rPr lang="en-US" sz="1000" b="1" spc="200" kern="0" dirty="0">
                <a:solidFill>
                  <a:srgbClr val="B91C1C"/>
                </a:solidFill>
                <a:latin typeface="Calibri" pitchFamily="34" charset="0"/>
                <a:ea typeface="Calibri" pitchFamily="34" charset="-122"/>
                <a:cs typeface="Calibri" pitchFamily="34" charset="-120"/>
              </a:rPr>
              <a:t>EMPTY?</a:t>
            </a:r>
            <a:endParaRPr lang="en-US" sz="1000" dirty="0"/>
          </a:p>
        </p:txBody>
      </p:sp>
      <p:sp>
        <p:nvSpPr>
          <p:cNvPr id="18" name="Text 16"/>
          <p:cNvSpPr txBox="1"/>
          <p:nvPr/>
        </p:nvSpPr>
        <p:spPr>
          <a:xfrm>
            <a:off x="4983480" y="3566160"/>
            <a:ext cx="3474720" cy="548640"/>
          </a:xfrm>
          <a:prstGeom prst="rect">
            <a:avLst/>
          </a:prstGeom>
          <a:noFill/>
          <a:ln/>
        </p:spPr>
        <p:txBody>
          <a:bodyPr wrap="square" lIns="0" tIns="0" rIns="0" bIns="0" rtlCol="0" anchor="t"/>
          <a:lstStyle/>
          <a:p>
            <a:pPr indent="0" marL="0">
              <a:buNone/>
            </a:pPr>
            <a:r>
              <a:rPr lang="en-US" sz="3400" b="1" dirty="0">
                <a:solidFill>
                  <a:srgbClr val="B91C1C"/>
                </a:solidFill>
                <a:latin typeface="Cambria" pitchFamily="34" charset="0"/>
                <a:ea typeface="Cambria" pitchFamily="34" charset="-122"/>
                <a:cs typeface="Cambria" pitchFamily="34" charset="-120"/>
              </a:rPr>
              <a:t>STOP</a:t>
            </a:r>
            <a:endParaRPr lang="en-US" sz="3400" dirty="0"/>
          </a:p>
        </p:txBody>
      </p:sp>
      <p:sp>
        <p:nvSpPr>
          <p:cNvPr id="19" name="Text 17"/>
          <p:cNvSpPr txBox="1"/>
          <p:nvPr/>
        </p:nvSpPr>
        <p:spPr>
          <a:xfrm>
            <a:off x="4983480" y="4114800"/>
            <a:ext cx="3474720" cy="3200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agent stops, by itself, with nobody watching.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A COIN METER</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You already have a limit; it is just not written down</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280160"/>
            <a:ext cx="4023360" cy="1737360"/>
          </a:xfrm>
          <a:prstGeom prst="roundRect">
            <a:avLst>
              <a:gd name="adj" fmla="val 4211"/>
            </a:avLst>
          </a:prstGeom>
          <a:solidFill>
            <a:srgbClr val="ECFDF5"/>
          </a:solidFill>
          <a:ln w="12700">
            <a:solidFill>
              <a:srgbClr val="ECFDF5"/>
            </a:solidFill>
            <a:prstDash val="solid"/>
          </a:ln>
        </p:spPr>
      </p:sp>
      <p:sp>
        <p:nvSpPr>
          <p:cNvPr id="7" name="Text 5"/>
          <p:cNvSpPr txBox="1"/>
          <p:nvPr/>
        </p:nvSpPr>
        <p:spPr>
          <a:xfrm>
            <a:off x="685800" y="1417320"/>
            <a:ext cx="3566160" cy="274320"/>
          </a:xfrm>
          <a:prstGeom prst="rect">
            <a:avLst/>
          </a:prstGeom>
          <a:noFill/>
          <a:ln/>
        </p:spPr>
        <p:txBody>
          <a:bodyPr wrap="square" lIns="0" tIns="0" rIns="0" bIns="0" rtlCol="0" anchor="t"/>
          <a:lstStyle/>
          <a:p>
            <a:pPr indent="0" marL="0">
              <a:buNone/>
            </a:pPr>
            <a:r>
              <a:rPr lang="en-US" sz="1000" b="1" spc="200" kern="0" dirty="0">
                <a:solidFill>
                  <a:srgbClr val="047857"/>
                </a:solidFill>
                <a:latin typeface="Calibri" pitchFamily="34" charset="0"/>
                <a:ea typeface="Calibri" pitchFamily="34" charset="-122"/>
                <a:cs typeface="Calibri" pitchFamily="34" charset="-120"/>
              </a:rPr>
              <a:t>DECIDE NOW</a:t>
            </a:r>
            <a:endParaRPr lang="en-US" sz="1000" dirty="0"/>
          </a:p>
        </p:txBody>
      </p:sp>
      <p:sp>
        <p:nvSpPr>
          <p:cNvPr id="8" name="Text 6"/>
          <p:cNvSpPr txBox="1"/>
          <p:nvPr/>
        </p:nvSpPr>
        <p:spPr>
          <a:xfrm>
            <a:off x="685800" y="1737360"/>
            <a:ext cx="3566160" cy="11887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You are calm. You have time to think. Nothing is on fire. You can look at your own numbers from module 2 and pick a sensible figure.</a:t>
            </a:r>
            <a:endParaRPr lang="en-US" sz="1400" dirty="0"/>
          </a:p>
        </p:txBody>
      </p:sp>
      <p:sp>
        <p:nvSpPr>
          <p:cNvPr id="9" name="Shape 7"/>
          <p:cNvSpPr/>
          <p:nvPr/>
        </p:nvSpPr>
        <p:spPr>
          <a:xfrm>
            <a:off x="4663440" y="1280160"/>
            <a:ext cx="4023360" cy="1737360"/>
          </a:xfrm>
          <a:prstGeom prst="roundRect">
            <a:avLst>
              <a:gd name="adj" fmla="val 4211"/>
            </a:avLst>
          </a:prstGeom>
          <a:solidFill>
            <a:srgbClr val="FEF2F2"/>
          </a:solidFill>
          <a:ln w="12700">
            <a:solidFill>
              <a:srgbClr val="FEF2F2"/>
            </a:solidFill>
            <a:prstDash val="solid"/>
          </a:ln>
        </p:spPr>
      </p:sp>
      <p:sp>
        <p:nvSpPr>
          <p:cNvPr id="10" name="Text 8"/>
          <p:cNvSpPr txBox="1"/>
          <p:nvPr/>
        </p:nvSpPr>
        <p:spPr>
          <a:xfrm>
            <a:off x="4892040" y="1417320"/>
            <a:ext cx="3566160" cy="274320"/>
          </a:xfrm>
          <a:prstGeom prst="rect">
            <a:avLst/>
          </a:prstGeom>
          <a:noFill/>
          <a:ln/>
        </p:spPr>
        <p:txBody>
          <a:bodyPr wrap="square" lIns="0" tIns="0" rIns="0" bIns="0" rtlCol="0" anchor="t"/>
          <a:lstStyle/>
          <a:p>
            <a:pPr indent="0" marL="0">
              <a:buNone/>
            </a:pPr>
            <a:r>
              <a:rPr lang="en-US" sz="1000" b="1" spc="200" kern="0" dirty="0">
                <a:solidFill>
                  <a:srgbClr val="B91C1C"/>
                </a:solidFill>
                <a:latin typeface="Calibri" pitchFamily="34" charset="0"/>
                <a:ea typeface="Calibri" pitchFamily="34" charset="-122"/>
                <a:cs typeface="Calibri" pitchFamily="34" charset="-120"/>
              </a:rPr>
              <a:t>OR DECIDE AT 3AM</a:t>
            </a:r>
            <a:endParaRPr lang="en-US" sz="1000" dirty="0"/>
          </a:p>
        </p:txBody>
      </p:sp>
      <p:sp>
        <p:nvSpPr>
          <p:cNvPr id="11" name="Text 9"/>
          <p:cNvSpPr txBox="1"/>
          <p:nvPr/>
        </p:nvSpPr>
        <p:spPr>
          <a:xfrm>
            <a:off x="4892040" y="1737360"/>
            <a:ext cx="3566160" cy="11887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The same question: how much is this worth? Asked in a panic, after the money has already gone.</a:t>
            </a:r>
            <a:endParaRPr lang="en-US" sz="1400" dirty="0"/>
          </a:p>
        </p:txBody>
      </p:sp>
      <p:sp>
        <p:nvSpPr>
          <p:cNvPr id="12" name="Shape 10"/>
          <p:cNvSpPr/>
          <p:nvPr/>
        </p:nvSpPr>
        <p:spPr>
          <a:xfrm>
            <a:off x="457200" y="3246120"/>
            <a:ext cx="8229600" cy="1234440"/>
          </a:xfrm>
          <a:prstGeom prst="roundRect">
            <a:avLst>
              <a:gd name="adj" fmla="val 5926"/>
            </a:avLst>
          </a:prstGeom>
          <a:solidFill>
            <a:srgbClr val="111827"/>
          </a:solidFill>
          <a:ln w="12700">
            <a:solidFill>
              <a:srgbClr val="111827"/>
            </a:solidFill>
            <a:prstDash val="solid"/>
          </a:ln>
        </p:spPr>
      </p:sp>
      <p:sp>
        <p:nvSpPr>
          <p:cNvPr id="13" name="Text 11"/>
          <p:cNvSpPr txBox="1"/>
          <p:nvPr/>
        </p:nvSpPr>
        <p:spPr>
          <a:xfrm>
            <a:off x="731520" y="3246120"/>
            <a:ext cx="7680960" cy="123444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You already have a limit.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It is whatever your company can afford before somebody gets very upset. You just have not written it down, and nothing is enforcing 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Three Places to Put the Gate</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~9 min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THREE GATES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What each gate sees, and what it misses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457200" y="1234440"/>
            <a:ext cx="2606040" cy="3291840"/>
          </a:xfrm>
          <a:prstGeom prst="roundRect">
            <a:avLst>
              <a:gd name="adj" fmla="val 2807"/>
            </a:avLst>
          </a:prstGeom>
          <a:solidFill>
            <a:srgbClr val="F3F4F6"/>
          </a:solidFill>
          <a:ln w="12700">
            <a:solidFill>
              <a:srgbClr val="F3F4F6"/>
            </a:solidFill>
            <a:prstDash val="solid"/>
          </a:ln>
        </p:spPr>
      </p:sp>
      <p:sp>
        <p:nvSpPr>
          <p:cNvPr id="7" name="Text 5"/>
          <p:cNvSpPr txBox="1"/>
          <p:nvPr/>
        </p:nvSpPr>
        <p:spPr>
          <a:xfrm>
            <a:off x="658368" y="1371600"/>
            <a:ext cx="2240280" cy="320040"/>
          </a:xfrm>
          <a:prstGeom prst="rect">
            <a:avLst/>
          </a:prstGeom>
          <a:noFill/>
          <a:ln/>
        </p:spPr>
        <p:txBody>
          <a:bodyPr wrap="square" lIns="0" tIns="0" rIns="0" bIns="0" rtlCol="0" anchor="t"/>
          <a:lstStyle/>
          <a:p>
            <a:pPr indent="0" marL="0">
              <a:buNone/>
            </a:pPr>
            <a:r>
              <a:rPr lang="en-US" sz="1500" b="1" dirty="0">
                <a:solidFill>
                  <a:srgbClr val="1D4ED8"/>
                </a:solidFill>
                <a:latin typeface="Calibri" pitchFamily="34" charset="0"/>
                <a:ea typeface="Calibri" pitchFamily="34" charset="-122"/>
                <a:cs typeface="Calibri" pitchFamily="34" charset="-120"/>
              </a:rPr>
              <a:t>Inside the agent</a:t>
            </a:r>
            <a:endParaRPr lang="en-US" sz="1500" dirty="0"/>
          </a:p>
        </p:txBody>
      </p:sp>
      <p:sp>
        <p:nvSpPr>
          <p:cNvPr id="8" name="Text 6"/>
          <p:cNvSpPr txBox="1"/>
          <p:nvPr/>
        </p:nvSpPr>
        <p:spPr>
          <a:xfrm>
            <a:off x="658368" y="1673352"/>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closest to the work</a:t>
            </a:r>
            <a:endParaRPr lang="en-US" sz="1050" dirty="0"/>
          </a:p>
        </p:txBody>
      </p:sp>
      <p:sp>
        <p:nvSpPr>
          <p:cNvPr id="9" name="Text 7"/>
          <p:cNvSpPr txBox="1"/>
          <p:nvPr/>
        </p:nvSpPr>
        <p:spPr>
          <a:xfrm>
            <a:off x="658368" y="1965960"/>
            <a:ext cx="2240280" cy="201168"/>
          </a:xfrm>
          <a:prstGeom prst="rect">
            <a:avLst/>
          </a:prstGeom>
          <a:noFill/>
          <a:ln/>
        </p:spPr>
        <p:txBody>
          <a:bodyPr wrap="square" lIns="0" tIns="0" rIns="0" bIns="0" rtlCol="0" anchor="t"/>
          <a:lstStyle/>
          <a:p>
            <a:pPr indent="0" marL="0">
              <a:buNone/>
            </a:pPr>
            <a:r>
              <a:rPr lang="en-US" sz="900" b="1" spc="150" kern="0" dirty="0">
                <a:solidFill>
                  <a:srgbClr val="047857"/>
                </a:solidFill>
                <a:latin typeface="Calibri" pitchFamily="34" charset="0"/>
                <a:ea typeface="Calibri" pitchFamily="34" charset="-122"/>
                <a:cs typeface="Calibri" pitchFamily="34" charset="-120"/>
              </a:rPr>
              <a:t>SEES</a:t>
            </a:r>
            <a:endParaRPr lang="en-US" sz="900" dirty="0"/>
          </a:p>
        </p:txBody>
      </p:sp>
      <p:sp>
        <p:nvSpPr>
          <p:cNvPr id="10" name="Text 8"/>
          <p:cNvSpPr txBox="1"/>
          <p:nvPr/>
        </p:nvSpPr>
        <p:spPr>
          <a:xfrm>
            <a:off x="658368" y="2176272"/>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This one task, step by step. It knows the run is on step eleven and has spent eighty cents.</a:t>
            </a:r>
            <a:endParaRPr lang="en-US" sz="1150" dirty="0"/>
          </a:p>
        </p:txBody>
      </p:sp>
      <p:sp>
        <p:nvSpPr>
          <p:cNvPr id="11" name="Text 9"/>
          <p:cNvSpPr txBox="1"/>
          <p:nvPr/>
        </p:nvSpPr>
        <p:spPr>
          <a:xfrm>
            <a:off x="658368" y="3108960"/>
            <a:ext cx="2240280" cy="201168"/>
          </a:xfrm>
          <a:prstGeom prst="rect">
            <a:avLst/>
          </a:prstGeom>
          <a:noFill/>
          <a:ln/>
        </p:spPr>
        <p:txBody>
          <a:bodyPr wrap="square" lIns="0" tIns="0" rIns="0" bIns="0" rtlCol="0" anchor="t"/>
          <a:lstStyle/>
          <a:p>
            <a:pPr indent="0" marL="0">
              <a:buNone/>
            </a:pPr>
            <a:r>
              <a:rPr lang="en-US" sz="900" b="1" spc="150" kern="0" dirty="0">
                <a:solidFill>
                  <a:srgbClr val="B91C1C"/>
                </a:solidFill>
                <a:latin typeface="Calibri" pitchFamily="34" charset="0"/>
                <a:ea typeface="Calibri" pitchFamily="34" charset="-122"/>
                <a:cs typeface="Calibri" pitchFamily="34" charset="-120"/>
              </a:rPr>
              <a:t>CANNOT SEE</a:t>
            </a:r>
            <a:endParaRPr lang="en-US" sz="900" dirty="0"/>
          </a:p>
        </p:txBody>
      </p:sp>
      <p:sp>
        <p:nvSpPr>
          <p:cNvPr id="12" name="Text 10"/>
          <p:cNvSpPr txBox="1"/>
          <p:nvPr/>
        </p:nvSpPr>
        <p:spPr>
          <a:xfrm>
            <a:off x="658368" y="3319272"/>
            <a:ext cx="224028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The other agents, or yesterday.</a:t>
            </a:r>
            <a:endParaRPr lang="en-US" sz="1150" dirty="0"/>
          </a:p>
        </p:txBody>
      </p:sp>
      <p:sp>
        <p:nvSpPr>
          <p:cNvPr id="13" name="Shape 11"/>
          <p:cNvSpPr/>
          <p:nvPr/>
        </p:nvSpPr>
        <p:spPr>
          <a:xfrm>
            <a:off x="658368" y="3931920"/>
            <a:ext cx="2240280" cy="411480"/>
          </a:xfrm>
          <a:prstGeom prst="roundRect">
            <a:avLst>
              <a:gd name="adj" fmla="val 17778"/>
            </a:avLst>
          </a:prstGeom>
          <a:solidFill>
            <a:srgbClr val="FFFFFF"/>
          </a:solidFill>
          <a:ln w="12700">
            <a:solidFill>
              <a:srgbClr val="FFFFFF"/>
            </a:solidFill>
            <a:prstDash val="solid"/>
          </a:ln>
        </p:spPr>
      </p:sp>
      <p:sp>
        <p:nvSpPr>
          <p:cNvPr id="14" name="Text 12"/>
          <p:cNvSpPr txBox="1"/>
          <p:nvPr/>
        </p:nvSpPr>
        <p:spPr>
          <a:xfrm>
            <a:off x="658368" y="3931920"/>
            <a:ext cx="2240280" cy="411480"/>
          </a:xfrm>
          <a:prstGeom prst="rect">
            <a:avLst/>
          </a:prstGeom>
          <a:noFill/>
          <a:ln/>
        </p:spPr>
        <p:txBody>
          <a:bodyPr wrap="square" lIns="0" tIns="0" rIns="0" bIns="0" rtlCol="0" anchor="ctr"/>
          <a:lstStyle/>
          <a:p>
            <a:pPr algn="ctr" indent="0" marL="0">
              <a:buNone/>
            </a:pPr>
            <a:r>
              <a:rPr lang="en-US" sz="1050" b="1" dirty="0">
                <a:solidFill>
                  <a:srgbClr val="111827"/>
                </a:solidFill>
                <a:latin typeface="Calibri" pitchFamily="34" charset="0"/>
                <a:ea typeface="Calibri" pitchFamily="34" charset="-122"/>
                <a:cs typeface="Calibri" pitchFamily="34" charset="-120"/>
              </a:rPr>
              <a:t>Good for: One run</a:t>
            </a:r>
            <a:endParaRPr lang="en-US" sz="1050" dirty="0"/>
          </a:p>
        </p:txBody>
      </p:sp>
      <p:sp>
        <p:nvSpPr>
          <p:cNvPr id="15" name="Shape 13"/>
          <p:cNvSpPr/>
          <p:nvPr/>
        </p:nvSpPr>
        <p:spPr>
          <a:xfrm>
            <a:off x="3246120" y="1234440"/>
            <a:ext cx="2606040" cy="3291840"/>
          </a:xfrm>
          <a:prstGeom prst="roundRect">
            <a:avLst>
              <a:gd name="adj" fmla="val 2807"/>
            </a:avLst>
          </a:prstGeom>
          <a:solidFill>
            <a:srgbClr val="F3F4F6"/>
          </a:solidFill>
          <a:ln w="12700">
            <a:solidFill>
              <a:srgbClr val="F3F4F6"/>
            </a:solidFill>
            <a:prstDash val="solid"/>
          </a:ln>
        </p:spPr>
      </p:sp>
      <p:sp>
        <p:nvSpPr>
          <p:cNvPr id="16" name="Text 14"/>
          <p:cNvSpPr txBox="1"/>
          <p:nvPr/>
        </p:nvSpPr>
        <p:spPr>
          <a:xfrm>
            <a:off x="3447288" y="1371600"/>
            <a:ext cx="2240280" cy="320040"/>
          </a:xfrm>
          <a:prstGeom prst="rect">
            <a:avLst/>
          </a:prstGeom>
          <a:noFill/>
          <a:ln/>
        </p:spPr>
        <p:txBody>
          <a:bodyPr wrap="square" lIns="0" tIns="0" rIns="0" bIns="0" rtlCol="0" anchor="t"/>
          <a:lstStyle/>
          <a:p>
            <a:pPr indent="0" marL="0">
              <a:buNone/>
            </a:pPr>
            <a:r>
              <a:rPr lang="en-US" sz="1500" b="1" dirty="0">
                <a:solidFill>
                  <a:srgbClr val="6D28D9"/>
                </a:solidFill>
                <a:latin typeface="Calibri" pitchFamily="34" charset="0"/>
                <a:ea typeface="Calibri" pitchFamily="34" charset="-122"/>
                <a:cs typeface="Calibri" pitchFamily="34" charset="-120"/>
              </a:rPr>
              <a:t>At the gateway</a:t>
            </a:r>
            <a:endParaRPr lang="en-US" sz="1500" dirty="0"/>
          </a:p>
        </p:txBody>
      </p:sp>
      <p:sp>
        <p:nvSpPr>
          <p:cNvPr id="17" name="Text 15"/>
          <p:cNvSpPr txBox="1"/>
          <p:nvPr/>
        </p:nvSpPr>
        <p:spPr>
          <a:xfrm>
            <a:off x="3447288" y="1673352"/>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the shared front door</a:t>
            </a:r>
            <a:endParaRPr lang="en-US" sz="1050" dirty="0"/>
          </a:p>
        </p:txBody>
      </p:sp>
      <p:sp>
        <p:nvSpPr>
          <p:cNvPr id="18" name="Text 16"/>
          <p:cNvSpPr txBox="1"/>
          <p:nvPr/>
        </p:nvSpPr>
        <p:spPr>
          <a:xfrm>
            <a:off x="3447288" y="1965960"/>
            <a:ext cx="2240280" cy="201168"/>
          </a:xfrm>
          <a:prstGeom prst="rect">
            <a:avLst/>
          </a:prstGeom>
          <a:noFill/>
          <a:ln/>
        </p:spPr>
        <p:txBody>
          <a:bodyPr wrap="square" lIns="0" tIns="0" rIns="0" bIns="0" rtlCol="0" anchor="t"/>
          <a:lstStyle/>
          <a:p>
            <a:pPr indent="0" marL="0">
              <a:buNone/>
            </a:pPr>
            <a:r>
              <a:rPr lang="en-US" sz="900" b="1" spc="150" kern="0" dirty="0">
                <a:solidFill>
                  <a:srgbClr val="047857"/>
                </a:solidFill>
                <a:latin typeface="Calibri" pitchFamily="34" charset="0"/>
                <a:ea typeface="Calibri" pitchFamily="34" charset="-122"/>
                <a:cs typeface="Calibri" pitchFamily="34" charset="-120"/>
              </a:rPr>
              <a:t>SEES</a:t>
            </a:r>
            <a:endParaRPr lang="en-US" sz="900" dirty="0"/>
          </a:p>
        </p:txBody>
      </p:sp>
      <p:sp>
        <p:nvSpPr>
          <p:cNvPr id="19" name="Text 17"/>
          <p:cNvSpPr txBox="1"/>
          <p:nvPr/>
        </p:nvSpPr>
        <p:spPr>
          <a:xfrm>
            <a:off x="3447288" y="2176272"/>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Every agent, every team, today. This team has spent ninety dollars across eleven agents.</a:t>
            </a:r>
            <a:endParaRPr lang="en-US" sz="1150" dirty="0"/>
          </a:p>
        </p:txBody>
      </p:sp>
      <p:sp>
        <p:nvSpPr>
          <p:cNvPr id="20" name="Text 18"/>
          <p:cNvSpPr txBox="1"/>
          <p:nvPr/>
        </p:nvSpPr>
        <p:spPr>
          <a:xfrm>
            <a:off x="3447288" y="3108960"/>
            <a:ext cx="2240280" cy="201168"/>
          </a:xfrm>
          <a:prstGeom prst="rect">
            <a:avLst/>
          </a:prstGeom>
          <a:noFill/>
          <a:ln/>
        </p:spPr>
        <p:txBody>
          <a:bodyPr wrap="square" lIns="0" tIns="0" rIns="0" bIns="0" rtlCol="0" anchor="t"/>
          <a:lstStyle/>
          <a:p>
            <a:pPr indent="0" marL="0">
              <a:buNone/>
            </a:pPr>
            <a:r>
              <a:rPr lang="en-US" sz="900" b="1" spc="150" kern="0" dirty="0">
                <a:solidFill>
                  <a:srgbClr val="B91C1C"/>
                </a:solidFill>
                <a:latin typeface="Calibri" pitchFamily="34" charset="0"/>
                <a:ea typeface="Calibri" pitchFamily="34" charset="-122"/>
                <a:cs typeface="Calibri" pitchFamily="34" charset="-120"/>
              </a:rPr>
              <a:t>CANNOT SEE</a:t>
            </a:r>
            <a:endParaRPr lang="en-US" sz="900" dirty="0"/>
          </a:p>
        </p:txBody>
      </p:sp>
      <p:sp>
        <p:nvSpPr>
          <p:cNvPr id="21" name="Text 19"/>
          <p:cNvSpPr txBox="1"/>
          <p:nvPr/>
        </p:nvSpPr>
        <p:spPr>
          <a:xfrm>
            <a:off x="3447288" y="3319272"/>
            <a:ext cx="224028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What a single run is trying to do.</a:t>
            </a:r>
            <a:endParaRPr lang="en-US" sz="1150" dirty="0"/>
          </a:p>
        </p:txBody>
      </p:sp>
      <p:sp>
        <p:nvSpPr>
          <p:cNvPr id="22" name="Shape 20"/>
          <p:cNvSpPr/>
          <p:nvPr/>
        </p:nvSpPr>
        <p:spPr>
          <a:xfrm>
            <a:off x="3447288" y="3931920"/>
            <a:ext cx="2240280" cy="411480"/>
          </a:xfrm>
          <a:prstGeom prst="roundRect">
            <a:avLst>
              <a:gd name="adj" fmla="val 17778"/>
            </a:avLst>
          </a:prstGeom>
          <a:solidFill>
            <a:srgbClr val="FFFFFF"/>
          </a:solidFill>
          <a:ln w="12700">
            <a:solidFill>
              <a:srgbClr val="FFFFFF"/>
            </a:solidFill>
            <a:prstDash val="solid"/>
          </a:ln>
        </p:spPr>
      </p:sp>
      <p:sp>
        <p:nvSpPr>
          <p:cNvPr id="23" name="Text 21"/>
          <p:cNvSpPr txBox="1"/>
          <p:nvPr/>
        </p:nvSpPr>
        <p:spPr>
          <a:xfrm>
            <a:off x="3447288" y="3931920"/>
            <a:ext cx="2240280" cy="411480"/>
          </a:xfrm>
          <a:prstGeom prst="rect">
            <a:avLst/>
          </a:prstGeom>
          <a:noFill/>
          <a:ln/>
        </p:spPr>
        <p:txBody>
          <a:bodyPr wrap="square" lIns="0" tIns="0" rIns="0" bIns="0" rtlCol="0" anchor="ctr"/>
          <a:lstStyle/>
          <a:p>
            <a:pPr algn="ctr" indent="0" marL="0">
              <a:buNone/>
            </a:pPr>
            <a:r>
              <a:rPr lang="en-US" sz="1050" b="1" dirty="0">
                <a:solidFill>
                  <a:srgbClr val="111827"/>
                </a:solidFill>
                <a:latin typeface="Calibri" pitchFamily="34" charset="0"/>
                <a:ea typeface="Calibri" pitchFamily="34" charset="-122"/>
                <a:cs typeface="Calibri" pitchFamily="34" charset="-120"/>
              </a:rPr>
              <a:t>Good for: One day, one team</a:t>
            </a:r>
            <a:endParaRPr lang="en-US" sz="1050" dirty="0"/>
          </a:p>
        </p:txBody>
      </p:sp>
      <p:sp>
        <p:nvSpPr>
          <p:cNvPr id="24" name="Shape 22"/>
          <p:cNvSpPr/>
          <p:nvPr/>
        </p:nvSpPr>
        <p:spPr>
          <a:xfrm>
            <a:off x="6035040" y="1234440"/>
            <a:ext cx="2606040" cy="3291840"/>
          </a:xfrm>
          <a:prstGeom prst="roundRect">
            <a:avLst>
              <a:gd name="adj" fmla="val 2807"/>
            </a:avLst>
          </a:prstGeom>
          <a:solidFill>
            <a:srgbClr val="F3F4F6"/>
          </a:solidFill>
          <a:ln w="12700">
            <a:solidFill>
              <a:srgbClr val="F3F4F6"/>
            </a:solidFill>
            <a:prstDash val="solid"/>
          </a:ln>
        </p:spPr>
      </p:sp>
      <p:sp>
        <p:nvSpPr>
          <p:cNvPr id="25" name="Text 23"/>
          <p:cNvSpPr txBox="1"/>
          <p:nvPr/>
        </p:nvSpPr>
        <p:spPr>
          <a:xfrm>
            <a:off x="6236208" y="1371600"/>
            <a:ext cx="2240280" cy="320040"/>
          </a:xfrm>
          <a:prstGeom prst="rect">
            <a:avLst/>
          </a:prstGeom>
          <a:noFill/>
          <a:ln/>
        </p:spPr>
        <p:txBody>
          <a:bodyPr wrap="square" lIns="0" tIns="0" rIns="0" bIns="0" rtlCol="0" anchor="t"/>
          <a:lstStyle/>
          <a:p>
            <a:pPr indent="0" marL="0">
              <a:buNone/>
            </a:pPr>
            <a:r>
              <a:rPr lang="en-US" sz="1500" b="1" dirty="0">
                <a:solidFill>
                  <a:srgbClr val="B45309"/>
                </a:solidFill>
                <a:latin typeface="Calibri" pitchFamily="34" charset="0"/>
                <a:ea typeface="Calibri" pitchFamily="34" charset="-122"/>
                <a:cs typeface="Calibri" pitchFamily="34" charset="-120"/>
              </a:rPr>
              <a:t>At the provider</a:t>
            </a:r>
            <a:endParaRPr lang="en-US" sz="1500" dirty="0"/>
          </a:p>
        </p:txBody>
      </p:sp>
      <p:sp>
        <p:nvSpPr>
          <p:cNvPr id="26" name="Text 24"/>
          <p:cNvSpPr txBox="1"/>
          <p:nvPr/>
        </p:nvSpPr>
        <p:spPr>
          <a:xfrm>
            <a:off x="6236208" y="1673352"/>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the account itself</a:t>
            </a:r>
            <a:endParaRPr lang="en-US" sz="1050" dirty="0"/>
          </a:p>
        </p:txBody>
      </p:sp>
      <p:sp>
        <p:nvSpPr>
          <p:cNvPr id="27" name="Text 25"/>
          <p:cNvSpPr txBox="1"/>
          <p:nvPr/>
        </p:nvSpPr>
        <p:spPr>
          <a:xfrm>
            <a:off x="6236208" y="1965960"/>
            <a:ext cx="2240280" cy="201168"/>
          </a:xfrm>
          <a:prstGeom prst="rect">
            <a:avLst/>
          </a:prstGeom>
          <a:noFill/>
          <a:ln/>
        </p:spPr>
        <p:txBody>
          <a:bodyPr wrap="square" lIns="0" tIns="0" rIns="0" bIns="0" rtlCol="0" anchor="t"/>
          <a:lstStyle/>
          <a:p>
            <a:pPr indent="0" marL="0">
              <a:buNone/>
            </a:pPr>
            <a:r>
              <a:rPr lang="en-US" sz="900" b="1" spc="150" kern="0" dirty="0">
                <a:solidFill>
                  <a:srgbClr val="047857"/>
                </a:solidFill>
                <a:latin typeface="Calibri" pitchFamily="34" charset="0"/>
                <a:ea typeface="Calibri" pitchFamily="34" charset="-122"/>
                <a:cs typeface="Calibri" pitchFamily="34" charset="-120"/>
              </a:rPr>
              <a:t>SEES</a:t>
            </a:r>
            <a:endParaRPr lang="en-US" sz="900" dirty="0"/>
          </a:p>
        </p:txBody>
      </p:sp>
      <p:sp>
        <p:nvSpPr>
          <p:cNvPr id="28" name="Text 26"/>
          <p:cNvSpPr txBox="1"/>
          <p:nvPr/>
        </p:nvSpPr>
        <p:spPr>
          <a:xfrm>
            <a:off x="6236208" y="2176272"/>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The whole bill, the whole month. It is the outermost wall.</a:t>
            </a:r>
            <a:endParaRPr lang="en-US" sz="1150" dirty="0"/>
          </a:p>
        </p:txBody>
      </p:sp>
      <p:sp>
        <p:nvSpPr>
          <p:cNvPr id="29" name="Text 27"/>
          <p:cNvSpPr txBox="1"/>
          <p:nvPr/>
        </p:nvSpPr>
        <p:spPr>
          <a:xfrm>
            <a:off x="6236208" y="3108960"/>
            <a:ext cx="2240280" cy="201168"/>
          </a:xfrm>
          <a:prstGeom prst="rect">
            <a:avLst/>
          </a:prstGeom>
          <a:noFill/>
          <a:ln/>
        </p:spPr>
        <p:txBody>
          <a:bodyPr wrap="square" lIns="0" tIns="0" rIns="0" bIns="0" rtlCol="0" anchor="t"/>
          <a:lstStyle/>
          <a:p>
            <a:pPr indent="0" marL="0">
              <a:buNone/>
            </a:pPr>
            <a:r>
              <a:rPr lang="en-US" sz="900" b="1" spc="150" kern="0" dirty="0">
                <a:solidFill>
                  <a:srgbClr val="B91C1C"/>
                </a:solidFill>
                <a:latin typeface="Calibri" pitchFamily="34" charset="0"/>
                <a:ea typeface="Calibri" pitchFamily="34" charset="-122"/>
                <a:cs typeface="Calibri" pitchFamily="34" charset="-120"/>
              </a:rPr>
              <a:t>CANNOT SEE</a:t>
            </a:r>
            <a:endParaRPr lang="en-US" sz="900" dirty="0"/>
          </a:p>
        </p:txBody>
      </p:sp>
      <p:sp>
        <p:nvSpPr>
          <p:cNvPr id="30" name="Text 28"/>
          <p:cNvSpPr txBox="1"/>
          <p:nvPr/>
        </p:nvSpPr>
        <p:spPr>
          <a:xfrm>
            <a:off x="6236208" y="3319272"/>
            <a:ext cx="224028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Anything about your business at all.</a:t>
            </a:r>
            <a:endParaRPr lang="en-US" sz="1150" dirty="0"/>
          </a:p>
        </p:txBody>
      </p:sp>
      <p:sp>
        <p:nvSpPr>
          <p:cNvPr id="31" name="Shape 29"/>
          <p:cNvSpPr/>
          <p:nvPr/>
        </p:nvSpPr>
        <p:spPr>
          <a:xfrm>
            <a:off x="6236208" y="3931920"/>
            <a:ext cx="2240280" cy="411480"/>
          </a:xfrm>
          <a:prstGeom prst="roundRect">
            <a:avLst>
              <a:gd name="adj" fmla="val 17778"/>
            </a:avLst>
          </a:prstGeom>
          <a:solidFill>
            <a:srgbClr val="FFFFFF"/>
          </a:solidFill>
          <a:ln w="12700">
            <a:solidFill>
              <a:srgbClr val="FFFFFF"/>
            </a:solidFill>
            <a:prstDash val="solid"/>
          </a:ln>
        </p:spPr>
      </p:sp>
      <p:sp>
        <p:nvSpPr>
          <p:cNvPr id="32" name="Text 30"/>
          <p:cNvSpPr txBox="1"/>
          <p:nvPr/>
        </p:nvSpPr>
        <p:spPr>
          <a:xfrm>
            <a:off x="6236208" y="3931920"/>
            <a:ext cx="2240280" cy="411480"/>
          </a:xfrm>
          <a:prstGeom prst="rect">
            <a:avLst/>
          </a:prstGeom>
          <a:noFill/>
          <a:ln/>
        </p:spPr>
        <p:txBody>
          <a:bodyPr wrap="square" lIns="0" tIns="0" rIns="0" bIns="0" rtlCol="0" anchor="ctr"/>
          <a:lstStyle/>
          <a:p>
            <a:pPr algn="ctr" indent="0" marL="0">
              <a:buNone/>
            </a:pPr>
            <a:r>
              <a:rPr lang="en-US" sz="1050" b="1" dirty="0">
                <a:solidFill>
                  <a:srgbClr val="111827"/>
                </a:solidFill>
                <a:latin typeface="Calibri" pitchFamily="34" charset="0"/>
                <a:ea typeface="Calibri" pitchFamily="34" charset="-122"/>
                <a:cs typeface="Calibri" pitchFamily="34" charset="-120"/>
              </a:rPr>
              <a:t>Good for: The last resort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THREE GATES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Each gate catches a failure the others miss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57200" y="1280160"/>
            <a:ext cx="8229600" cy="777240"/>
          </a:xfrm>
          <a:prstGeom prst="roundRect">
            <a:avLst>
              <a:gd name="adj" fmla="val 9412"/>
            </a:avLst>
          </a:prstGeom>
          <a:solidFill>
            <a:srgbClr val="F3F4F6"/>
          </a:solidFill>
          <a:ln w="12700">
            <a:solidFill>
              <a:srgbClr val="F3F4F6"/>
            </a:solidFill>
            <a:prstDash val="solid"/>
          </a:ln>
        </p:spPr>
      </p:sp>
      <p:sp>
        <p:nvSpPr>
          <p:cNvPr id="7" name="Text 5"/>
          <p:cNvSpPr txBox="1"/>
          <p:nvPr/>
        </p:nvSpPr>
        <p:spPr>
          <a:xfrm>
            <a:off x="731520" y="1280160"/>
            <a:ext cx="475488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One task goes mad and loops forever</a:t>
            </a:r>
            <a:endParaRPr lang="en-US" sz="1400" dirty="0"/>
          </a:p>
        </p:txBody>
      </p:sp>
      <p:pic>
        <p:nvPicPr>
          <p:cNvPr id="8" name="Image 0" descr="preencoded.png">    </p:cNvPr>
          <p:cNvPicPr>
            <a:picLocks noChangeAspect="1"/>
          </p:cNvPicPr>
          <p:nvPr/>
        </p:nvPicPr>
        <p:blipFill>
          <a:blip r:embed="rId1"/>
          <a:stretch>
            <a:fillRect/>
          </a:stretch>
        </p:blipFill>
        <p:spPr>
          <a:xfrm>
            <a:off x="5577840" y="1572768"/>
            <a:ext cx="201168" cy="201168"/>
          </a:xfrm>
          <a:prstGeom prst="rect">
            <a:avLst/>
          </a:prstGeom>
        </p:spPr>
      </p:pic>
      <p:sp>
        <p:nvSpPr>
          <p:cNvPr id="9" name="Text 6"/>
          <p:cNvSpPr txBox="1"/>
          <p:nvPr/>
        </p:nvSpPr>
        <p:spPr>
          <a:xfrm>
            <a:off x="5943600" y="1280160"/>
            <a:ext cx="2560320" cy="777240"/>
          </a:xfrm>
          <a:prstGeom prst="rect">
            <a:avLst/>
          </a:prstGeom>
          <a:noFill/>
          <a:ln/>
        </p:spPr>
        <p:txBody>
          <a:bodyPr wrap="square" lIns="0" tIns="0" rIns="0" bIns="0" rtlCol="0" anchor="ctr"/>
          <a:lstStyle/>
          <a:p>
            <a:pPr indent="0" marL="0">
              <a:buNone/>
            </a:pPr>
            <a:r>
              <a:rPr lang="en-US" sz="1400" b="1" dirty="0">
                <a:solidFill>
                  <a:srgbClr val="1D4ED8"/>
                </a:solidFill>
                <a:latin typeface="Calibri" pitchFamily="34" charset="0"/>
                <a:ea typeface="Calibri" pitchFamily="34" charset="-122"/>
                <a:cs typeface="Calibri" pitchFamily="34" charset="-120"/>
              </a:rPr>
              <a:t>caught inside the agent</a:t>
            </a:r>
            <a:endParaRPr lang="en-US" sz="1400" dirty="0"/>
          </a:p>
        </p:txBody>
      </p:sp>
      <p:sp>
        <p:nvSpPr>
          <p:cNvPr id="10" name="Shape 7"/>
          <p:cNvSpPr/>
          <p:nvPr/>
        </p:nvSpPr>
        <p:spPr>
          <a:xfrm>
            <a:off x="457200" y="2194560"/>
            <a:ext cx="8229600" cy="777240"/>
          </a:xfrm>
          <a:prstGeom prst="roundRect">
            <a:avLst>
              <a:gd name="adj" fmla="val 9412"/>
            </a:avLst>
          </a:prstGeom>
          <a:solidFill>
            <a:srgbClr val="F3F4F6"/>
          </a:solidFill>
          <a:ln w="12700">
            <a:solidFill>
              <a:srgbClr val="F3F4F6"/>
            </a:solidFill>
            <a:prstDash val="solid"/>
          </a:ln>
        </p:spPr>
      </p:sp>
      <p:sp>
        <p:nvSpPr>
          <p:cNvPr id="11" name="Text 8"/>
          <p:cNvSpPr txBox="1"/>
          <p:nvPr/>
        </p:nvSpPr>
        <p:spPr>
          <a:xfrm>
            <a:off x="731520" y="2194560"/>
            <a:ext cx="475488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Fifty tasks each behave, but together they blow the budget</a:t>
            </a:r>
            <a:endParaRPr lang="en-US" sz="1400" dirty="0"/>
          </a:p>
        </p:txBody>
      </p:sp>
      <p:pic>
        <p:nvPicPr>
          <p:cNvPr id="12" name="Image 1" descr="preencoded.png">    </p:cNvPr>
          <p:cNvPicPr>
            <a:picLocks noChangeAspect="1"/>
          </p:cNvPicPr>
          <p:nvPr/>
        </p:nvPicPr>
        <p:blipFill>
          <a:blip r:embed="rId2"/>
          <a:stretch>
            <a:fillRect/>
          </a:stretch>
        </p:blipFill>
        <p:spPr>
          <a:xfrm>
            <a:off x="5577840" y="2487168"/>
            <a:ext cx="201168" cy="201168"/>
          </a:xfrm>
          <a:prstGeom prst="rect">
            <a:avLst/>
          </a:prstGeom>
        </p:spPr>
      </p:pic>
      <p:sp>
        <p:nvSpPr>
          <p:cNvPr id="13" name="Text 9"/>
          <p:cNvSpPr txBox="1"/>
          <p:nvPr/>
        </p:nvSpPr>
        <p:spPr>
          <a:xfrm>
            <a:off x="5943600" y="2194560"/>
            <a:ext cx="2560320" cy="777240"/>
          </a:xfrm>
          <a:prstGeom prst="rect">
            <a:avLst/>
          </a:prstGeom>
          <a:noFill/>
          <a:ln/>
        </p:spPr>
        <p:txBody>
          <a:bodyPr wrap="square" lIns="0" tIns="0" rIns="0" bIns="0" rtlCol="0" anchor="ctr"/>
          <a:lstStyle/>
          <a:p>
            <a:pPr indent="0" marL="0">
              <a:buNone/>
            </a:pPr>
            <a:r>
              <a:rPr lang="en-US" sz="1400" b="1" dirty="0">
                <a:solidFill>
                  <a:srgbClr val="6D28D9"/>
                </a:solidFill>
                <a:latin typeface="Calibri" pitchFamily="34" charset="0"/>
                <a:ea typeface="Calibri" pitchFamily="34" charset="-122"/>
                <a:cs typeface="Calibri" pitchFamily="34" charset="-120"/>
              </a:rPr>
              <a:t>caught at the gateway</a:t>
            </a:r>
            <a:endParaRPr lang="en-US" sz="1400" dirty="0"/>
          </a:p>
        </p:txBody>
      </p:sp>
      <p:sp>
        <p:nvSpPr>
          <p:cNvPr id="14" name="Shape 10"/>
          <p:cNvSpPr/>
          <p:nvPr/>
        </p:nvSpPr>
        <p:spPr>
          <a:xfrm>
            <a:off x="457200" y="3108960"/>
            <a:ext cx="8229600" cy="777240"/>
          </a:xfrm>
          <a:prstGeom prst="roundRect">
            <a:avLst>
              <a:gd name="adj" fmla="val 9412"/>
            </a:avLst>
          </a:prstGeom>
          <a:solidFill>
            <a:srgbClr val="F3F4F6"/>
          </a:solidFill>
          <a:ln w="12700">
            <a:solidFill>
              <a:srgbClr val="F3F4F6"/>
            </a:solidFill>
            <a:prstDash val="solid"/>
          </a:ln>
        </p:spPr>
      </p:sp>
      <p:sp>
        <p:nvSpPr>
          <p:cNvPr id="15" name="Text 11"/>
          <p:cNvSpPr txBox="1"/>
          <p:nvPr/>
        </p:nvSpPr>
        <p:spPr>
          <a:xfrm>
            <a:off x="731520" y="3108960"/>
            <a:ext cx="475488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Someone deploys a new agent that nobody capped</a:t>
            </a:r>
            <a:endParaRPr lang="en-US" sz="1400" dirty="0"/>
          </a:p>
        </p:txBody>
      </p:sp>
      <p:pic>
        <p:nvPicPr>
          <p:cNvPr id="16" name="Image 2" descr="preencoded.png">    </p:cNvPr>
          <p:cNvPicPr>
            <a:picLocks noChangeAspect="1"/>
          </p:cNvPicPr>
          <p:nvPr/>
        </p:nvPicPr>
        <p:blipFill>
          <a:blip r:embed="rId3"/>
          <a:stretch>
            <a:fillRect/>
          </a:stretch>
        </p:blipFill>
        <p:spPr>
          <a:xfrm>
            <a:off x="5577840" y="3401568"/>
            <a:ext cx="201168" cy="201168"/>
          </a:xfrm>
          <a:prstGeom prst="rect">
            <a:avLst/>
          </a:prstGeom>
        </p:spPr>
      </p:pic>
      <p:sp>
        <p:nvSpPr>
          <p:cNvPr id="17" name="Text 12"/>
          <p:cNvSpPr txBox="1"/>
          <p:nvPr/>
        </p:nvSpPr>
        <p:spPr>
          <a:xfrm>
            <a:off x="5943600" y="3108960"/>
            <a:ext cx="2560320" cy="77724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caught at the provider</a:t>
            </a:r>
            <a:endParaRPr lang="en-US" sz="1400" dirty="0"/>
          </a:p>
        </p:txBody>
      </p:sp>
      <p:sp>
        <p:nvSpPr>
          <p:cNvPr id="18" name="Shape 13"/>
          <p:cNvSpPr/>
          <p:nvPr/>
        </p:nvSpPr>
        <p:spPr>
          <a:xfrm>
            <a:off x="457200" y="4023360"/>
            <a:ext cx="8229600" cy="640080"/>
          </a:xfrm>
          <a:prstGeom prst="roundRect">
            <a:avLst>
              <a:gd name="adj" fmla="val 11429"/>
            </a:avLst>
          </a:prstGeom>
          <a:solidFill>
            <a:srgbClr val="111827"/>
          </a:solidFill>
          <a:ln w="12700">
            <a:solidFill>
              <a:srgbClr val="111827"/>
            </a:solidFill>
            <a:prstDash val="solid"/>
          </a:ln>
        </p:spPr>
      </p:sp>
      <p:sp>
        <p:nvSpPr>
          <p:cNvPr id="19" name="Text 14"/>
          <p:cNvSpPr txBox="1"/>
          <p:nvPr/>
        </p:nvSpPr>
        <p:spPr>
          <a:xfrm>
            <a:off x="457200" y="4023360"/>
            <a:ext cx="822960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One gate is better than none. Three gates is how you sleep.</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What Should Happen When It Runs Out?</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~9 min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WHAT HAPPENS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sensible answers; pick one deliberately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457200" y="1234440"/>
            <a:ext cx="2606040" cy="3108960"/>
          </a:xfrm>
          <a:prstGeom prst="roundRect">
            <a:avLst>
              <a:gd name="adj" fmla="val 2807"/>
            </a:avLst>
          </a:prstGeom>
          <a:solidFill>
            <a:srgbClr val="FEF2F2"/>
          </a:solidFill>
          <a:ln w="12700">
            <a:solidFill>
              <a:srgbClr val="FEF2F2"/>
            </a:solidFill>
            <a:prstDash val="solid"/>
          </a:ln>
        </p:spPr>
      </p:sp>
      <p:sp>
        <p:nvSpPr>
          <p:cNvPr id="7" name="Text 5"/>
          <p:cNvSpPr txBox="1"/>
          <p:nvPr/>
        </p:nvSpPr>
        <p:spPr>
          <a:xfrm>
            <a:off x="658368" y="1371600"/>
            <a:ext cx="2240280" cy="411480"/>
          </a:xfrm>
          <a:prstGeom prst="rect">
            <a:avLst/>
          </a:prstGeom>
          <a:noFill/>
          <a:ln/>
        </p:spPr>
        <p:txBody>
          <a:bodyPr wrap="square" lIns="0" tIns="0" rIns="0" bIns="0" rtlCol="0" anchor="t"/>
          <a:lstStyle/>
          <a:p>
            <a:pPr indent="0" marL="0">
              <a:buNone/>
            </a:pPr>
            <a:r>
              <a:rPr lang="en-US" sz="2400" b="1" dirty="0">
                <a:solidFill>
                  <a:srgbClr val="B91C1C"/>
                </a:solidFill>
                <a:latin typeface="Cambria" pitchFamily="34" charset="0"/>
                <a:ea typeface="Cambria" pitchFamily="34" charset="-122"/>
                <a:cs typeface="Cambria" pitchFamily="34" charset="-120"/>
              </a:rPr>
              <a:t>STOP</a:t>
            </a:r>
            <a:endParaRPr lang="en-US" sz="2400" dirty="0"/>
          </a:p>
        </p:txBody>
      </p:sp>
      <p:sp>
        <p:nvSpPr>
          <p:cNvPr id="8" name="Text 6"/>
          <p:cNvSpPr txBox="1"/>
          <p:nvPr/>
        </p:nvSpPr>
        <p:spPr>
          <a:xfrm>
            <a:off x="658368" y="1783080"/>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refuse, and say why</a:t>
            </a:r>
            <a:endParaRPr lang="en-US" sz="1050" dirty="0"/>
          </a:p>
        </p:txBody>
      </p:sp>
      <p:sp>
        <p:nvSpPr>
          <p:cNvPr id="9" name="Text 7"/>
          <p:cNvSpPr txBox="1"/>
          <p:nvPr/>
        </p:nvSpPr>
        <p:spPr>
          <a:xfrm>
            <a:off x="658368" y="2084832"/>
            <a:ext cx="2240280" cy="9144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task fails; the caller gets a clear message saying the budget ran out.</a:t>
            </a:r>
            <a:endParaRPr lang="en-US" sz="1200" dirty="0"/>
          </a:p>
        </p:txBody>
      </p:sp>
      <p:sp>
        <p:nvSpPr>
          <p:cNvPr id="10" name="Text 8"/>
          <p:cNvSpPr txBox="1"/>
          <p:nvPr/>
        </p:nvSpPr>
        <p:spPr>
          <a:xfrm>
            <a:off x="658368" y="3017520"/>
            <a:ext cx="2240280" cy="201168"/>
          </a:xfrm>
          <a:prstGeom prst="rect">
            <a:avLst/>
          </a:prstGeom>
          <a:noFill/>
          <a:ln/>
        </p:spPr>
        <p:txBody>
          <a:bodyPr wrap="square" lIns="0" tIns="0" rIns="0" bIns="0" rtlCol="0" anchor="t"/>
          <a:lstStyle/>
          <a:p>
            <a:pPr indent="0" marL="0">
              <a:buNone/>
            </a:pPr>
            <a:r>
              <a:rPr lang="en-US" sz="900" b="1" spc="150" kern="0" dirty="0">
                <a:solidFill>
                  <a:srgbClr val="B91C1C"/>
                </a:solidFill>
                <a:latin typeface="Calibri" pitchFamily="34" charset="0"/>
                <a:ea typeface="Calibri" pitchFamily="34" charset="-122"/>
                <a:cs typeface="Calibri" pitchFamily="34" charset="-120"/>
              </a:rPr>
              <a:t>USE IT WHEN</a:t>
            </a:r>
            <a:endParaRPr lang="en-US" sz="900" dirty="0"/>
          </a:p>
        </p:txBody>
      </p:sp>
      <p:sp>
        <p:nvSpPr>
          <p:cNvPr id="11" name="Text 9"/>
          <p:cNvSpPr txBox="1"/>
          <p:nvPr/>
        </p:nvSpPr>
        <p:spPr>
          <a:xfrm>
            <a:off x="658368" y="3227832"/>
            <a:ext cx="224028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wrong answer is worse than no answer.</a:t>
            </a:r>
            <a:endParaRPr lang="en-US" sz="1150" dirty="0"/>
          </a:p>
        </p:txBody>
      </p:sp>
      <p:sp>
        <p:nvSpPr>
          <p:cNvPr id="12" name="Text 10"/>
          <p:cNvSpPr txBox="1"/>
          <p:nvPr/>
        </p:nvSpPr>
        <p:spPr>
          <a:xfrm>
            <a:off x="658368" y="3931920"/>
            <a:ext cx="2240280" cy="32004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fraud checks · medical · legal</a:t>
            </a:r>
            <a:endParaRPr lang="en-US" sz="1050" dirty="0"/>
          </a:p>
        </p:txBody>
      </p:sp>
      <p:sp>
        <p:nvSpPr>
          <p:cNvPr id="13" name="Shape 11"/>
          <p:cNvSpPr/>
          <p:nvPr/>
        </p:nvSpPr>
        <p:spPr>
          <a:xfrm>
            <a:off x="3246120" y="1234440"/>
            <a:ext cx="2606040" cy="3108960"/>
          </a:xfrm>
          <a:prstGeom prst="roundRect">
            <a:avLst>
              <a:gd name="adj" fmla="val 2807"/>
            </a:avLst>
          </a:prstGeom>
          <a:solidFill>
            <a:srgbClr val="FFFBEB"/>
          </a:solidFill>
          <a:ln w="12700">
            <a:solidFill>
              <a:srgbClr val="FFFBEB"/>
            </a:solidFill>
            <a:prstDash val="solid"/>
          </a:ln>
        </p:spPr>
      </p:sp>
      <p:sp>
        <p:nvSpPr>
          <p:cNvPr id="14" name="Text 12"/>
          <p:cNvSpPr txBox="1"/>
          <p:nvPr/>
        </p:nvSpPr>
        <p:spPr>
          <a:xfrm>
            <a:off x="3447288" y="1371600"/>
            <a:ext cx="2240280" cy="41148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DEGRADE</a:t>
            </a:r>
            <a:endParaRPr lang="en-US" sz="2400" dirty="0"/>
          </a:p>
        </p:txBody>
      </p:sp>
      <p:sp>
        <p:nvSpPr>
          <p:cNvPr id="15" name="Text 13"/>
          <p:cNvSpPr txBox="1"/>
          <p:nvPr/>
        </p:nvSpPr>
        <p:spPr>
          <a:xfrm>
            <a:off x="3447288" y="1783080"/>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give a cheaper answer</a:t>
            </a:r>
            <a:endParaRPr lang="en-US" sz="1050" dirty="0"/>
          </a:p>
        </p:txBody>
      </p:sp>
      <p:sp>
        <p:nvSpPr>
          <p:cNvPr id="16" name="Text 14"/>
          <p:cNvSpPr txBox="1"/>
          <p:nvPr/>
        </p:nvSpPr>
        <p:spPr>
          <a:xfrm>
            <a:off x="3447288" y="2084832"/>
            <a:ext cx="2240280" cy="9144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Switch to a smaller model, return a simpler result, or serve one from cache.</a:t>
            </a:r>
            <a:endParaRPr lang="en-US" sz="1200" dirty="0"/>
          </a:p>
        </p:txBody>
      </p:sp>
      <p:sp>
        <p:nvSpPr>
          <p:cNvPr id="17" name="Text 15"/>
          <p:cNvSpPr txBox="1"/>
          <p:nvPr/>
        </p:nvSpPr>
        <p:spPr>
          <a:xfrm>
            <a:off x="3447288" y="3017520"/>
            <a:ext cx="2240280" cy="201168"/>
          </a:xfrm>
          <a:prstGeom prst="rect">
            <a:avLst/>
          </a:prstGeom>
          <a:noFill/>
          <a:ln/>
        </p:spPr>
        <p:txBody>
          <a:bodyPr wrap="square" lIns="0" tIns="0" rIns="0" bIns="0" rtlCol="0" anchor="t"/>
          <a:lstStyle/>
          <a:p>
            <a:pPr indent="0" marL="0">
              <a:buNone/>
            </a:pPr>
            <a:r>
              <a:rPr lang="en-US" sz="900" b="1" spc="150" kern="0" dirty="0">
                <a:solidFill>
                  <a:srgbClr val="B45309"/>
                </a:solidFill>
                <a:latin typeface="Calibri" pitchFamily="34" charset="0"/>
                <a:ea typeface="Calibri" pitchFamily="34" charset="-122"/>
                <a:cs typeface="Calibri" pitchFamily="34" charset="-120"/>
              </a:rPr>
              <a:t>USE IT WHEN</a:t>
            </a:r>
            <a:endParaRPr lang="en-US" sz="900" dirty="0"/>
          </a:p>
        </p:txBody>
      </p:sp>
      <p:sp>
        <p:nvSpPr>
          <p:cNvPr id="18" name="Text 16"/>
          <p:cNvSpPr txBox="1"/>
          <p:nvPr/>
        </p:nvSpPr>
        <p:spPr>
          <a:xfrm>
            <a:off x="3447288" y="3227832"/>
            <a:ext cx="224028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Something is better than nothing.</a:t>
            </a:r>
            <a:endParaRPr lang="en-US" sz="1150" dirty="0"/>
          </a:p>
        </p:txBody>
      </p:sp>
      <p:sp>
        <p:nvSpPr>
          <p:cNvPr id="19" name="Text 17"/>
          <p:cNvSpPr txBox="1"/>
          <p:nvPr/>
        </p:nvSpPr>
        <p:spPr>
          <a:xfrm>
            <a:off x="3447288" y="3931920"/>
            <a:ext cx="2240280" cy="32004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search · summaries · suggestions</a:t>
            </a:r>
            <a:endParaRPr lang="en-US" sz="1050" dirty="0"/>
          </a:p>
        </p:txBody>
      </p:sp>
      <p:sp>
        <p:nvSpPr>
          <p:cNvPr id="20" name="Shape 18"/>
          <p:cNvSpPr/>
          <p:nvPr/>
        </p:nvSpPr>
        <p:spPr>
          <a:xfrm>
            <a:off x="6035040" y="1234440"/>
            <a:ext cx="2606040" cy="3108960"/>
          </a:xfrm>
          <a:prstGeom prst="roundRect">
            <a:avLst>
              <a:gd name="adj" fmla="val 2807"/>
            </a:avLst>
          </a:prstGeom>
          <a:solidFill>
            <a:srgbClr val="ECFDF5"/>
          </a:solidFill>
          <a:ln w="12700">
            <a:solidFill>
              <a:srgbClr val="ECFDF5"/>
            </a:solidFill>
            <a:prstDash val="solid"/>
          </a:ln>
        </p:spPr>
      </p:sp>
      <p:sp>
        <p:nvSpPr>
          <p:cNvPr id="21" name="Text 19"/>
          <p:cNvSpPr txBox="1"/>
          <p:nvPr/>
        </p:nvSpPr>
        <p:spPr>
          <a:xfrm>
            <a:off x="6236208" y="1371600"/>
            <a:ext cx="2240280" cy="411480"/>
          </a:xfrm>
          <a:prstGeom prst="rect">
            <a:avLst/>
          </a:prstGeom>
          <a:noFill/>
          <a:ln/>
        </p:spPr>
        <p:txBody>
          <a:bodyPr wrap="square" lIns="0" tIns="0" rIns="0" bIns="0" rtlCol="0" anchor="t"/>
          <a:lstStyle/>
          <a:p>
            <a:pPr indent="0" marL="0">
              <a:buNone/>
            </a:pPr>
            <a:r>
              <a:rPr lang="en-US" sz="2400" b="1" dirty="0">
                <a:solidFill>
                  <a:srgbClr val="047857"/>
                </a:solidFill>
                <a:latin typeface="Cambria" pitchFamily="34" charset="0"/>
                <a:ea typeface="Cambria" pitchFamily="34" charset="-122"/>
                <a:cs typeface="Cambria" pitchFamily="34" charset="-120"/>
              </a:rPr>
              <a:t>QUEUE</a:t>
            </a:r>
            <a:endParaRPr lang="en-US" sz="2400" dirty="0"/>
          </a:p>
        </p:txBody>
      </p:sp>
      <p:sp>
        <p:nvSpPr>
          <p:cNvPr id="22" name="Text 20"/>
          <p:cNvSpPr txBox="1"/>
          <p:nvPr/>
        </p:nvSpPr>
        <p:spPr>
          <a:xfrm>
            <a:off x="6236208" y="1783080"/>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try again later</a:t>
            </a:r>
            <a:endParaRPr lang="en-US" sz="1050" dirty="0"/>
          </a:p>
        </p:txBody>
      </p:sp>
      <p:sp>
        <p:nvSpPr>
          <p:cNvPr id="23" name="Text 21"/>
          <p:cNvSpPr txBox="1"/>
          <p:nvPr/>
        </p:nvSpPr>
        <p:spPr>
          <a:xfrm>
            <a:off x="6236208" y="2084832"/>
            <a:ext cx="2240280" cy="9144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Put the task aside and run it when the budget refills, usually at midnight.</a:t>
            </a:r>
            <a:endParaRPr lang="en-US" sz="1200" dirty="0"/>
          </a:p>
        </p:txBody>
      </p:sp>
      <p:sp>
        <p:nvSpPr>
          <p:cNvPr id="24" name="Text 22"/>
          <p:cNvSpPr txBox="1"/>
          <p:nvPr/>
        </p:nvSpPr>
        <p:spPr>
          <a:xfrm>
            <a:off x="6236208" y="3017520"/>
            <a:ext cx="2240280" cy="201168"/>
          </a:xfrm>
          <a:prstGeom prst="rect">
            <a:avLst/>
          </a:prstGeom>
          <a:noFill/>
          <a:ln/>
        </p:spPr>
        <p:txBody>
          <a:bodyPr wrap="square" lIns="0" tIns="0" rIns="0" bIns="0" rtlCol="0" anchor="t"/>
          <a:lstStyle/>
          <a:p>
            <a:pPr indent="0" marL="0">
              <a:buNone/>
            </a:pPr>
            <a:r>
              <a:rPr lang="en-US" sz="900" b="1" spc="150" kern="0" dirty="0">
                <a:solidFill>
                  <a:srgbClr val="047857"/>
                </a:solidFill>
                <a:latin typeface="Calibri" pitchFamily="34" charset="0"/>
                <a:ea typeface="Calibri" pitchFamily="34" charset="-122"/>
                <a:cs typeface="Calibri" pitchFamily="34" charset="-120"/>
              </a:rPr>
              <a:t>USE IT WHEN</a:t>
            </a:r>
            <a:endParaRPr lang="en-US" sz="900" dirty="0"/>
          </a:p>
        </p:txBody>
      </p:sp>
      <p:sp>
        <p:nvSpPr>
          <p:cNvPr id="25" name="Text 23"/>
          <p:cNvSpPr txBox="1"/>
          <p:nvPr/>
        </p:nvSpPr>
        <p:spPr>
          <a:xfrm>
            <a:off x="6236208" y="3227832"/>
            <a:ext cx="224028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The work matters but the timing does not.</a:t>
            </a:r>
            <a:endParaRPr lang="en-US" sz="1150" dirty="0"/>
          </a:p>
        </p:txBody>
      </p:sp>
      <p:sp>
        <p:nvSpPr>
          <p:cNvPr id="26" name="Text 24"/>
          <p:cNvSpPr txBox="1"/>
          <p:nvPr/>
        </p:nvSpPr>
        <p:spPr>
          <a:xfrm>
            <a:off x="6236208" y="3931920"/>
            <a:ext cx="2240280" cy="32004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reports · batch jobs · backfills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WHAT HAPPENS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fourth option, which you get by not choosing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457200" y="1234440"/>
            <a:ext cx="8229600" cy="1828800"/>
          </a:xfrm>
          <a:prstGeom prst="roundRect">
            <a:avLst>
              <a:gd name="adj" fmla="val 4000"/>
            </a:avLst>
          </a:prstGeom>
          <a:solidFill>
            <a:srgbClr val="FEF2F2"/>
          </a:solidFill>
          <a:ln w="31750">
            <a:solidFill>
              <a:srgbClr val="B91C1C"/>
            </a:solidFill>
            <a:prstDash val="solid"/>
          </a:ln>
        </p:spPr>
      </p:sp>
      <p:pic>
        <p:nvPicPr>
          <p:cNvPr id="7" name="Image 0" descr="preencoded.png">    </p:cNvPr>
          <p:cNvPicPr>
            <a:picLocks noChangeAspect="1"/>
          </p:cNvPicPr>
          <p:nvPr/>
        </p:nvPicPr>
        <p:blipFill>
          <a:blip r:embed="rId1"/>
          <a:stretch>
            <a:fillRect/>
          </a:stretch>
        </p:blipFill>
        <p:spPr>
          <a:xfrm>
            <a:off x="731520" y="1463040"/>
            <a:ext cx="457200" cy="457200"/>
          </a:xfrm>
          <a:prstGeom prst="rect">
            <a:avLst/>
          </a:prstGeom>
        </p:spPr>
      </p:pic>
      <p:sp>
        <p:nvSpPr>
          <p:cNvPr id="8" name="Text 5"/>
          <p:cNvSpPr txBox="1"/>
          <p:nvPr/>
        </p:nvSpPr>
        <p:spPr>
          <a:xfrm>
            <a:off x="1371600" y="1417320"/>
            <a:ext cx="7040880" cy="9144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The agent runs out of budget in the middle of a thought, crashes in some way nobody planned for, and leaves half-finished work behind with no message explaining anything.</a:t>
            </a:r>
            <a:endParaRPr lang="en-US" sz="1600" dirty="0"/>
          </a:p>
        </p:txBody>
      </p:sp>
      <p:sp>
        <p:nvSpPr>
          <p:cNvPr id="9" name="Text 6"/>
          <p:cNvSpPr txBox="1"/>
          <p:nvPr/>
        </p:nvSpPr>
        <p:spPr>
          <a:xfrm>
            <a:off x="1371600" y="2377440"/>
            <a:ext cx="7040880" cy="548640"/>
          </a:xfrm>
          <a:prstGeom prst="rect">
            <a:avLst/>
          </a:prstGeom>
          <a:noFill/>
          <a:ln/>
        </p:spPr>
        <p:txBody>
          <a:bodyPr wrap="square" lIns="0" tIns="0" rIns="0" bIns="0" rtlCol="0" anchor="t"/>
          <a:lstStyle/>
          <a:p>
            <a:pPr indent="0" marL="0">
              <a:buNone/>
            </a:pPr>
            <a:r>
              <a:rPr lang="en-US" sz="1300" i="1" dirty="0">
                <a:solidFill>
                  <a:srgbClr val="B91C1C"/>
                </a:solidFill>
                <a:latin typeface="Calibri" pitchFamily="34" charset="0"/>
                <a:ea typeface="Calibri" pitchFamily="34" charset="-122"/>
                <a:cs typeface="Calibri" pitchFamily="34" charset="-120"/>
              </a:rPr>
              <a:t>Somebody then spends an afternoon working out why; and the honest answer is that you added a limit and never decided what it should do.</a:t>
            </a:r>
            <a:endParaRPr lang="en-US" sz="1300" dirty="0"/>
          </a:p>
        </p:txBody>
      </p:sp>
      <p:sp>
        <p:nvSpPr>
          <p:cNvPr id="10" name="Shape 7"/>
          <p:cNvSpPr/>
          <p:nvPr/>
        </p:nvSpPr>
        <p:spPr>
          <a:xfrm>
            <a:off x="457200" y="3291840"/>
            <a:ext cx="8229600" cy="1188720"/>
          </a:xfrm>
          <a:prstGeom prst="roundRect">
            <a:avLst>
              <a:gd name="adj" fmla="val 6154"/>
            </a:avLst>
          </a:prstGeom>
          <a:solidFill>
            <a:srgbClr val="111827"/>
          </a:solidFill>
          <a:ln w="12700">
            <a:solidFill>
              <a:srgbClr val="111827"/>
            </a:solidFill>
            <a:prstDash val="solid"/>
          </a:ln>
        </p:spPr>
      </p:sp>
      <p:sp>
        <p:nvSpPr>
          <p:cNvPr id="11" name="Text 8"/>
          <p:cNvSpPr txBox="1"/>
          <p:nvPr/>
        </p:nvSpPr>
        <p:spPr>
          <a:xfrm>
            <a:off x="731520" y="3291840"/>
            <a:ext cx="7680960" cy="118872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Pick one of the three. On purpose. Before you ship it.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Write down which one you picked and why, because the next person will want to know.</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Kill Switch</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THE SWITCH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One setting, flipped by hand, in seconds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16</a:t>
            </a:r>
            <a:endParaRPr lang="en-US" sz="900" dirty="0"/>
          </a:p>
        </p:txBody>
      </p:sp>
      <p:sp>
        <p:nvSpPr>
          <p:cNvPr id="6" name="Text 4"/>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Not a code change. Not a deployment. One setting the agent checks, so flipping it takes effect within seconds.</a:t>
            </a:r>
            <a:endParaRPr lang="en-US" sz="1400" dirty="0"/>
          </a:p>
        </p:txBody>
      </p:sp>
      <p:sp>
        <p:nvSpPr>
          <p:cNvPr id="7" name="Shape 5"/>
          <p:cNvSpPr/>
          <p:nvPr/>
        </p:nvSpPr>
        <p:spPr>
          <a:xfrm>
            <a:off x="457200" y="1645920"/>
            <a:ext cx="2651760" cy="2286000"/>
          </a:xfrm>
          <a:prstGeom prst="roundRect">
            <a:avLst>
              <a:gd name="adj" fmla="val 3200"/>
            </a:avLst>
          </a:prstGeom>
          <a:solidFill>
            <a:srgbClr val="F3F4F6"/>
          </a:solidFill>
          <a:ln w="12700">
            <a:solidFill>
              <a:srgbClr val="F3F4F6"/>
            </a:solidFill>
            <a:prstDash val="solid"/>
          </a:ln>
        </p:spPr>
      </p:sp>
      <p:sp>
        <p:nvSpPr>
          <p:cNvPr id="8" name="Text 6"/>
          <p:cNvSpPr txBox="1"/>
          <p:nvPr/>
        </p:nvSpPr>
        <p:spPr>
          <a:xfrm>
            <a:off x="640080" y="1783080"/>
            <a:ext cx="22860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ONE SETTING</a:t>
            </a:r>
            <a:endParaRPr lang="en-US" sz="1000" dirty="0"/>
          </a:p>
        </p:txBody>
      </p:sp>
      <p:sp>
        <p:nvSpPr>
          <p:cNvPr id="9" name="Shape 7"/>
          <p:cNvSpPr/>
          <p:nvPr/>
        </p:nvSpPr>
        <p:spPr>
          <a:xfrm>
            <a:off x="685800" y="2148840"/>
            <a:ext cx="1097280" cy="457200"/>
          </a:xfrm>
          <a:prstGeom prst="roundRect">
            <a:avLst>
              <a:gd name="adj" fmla="val 50000"/>
            </a:avLst>
          </a:prstGeom>
          <a:solidFill>
            <a:srgbClr val="047857"/>
          </a:solidFill>
          <a:ln w="12700">
            <a:solidFill>
              <a:srgbClr val="047857"/>
            </a:solidFill>
            <a:prstDash val="solid"/>
          </a:ln>
        </p:spPr>
      </p:sp>
      <p:sp>
        <p:nvSpPr>
          <p:cNvPr id="10" name="Shape 8"/>
          <p:cNvSpPr/>
          <p:nvPr/>
        </p:nvSpPr>
        <p:spPr>
          <a:xfrm>
            <a:off x="1371600" y="2212848"/>
            <a:ext cx="329184" cy="329184"/>
          </a:xfrm>
          <a:prstGeom prst="ellipse">
            <a:avLst/>
          </a:prstGeom>
          <a:solidFill>
            <a:srgbClr val="FFFFFF"/>
          </a:solidFill>
          <a:ln w="12700">
            <a:solidFill>
              <a:srgbClr val="FFFFFF"/>
            </a:solidFill>
            <a:prstDash val="solid"/>
          </a:ln>
        </p:spPr>
      </p:sp>
      <p:sp>
        <p:nvSpPr>
          <p:cNvPr id="11" name="Text 9"/>
          <p:cNvSpPr txBox="1"/>
          <p:nvPr/>
        </p:nvSpPr>
        <p:spPr>
          <a:xfrm>
            <a:off x="1874520" y="2148840"/>
            <a:ext cx="1097280" cy="45720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ON</a:t>
            </a:r>
            <a:endParaRPr lang="en-US" sz="1300" dirty="0"/>
          </a:p>
        </p:txBody>
      </p:sp>
      <p:sp>
        <p:nvSpPr>
          <p:cNvPr id="12" name="Shape 10"/>
          <p:cNvSpPr/>
          <p:nvPr/>
        </p:nvSpPr>
        <p:spPr>
          <a:xfrm>
            <a:off x="685800" y="2834640"/>
            <a:ext cx="1097280" cy="457200"/>
          </a:xfrm>
          <a:prstGeom prst="roundRect">
            <a:avLst>
              <a:gd name="adj" fmla="val 50000"/>
            </a:avLst>
          </a:prstGeom>
          <a:solidFill>
            <a:srgbClr val="B91C1C"/>
          </a:solidFill>
          <a:ln w="12700">
            <a:solidFill>
              <a:srgbClr val="B91C1C"/>
            </a:solidFill>
            <a:prstDash val="solid"/>
          </a:ln>
        </p:spPr>
      </p:sp>
      <p:sp>
        <p:nvSpPr>
          <p:cNvPr id="13" name="Shape 11"/>
          <p:cNvSpPr/>
          <p:nvPr/>
        </p:nvSpPr>
        <p:spPr>
          <a:xfrm>
            <a:off x="749808" y="2898648"/>
            <a:ext cx="329184" cy="329184"/>
          </a:xfrm>
          <a:prstGeom prst="ellipse">
            <a:avLst/>
          </a:prstGeom>
          <a:solidFill>
            <a:srgbClr val="FFFFFF"/>
          </a:solidFill>
          <a:ln w="12700">
            <a:solidFill>
              <a:srgbClr val="FFFFFF"/>
            </a:solidFill>
            <a:prstDash val="solid"/>
          </a:ln>
        </p:spPr>
      </p:sp>
      <p:sp>
        <p:nvSpPr>
          <p:cNvPr id="14" name="Text 12"/>
          <p:cNvSpPr txBox="1"/>
          <p:nvPr/>
        </p:nvSpPr>
        <p:spPr>
          <a:xfrm>
            <a:off x="1874520" y="2834640"/>
            <a:ext cx="1097280" cy="45720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OFF</a:t>
            </a:r>
            <a:endParaRPr lang="en-US" sz="1300" dirty="0"/>
          </a:p>
        </p:txBody>
      </p:sp>
      <p:sp>
        <p:nvSpPr>
          <p:cNvPr id="15" name="Text 13"/>
          <p:cNvSpPr txBox="1"/>
          <p:nvPr/>
        </p:nvSpPr>
        <p:spPr>
          <a:xfrm>
            <a:off x="685800" y="3429000"/>
            <a:ext cx="2194560" cy="320040"/>
          </a:xfrm>
          <a:prstGeom prst="rect">
            <a:avLst/>
          </a:prstGeom>
          <a:noFill/>
          <a:ln/>
        </p:spPr>
        <p:txBody>
          <a:bodyPr wrap="square" lIns="0" tIns="0" rIns="0" bIns="0" rtlCol="0" anchor="t"/>
          <a:lstStyle/>
          <a:p>
            <a:pPr indent="0" marL="0">
              <a:buNone/>
            </a:pPr>
            <a:r>
              <a:rPr lang="en-US" sz="1200" i="1" dirty="0">
                <a:solidFill>
                  <a:srgbClr val="B45309"/>
                </a:solidFill>
                <a:latin typeface="Calibri" pitchFamily="34" charset="0"/>
                <a:ea typeface="Calibri" pitchFamily="34" charset="-122"/>
                <a:cs typeface="Calibri" pitchFamily="34" charset="-120"/>
              </a:rPr>
              <a:t>flip it</a:t>
            </a:r>
            <a:endParaRPr lang="en-US" sz="1200" dirty="0"/>
          </a:p>
        </p:txBody>
      </p:sp>
      <p:sp>
        <p:nvSpPr>
          <p:cNvPr id="16" name="Shape 14"/>
          <p:cNvSpPr/>
          <p:nvPr/>
        </p:nvSpPr>
        <p:spPr>
          <a:xfrm>
            <a:off x="3383280" y="1645920"/>
            <a:ext cx="5303520" cy="2286000"/>
          </a:xfrm>
          <a:prstGeom prst="roundRect">
            <a:avLst>
              <a:gd name="adj" fmla="val 3200"/>
            </a:avLst>
          </a:prstGeom>
          <a:solidFill>
            <a:srgbClr val="F3F4F6"/>
          </a:solidFill>
          <a:ln w="12700">
            <a:solidFill>
              <a:srgbClr val="F3F4F6"/>
            </a:solidFill>
            <a:prstDash val="solid"/>
          </a:ln>
        </p:spPr>
      </p:sp>
      <p:sp>
        <p:nvSpPr>
          <p:cNvPr id="17" name="Text 15"/>
          <p:cNvSpPr txBox="1"/>
          <p:nvPr/>
        </p:nvSpPr>
        <p:spPr>
          <a:xfrm>
            <a:off x="3611880" y="1783080"/>
            <a:ext cx="484632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HAPPENS IMMEDIATELY</a:t>
            </a:r>
            <a:endParaRPr lang="en-US" sz="1000" dirty="0"/>
          </a:p>
        </p:txBody>
      </p:sp>
      <p:sp>
        <p:nvSpPr>
          <p:cNvPr id="18" name="Text 16"/>
          <p:cNvSpPr txBox="1"/>
          <p:nvPr/>
        </p:nvSpPr>
        <p:spPr>
          <a:xfrm>
            <a:off x="3611880" y="2148840"/>
            <a:ext cx="210312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New work</a:t>
            </a:r>
            <a:endParaRPr lang="en-US" sz="1400" dirty="0"/>
          </a:p>
        </p:txBody>
      </p:sp>
      <p:sp>
        <p:nvSpPr>
          <p:cNvPr id="19" name="Text 17"/>
          <p:cNvSpPr txBox="1"/>
          <p:nvPr/>
        </p:nvSpPr>
        <p:spPr>
          <a:xfrm>
            <a:off x="5760720" y="2148840"/>
            <a:ext cx="274320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is refused, politely</a:t>
            </a:r>
            <a:endParaRPr lang="en-US" sz="1400" dirty="0"/>
          </a:p>
        </p:txBody>
      </p:sp>
      <p:sp>
        <p:nvSpPr>
          <p:cNvPr id="20" name="Text 18"/>
          <p:cNvSpPr txBox="1"/>
          <p:nvPr/>
        </p:nvSpPr>
        <p:spPr>
          <a:xfrm>
            <a:off x="3611880" y="2697480"/>
            <a:ext cx="210312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Work already running</a:t>
            </a:r>
            <a:endParaRPr lang="en-US" sz="1400" dirty="0"/>
          </a:p>
        </p:txBody>
      </p:sp>
      <p:sp>
        <p:nvSpPr>
          <p:cNvPr id="21" name="Text 19"/>
          <p:cNvSpPr txBox="1"/>
          <p:nvPr/>
        </p:nvSpPr>
        <p:spPr>
          <a:xfrm>
            <a:off x="5760720" y="2697480"/>
            <a:ext cx="274320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is allowed to finish</a:t>
            </a:r>
            <a:endParaRPr lang="en-US" sz="1400" dirty="0"/>
          </a:p>
        </p:txBody>
      </p:sp>
      <p:sp>
        <p:nvSpPr>
          <p:cNvPr id="22" name="Text 20"/>
          <p:cNvSpPr txBox="1"/>
          <p:nvPr/>
        </p:nvSpPr>
        <p:spPr>
          <a:xfrm>
            <a:off x="3611880" y="3246120"/>
            <a:ext cx="210312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Nothing</a:t>
            </a:r>
            <a:endParaRPr lang="en-US" sz="1400" dirty="0"/>
          </a:p>
        </p:txBody>
      </p:sp>
      <p:sp>
        <p:nvSpPr>
          <p:cNvPr id="23" name="Text 21"/>
          <p:cNvSpPr txBox="1"/>
          <p:nvPr/>
        </p:nvSpPr>
        <p:spPr>
          <a:xfrm>
            <a:off x="5760720" y="3246120"/>
            <a:ext cx="274320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needs redeploying</a:t>
            </a:r>
            <a:endParaRPr lang="en-US" sz="1400" dirty="0"/>
          </a:p>
        </p:txBody>
      </p:sp>
      <p:sp>
        <p:nvSpPr>
          <p:cNvPr id="24" name="Shape 22"/>
          <p:cNvSpPr/>
          <p:nvPr/>
        </p:nvSpPr>
        <p:spPr>
          <a:xfrm>
            <a:off x="457200" y="4114800"/>
            <a:ext cx="8229600" cy="594360"/>
          </a:xfrm>
          <a:prstGeom prst="roundRect">
            <a:avLst>
              <a:gd name="adj" fmla="val 12308"/>
            </a:avLst>
          </a:prstGeom>
          <a:solidFill>
            <a:srgbClr val="111827"/>
          </a:solidFill>
          <a:ln w="12700">
            <a:solidFill>
              <a:srgbClr val="111827"/>
            </a:solidFill>
            <a:prstDash val="solid"/>
          </a:ln>
        </p:spPr>
      </p:sp>
      <p:sp>
        <p:nvSpPr>
          <p:cNvPr id="25" name="Text 23"/>
          <p:cNvSpPr txBox="1"/>
          <p:nvPr/>
        </p:nvSpPr>
        <p:spPr>
          <a:xfrm>
            <a:off x="457200" y="4114800"/>
            <a:ext cx="8229600" cy="59436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Someone with no context can turn it off and ask questions afterwards. That is the point.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THE SWITCH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Let running work finish; it is called draining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457200" y="1234440"/>
            <a:ext cx="4023360" cy="2011680"/>
          </a:xfrm>
          <a:prstGeom prst="roundRect">
            <a:avLst>
              <a:gd name="adj" fmla="val 3636"/>
            </a:avLst>
          </a:prstGeom>
          <a:solidFill>
            <a:srgbClr val="FEF2F2"/>
          </a:solidFill>
          <a:ln w="12700">
            <a:solidFill>
              <a:srgbClr val="FEF2F2"/>
            </a:solidFill>
            <a:prstDash val="solid"/>
          </a:ln>
        </p:spPr>
      </p:sp>
      <p:sp>
        <p:nvSpPr>
          <p:cNvPr id="7" name="Text 5"/>
          <p:cNvSpPr txBox="1"/>
          <p:nvPr/>
        </p:nvSpPr>
        <p:spPr>
          <a:xfrm>
            <a:off x="685800" y="137160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KILL EVERYTHING AT ONCE</a:t>
            </a:r>
            <a:endParaRPr lang="en-US" sz="1000" dirty="0"/>
          </a:p>
        </p:txBody>
      </p:sp>
      <p:sp>
        <p:nvSpPr>
          <p:cNvPr id="8" name="Text 6"/>
          <p:cNvSpPr txBox="1"/>
          <p:nvPr/>
        </p:nvSpPr>
        <p:spPr>
          <a:xfrm>
            <a:off x="685800" y="1737360"/>
            <a:ext cx="356616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Nine runs were ninety percent done. You paid for all of that work and threw every bit of it away; you pay for it again when you restart.</a:t>
            </a:r>
            <a:endParaRPr lang="en-US" sz="1400" dirty="0"/>
          </a:p>
        </p:txBody>
      </p:sp>
      <p:sp>
        <p:nvSpPr>
          <p:cNvPr id="9" name="Shape 7"/>
          <p:cNvSpPr/>
          <p:nvPr/>
        </p:nvSpPr>
        <p:spPr>
          <a:xfrm>
            <a:off x="4663440" y="1234440"/>
            <a:ext cx="4023360" cy="2011680"/>
          </a:xfrm>
          <a:prstGeom prst="roundRect">
            <a:avLst>
              <a:gd name="adj" fmla="val 3636"/>
            </a:avLst>
          </a:prstGeom>
          <a:solidFill>
            <a:srgbClr val="ECFDF5"/>
          </a:solidFill>
          <a:ln w="12700">
            <a:solidFill>
              <a:srgbClr val="ECFDF5"/>
            </a:solidFill>
            <a:prstDash val="solid"/>
          </a:ln>
        </p:spPr>
      </p:sp>
      <p:sp>
        <p:nvSpPr>
          <p:cNvPr id="10" name="Text 8"/>
          <p:cNvSpPr txBox="1"/>
          <p:nvPr/>
        </p:nvSpPr>
        <p:spPr>
          <a:xfrm>
            <a:off x="4892040" y="137160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DRAIN INSTEAD</a:t>
            </a:r>
            <a:endParaRPr lang="en-US" sz="1000" dirty="0"/>
          </a:p>
        </p:txBody>
      </p:sp>
      <p:sp>
        <p:nvSpPr>
          <p:cNvPr id="11" name="Text 9"/>
          <p:cNvSpPr txBox="1"/>
          <p:nvPr/>
        </p:nvSpPr>
        <p:spPr>
          <a:xfrm>
            <a:off x="4892040" y="1737360"/>
            <a:ext cx="356616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Stop taking new work, let the nine finish. It costs you the last ten percent, and the bleeding stops either way.</a:t>
            </a:r>
            <a:endParaRPr lang="en-US" sz="1400" dirty="0"/>
          </a:p>
        </p:txBody>
      </p:sp>
      <p:sp>
        <p:nvSpPr>
          <p:cNvPr id="12" name="Shape 10"/>
          <p:cNvSpPr/>
          <p:nvPr/>
        </p:nvSpPr>
        <p:spPr>
          <a:xfrm>
            <a:off x="457200" y="3474720"/>
            <a:ext cx="8229600" cy="1188720"/>
          </a:xfrm>
          <a:prstGeom prst="roundRect">
            <a:avLst>
              <a:gd name="adj" fmla="val 6154"/>
            </a:avLst>
          </a:prstGeom>
          <a:solidFill>
            <a:srgbClr val="111827"/>
          </a:solidFill>
          <a:ln w="12700">
            <a:solidFill>
              <a:srgbClr val="111827"/>
            </a:solidFill>
            <a:prstDash val="solid"/>
          </a:ln>
        </p:spPr>
      </p:sp>
      <p:pic>
        <p:nvPicPr>
          <p:cNvPr id="13" name="Image 0" descr="preencoded.png">    </p:cNvPr>
          <p:cNvPicPr>
            <a:picLocks noChangeAspect="1"/>
          </p:cNvPicPr>
          <p:nvPr/>
        </p:nvPicPr>
        <p:blipFill>
          <a:blip r:embed="rId1"/>
          <a:stretch>
            <a:fillRect/>
          </a:stretch>
        </p:blipFill>
        <p:spPr>
          <a:xfrm>
            <a:off x="777240" y="3840480"/>
            <a:ext cx="411480" cy="411480"/>
          </a:xfrm>
          <a:prstGeom prst="rect">
            <a:avLst/>
          </a:prstGeom>
        </p:spPr>
      </p:pic>
      <p:sp>
        <p:nvSpPr>
          <p:cNvPr id="14" name="Text 11"/>
          <p:cNvSpPr txBox="1"/>
          <p:nvPr/>
        </p:nvSpPr>
        <p:spPr>
          <a:xfrm>
            <a:off x="1417320" y="3474720"/>
            <a:ext cx="6949440" cy="11887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 kill switch you have never tested is not a kill switch. </a:t>
            </a:r>
            <a:pPr indent="0" marL="0">
              <a:buNone/>
            </a:pPr>
            <a:r>
              <a:rPr lang="en-US" sz="1400" dirty="0">
                <a:solidFill>
                  <a:srgbClr val="FFFFFF"/>
                </a:solidFill>
                <a:latin typeface="Calibri" pitchFamily="34" charset="0"/>
                <a:ea typeface="Calibri" pitchFamily="34" charset="-122"/>
                <a:cs typeface="Calibri" pitchFamily="34" charset="-120"/>
              </a:rPr>
              <a:t>It is a hope. The first time you flip it must not be during an actual incident; we test it in section five, deliberately, while everything is calm.</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Fire Drill</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FIRE DRILL</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tests, today, while nothing is wrong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457200" y="1234440"/>
            <a:ext cx="8229600" cy="731520"/>
          </a:xfrm>
          <a:prstGeom prst="roundRect">
            <a:avLst>
              <a:gd name="adj" fmla="val 10000"/>
            </a:avLst>
          </a:prstGeom>
          <a:solidFill>
            <a:srgbClr val="F3F4F6"/>
          </a:solidFill>
          <a:ln w="12700">
            <a:solidFill>
              <a:srgbClr val="F3F4F6"/>
            </a:solidFill>
            <a:prstDash val="solid"/>
          </a:ln>
        </p:spPr>
      </p:sp>
      <p:sp>
        <p:nvSpPr>
          <p:cNvPr id="7" name="Text 5"/>
          <p:cNvSpPr txBox="1"/>
          <p:nvPr/>
        </p:nvSpPr>
        <p:spPr>
          <a:xfrm>
            <a:off x="685800" y="1234440"/>
            <a:ext cx="411480" cy="73152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1</a:t>
            </a:r>
            <a:endParaRPr lang="en-US" sz="2400" dirty="0"/>
          </a:p>
        </p:txBody>
      </p:sp>
      <p:sp>
        <p:nvSpPr>
          <p:cNvPr id="8" name="Text 6"/>
          <p:cNvSpPr txBox="1"/>
          <p:nvPr/>
        </p:nvSpPr>
        <p:spPr>
          <a:xfrm>
            <a:off x="1188720" y="1234440"/>
            <a:ext cx="2651760" cy="73152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Spend past the run cap</a:t>
            </a:r>
            <a:endParaRPr lang="en-US" sz="1400" dirty="0"/>
          </a:p>
        </p:txBody>
      </p:sp>
      <p:sp>
        <p:nvSpPr>
          <p:cNvPr id="9" name="Text 7"/>
          <p:cNvSpPr txBox="1"/>
          <p:nvPr/>
        </p:nvSpPr>
        <p:spPr>
          <a:xfrm>
            <a:off x="3931920" y="1234440"/>
            <a:ext cx="2377440" cy="7315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Set the cap very low, run one normal task.</a:t>
            </a:r>
            <a:endParaRPr lang="en-US" sz="1150" dirty="0"/>
          </a:p>
        </p:txBody>
      </p:sp>
      <p:sp>
        <p:nvSpPr>
          <p:cNvPr id="10" name="Text 8"/>
          <p:cNvSpPr txBox="1"/>
          <p:nvPr/>
        </p:nvSpPr>
        <p:spPr>
          <a:xfrm>
            <a:off x="6400800" y="1234440"/>
            <a:ext cx="2103120" cy="731520"/>
          </a:xfrm>
          <a:prstGeom prst="rect">
            <a:avLst/>
          </a:prstGeom>
          <a:noFill/>
          <a:ln/>
        </p:spPr>
        <p:txBody>
          <a:bodyPr wrap="square" lIns="0" tIns="0" rIns="0" bIns="0" rtlCol="0" anchor="ctr"/>
          <a:lstStyle/>
          <a:p>
            <a:pPr indent="0" marL="0">
              <a:buNone/>
            </a:pPr>
            <a:r>
              <a:rPr lang="en-US" sz="1150" b="1" dirty="0">
                <a:solidFill>
                  <a:srgbClr val="047857"/>
                </a:solidFill>
                <a:latin typeface="Calibri" pitchFamily="34" charset="0"/>
                <a:ea typeface="Calibri" pitchFamily="34" charset="-122"/>
                <a:cs typeface="Calibri" pitchFamily="34" charset="-120"/>
              </a:rPr>
              <a:t>It stops, says why, and does not crash.</a:t>
            </a:r>
            <a:endParaRPr lang="en-US" sz="1150" dirty="0"/>
          </a:p>
        </p:txBody>
      </p:sp>
      <p:sp>
        <p:nvSpPr>
          <p:cNvPr id="11" name="Shape 9"/>
          <p:cNvSpPr/>
          <p:nvPr/>
        </p:nvSpPr>
        <p:spPr>
          <a:xfrm>
            <a:off x="457200" y="2075688"/>
            <a:ext cx="8229600" cy="731520"/>
          </a:xfrm>
          <a:prstGeom prst="roundRect">
            <a:avLst>
              <a:gd name="adj" fmla="val 10000"/>
            </a:avLst>
          </a:prstGeom>
          <a:solidFill>
            <a:srgbClr val="F3F4F6"/>
          </a:solidFill>
          <a:ln w="12700">
            <a:solidFill>
              <a:srgbClr val="F3F4F6"/>
            </a:solidFill>
            <a:prstDash val="solid"/>
          </a:ln>
        </p:spPr>
      </p:sp>
      <p:sp>
        <p:nvSpPr>
          <p:cNvPr id="12" name="Text 10"/>
          <p:cNvSpPr txBox="1"/>
          <p:nvPr/>
        </p:nvSpPr>
        <p:spPr>
          <a:xfrm>
            <a:off x="685800" y="2075688"/>
            <a:ext cx="411480" cy="73152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2</a:t>
            </a:r>
            <a:endParaRPr lang="en-US" sz="2400" dirty="0"/>
          </a:p>
        </p:txBody>
      </p:sp>
      <p:sp>
        <p:nvSpPr>
          <p:cNvPr id="13" name="Text 11"/>
          <p:cNvSpPr txBox="1"/>
          <p:nvPr/>
        </p:nvSpPr>
        <p:spPr>
          <a:xfrm>
            <a:off x="1188720" y="2075688"/>
            <a:ext cx="2651760" cy="73152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Spend past the day cap</a:t>
            </a:r>
            <a:endParaRPr lang="en-US" sz="1400" dirty="0"/>
          </a:p>
        </p:txBody>
      </p:sp>
      <p:sp>
        <p:nvSpPr>
          <p:cNvPr id="14" name="Text 12"/>
          <p:cNvSpPr txBox="1"/>
          <p:nvPr/>
        </p:nvSpPr>
        <p:spPr>
          <a:xfrm>
            <a:off x="3931920" y="2075688"/>
            <a:ext cx="2377440" cy="7315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Run enough tasks to exhaust the daily budget.</a:t>
            </a:r>
            <a:endParaRPr lang="en-US" sz="1150" dirty="0"/>
          </a:p>
        </p:txBody>
      </p:sp>
      <p:sp>
        <p:nvSpPr>
          <p:cNvPr id="15" name="Text 13"/>
          <p:cNvSpPr txBox="1"/>
          <p:nvPr/>
        </p:nvSpPr>
        <p:spPr>
          <a:xfrm>
            <a:off x="6400800" y="2075688"/>
            <a:ext cx="2103120" cy="731520"/>
          </a:xfrm>
          <a:prstGeom prst="rect">
            <a:avLst/>
          </a:prstGeom>
          <a:noFill/>
          <a:ln/>
        </p:spPr>
        <p:txBody>
          <a:bodyPr wrap="square" lIns="0" tIns="0" rIns="0" bIns="0" rtlCol="0" anchor="ctr"/>
          <a:lstStyle/>
          <a:p>
            <a:pPr indent="0" marL="0">
              <a:buNone/>
            </a:pPr>
            <a:r>
              <a:rPr lang="en-US" sz="1150" b="1" dirty="0">
                <a:solidFill>
                  <a:srgbClr val="047857"/>
                </a:solidFill>
                <a:latin typeface="Calibri" pitchFamily="34" charset="0"/>
                <a:ea typeface="Calibri" pitchFamily="34" charset="-122"/>
                <a:cs typeface="Calibri" pitchFamily="34" charset="-120"/>
              </a:rPr>
              <a:t>The next task is refused clearly, not queued silently.</a:t>
            </a:r>
            <a:endParaRPr lang="en-US" sz="1150" dirty="0"/>
          </a:p>
        </p:txBody>
      </p:sp>
      <p:sp>
        <p:nvSpPr>
          <p:cNvPr id="16" name="Shape 14"/>
          <p:cNvSpPr/>
          <p:nvPr/>
        </p:nvSpPr>
        <p:spPr>
          <a:xfrm>
            <a:off x="457200" y="2916936"/>
            <a:ext cx="8229600" cy="731520"/>
          </a:xfrm>
          <a:prstGeom prst="roundRect">
            <a:avLst>
              <a:gd name="adj" fmla="val 10000"/>
            </a:avLst>
          </a:prstGeom>
          <a:solidFill>
            <a:srgbClr val="F3F4F6"/>
          </a:solidFill>
          <a:ln w="12700">
            <a:solidFill>
              <a:srgbClr val="F3F4F6"/>
            </a:solidFill>
            <a:prstDash val="solid"/>
          </a:ln>
        </p:spPr>
      </p:sp>
      <p:sp>
        <p:nvSpPr>
          <p:cNvPr id="17" name="Text 15"/>
          <p:cNvSpPr txBox="1"/>
          <p:nvPr/>
        </p:nvSpPr>
        <p:spPr>
          <a:xfrm>
            <a:off x="685800" y="2916936"/>
            <a:ext cx="411480" cy="73152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3</a:t>
            </a:r>
            <a:endParaRPr lang="en-US" sz="2400" dirty="0"/>
          </a:p>
        </p:txBody>
      </p:sp>
      <p:sp>
        <p:nvSpPr>
          <p:cNvPr id="18" name="Text 16"/>
          <p:cNvSpPr txBox="1"/>
          <p:nvPr/>
        </p:nvSpPr>
        <p:spPr>
          <a:xfrm>
            <a:off x="1188720" y="2916936"/>
            <a:ext cx="2651760" cy="73152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Flip the switch mid-run</a:t>
            </a:r>
            <a:endParaRPr lang="en-US" sz="1400" dirty="0"/>
          </a:p>
        </p:txBody>
      </p:sp>
      <p:sp>
        <p:nvSpPr>
          <p:cNvPr id="19" name="Text 17"/>
          <p:cNvSpPr txBox="1"/>
          <p:nvPr/>
        </p:nvSpPr>
        <p:spPr>
          <a:xfrm>
            <a:off x="3931920" y="2916936"/>
            <a:ext cx="2377440" cy="7315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Turn it off while several tasks are in flight.</a:t>
            </a:r>
            <a:endParaRPr lang="en-US" sz="1150" dirty="0"/>
          </a:p>
        </p:txBody>
      </p:sp>
      <p:sp>
        <p:nvSpPr>
          <p:cNvPr id="20" name="Text 18"/>
          <p:cNvSpPr txBox="1"/>
          <p:nvPr/>
        </p:nvSpPr>
        <p:spPr>
          <a:xfrm>
            <a:off x="6400800" y="2916936"/>
            <a:ext cx="2103120" cy="731520"/>
          </a:xfrm>
          <a:prstGeom prst="rect">
            <a:avLst/>
          </a:prstGeom>
          <a:noFill/>
          <a:ln/>
        </p:spPr>
        <p:txBody>
          <a:bodyPr wrap="square" lIns="0" tIns="0" rIns="0" bIns="0" rtlCol="0" anchor="ctr"/>
          <a:lstStyle/>
          <a:p>
            <a:pPr indent="0" marL="0">
              <a:buNone/>
            </a:pPr>
            <a:r>
              <a:rPr lang="en-US" sz="1150" b="1" dirty="0">
                <a:solidFill>
                  <a:srgbClr val="047857"/>
                </a:solidFill>
                <a:latin typeface="Calibri" pitchFamily="34" charset="0"/>
                <a:ea typeface="Calibri" pitchFamily="34" charset="-122"/>
                <a:cs typeface="Calibri" pitchFamily="34" charset="-120"/>
              </a:rPr>
              <a:t>Running work finishes; new work is refused.</a:t>
            </a:r>
            <a:endParaRPr lang="en-US" sz="1150" dirty="0"/>
          </a:p>
        </p:txBody>
      </p:sp>
      <p:sp>
        <p:nvSpPr>
          <p:cNvPr id="21" name="Shape 19"/>
          <p:cNvSpPr/>
          <p:nvPr/>
        </p:nvSpPr>
        <p:spPr>
          <a:xfrm>
            <a:off x="457200" y="3758184"/>
            <a:ext cx="8229600" cy="731520"/>
          </a:xfrm>
          <a:prstGeom prst="roundRect">
            <a:avLst>
              <a:gd name="adj" fmla="val 10000"/>
            </a:avLst>
          </a:prstGeom>
          <a:solidFill>
            <a:srgbClr val="111827"/>
          </a:solidFill>
          <a:ln w="12700">
            <a:solidFill>
              <a:srgbClr val="111827"/>
            </a:solidFill>
            <a:prstDash val="solid"/>
          </a:ln>
        </p:spPr>
      </p:sp>
      <p:sp>
        <p:nvSpPr>
          <p:cNvPr id="22" name="Text 20"/>
          <p:cNvSpPr txBox="1"/>
          <p:nvPr/>
        </p:nvSpPr>
        <p:spPr>
          <a:xfrm>
            <a:off x="685800" y="3758184"/>
            <a:ext cx="411480" cy="731520"/>
          </a:xfrm>
          <a:prstGeom prst="rect">
            <a:avLst/>
          </a:prstGeom>
          <a:noFill/>
          <a:ln/>
        </p:spPr>
        <p:txBody>
          <a:bodyPr wrap="square" lIns="0" tIns="0" rIns="0" bIns="0" rtlCol="0" anchor="ctr"/>
          <a:lstStyle/>
          <a:p>
            <a:pPr indent="0" marL="0">
              <a:buNone/>
            </a:pPr>
            <a:r>
              <a:rPr lang="en-US" sz="2400" b="1" dirty="0">
                <a:solidFill>
                  <a:srgbClr val="F59E0B"/>
                </a:solidFill>
                <a:latin typeface="Cambria" pitchFamily="34" charset="0"/>
                <a:ea typeface="Cambria" pitchFamily="34" charset="-122"/>
                <a:cs typeface="Cambria" pitchFamily="34" charset="-120"/>
              </a:rPr>
              <a:t>4</a:t>
            </a:r>
            <a:endParaRPr lang="en-US" sz="2400" dirty="0"/>
          </a:p>
        </p:txBody>
      </p:sp>
      <p:sp>
        <p:nvSpPr>
          <p:cNvPr id="23" name="Text 21"/>
          <p:cNvSpPr txBox="1"/>
          <p:nvPr/>
        </p:nvSpPr>
        <p:spPr>
          <a:xfrm>
            <a:off x="1188720" y="3758184"/>
            <a:ext cx="265176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Run the runaway, capped</a:t>
            </a:r>
            <a:endParaRPr lang="en-US" sz="1400" dirty="0"/>
          </a:p>
        </p:txBody>
      </p:sp>
      <p:sp>
        <p:nvSpPr>
          <p:cNvPr id="24" name="Text 22"/>
          <p:cNvSpPr txBox="1"/>
          <p:nvPr/>
        </p:nvSpPr>
        <p:spPr>
          <a:xfrm>
            <a:off x="3931920" y="3758184"/>
            <a:ext cx="2377440" cy="731520"/>
          </a:xfrm>
          <a:prstGeom prst="rect">
            <a:avLst/>
          </a:prstGeom>
          <a:noFill/>
          <a:ln/>
        </p:spPr>
        <p:txBody>
          <a:bodyPr wrap="square" lIns="0" tIns="0" rIns="0" bIns="0" rtlCol="0" anchor="ctr"/>
          <a:lstStyle/>
          <a:p>
            <a:pPr indent="0" marL="0">
              <a:buNone/>
            </a:pPr>
            <a:r>
              <a:rPr lang="en-US" sz="1150" dirty="0">
                <a:solidFill>
                  <a:srgbClr val="9CA3AF"/>
                </a:solidFill>
                <a:latin typeface="Calibri" pitchFamily="34" charset="0"/>
                <a:ea typeface="Calibri" pitchFamily="34" charset="-122"/>
                <a:cs typeface="Calibri" pitchFamily="34" charset="-120"/>
              </a:rPr>
              <a:t>The malformed input from module one.</a:t>
            </a:r>
            <a:endParaRPr lang="en-US" sz="1150" dirty="0"/>
          </a:p>
        </p:txBody>
      </p:sp>
      <p:sp>
        <p:nvSpPr>
          <p:cNvPr id="25" name="Text 23"/>
          <p:cNvSpPr txBox="1"/>
          <p:nvPr/>
        </p:nvSpPr>
        <p:spPr>
          <a:xfrm>
            <a:off x="6400800" y="3758184"/>
            <a:ext cx="2103120" cy="731520"/>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It stops in seconds instead of hours.</a:t>
            </a:r>
            <a:endParaRPr lang="en-US" sz="1150" dirty="0"/>
          </a:p>
        </p:txBody>
      </p:sp>
      <p:sp>
        <p:nvSpPr>
          <p:cNvPr id="26" name="Text 24"/>
          <p:cNvSpPr txBox="1"/>
          <p:nvPr/>
        </p:nvSpPr>
        <p:spPr>
          <a:xfrm>
            <a:off x="457200" y="4572000"/>
            <a:ext cx="822960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Write down what actually happened in each test, not what you expected.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05 · FIRE DRILL</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3</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5" name="Text 3"/>
          <p:cNvSpPr txBox="1"/>
          <p:nvPr/>
        </p:nvSpPr>
        <p:spPr>
          <a:xfrm>
            <a:off x="457200" y="1097280"/>
            <a:ext cx="7955280" cy="45720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Same input. Same agent. Same model.</a:t>
            </a:r>
            <a:endParaRPr lang="en-US" sz="1800" dirty="0"/>
          </a:p>
        </p:txBody>
      </p:sp>
      <p:sp>
        <p:nvSpPr>
          <p:cNvPr id="6" name="Text 4"/>
          <p:cNvSpPr txBox="1"/>
          <p:nvPr/>
        </p:nvSpPr>
        <p:spPr>
          <a:xfrm>
            <a:off x="457200" y="1645920"/>
            <a:ext cx="8229600" cy="82296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It stops in seconds.</a:t>
            </a:r>
            <a:endParaRPr lang="en-US" sz="4200" dirty="0"/>
          </a:p>
        </p:txBody>
      </p:sp>
      <p:sp>
        <p:nvSpPr>
          <p:cNvPr id="7" name="Text 5"/>
          <p:cNvSpPr txBox="1"/>
          <p:nvPr/>
        </p:nvSpPr>
        <p:spPr>
          <a:xfrm>
            <a:off x="457200" y="2651760"/>
            <a:ext cx="7772400" cy="1005840"/>
          </a:xfrm>
          <a:prstGeom prst="rect">
            <a:avLst/>
          </a:prstGeom>
          <a:noFill/>
          <a:ln/>
        </p:spPr>
        <p:txBody>
          <a:bodyPr wrap="square" lIns="0" tIns="0" rIns="0" bIns="0" rtlCol="0" anchor="t"/>
          <a:lstStyle/>
          <a:p>
            <a:pPr indent="0" marL="0">
              <a:buNone/>
            </a:pPr>
            <a:r>
              <a:rPr lang="en-US" sz="1600" dirty="0">
                <a:solidFill>
                  <a:srgbClr val="9CA3AF"/>
                </a:solidFill>
                <a:latin typeface="Calibri" pitchFamily="34" charset="0"/>
                <a:ea typeface="Calibri" pitchFamily="34" charset="-122"/>
                <a:cs typeface="Calibri" pitchFamily="34" charset="-120"/>
              </a:rPr>
              <a:t>In module one it was a number that made you uncomfortable. Now it stops by itself, immediately, and tells you why. That is the whole course working, in front of you, in about ten seconds.</a:t>
            </a:r>
            <a:endParaRPr lang="en-US" sz="1600" dirty="0"/>
          </a:p>
        </p:txBody>
      </p:sp>
      <p:sp>
        <p:nvSpPr>
          <p:cNvPr id="8" name="Text 6"/>
          <p:cNvSpPr txBox="1"/>
          <p:nvPr/>
        </p:nvSpPr>
        <p:spPr>
          <a:xfrm>
            <a:off x="457200" y="3794760"/>
            <a:ext cx="7772400" cy="457200"/>
          </a:xfrm>
          <a:prstGeom prst="rect">
            <a:avLst/>
          </a:prstGeom>
          <a:noFill/>
          <a:ln/>
        </p:spPr>
        <p:txBody>
          <a:bodyPr wrap="square" lIns="0" tIns="0" rIns="0" bIns="0" rtlCol="0" anchor="t"/>
          <a:lstStyle/>
          <a:p>
            <a:pPr indent="0" marL="0">
              <a:buNone/>
            </a:pPr>
            <a:r>
              <a:rPr lang="en-US" sz="1400" i="1" dirty="0">
                <a:solidFill>
                  <a:srgbClr val="F59E0B"/>
                </a:solidFill>
                <a:latin typeface="Calibri" pitchFamily="34" charset="0"/>
                <a:ea typeface="Calibri" pitchFamily="34" charset="-122"/>
                <a:cs typeface="Calibri" pitchFamily="34" charset="-120"/>
              </a:rPr>
              <a:t>Record it. It is the best thing you can show someone when you explain why this work mattered.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Build It: Caps That Actually Fire</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~10 min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Five stages; run after every one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457200" y="1280160"/>
            <a:ext cx="2606040" cy="1280160"/>
          </a:xfrm>
          <a:prstGeom prst="roundRect">
            <a:avLst>
              <a:gd name="adj" fmla="val 5714"/>
            </a:avLst>
          </a:prstGeom>
          <a:solidFill>
            <a:srgbClr val="F3F4F6"/>
          </a:solidFill>
          <a:ln w="12700">
            <a:solidFill>
              <a:srgbClr val="F3F4F6"/>
            </a:solidFill>
            <a:prstDash val="solid"/>
          </a:ln>
        </p:spPr>
      </p:sp>
      <p:sp>
        <p:nvSpPr>
          <p:cNvPr id="7" name="Text 5"/>
          <p:cNvSpPr txBox="1"/>
          <p:nvPr/>
        </p:nvSpPr>
        <p:spPr>
          <a:xfrm>
            <a:off x="65836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1</a:t>
            </a:r>
            <a:endParaRPr lang="en-US" sz="900" dirty="0"/>
          </a:p>
        </p:txBody>
      </p:sp>
      <p:sp>
        <p:nvSpPr>
          <p:cNvPr id="8" name="Text 6"/>
          <p:cNvSpPr txBox="1"/>
          <p:nvPr/>
        </p:nvSpPr>
        <p:spPr>
          <a:xfrm>
            <a:off x="658368" y="164592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per-run cap</a:t>
            </a:r>
            <a:endParaRPr lang="en-US" sz="1500" dirty="0"/>
          </a:p>
        </p:txBody>
      </p:sp>
      <p:sp>
        <p:nvSpPr>
          <p:cNvPr id="9" name="Text 7"/>
          <p:cNvSpPr txBox="1"/>
          <p:nvPr/>
        </p:nvSpPr>
        <p:spPr>
          <a:xfrm>
            <a:off x="65836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 running total inside the envelope, checked before each call.</a:t>
            </a:r>
            <a:endParaRPr lang="en-US" sz="1100" dirty="0"/>
          </a:p>
        </p:txBody>
      </p:sp>
      <p:sp>
        <p:nvSpPr>
          <p:cNvPr id="10" name="Shape 8"/>
          <p:cNvSpPr/>
          <p:nvPr/>
        </p:nvSpPr>
        <p:spPr>
          <a:xfrm>
            <a:off x="3246120" y="1280160"/>
            <a:ext cx="2606040" cy="1280160"/>
          </a:xfrm>
          <a:prstGeom prst="roundRect">
            <a:avLst>
              <a:gd name="adj" fmla="val 5714"/>
            </a:avLst>
          </a:prstGeom>
          <a:solidFill>
            <a:srgbClr val="F3F4F6"/>
          </a:solidFill>
          <a:ln w="12700">
            <a:solidFill>
              <a:srgbClr val="F3F4F6"/>
            </a:solidFill>
            <a:prstDash val="solid"/>
          </a:ln>
        </p:spPr>
      </p:sp>
      <p:sp>
        <p:nvSpPr>
          <p:cNvPr id="11" name="Text 9"/>
          <p:cNvSpPr txBox="1"/>
          <p:nvPr/>
        </p:nvSpPr>
        <p:spPr>
          <a:xfrm>
            <a:off x="344728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2</a:t>
            </a:r>
            <a:endParaRPr lang="en-US" sz="900" dirty="0"/>
          </a:p>
        </p:txBody>
      </p:sp>
      <p:sp>
        <p:nvSpPr>
          <p:cNvPr id="12" name="Text 10"/>
          <p:cNvSpPr txBox="1"/>
          <p:nvPr/>
        </p:nvSpPr>
        <p:spPr>
          <a:xfrm>
            <a:off x="3447288" y="164592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Decide what happens</a:t>
            </a:r>
            <a:endParaRPr lang="en-US" sz="1500" dirty="0"/>
          </a:p>
        </p:txBody>
      </p:sp>
      <p:sp>
        <p:nvSpPr>
          <p:cNvPr id="13" name="Text 11"/>
          <p:cNvSpPr txBox="1"/>
          <p:nvPr/>
        </p:nvSpPr>
        <p:spPr>
          <a:xfrm>
            <a:off x="344728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Catch the exception and do what you chose in section 3.</a:t>
            </a:r>
            <a:endParaRPr lang="en-US" sz="1100" dirty="0"/>
          </a:p>
        </p:txBody>
      </p:sp>
      <p:sp>
        <p:nvSpPr>
          <p:cNvPr id="14" name="Shape 12"/>
          <p:cNvSpPr/>
          <p:nvPr/>
        </p:nvSpPr>
        <p:spPr>
          <a:xfrm>
            <a:off x="6035040" y="1280160"/>
            <a:ext cx="2606040" cy="1280160"/>
          </a:xfrm>
          <a:prstGeom prst="roundRect">
            <a:avLst>
              <a:gd name="adj" fmla="val 5714"/>
            </a:avLst>
          </a:prstGeom>
          <a:solidFill>
            <a:srgbClr val="F3F4F6"/>
          </a:solidFill>
          <a:ln w="12700">
            <a:solidFill>
              <a:srgbClr val="F3F4F6"/>
            </a:solidFill>
            <a:prstDash val="solid"/>
          </a:ln>
        </p:spPr>
      </p:sp>
      <p:sp>
        <p:nvSpPr>
          <p:cNvPr id="15" name="Text 13"/>
          <p:cNvSpPr txBox="1"/>
          <p:nvPr/>
        </p:nvSpPr>
        <p:spPr>
          <a:xfrm>
            <a:off x="623620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3</a:t>
            </a:r>
            <a:endParaRPr lang="en-US" sz="900" dirty="0"/>
          </a:p>
        </p:txBody>
      </p:sp>
      <p:sp>
        <p:nvSpPr>
          <p:cNvPr id="16" name="Text 14"/>
          <p:cNvSpPr txBox="1"/>
          <p:nvPr/>
        </p:nvSpPr>
        <p:spPr>
          <a:xfrm>
            <a:off x="6236208" y="164592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daily cap</a:t>
            </a:r>
            <a:endParaRPr lang="en-US" sz="1500" dirty="0"/>
          </a:p>
        </p:txBody>
      </p:sp>
      <p:sp>
        <p:nvSpPr>
          <p:cNvPr id="17" name="Text 15"/>
          <p:cNvSpPr txBox="1"/>
          <p:nvPr/>
        </p:nvSpPr>
        <p:spPr>
          <a:xfrm>
            <a:off x="623620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 total that survives between runs, checked before any work.</a:t>
            </a:r>
            <a:endParaRPr lang="en-US" sz="1100" dirty="0"/>
          </a:p>
        </p:txBody>
      </p:sp>
      <p:sp>
        <p:nvSpPr>
          <p:cNvPr id="18" name="Shape 16"/>
          <p:cNvSpPr/>
          <p:nvPr/>
        </p:nvSpPr>
        <p:spPr>
          <a:xfrm>
            <a:off x="457200" y="2743200"/>
            <a:ext cx="2606040" cy="1280160"/>
          </a:xfrm>
          <a:prstGeom prst="roundRect">
            <a:avLst>
              <a:gd name="adj" fmla="val 5714"/>
            </a:avLst>
          </a:prstGeom>
          <a:solidFill>
            <a:srgbClr val="F3F4F6"/>
          </a:solidFill>
          <a:ln w="12700">
            <a:solidFill>
              <a:srgbClr val="F3F4F6"/>
            </a:solidFill>
            <a:prstDash val="solid"/>
          </a:ln>
        </p:spPr>
      </p:sp>
      <p:sp>
        <p:nvSpPr>
          <p:cNvPr id="19" name="Text 17"/>
          <p:cNvSpPr txBox="1"/>
          <p:nvPr/>
        </p:nvSpPr>
        <p:spPr>
          <a:xfrm>
            <a:off x="658368" y="286207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4</a:t>
            </a:r>
            <a:endParaRPr lang="en-US" sz="900" dirty="0"/>
          </a:p>
        </p:txBody>
      </p:sp>
      <p:sp>
        <p:nvSpPr>
          <p:cNvPr id="20" name="Text 18"/>
          <p:cNvSpPr txBox="1"/>
          <p:nvPr/>
        </p:nvSpPr>
        <p:spPr>
          <a:xfrm>
            <a:off x="658368" y="310896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Cap the runaway</a:t>
            </a:r>
            <a:endParaRPr lang="en-US" sz="1500" dirty="0"/>
          </a:p>
        </p:txBody>
      </p:sp>
      <p:sp>
        <p:nvSpPr>
          <p:cNvPr id="21" name="Text 19"/>
          <p:cNvSpPr txBox="1"/>
          <p:nvPr/>
        </p:nvSpPr>
        <p:spPr>
          <a:xfrm>
            <a:off x="658368" y="343814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The malformed input from module one, with caps on.</a:t>
            </a:r>
            <a:endParaRPr lang="en-US" sz="1100" dirty="0"/>
          </a:p>
        </p:txBody>
      </p:sp>
      <p:sp>
        <p:nvSpPr>
          <p:cNvPr id="22" name="Shape 20"/>
          <p:cNvSpPr/>
          <p:nvPr/>
        </p:nvSpPr>
        <p:spPr>
          <a:xfrm>
            <a:off x="3246120" y="2743200"/>
            <a:ext cx="2606040" cy="1280160"/>
          </a:xfrm>
          <a:prstGeom prst="roundRect">
            <a:avLst>
              <a:gd name="adj" fmla="val 5714"/>
            </a:avLst>
          </a:prstGeom>
          <a:solidFill>
            <a:srgbClr val="F3F4F6"/>
          </a:solidFill>
          <a:ln w="12700">
            <a:solidFill>
              <a:srgbClr val="F3F4F6"/>
            </a:solidFill>
            <a:prstDash val="solid"/>
          </a:ln>
        </p:spPr>
      </p:sp>
      <p:sp>
        <p:nvSpPr>
          <p:cNvPr id="23" name="Text 21"/>
          <p:cNvSpPr txBox="1"/>
          <p:nvPr/>
        </p:nvSpPr>
        <p:spPr>
          <a:xfrm>
            <a:off x="3447288" y="286207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5</a:t>
            </a:r>
            <a:endParaRPr lang="en-US" sz="900" dirty="0"/>
          </a:p>
        </p:txBody>
      </p:sp>
      <p:sp>
        <p:nvSpPr>
          <p:cNvPr id="24" name="Text 22"/>
          <p:cNvSpPr txBox="1"/>
          <p:nvPr/>
        </p:nvSpPr>
        <p:spPr>
          <a:xfrm>
            <a:off x="3447288" y="310896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kill switch</a:t>
            </a:r>
            <a:endParaRPr lang="en-US" sz="1500" dirty="0"/>
          </a:p>
        </p:txBody>
      </p:sp>
      <p:sp>
        <p:nvSpPr>
          <p:cNvPr id="25" name="Text 23"/>
          <p:cNvSpPr txBox="1"/>
          <p:nvPr/>
        </p:nvSpPr>
        <p:spPr>
          <a:xfrm>
            <a:off x="3447288" y="343814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One setting checked before starting any new run.</a:t>
            </a:r>
            <a:endParaRPr lang="en-US" sz="1100" dirty="0"/>
          </a:p>
        </p:txBody>
      </p:sp>
      <p:sp>
        <p:nvSpPr>
          <p:cNvPr id="26" name="Shape 24"/>
          <p:cNvSpPr/>
          <p:nvPr/>
        </p:nvSpPr>
        <p:spPr>
          <a:xfrm>
            <a:off x="6035040" y="2743200"/>
            <a:ext cx="2606040" cy="1280160"/>
          </a:xfrm>
          <a:prstGeom prst="roundRect">
            <a:avLst>
              <a:gd name="adj" fmla="val 5714"/>
            </a:avLst>
          </a:prstGeom>
          <a:solidFill>
            <a:srgbClr val="111827"/>
          </a:solidFill>
          <a:ln w="12700">
            <a:solidFill>
              <a:srgbClr val="111827"/>
            </a:solidFill>
            <a:prstDash val="solid"/>
          </a:ln>
        </p:spPr>
      </p:sp>
      <p:sp>
        <p:nvSpPr>
          <p:cNvPr id="27" name="Text 25"/>
          <p:cNvSpPr txBox="1"/>
          <p:nvPr/>
        </p:nvSpPr>
        <p:spPr>
          <a:xfrm>
            <a:off x="6217920" y="2743200"/>
            <a:ext cx="2286000" cy="12801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Everything goes in the envelope. We are still not touching the agent's own logic.</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1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per-run cap</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23</a:t>
            </a:r>
            <a:endParaRPr lang="en-US" sz="900" dirty="0"/>
          </a:p>
        </p:txBody>
      </p:sp>
      <p:sp>
        <p:nvSpPr>
          <p:cNvPr id="6" name="Text 4"/>
          <p:cNvSpPr txBox="1"/>
          <p:nvPr/>
        </p:nvSpPr>
        <p:spPr>
          <a:xfrm>
            <a:off x="457200" y="1188720"/>
            <a:ext cx="8229600" cy="7772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In your envelope, keep a running total of what this run has spent. Before each model call, check it against a limit. If the run is already over, raise a clear named exception; call it something like BudgetExceeded rather than a generic error.</a:t>
            </a:r>
            <a:endParaRPr lang="en-US" sz="1400" dirty="0"/>
          </a:p>
        </p:txBody>
      </p:sp>
      <p:sp>
        <p:nvSpPr>
          <p:cNvPr id="7" name="Shape 5"/>
          <p:cNvSpPr/>
          <p:nvPr/>
        </p:nvSpPr>
        <p:spPr>
          <a:xfrm>
            <a:off x="365760" y="210312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103120"/>
            <a:ext cx="8092440" cy="868680"/>
          </a:xfrm>
          <a:prstGeom prst="rect">
            <a:avLst/>
          </a:prstGeom>
          <a:noFill/>
          <a:ln/>
        </p:spPr>
        <p:txBody>
          <a:bodyPr wrap="square" lIns="0" tIns="0" rIns="0" bIns="0" rtlCol="0" anchor="ctr"/>
          <a:lstStyle/>
          <a:p>
            <a:pPr indent="0" marL="0">
              <a:buNone/>
            </a:pPr>
            <a:r>
              <a:rPr lang="en-US" sz="1476" b="1" dirty="0">
                <a:solidFill>
                  <a:srgbClr val="F59E0B"/>
                </a:solidFill>
                <a:latin typeface="Courier New" pitchFamily="34" charset="0"/>
                <a:ea typeface="Courier New" pitchFamily="34" charset="-122"/>
                <a:cs typeface="Courier New" pitchFamily="34" charset="-120"/>
              </a:rPr>
              <a:t>$ </a:t>
            </a:r>
            <a:pPr indent="0" marL="0">
              <a:buNone/>
            </a:pPr>
            <a:r>
              <a:rPr lang="en-US" sz="1476" dirty="0">
                <a:solidFill>
                  <a:srgbClr val="E8EAED"/>
                </a:solidFill>
                <a:latin typeface="Courier New" pitchFamily="34" charset="0"/>
                <a:ea typeface="Courier New" pitchFamily="34" charset="-122"/>
                <a:cs typeface="Courier New" pitchFamily="34" charset="-120"/>
              </a:rPr>
              <a:t>RUN_BUDGET_USD=0.02 python3 run_agent.py --input samples/normal.json</a:t>
            </a:r>
            <a:endParaRPr lang="en-US" sz="1476" dirty="0"/>
          </a:p>
        </p:txBody>
      </p:sp>
      <p:sp>
        <p:nvSpPr>
          <p:cNvPr id="9" name="Shape 7"/>
          <p:cNvSpPr/>
          <p:nvPr/>
        </p:nvSpPr>
        <p:spPr>
          <a:xfrm>
            <a:off x="457200" y="3200400"/>
            <a:ext cx="8229600" cy="1143000"/>
          </a:xfrm>
          <a:prstGeom prst="roundRect">
            <a:avLst>
              <a:gd name="adj" fmla="val 6400"/>
            </a:avLst>
          </a:prstGeom>
          <a:solidFill>
            <a:srgbClr val="FEF3C7"/>
          </a:solidFill>
          <a:ln w="12700">
            <a:solidFill>
              <a:srgbClr val="FEF3C7"/>
            </a:solidFill>
            <a:prstDash val="solid"/>
          </a:ln>
        </p:spPr>
      </p:sp>
      <p:sp>
        <p:nvSpPr>
          <p:cNvPr id="10" name="Text 8"/>
          <p:cNvSpPr txBox="1"/>
          <p:nvPr/>
        </p:nvSpPr>
        <p:spPr>
          <a:xfrm>
            <a:off x="731520" y="3200400"/>
            <a:ext cx="7680960" cy="114300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Two cents is deliberately too low, so a normal task trips it. </a:t>
            </a:r>
            <a:pPr indent="0" marL="0">
              <a:buNone/>
            </a:pPr>
            <a:r>
              <a:rPr lang="en-US" sz="1400" dirty="0">
                <a:solidFill>
                  <a:srgbClr val="1F2937"/>
                </a:solidFill>
                <a:latin typeface="Calibri" pitchFamily="34" charset="0"/>
                <a:ea typeface="Calibri" pitchFamily="34" charset="-122"/>
                <a:cs typeface="Calibri" pitchFamily="34" charset="-120"/>
              </a:rPr>
              <a:t>Read your own message as if you were someone else finding it in a log: does it say what happened and what to do? If not, rewrite it now.</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2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Decide what happens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24</a:t>
            </a:r>
            <a:endParaRPr lang="en-US" sz="900" dirty="0"/>
          </a:p>
        </p:txBody>
      </p:sp>
      <p:sp>
        <p:nvSpPr>
          <p:cNvPr id="6" name="Text 4"/>
          <p:cNvSpPr txBox="1"/>
          <p:nvPr/>
        </p:nvSpPr>
        <p:spPr>
          <a:xfrm>
            <a:off x="457200" y="1188720"/>
            <a:ext cx="8229600" cy="7772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Right now it just raises an exception. Catch it at the top of your agent and implement the behaviour you chose in section three. For most learners, stop is the right first choice: return a clear result saying the task could not be completed because the budget was reached.</a:t>
            </a:r>
            <a:endParaRPr lang="en-US" sz="1400" dirty="0"/>
          </a:p>
        </p:txBody>
      </p:sp>
      <p:sp>
        <p:nvSpPr>
          <p:cNvPr id="7" name="Shape 5"/>
          <p:cNvSpPr/>
          <p:nvPr/>
        </p:nvSpPr>
        <p:spPr>
          <a:xfrm>
            <a:off x="365760" y="210312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103120"/>
            <a:ext cx="8092440" cy="868680"/>
          </a:xfrm>
          <a:prstGeom prst="rect">
            <a:avLst/>
          </a:prstGeom>
          <a:noFill/>
          <a:ln/>
        </p:spPr>
        <p:txBody>
          <a:bodyPr wrap="square" lIns="0" tIns="0" rIns="0" bIns="0" rtlCol="0" anchor="ctr"/>
          <a:lstStyle/>
          <a:p>
            <a:pPr indent="0" marL="0">
              <a:buNone/>
            </a:pPr>
            <a:r>
              <a:rPr lang="en-US" sz="1476" b="1" dirty="0">
                <a:solidFill>
                  <a:srgbClr val="F59E0B"/>
                </a:solidFill>
                <a:latin typeface="Courier New" pitchFamily="34" charset="0"/>
                <a:ea typeface="Courier New" pitchFamily="34" charset="-122"/>
                <a:cs typeface="Courier New" pitchFamily="34" charset="-120"/>
              </a:rPr>
              <a:t>$ </a:t>
            </a:r>
            <a:pPr indent="0" marL="0">
              <a:buNone/>
            </a:pPr>
            <a:r>
              <a:rPr lang="en-US" sz="1476" dirty="0">
                <a:solidFill>
                  <a:srgbClr val="E8EAED"/>
                </a:solidFill>
                <a:latin typeface="Courier New" pitchFamily="34" charset="0"/>
                <a:ea typeface="Courier New" pitchFamily="34" charset="-122"/>
                <a:cs typeface="Courier New" pitchFamily="34" charset="-120"/>
              </a:rPr>
              <a:t>RUN_BUDGET_USD=0.02 python3 run_agent.py --input samples/normal.json</a:t>
            </a:r>
            <a:endParaRPr lang="en-US" sz="1476" dirty="0"/>
          </a:p>
        </p:txBody>
      </p:sp>
      <p:sp>
        <p:nvSpPr>
          <p:cNvPr id="9" name="Shape 7"/>
          <p:cNvSpPr/>
          <p:nvPr/>
        </p:nvSpPr>
        <p:spPr>
          <a:xfrm>
            <a:off x="457200" y="3200400"/>
            <a:ext cx="8229600" cy="1143000"/>
          </a:xfrm>
          <a:prstGeom prst="roundRect">
            <a:avLst>
              <a:gd name="adj" fmla="val 6400"/>
            </a:avLst>
          </a:prstGeom>
          <a:solidFill>
            <a:srgbClr val="ECFDF5"/>
          </a:solidFill>
          <a:ln w="12700">
            <a:solidFill>
              <a:srgbClr val="ECFDF5"/>
            </a:solidFill>
            <a:prstDash val="solid"/>
          </a:ln>
        </p:spPr>
      </p:sp>
      <p:sp>
        <p:nvSpPr>
          <p:cNvPr id="10" name="Text 8"/>
          <p:cNvSpPr txBox="1"/>
          <p:nvPr/>
        </p:nvSpPr>
        <p:spPr>
          <a:xfrm>
            <a:off x="731520" y="3200400"/>
            <a:ext cx="7680960" cy="1143000"/>
          </a:xfrm>
          <a:prstGeom prst="rect">
            <a:avLst/>
          </a:prstGeom>
          <a:noFill/>
          <a:ln/>
        </p:spPr>
        <p:txBody>
          <a:bodyPr wrap="square" lIns="0" tIns="0" rIns="0" bIns="0"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Same trip, but now it is a controlled stop with a proper result. </a:t>
            </a:r>
            <a:pPr indent="0" marL="0">
              <a:buNone/>
            </a:pPr>
            <a:r>
              <a:rPr lang="en-US" sz="1400" dirty="0">
                <a:solidFill>
                  <a:srgbClr val="1F2937"/>
                </a:solidFill>
                <a:latin typeface="Calibri" pitchFamily="34" charset="0"/>
                <a:ea typeface="Calibri" pitchFamily="34" charset="-122"/>
                <a:cs typeface="Calibri" pitchFamily="34" charset="-120"/>
              </a:rPr>
              <a:t>That difference is the whole of section three, in code.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3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daily cap</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25</a:t>
            </a:r>
            <a:endParaRPr lang="en-US" sz="900" dirty="0"/>
          </a:p>
        </p:txBody>
      </p:sp>
      <p:sp>
        <p:nvSpPr>
          <p:cNvPr id="6" name="Text 4"/>
          <p:cNvSpPr txBox="1"/>
          <p:nvPr/>
        </p:nvSpPr>
        <p:spPr>
          <a:xfrm>
            <a:off x="457200" y="1188720"/>
            <a:ext cx="8229600" cy="7772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This one needs memory that survives between runs, because a single run does not know what happened earlier today. Use a small file, or Redis if you already have it. Before starting a run, read today's total; if it is over the limit, refuse before doing any work at all.</a:t>
            </a:r>
            <a:endParaRPr lang="en-US" sz="1400" dirty="0"/>
          </a:p>
        </p:txBody>
      </p:sp>
      <p:sp>
        <p:nvSpPr>
          <p:cNvPr id="7" name="Shape 5"/>
          <p:cNvSpPr/>
          <p:nvPr/>
        </p:nvSpPr>
        <p:spPr>
          <a:xfrm>
            <a:off x="365760" y="210312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103120"/>
            <a:ext cx="8092440" cy="868680"/>
          </a:xfrm>
          <a:prstGeom prst="rect">
            <a:avLst/>
          </a:prstGeom>
          <a:noFill/>
          <a:ln/>
        </p:spPr>
        <p:txBody>
          <a:bodyPr wrap="square" lIns="0" tIns="0" rIns="0" bIns="0" rtlCol="0" anchor="ctr"/>
          <a:lstStyle/>
          <a:p>
            <a:pPr indent="0" marL="0">
              <a:buNone/>
            </a:pPr>
            <a:r>
              <a:rPr lang="en-US" sz="1435" b="1" dirty="0">
                <a:solidFill>
                  <a:srgbClr val="F59E0B"/>
                </a:solidFill>
                <a:latin typeface="Courier New" pitchFamily="34" charset="0"/>
                <a:ea typeface="Courier New" pitchFamily="34" charset="-122"/>
                <a:cs typeface="Courier New" pitchFamily="34" charset="-120"/>
              </a:rPr>
              <a:t>$ </a:t>
            </a:r>
            <a:pPr indent="0" marL="0">
              <a:buNone/>
            </a:pPr>
            <a:r>
              <a:rPr lang="en-US" sz="1435" dirty="0">
                <a:solidFill>
                  <a:srgbClr val="E8EAED"/>
                </a:solidFill>
                <a:latin typeface="Courier New" pitchFamily="34" charset="0"/>
                <a:ea typeface="Courier New" pitchFamily="34" charset="-122"/>
                <a:cs typeface="Courier New" pitchFamily="34" charset="-120"/>
              </a:rPr>
              <a:t>DAILY_BUDGET_USD=0.10 python3 run_agent.py --input samples/normal.json</a:t>
            </a:r>
            <a:endParaRPr lang="en-US" sz="1435" dirty="0"/>
          </a:p>
        </p:txBody>
      </p:sp>
      <p:sp>
        <p:nvSpPr>
          <p:cNvPr id="9" name="Shape 7"/>
          <p:cNvSpPr/>
          <p:nvPr/>
        </p:nvSpPr>
        <p:spPr>
          <a:xfrm>
            <a:off x="457200" y="3200400"/>
            <a:ext cx="8229600" cy="1143000"/>
          </a:xfrm>
          <a:prstGeom prst="roundRect">
            <a:avLst>
              <a:gd name="adj" fmla="val 6400"/>
            </a:avLst>
          </a:prstGeom>
          <a:solidFill>
            <a:srgbClr val="F3F4F6"/>
          </a:solidFill>
          <a:ln w="12700">
            <a:solidFill>
              <a:srgbClr val="F3F4F6"/>
            </a:solidFill>
            <a:prstDash val="solid"/>
          </a:ln>
        </p:spPr>
      </p:sp>
      <p:sp>
        <p:nvSpPr>
          <p:cNvPr id="10" name="Text 8"/>
          <p:cNvSpPr txBox="1"/>
          <p:nvPr/>
        </p:nvSpPr>
        <p:spPr>
          <a:xfrm>
            <a:off x="731520" y="3200400"/>
            <a:ext cx="7680960" cy="11430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Run that four or five times in a row. </a:t>
            </a:r>
            <a:pPr indent="0" marL="0">
              <a:buNone/>
            </a:pPr>
            <a:r>
              <a:rPr lang="en-US" sz="1400" dirty="0">
                <a:solidFill>
                  <a:srgbClr val="1F2937"/>
                </a:solidFill>
                <a:latin typeface="Calibri" pitchFamily="34" charset="0"/>
                <a:ea typeface="Calibri" pitchFamily="34" charset="-122"/>
                <a:cs typeface="Calibri" pitchFamily="34" charset="-120"/>
              </a:rPr>
              <a:t>The first few should work. Then one should be refused before it makes a single model call, which is the point: refusing early costs nothing.</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4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Cap the runaway; this is the one to watch</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26</a:t>
            </a:r>
            <a:endParaRPr lang="en-US" sz="900" dirty="0"/>
          </a:p>
        </p:txBody>
      </p:sp>
      <p:sp>
        <p:nvSpPr>
          <p:cNvPr id="6" name="Text 4"/>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Run the malformed input, capped. Keep the timeout on as a backstop, but it should not be needed.</a:t>
            </a:r>
            <a:endParaRPr lang="en-US" sz="1400" dirty="0"/>
          </a:p>
        </p:txBody>
      </p:sp>
      <p:sp>
        <p:nvSpPr>
          <p:cNvPr id="7" name="Shape 5"/>
          <p:cNvSpPr/>
          <p:nvPr/>
        </p:nvSpPr>
        <p:spPr>
          <a:xfrm>
            <a:off x="365760" y="173736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737360"/>
            <a:ext cx="8092440" cy="868680"/>
          </a:xfrm>
          <a:prstGeom prst="rect">
            <a:avLst/>
          </a:prstGeom>
          <a:noFill/>
          <a:ln/>
        </p:spPr>
        <p:txBody>
          <a:bodyPr wrap="square" lIns="0" tIns="0" rIns="0" bIns="0" rtlCol="0" anchor="ctr"/>
          <a:lstStyle/>
          <a:p>
            <a:pPr indent="0" marL="0">
              <a:buNone/>
            </a:pPr>
            <a:r>
              <a:rPr lang="en-US" sz="1216" b="1" dirty="0">
                <a:solidFill>
                  <a:srgbClr val="F59E0B"/>
                </a:solidFill>
                <a:latin typeface="Courier New" pitchFamily="34" charset="0"/>
                <a:ea typeface="Courier New" pitchFamily="34" charset="-122"/>
                <a:cs typeface="Courier New" pitchFamily="34" charset="-120"/>
              </a:rPr>
              <a:t>$ </a:t>
            </a:r>
            <a:pPr indent="0" marL="0">
              <a:buNone/>
            </a:pPr>
            <a:r>
              <a:rPr lang="en-US" sz="1216" dirty="0">
                <a:solidFill>
                  <a:srgbClr val="E8EAED"/>
                </a:solidFill>
                <a:latin typeface="Courier New" pitchFamily="34" charset="0"/>
                <a:ea typeface="Courier New" pitchFamily="34" charset="-122"/>
                <a:cs typeface="Courier New" pitchFamily="34" charset="-120"/>
              </a:rPr>
              <a:t>RUN_BUDGET_USD=0.50 timeout 120 python3 run_agent.py --input samples/malformed.json</a:t>
            </a:r>
            <a:endParaRPr lang="en-US" sz="1216" dirty="0"/>
          </a:p>
        </p:txBody>
      </p:sp>
      <p:sp>
        <p:nvSpPr>
          <p:cNvPr id="9" name="Shape 7"/>
          <p:cNvSpPr/>
          <p:nvPr/>
        </p:nvSpPr>
        <p:spPr>
          <a:xfrm>
            <a:off x="457200" y="2834640"/>
            <a:ext cx="8229600" cy="1554480"/>
          </a:xfrm>
          <a:prstGeom prst="roundRect">
            <a:avLst>
              <a:gd name="adj" fmla="val 4706"/>
            </a:avLst>
          </a:prstGeom>
          <a:solidFill>
            <a:srgbClr val="111827"/>
          </a:solidFill>
          <a:ln w="12700">
            <a:solidFill>
              <a:srgbClr val="111827"/>
            </a:solidFill>
            <a:prstDash val="solid"/>
          </a:ln>
        </p:spPr>
      </p:sp>
      <p:sp>
        <p:nvSpPr>
          <p:cNvPr id="10" name="Text 8"/>
          <p:cNvSpPr txBox="1"/>
          <p:nvPr/>
        </p:nvSpPr>
        <p:spPr>
          <a:xfrm>
            <a:off x="731520" y="2834640"/>
            <a:ext cx="7680960" cy="155448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It stopped. By itself, in seconds, at a cost you chose in advance.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Compare that with the number you extrapolated in module one and sit with the difference for a moment; that gap is what you built.</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5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kill switch</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27</a:t>
            </a:r>
            <a:endParaRPr lang="en-US" sz="900" dirty="0"/>
          </a:p>
        </p:txBody>
      </p:sp>
      <p:sp>
        <p:nvSpPr>
          <p:cNvPr id="6" name="Text 4"/>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Add a setting the envelope checks before starting any new run; an environment variable is fine to start with. If it is off, refuse new work immediately, but let anything already running continue to completion.</a:t>
            </a:r>
            <a:endParaRPr lang="en-US" sz="1400" dirty="0"/>
          </a:p>
        </p:txBody>
      </p:sp>
      <p:sp>
        <p:nvSpPr>
          <p:cNvPr id="7" name="Shape 5"/>
          <p:cNvSpPr/>
          <p:nvPr/>
        </p:nvSpPr>
        <p:spPr>
          <a:xfrm>
            <a:off x="365760" y="196596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965960"/>
            <a:ext cx="8092440" cy="868680"/>
          </a:xfrm>
          <a:prstGeom prst="rect">
            <a:avLst/>
          </a:prstGeom>
          <a:noFill/>
          <a:ln/>
        </p:spPr>
        <p:txBody>
          <a:bodyPr wrap="square" lIns="0" tIns="0" rIns="0" bIns="0" rtlCol="0" anchor="ctr"/>
          <a:lstStyle/>
          <a:p>
            <a:pPr indent="0" marL="0">
              <a:buNone/>
            </a:pPr>
            <a:r>
              <a:rPr lang="en-US" sz="1476" b="1" dirty="0">
                <a:solidFill>
                  <a:srgbClr val="F59E0B"/>
                </a:solidFill>
                <a:latin typeface="Courier New" pitchFamily="34" charset="0"/>
                <a:ea typeface="Courier New" pitchFamily="34" charset="-122"/>
                <a:cs typeface="Courier New" pitchFamily="34" charset="-120"/>
              </a:rPr>
              <a:t>$ </a:t>
            </a:r>
            <a:pPr indent="0" marL="0">
              <a:buNone/>
            </a:pPr>
            <a:r>
              <a:rPr lang="en-US" sz="1476" dirty="0">
                <a:solidFill>
                  <a:srgbClr val="E8EAED"/>
                </a:solidFill>
                <a:latin typeface="Courier New" pitchFamily="34" charset="0"/>
                <a:ea typeface="Courier New" pitchFamily="34" charset="-122"/>
                <a:cs typeface="Courier New" pitchFamily="34" charset="-120"/>
              </a:rPr>
              <a:t>AGENT_ENABLED=false python3 run_agent.py --input samples/normal.json</a:t>
            </a:r>
            <a:endParaRPr lang="en-US" sz="1476" dirty="0"/>
          </a:p>
        </p:txBody>
      </p:sp>
      <p:sp>
        <p:nvSpPr>
          <p:cNvPr id="9" name="Shape 7"/>
          <p:cNvSpPr/>
          <p:nvPr/>
        </p:nvSpPr>
        <p:spPr>
          <a:xfrm>
            <a:off x="457200" y="3063240"/>
            <a:ext cx="4023360" cy="1280160"/>
          </a:xfrm>
          <a:prstGeom prst="roundRect">
            <a:avLst>
              <a:gd name="adj" fmla="val 5714"/>
            </a:avLst>
          </a:prstGeom>
          <a:solidFill>
            <a:srgbClr val="ECFDF5"/>
          </a:solidFill>
          <a:ln w="12700">
            <a:solidFill>
              <a:srgbClr val="ECFDF5"/>
            </a:solidFill>
            <a:prstDash val="solid"/>
          </a:ln>
        </p:spPr>
      </p:sp>
      <p:sp>
        <p:nvSpPr>
          <p:cNvPr id="10" name="Text 8"/>
          <p:cNvSpPr txBox="1"/>
          <p:nvPr/>
        </p:nvSpPr>
        <p:spPr>
          <a:xfrm>
            <a:off x="685800" y="3063240"/>
            <a:ext cx="3566160" cy="128016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Refused instantly, with a clear message, having spent nothing.</a:t>
            </a:r>
            <a:endParaRPr lang="en-US" sz="1350" dirty="0"/>
          </a:p>
        </p:txBody>
      </p:sp>
      <p:sp>
        <p:nvSpPr>
          <p:cNvPr id="11" name="Shape 9"/>
          <p:cNvSpPr/>
          <p:nvPr/>
        </p:nvSpPr>
        <p:spPr>
          <a:xfrm>
            <a:off x="4663440" y="3063240"/>
            <a:ext cx="4023360" cy="1280160"/>
          </a:xfrm>
          <a:prstGeom prst="roundRect">
            <a:avLst>
              <a:gd name="adj" fmla="val 5714"/>
            </a:avLst>
          </a:prstGeom>
          <a:solidFill>
            <a:srgbClr val="F3F4F6"/>
          </a:solidFill>
          <a:ln w="12700">
            <a:solidFill>
              <a:srgbClr val="F3F4F6"/>
            </a:solidFill>
            <a:prstDash val="solid"/>
          </a:ln>
        </p:spPr>
      </p:sp>
      <p:sp>
        <p:nvSpPr>
          <p:cNvPr id="12" name="Text 10"/>
          <p:cNvSpPr txBox="1"/>
          <p:nvPr/>
        </p:nvSpPr>
        <p:spPr>
          <a:xfrm>
            <a:off x="4892040" y="3063240"/>
            <a:ext cx="3566160" cy="128016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Now start several runs in the background, flip the setting while they are in flight, and confirm the running ones finish while new ones are refused. That is draining, tested.</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RECAP</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biggest change in the course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457200" y="1325880"/>
            <a:ext cx="4023360" cy="1280160"/>
          </a:xfrm>
          <a:prstGeom prst="roundRect">
            <a:avLst>
              <a:gd name="adj" fmla="val 5714"/>
            </a:avLst>
          </a:prstGeom>
          <a:solidFill>
            <a:srgbClr val="F3F4F6"/>
          </a:solidFill>
          <a:ln w="12700">
            <a:solidFill>
              <a:srgbClr val="F3F4F6"/>
            </a:solidFill>
            <a:prstDash val="solid"/>
          </a:ln>
        </p:spPr>
      </p:sp>
      <p:sp>
        <p:nvSpPr>
          <p:cNvPr id="7" name="Shape 5"/>
          <p:cNvSpPr/>
          <p:nvPr/>
        </p:nvSpPr>
        <p:spPr>
          <a:xfrm>
            <a:off x="685800" y="1554480"/>
            <a:ext cx="411480" cy="411480"/>
          </a:xfrm>
          <a:prstGeom prst="ellipse">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776326" y="1645006"/>
            <a:ext cx="230429" cy="230429"/>
          </a:xfrm>
          <a:prstGeom prst="rect">
            <a:avLst/>
          </a:prstGeom>
        </p:spPr>
      </p:pic>
      <p:sp>
        <p:nvSpPr>
          <p:cNvPr id="9" name="Text 6"/>
          <p:cNvSpPr txBox="1"/>
          <p:nvPr/>
        </p:nvSpPr>
        <p:spPr>
          <a:xfrm>
            <a:off x="1280160" y="152704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limit on one task</a:t>
            </a:r>
            <a:endParaRPr lang="en-US" sz="1500" dirty="0"/>
          </a:p>
        </p:txBody>
      </p:sp>
      <p:sp>
        <p:nvSpPr>
          <p:cNvPr id="10" name="Text 7"/>
          <p:cNvSpPr txBox="1"/>
          <p:nvPr/>
        </p:nvSpPr>
        <p:spPr>
          <a:xfrm>
            <a:off x="1280160" y="187452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Your per-run cap stops a single runaway before it becomes a number.</a:t>
            </a:r>
            <a:endParaRPr lang="en-US" sz="1200" dirty="0"/>
          </a:p>
        </p:txBody>
      </p:sp>
      <p:sp>
        <p:nvSpPr>
          <p:cNvPr id="11" name="Shape 8"/>
          <p:cNvSpPr/>
          <p:nvPr/>
        </p:nvSpPr>
        <p:spPr>
          <a:xfrm>
            <a:off x="4663440" y="1325880"/>
            <a:ext cx="4023360" cy="1280160"/>
          </a:xfrm>
          <a:prstGeom prst="roundRect">
            <a:avLst>
              <a:gd name="adj" fmla="val 5714"/>
            </a:avLst>
          </a:prstGeom>
          <a:solidFill>
            <a:srgbClr val="F3F4F6"/>
          </a:solidFill>
          <a:ln w="12700">
            <a:solidFill>
              <a:srgbClr val="F3F4F6"/>
            </a:solidFill>
            <a:prstDash val="solid"/>
          </a:ln>
        </p:spPr>
      </p:sp>
      <p:sp>
        <p:nvSpPr>
          <p:cNvPr id="12" name="Shape 9"/>
          <p:cNvSpPr/>
          <p:nvPr/>
        </p:nvSpPr>
        <p:spPr>
          <a:xfrm>
            <a:off x="4892040" y="1554480"/>
            <a:ext cx="411480" cy="411480"/>
          </a:xfrm>
          <a:prstGeom prst="ellipse">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4982566" y="1645006"/>
            <a:ext cx="230429" cy="230429"/>
          </a:xfrm>
          <a:prstGeom prst="rect">
            <a:avLst/>
          </a:prstGeom>
        </p:spPr>
      </p:pic>
      <p:sp>
        <p:nvSpPr>
          <p:cNvPr id="14" name="Text 10"/>
          <p:cNvSpPr txBox="1"/>
          <p:nvPr/>
        </p:nvSpPr>
        <p:spPr>
          <a:xfrm>
            <a:off x="5486400" y="152704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limit on one day</a:t>
            </a:r>
            <a:endParaRPr lang="en-US" sz="1500" dirty="0"/>
          </a:p>
        </p:txBody>
      </p:sp>
      <p:sp>
        <p:nvSpPr>
          <p:cNvPr id="15" name="Text 11"/>
          <p:cNvSpPr txBox="1"/>
          <p:nvPr/>
        </p:nvSpPr>
        <p:spPr>
          <a:xfrm>
            <a:off x="5486400" y="187452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Your daily cap catches the case where every run behaved but the total did not.</a:t>
            </a:r>
            <a:endParaRPr lang="en-US" sz="1200" dirty="0"/>
          </a:p>
        </p:txBody>
      </p:sp>
      <p:sp>
        <p:nvSpPr>
          <p:cNvPr id="16" name="Shape 12"/>
          <p:cNvSpPr/>
          <p:nvPr/>
        </p:nvSpPr>
        <p:spPr>
          <a:xfrm>
            <a:off x="457200" y="2788920"/>
            <a:ext cx="4023360" cy="1280160"/>
          </a:xfrm>
          <a:prstGeom prst="roundRect">
            <a:avLst>
              <a:gd name="adj" fmla="val 5714"/>
            </a:avLst>
          </a:prstGeom>
          <a:solidFill>
            <a:srgbClr val="F3F4F6"/>
          </a:solidFill>
          <a:ln w="12700">
            <a:solidFill>
              <a:srgbClr val="F3F4F6"/>
            </a:solidFill>
            <a:prstDash val="solid"/>
          </a:ln>
        </p:spPr>
      </p:sp>
      <p:sp>
        <p:nvSpPr>
          <p:cNvPr id="17" name="Shape 13"/>
          <p:cNvSpPr/>
          <p:nvPr/>
        </p:nvSpPr>
        <p:spPr>
          <a:xfrm>
            <a:off x="685800" y="3017520"/>
            <a:ext cx="411480" cy="411480"/>
          </a:xfrm>
          <a:prstGeom prst="ellipse">
            <a:avLst/>
          </a:prstGeom>
          <a:solidFill>
            <a:srgbClr val="B45309"/>
          </a:solidFill>
          <a:ln w="12700">
            <a:solidFill>
              <a:srgbClr val="B45309"/>
            </a:solidFill>
            <a:prstDash val="solid"/>
          </a:ln>
        </p:spPr>
      </p:sp>
      <p:pic>
        <p:nvPicPr>
          <p:cNvPr id="18" name="Image 2" descr="preencoded.png">    </p:cNvPr>
          <p:cNvPicPr>
            <a:picLocks noChangeAspect="1"/>
          </p:cNvPicPr>
          <p:nvPr/>
        </p:nvPicPr>
        <p:blipFill>
          <a:blip r:embed="rId3"/>
          <a:stretch>
            <a:fillRect/>
          </a:stretch>
        </p:blipFill>
        <p:spPr>
          <a:xfrm>
            <a:off x="776326" y="3108046"/>
            <a:ext cx="230429" cy="230429"/>
          </a:xfrm>
          <a:prstGeom prst="rect">
            <a:avLst/>
          </a:prstGeom>
        </p:spPr>
      </p:pic>
      <p:sp>
        <p:nvSpPr>
          <p:cNvPr id="19" name="Text 14"/>
          <p:cNvSpPr txBox="1"/>
          <p:nvPr/>
        </p:nvSpPr>
        <p:spPr>
          <a:xfrm>
            <a:off x="1280160" y="299008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switch anyone can flip</a:t>
            </a:r>
            <a:endParaRPr lang="en-US" sz="1500" dirty="0"/>
          </a:p>
        </p:txBody>
      </p:sp>
      <p:sp>
        <p:nvSpPr>
          <p:cNvPr id="20" name="Text 15"/>
          <p:cNvSpPr txBox="1"/>
          <p:nvPr/>
        </p:nvSpPr>
        <p:spPr>
          <a:xfrm>
            <a:off x="1280160" y="333756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New work refused, running work drained, nothing redeployed.</a:t>
            </a:r>
            <a:endParaRPr lang="en-US" sz="1200" dirty="0"/>
          </a:p>
        </p:txBody>
      </p:sp>
      <p:sp>
        <p:nvSpPr>
          <p:cNvPr id="21" name="Shape 16"/>
          <p:cNvSpPr/>
          <p:nvPr/>
        </p:nvSpPr>
        <p:spPr>
          <a:xfrm>
            <a:off x="4663440" y="2788920"/>
            <a:ext cx="4023360" cy="1280160"/>
          </a:xfrm>
          <a:prstGeom prst="roundRect">
            <a:avLst>
              <a:gd name="adj" fmla="val 5714"/>
            </a:avLst>
          </a:prstGeom>
          <a:solidFill>
            <a:srgbClr val="F3F4F6"/>
          </a:solidFill>
          <a:ln w="12700">
            <a:solidFill>
              <a:srgbClr val="F3F4F6"/>
            </a:solidFill>
            <a:prstDash val="solid"/>
          </a:ln>
        </p:spPr>
      </p:sp>
      <p:sp>
        <p:nvSpPr>
          <p:cNvPr id="22" name="Shape 17"/>
          <p:cNvSpPr/>
          <p:nvPr/>
        </p:nvSpPr>
        <p:spPr>
          <a:xfrm>
            <a:off x="4892040" y="3017520"/>
            <a:ext cx="411480" cy="411480"/>
          </a:xfrm>
          <a:prstGeom prst="ellipse">
            <a:avLst/>
          </a:prstGeom>
          <a:solidFill>
            <a:srgbClr val="B45309"/>
          </a:solidFill>
          <a:ln w="12700">
            <a:solidFill>
              <a:srgbClr val="B45309"/>
            </a:solidFill>
            <a:prstDash val="solid"/>
          </a:ln>
        </p:spPr>
      </p:sp>
      <p:pic>
        <p:nvPicPr>
          <p:cNvPr id="23" name="Image 3" descr="preencoded.png">    </p:cNvPr>
          <p:cNvPicPr>
            <a:picLocks noChangeAspect="1"/>
          </p:cNvPicPr>
          <p:nvPr/>
        </p:nvPicPr>
        <p:blipFill>
          <a:blip r:embed="rId4"/>
          <a:stretch>
            <a:fillRect/>
          </a:stretch>
        </p:blipFill>
        <p:spPr>
          <a:xfrm>
            <a:off x="4982566" y="3108046"/>
            <a:ext cx="230429" cy="230429"/>
          </a:xfrm>
          <a:prstGeom prst="rect">
            <a:avLst/>
          </a:prstGeom>
        </p:spPr>
      </p:pic>
      <p:sp>
        <p:nvSpPr>
          <p:cNvPr id="24" name="Text 18"/>
          <p:cNvSpPr txBox="1"/>
          <p:nvPr/>
        </p:nvSpPr>
        <p:spPr>
          <a:xfrm>
            <a:off x="5486400" y="299008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All of it tested</a:t>
            </a:r>
            <a:endParaRPr lang="en-US" sz="1500" dirty="0"/>
          </a:p>
        </p:txBody>
      </p:sp>
      <p:sp>
        <p:nvSpPr>
          <p:cNvPr id="25" name="Text 19"/>
          <p:cNvSpPr txBox="1"/>
          <p:nvPr/>
        </p:nvSpPr>
        <p:spPr>
          <a:xfrm>
            <a:off x="5486400" y="333756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 ran the fire drill while nothing was wrong.</a:t>
            </a:r>
            <a:endParaRPr lang="en-US" sz="1200" dirty="0"/>
          </a:p>
        </p:txBody>
      </p:sp>
      <p:sp>
        <p:nvSpPr>
          <p:cNvPr id="26" name="Text 20"/>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700" b="1" i="1" dirty="0">
                <a:solidFill>
                  <a:srgbClr val="B45309"/>
                </a:solidFill>
                <a:latin typeface="Cambria" pitchFamily="34" charset="0"/>
                <a:ea typeface="Cambria" pitchFamily="34" charset="-122"/>
                <a:cs typeface="Cambria" pitchFamily="34" charset="-120"/>
              </a:rPr>
              <a:t>The runaway from module one now stops on its own, in seconds.</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WHAT IS STILL MISSING</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3</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
        <p:nvSpPr>
          <p:cNvPr id="5" name="Text 3"/>
          <p:cNvSpPr txBox="1"/>
          <p:nvPr/>
        </p:nvSpPr>
        <p:spPr>
          <a:xfrm>
            <a:off x="457200" y="1005840"/>
            <a:ext cx="822960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cap stopped the bleeding.</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It did not save the work.</a:t>
            </a:r>
            <a:endParaRPr lang="en-US" sz="3400" dirty="0"/>
          </a:p>
        </p:txBody>
      </p:sp>
      <p:sp>
        <p:nvSpPr>
          <p:cNvPr id="6" name="Text 4"/>
          <p:cNvSpPr txBox="1"/>
          <p:nvPr/>
        </p:nvSpPr>
        <p:spPr>
          <a:xfrm>
            <a:off x="457200" y="2377440"/>
            <a:ext cx="7863840" cy="1097280"/>
          </a:xfrm>
          <a:prstGeom prst="rect">
            <a:avLst/>
          </a:prstGeom>
          <a:noFill/>
          <a:ln/>
        </p:spPr>
        <p:txBody>
          <a:bodyPr wrap="square" lIns="0" tIns="0" rIns="0" bIns="0" rtlCol="0" anchor="t"/>
          <a:lstStyle/>
          <a:p>
            <a:pPr indent="0" marL="0">
              <a:buNone/>
            </a:pPr>
            <a:r>
              <a:rPr lang="en-US" sz="1600" dirty="0">
                <a:solidFill>
                  <a:srgbClr val="9CA3AF"/>
                </a:solidFill>
                <a:latin typeface="Calibri" pitchFamily="34" charset="0"/>
                <a:ea typeface="Calibri" pitchFamily="34" charset="-122"/>
                <a:cs typeface="Calibri" pitchFamily="34" charset="-120"/>
              </a:rPr>
              <a:t>When a run hits its cap, everything it had done is thrown away. On step eleven of twelve, you paid for eleven steps and got nothing. And a run that fails and is retried starts again from the beginning. Every time.</a:t>
            </a:r>
            <a:endParaRPr lang="en-US" sz="1600" dirty="0"/>
          </a:p>
        </p:txBody>
      </p:sp>
      <p:sp>
        <p:nvSpPr>
          <p:cNvPr id="7" name="Text 5"/>
          <p:cNvSpPr txBox="1"/>
          <p:nvPr/>
        </p:nvSpPr>
        <p:spPr>
          <a:xfrm>
            <a:off x="457200" y="3611880"/>
            <a:ext cx="7863840" cy="822960"/>
          </a:xfrm>
          <a:prstGeom prst="rect">
            <a:avLst/>
          </a:prstGeom>
          <a:noFill/>
          <a:ln/>
        </p:spPr>
        <p:txBody>
          <a:bodyPr wrap="square" lIns="0" tIns="0" rIns="0" bIns="0" rtlCol="0" anchor="t"/>
          <a:lstStyle/>
          <a:p>
            <a:pPr indent="0" marL="0">
              <a:buNone/>
            </a:pPr>
            <a:r>
              <a:rPr lang="en-US" sz="1500" b="1" dirty="0">
                <a:solidFill>
                  <a:srgbClr val="F59E0B"/>
                </a:solidFill>
                <a:latin typeface="Calibri" pitchFamily="34" charset="0"/>
                <a:ea typeface="Calibri" pitchFamily="34" charset="-122"/>
                <a:cs typeface="Calibri" pitchFamily="34" charset="-120"/>
              </a:rPr>
              <a:t>That is module four: loops, retries, and the cost of failure; where the largest savings in this course are, and they do not come from a cheaper model.</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NEXT · MODULE 4 OF 6</a:t>
            </a:r>
            <a:endParaRPr lang="en-US" sz="1100" dirty="0"/>
          </a:p>
        </p:txBody>
      </p:sp>
      <p:sp>
        <p:nvSpPr>
          <p:cNvPr id="3" name="Text 1"/>
          <p:cNvSpPr txBox="1"/>
          <p:nvPr/>
        </p:nvSpPr>
        <p:spPr>
          <a:xfrm>
            <a:off x="548640" y="1463040"/>
            <a:ext cx="777240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Stop paying twice.</a:t>
            </a:r>
            <a:endParaRPr lang="en-US" sz="4600" dirty="0"/>
          </a:p>
        </p:txBody>
      </p:sp>
      <p:sp>
        <p:nvSpPr>
          <p:cNvPr id="4" name="Text 2"/>
          <p:cNvSpPr txBox="1"/>
          <p:nvPr/>
        </p:nvSpPr>
        <p:spPr>
          <a:xfrm>
            <a:off x="548640" y="2514600"/>
            <a:ext cx="7132320" cy="82296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Loops, retries, and the cost of failure; the largest savings in the course, and none of them come from a cheaper model.</a:t>
            </a:r>
            <a:endParaRPr lang="en-US" sz="1800" dirty="0"/>
          </a:p>
        </p:txBody>
      </p:sp>
      <p:sp>
        <p:nvSpPr>
          <p:cNvPr id="5" name="Text 3"/>
          <p:cNvSpPr txBox="1"/>
          <p:nvPr/>
        </p:nvSpPr>
        <p:spPr>
          <a:xfrm>
            <a:off x="548640" y="3931920"/>
            <a:ext cx="5486400" cy="365760"/>
          </a:xfrm>
          <a:prstGeom prst="rect">
            <a:avLst/>
          </a:prstGeom>
          <a:noFill/>
          <a:ln/>
        </p:spPr>
        <p:txBody>
          <a:bodyPr wrap="square" lIns="0" tIns="0" rIns="0" bIns="0" rtlCol="0" anchor="t"/>
          <a:lstStyle/>
          <a:p>
            <a:pPr indent="0" marL="0">
              <a:buNone/>
            </a:pPr>
            <a:r>
              <a:rPr lang="en-US" sz="1600" i="1" dirty="0">
                <a:solidFill>
                  <a:srgbClr val="F59E0B"/>
                </a:solidFill>
                <a:latin typeface="Cambria" pitchFamily="34" charset="0"/>
                <a:ea typeface="Cambria" pitchFamily="34" charset="-122"/>
                <a:cs typeface="Cambria" pitchFamily="34" charset="-120"/>
              </a:rPr>
              <a:t>Caps  ·  Behaviour  ·  The switch</a:t>
            </a:r>
            <a:endParaRPr lang="en-US" sz="1600" dirty="0"/>
          </a:p>
        </p:txBody>
      </p:sp>
      <p:sp>
        <p:nvSpPr>
          <p:cNvPr id="6" name="Text 4"/>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Emmanuel Naweji  ·  github.com/Here2ServeU/agent-cost-control</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A</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Exercises: do these before Module 4</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01</a:t>
            </a:r>
            <a:endParaRPr lang="en-US" sz="2000" dirty="0"/>
          </a:p>
        </p:txBody>
      </p:sp>
      <p:sp>
        <p:nvSpPr>
          <p:cNvPr id="8" name="Text 6"/>
          <p:cNvSpPr txBox="1"/>
          <p:nvPr/>
        </p:nvSpPr>
        <p:spPr>
          <a:xfrm>
            <a:off x="621792" y="180136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Choose your numbers</a:t>
            </a:r>
            <a:endParaRPr lang="en-US" sz="1200" dirty="0"/>
          </a:p>
        </p:txBody>
      </p:sp>
      <p:sp>
        <p:nvSpPr>
          <p:cNvPr id="9" name="Text 7"/>
          <p:cNvSpPr txBox="1"/>
          <p:nvPr/>
        </p:nvSpPr>
        <p:spPr>
          <a:xfrm>
            <a:off x="621792" y="213055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 per-run cap and a daily cap from your own module 2 data, with one sentence of why for each.</a:t>
            </a:r>
            <a:endParaRPr lang="en-US" sz="90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02</a:t>
            </a:r>
            <a:endParaRPr lang="en-US" sz="2000" dirty="0"/>
          </a:p>
        </p:txBody>
      </p:sp>
      <p:sp>
        <p:nvSpPr>
          <p:cNvPr id="12" name="Text 10"/>
          <p:cNvSpPr txBox="1"/>
          <p:nvPr/>
        </p:nvSpPr>
        <p:spPr>
          <a:xfrm>
            <a:off x="2706624" y="180136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Build the per-run cap</a:t>
            </a:r>
            <a:endParaRPr lang="en-US" sz="1200" dirty="0"/>
          </a:p>
        </p:txBody>
      </p:sp>
      <p:sp>
        <p:nvSpPr>
          <p:cNvPr id="13" name="Text 11"/>
          <p:cNvSpPr txBox="1"/>
          <p:nvPr/>
        </p:nvSpPr>
        <p:spPr>
          <a:xfrm>
            <a:off x="2706624" y="213055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Running total plus the check. A named exception, not a generic one.</a:t>
            </a:r>
            <a:endParaRPr lang="en-US" sz="90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03</a:t>
            </a:r>
            <a:endParaRPr lang="en-US" sz="2000" dirty="0"/>
          </a:p>
        </p:txBody>
      </p:sp>
      <p:sp>
        <p:nvSpPr>
          <p:cNvPr id="16" name="Text 14"/>
          <p:cNvSpPr txBox="1"/>
          <p:nvPr/>
        </p:nvSpPr>
        <p:spPr>
          <a:xfrm>
            <a:off x="4791456" y="180136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Read your own message</a:t>
            </a:r>
            <a:endParaRPr lang="en-US" sz="1200" dirty="0"/>
          </a:p>
        </p:txBody>
      </p:sp>
      <p:sp>
        <p:nvSpPr>
          <p:cNvPr id="17" name="Text 15"/>
          <p:cNvSpPr txBox="1"/>
          <p:nvPr/>
        </p:nvSpPr>
        <p:spPr>
          <a:xfrm>
            <a:off x="4791456" y="213055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Trip the cap; read the message as a stranger would at 3am. Rewrite until it is clear.</a:t>
            </a:r>
            <a:endParaRPr lang="en-US" sz="90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04</a:t>
            </a:r>
            <a:endParaRPr lang="en-US" sz="2000" dirty="0"/>
          </a:p>
        </p:txBody>
      </p:sp>
      <p:sp>
        <p:nvSpPr>
          <p:cNvPr id="20" name="Text 18"/>
          <p:cNvSpPr txBox="1"/>
          <p:nvPr/>
        </p:nvSpPr>
        <p:spPr>
          <a:xfrm>
            <a:off x="6876288" y="180136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Pick a behaviour</a:t>
            </a:r>
            <a:endParaRPr lang="en-US" sz="1200" dirty="0"/>
          </a:p>
        </p:txBody>
      </p:sp>
      <p:sp>
        <p:nvSpPr>
          <p:cNvPr id="21" name="Text 19"/>
          <p:cNvSpPr txBox="1"/>
          <p:nvPr/>
        </p:nvSpPr>
        <p:spPr>
          <a:xfrm>
            <a:off x="6876288" y="213055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Stop, degrade or queue. Write down which and why, then implement it properly.</a:t>
            </a:r>
            <a:endParaRPr lang="en-US" sz="90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05</a:t>
            </a:r>
            <a:endParaRPr lang="en-US" sz="2000" dirty="0"/>
          </a:p>
        </p:txBody>
      </p:sp>
      <p:sp>
        <p:nvSpPr>
          <p:cNvPr id="24" name="Text 22"/>
          <p:cNvSpPr txBox="1"/>
          <p:nvPr/>
        </p:nvSpPr>
        <p:spPr>
          <a:xfrm>
            <a:off x="621792" y="344728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Build the daily cap</a:t>
            </a:r>
            <a:endParaRPr lang="en-US" sz="1200" dirty="0"/>
          </a:p>
        </p:txBody>
      </p:sp>
      <p:sp>
        <p:nvSpPr>
          <p:cNvPr id="25" name="Text 23"/>
          <p:cNvSpPr txBox="1"/>
          <p:nvPr/>
        </p:nvSpPr>
        <p:spPr>
          <a:xfrm>
            <a:off x="621792" y="377647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 total that survives between runs. A refused run must make zero model calls.</a:t>
            </a:r>
            <a:endParaRPr lang="en-US" sz="900" dirty="0"/>
          </a:p>
        </p:txBody>
      </p:sp>
      <p:sp>
        <p:nvSpPr>
          <p:cNvPr id="26" name="Shape 24"/>
          <p:cNvSpPr/>
          <p:nvPr/>
        </p:nvSpPr>
        <p:spPr>
          <a:xfrm>
            <a:off x="2542032" y="2971800"/>
            <a:ext cx="1938528" cy="1481328"/>
          </a:xfrm>
          <a:prstGeom prst="roundRect">
            <a:avLst>
              <a:gd name="adj" fmla="val 4938"/>
            </a:avLst>
          </a:prstGeom>
          <a:solidFill>
            <a:srgbClr val="111827"/>
          </a:solidFill>
          <a:ln w="12700">
            <a:solidFill>
              <a:srgbClr val="111827"/>
            </a:solidFill>
            <a:prstDash val="solid"/>
          </a:ln>
        </p:spPr>
      </p:sp>
      <p:sp>
        <p:nvSpPr>
          <p:cNvPr id="27" name="Text 25"/>
          <p:cNvSpPr txBox="1"/>
          <p:nvPr/>
        </p:nvSpPr>
        <p:spPr>
          <a:xfrm>
            <a:off x="2706624" y="3090672"/>
            <a:ext cx="731520" cy="365760"/>
          </a:xfrm>
          <a:prstGeom prst="rect">
            <a:avLst/>
          </a:prstGeom>
          <a:noFill/>
          <a:ln/>
        </p:spPr>
        <p:txBody>
          <a:bodyPr wrap="square" lIns="0" tIns="0" rIns="0" bIns="0" rtlCol="0" anchor="t"/>
          <a:lstStyle/>
          <a:p>
            <a:pPr indent="0" marL="0">
              <a:buNone/>
            </a:pPr>
            <a:r>
              <a:rPr lang="en-US" sz="2000" b="1" dirty="0">
                <a:solidFill>
                  <a:srgbClr val="F59E0B"/>
                </a:solidFill>
                <a:latin typeface="Cambria" pitchFamily="34" charset="0"/>
                <a:ea typeface="Cambria" pitchFamily="34" charset="-122"/>
                <a:cs typeface="Cambria" pitchFamily="34" charset="-120"/>
              </a:rPr>
              <a:t>06</a:t>
            </a:r>
            <a:endParaRPr lang="en-US" sz="2000" dirty="0"/>
          </a:p>
        </p:txBody>
      </p:sp>
      <p:sp>
        <p:nvSpPr>
          <p:cNvPr id="28" name="Text 26"/>
          <p:cNvSpPr txBox="1"/>
          <p:nvPr/>
        </p:nvSpPr>
        <p:spPr>
          <a:xfrm>
            <a:off x="2706624" y="3447288"/>
            <a:ext cx="1691640" cy="3200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Run the fire drill</a:t>
            </a:r>
            <a:endParaRPr lang="en-US" sz="1200" dirty="0"/>
          </a:p>
        </p:txBody>
      </p:sp>
      <p:sp>
        <p:nvSpPr>
          <p:cNvPr id="29" name="Text 27"/>
          <p:cNvSpPr txBox="1"/>
          <p:nvPr/>
        </p:nvSpPr>
        <p:spPr>
          <a:xfrm>
            <a:off x="2706624" y="3776472"/>
            <a:ext cx="1664208" cy="640080"/>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All four tests. Write down what actually happened, not what you expected.</a:t>
            </a:r>
            <a:endParaRPr lang="en-US" sz="90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07</a:t>
            </a:r>
            <a:endParaRPr lang="en-US" sz="2000" dirty="0"/>
          </a:p>
        </p:txBody>
      </p:sp>
      <p:sp>
        <p:nvSpPr>
          <p:cNvPr id="32" name="Text 30"/>
          <p:cNvSpPr txBox="1"/>
          <p:nvPr/>
        </p:nvSpPr>
        <p:spPr>
          <a:xfrm>
            <a:off x="4791456" y="344728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Cap the runaway</a:t>
            </a:r>
            <a:endParaRPr lang="en-US" sz="1200" dirty="0"/>
          </a:p>
        </p:txBody>
      </p:sp>
      <p:sp>
        <p:nvSpPr>
          <p:cNvPr id="33" name="Text 31"/>
          <p:cNvSpPr txBox="1"/>
          <p:nvPr/>
        </p:nvSpPr>
        <p:spPr>
          <a:xfrm>
            <a:off x="4791456" y="377647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Record how long it takes to stop and what it cost. Compare with module 1.</a:t>
            </a:r>
            <a:endParaRPr lang="en-US" sz="900" dirty="0"/>
          </a:p>
        </p:txBody>
      </p:sp>
      <p:sp>
        <p:nvSpPr>
          <p:cNvPr id="34" name="Shape 32"/>
          <p:cNvSpPr/>
          <p:nvPr/>
        </p:nvSpPr>
        <p:spPr>
          <a:xfrm>
            <a:off x="6711696" y="2971800"/>
            <a:ext cx="1938528" cy="1481328"/>
          </a:xfrm>
          <a:prstGeom prst="roundRect">
            <a:avLst>
              <a:gd name="adj" fmla="val 4938"/>
            </a:avLst>
          </a:prstGeom>
          <a:solidFill>
            <a:srgbClr val="F3F4F6"/>
          </a:solidFill>
          <a:ln w="12700">
            <a:solidFill>
              <a:srgbClr val="F3F4F6"/>
            </a:solidFill>
            <a:prstDash val="solid"/>
          </a:ln>
        </p:spPr>
      </p:sp>
      <p:sp>
        <p:nvSpPr>
          <p:cNvPr id="35" name="Text 33"/>
          <p:cNvSpPr txBox="1"/>
          <p:nvPr/>
        </p:nvSpPr>
        <p:spPr>
          <a:xfrm>
            <a:off x="6876288"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08</a:t>
            </a:r>
            <a:endParaRPr lang="en-US" sz="2000" dirty="0"/>
          </a:p>
        </p:txBody>
      </p:sp>
      <p:sp>
        <p:nvSpPr>
          <p:cNvPr id="36" name="Text 34"/>
          <p:cNvSpPr txBox="1"/>
          <p:nvPr/>
        </p:nvSpPr>
        <p:spPr>
          <a:xfrm>
            <a:off x="6876288" y="344728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Hand over the switch</a:t>
            </a:r>
            <a:endParaRPr lang="en-US" sz="1200" dirty="0"/>
          </a:p>
        </p:txBody>
      </p:sp>
      <p:sp>
        <p:nvSpPr>
          <p:cNvPr id="37" name="Text 35"/>
          <p:cNvSpPr txBox="1"/>
          <p:nvPr/>
        </p:nvSpPr>
        <p:spPr>
          <a:xfrm>
            <a:off x="6876288" y="377647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 three-line note; a colleague turns the agent off without your help.</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caps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457200" y="1325880"/>
            <a:ext cx="2606040"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4008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01</a:t>
            </a:r>
            <a:endParaRPr lang="en-US" sz="1100" dirty="0"/>
          </a:p>
        </p:txBody>
      </p:sp>
      <p:sp>
        <p:nvSpPr>
          <p:cNvPr id="8" name="Text 6"/>
          <p:cNvSpPr txBox="1"/>
          <p:nvPr/>
        </p:nvSpPr>
        <p:spPr>
          <a:xfrm>
            <a:off x="64008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Cap (budget limit)</a:t>
            </a:r>
            <a:endParaRPr lang="en-US" sz="1300" dirty="0"/>
          </a:p>
        </p:txBody>
      </p:sp>
      <p:sp>
        <p:nvSpPr>
          <p:cNvPr id="9" name="Text 7"/>
          <p:cNvSpPr txBox="1"/>
          <p:nvPr/>
        </p:nvSpPr>
        <p:spPr>
          <a:xfrm>
            <a:off x="64008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 maximum decided in advance. Like a coin meter: when it runs out, things stop, with no human needed.</a:t>
            </a:r>
            <a:endParaRPr lang="en-US" sz="1000" dirty="0"/>
          </a:p>
        </p:txBody>
      </p:sp>
      <p:sp>
        <p:nvSpPr>
          <p:cNvPr id="10" name="Shape 8"/>
          <p:cNvSpPr/>
          <p:nvPr/>
        </p:nvSpPr>
        <p:spPr>
          <a:xfrm>
            <a:off x="3246120" y="1325880"/>
            <a:ext cx="2606040"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342900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02</a:t>
            </a:r>
            <a:endParaRPr lang="en-US" sz="1100" dirty="0"/>
          </a:p>
        </p:txBody>
      </p:sp>
      <p:sp>
        <p:nvSpPr>
          <p:cNvPr id="12" name="Text 10"/>
          <p:cNvSpPr txBox="1"/>
          <p:nvPr/>
        </p:nvSpPr>
        <p:spPr>
          <a:xfrm>
            <a:off x="342900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Per-run cap</a:t>
            </a:r>
            <a:endParaRPr lang="en-US" sz="1300" dirty="0"/>
          </a:p>
        </p:txBody>
      </p:sp>
      <p:sp>
        <p:nvSpPr>
          <p:cNvPr id="13" name="Text 11"/>
          <p:cNvSpPr txBox="1"/>
          <p:nvPr/>
        </p:nvSpPr>
        <p:spPr>
          <a:xfrm>
            <a:off x="342900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most one single task may cost. Catches the runaway loop, because it sees steps piling up.</a:t>
            </a:r>
            <a:endParaRPr lang="en-US" sz="1000" dirty="0"/>
          </a:p>
        </p:txBody>
      </p:sp>
      <p:sp>
        <p:nvSpPr>
          <p:cNvPr id="14" name="Shape 12"/>
          <p:cNvSpPr/>
          <p:nvPr/>
        </p:nvSpPr>
        <p:spPr>
          <a:xfrm>
            <a:off x="6035040" y="1325880"/>
            <a:ext cx="2606040"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621792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03</a:t>
            </a:r>
            <a:endParaRPr lang="en-US" sz="1100" dirty="0"/>
          </a:p>
        </p:txBody>
      </p:sp>
      <p:sp>
        <p:nvSpPr>
          <p:cNvPr id="16" name="Text 14"/>
          <p:cNvSpPr txBox="1"/>
          <p:nvPr/>
        </p:nvSpPr>
        <p:spPr>
          <a:xfrm>
            <a:off x="621792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Daily cap</a:t>
            </a:r>
            <a:endParaRPr lang="en-US" sz="1300" dirty="0"/>
          </a:p>
        </p:txBody>
      </p:sp>
      <p:sp>
        <p:nvSpPr>
          <p:cNvPr id="17" name="Text 15"/>
          <p:cNvSpPr txBox="1"/>
          <p:nvPr/>
        </p:nvSpPr>
        <p:spPr>
          <a:xfrm>
            <a:off x="621792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most a whole day may cost across all runs. Catches many well-behaved runs that add up.</a:t>
            </a:r>
            <a:endParaRPr lang="en-US" sz="1000" dirty="0"/>
          </a:p>
        </p:txBody>
      </p:sp>
      <p:sp>
        <p:nvSpPr>
          <p:cNvPr id="18" name="Shape 16"/>
          <p:cNvSpPr/>
          <p:nvPr/>
        </p:nvSpPr>
        <p:spPr>
          <a:xfrm>
            <a:off x="457200" y="2971800"/>
            <a:ext cx="2606040"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4008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64008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The three gates</a:t>
            </a:r>
            <a:endParaRPr lang="en-US" sz="1300" dirty="0"/>
          </a:p>
        </p:txBody>
      </p:sp>
      <p:sp>
        <p:nvSpPr>
          <p:cNvPr id="21" name="Text 19"/>
          <p:cNvSpPr txBox="1"/>
          <p:nvPr/>
        </p:nvSpPr>
        <p:spPr>
          <a:xfrm>
            <a:off x="64008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Inside the agent, at the gateway, at the provider. Each has a blind spot the others cover.</a:t>
            </a:r>
            <a:endParaRPr lang="en-US" sz="1000" dirty="0"/>
          </a:p>
        </p:txBody>
      </p:sp>
      <p:sp>
        <p:nvSpPr>
          <p:cNvPr id="22" name="Shape 20"/>
          <p:cNvSpPr/>
          <p:nvPr/>
        </p:nvSpPr>
        <p:spPr>
          <a:xfrm>
            <a:off x="3246120" y="2971800"/>
            <a:ext cx="2606040"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342900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05</a:t>
            </a:r>
            <a:endParaRPr lang="en-US" sz="1100" dirty="0"/>
          </a:p>
        </p:txBody>
      </p:sp>
      <p:sp>
        <p:nvSpPr>
          <p:cNvPr id="24" name="Text 22"/>
          <p:cNvSpPr txBox="1"/>
          <p:nvPr/>
        </p:nvSpPr>
        <p:spPr>
          <a:xfrm>
            <a:off x="342900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Gateway</a:t>
            </a:r>
            <a:endParaRPr lang="en-US" sz="1300" dirty="0"/>
          </a:p>
        </p:txBody>
      </p:sp>
      <p:sp>
        <p:nvSpPr>
          <p:cNvPr id="25" name="Text 23"/>
          <p:cNvSpPr txBox="1"/>
          <p:nvPr/>
        </p:nvSpPr>
        <p:spPr>
          <a:xfrm>
            <a:off x="342900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 shared front door all agents send model calls through. The only place that sees everything now.</a:t>
            </a:r>
            <a:endParaRPr lang="en-US" sz="1000" dirty="0"/>
          </a:p>
        </p:txBody>
      </p:sp>
      <p:sp>
        <p:nvSpPr>
          <p:cNvPr id="26" name="Shape 24"/>
          <p:cNvSpPr/>
          <p:nvPr/>
        </p:nvSpPr>
        <p:spPr>
          <a:xfrm>
            <a:off x="6035040" y="2971800"/>
            <a:ext cx="2606040"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621792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06</a:t>
            </a:r>
            <a:endParaRPr lang="en-US" sz="1100" dirty="0"/>
          </a:p>
        </p:txBody>
      </p:sp>
      <p:sp>
        <p:nvSpPr>
          <p:cNvPr id="28" name="Text 26"/>
          <p:cNvSpPr txBox="1"/>
          <p:nvPr/>
        </p:nvSpPr>
        <p:spPr>
          <a:xfrm>
            <a:off x="621792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Stop / degrade / queue</a:t>
            </a:r>
            <a:endParaRPr lang="en-US" sz="1300" dirty="0"/>
          </a:p>
        </p:txBody>
      </p:sp>
      <p:sp>
        <p:nvSpPr>
          <p:cNvPr id="29" name="Text 27"/>
          <p:cNvSpPr txBox="1"/>
          <p:nvPr/>
        </p:nvSpPr>
        <p:spPr>
          <a:xfrm>
            <a:off x="621792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three deliberate answers at the cap: refuse clearly, answer cheaply, or set it aside.</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switch</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457200" y="1325880"/>
            <a:ext cx="2606040"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4008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07</a:t>
            </a:r>
            <a:endParaRPr lang="en-US" sz="1100" dirty="0"/>
          </a:p>
        </p:txBody>
      </p:sp>
      <p:sp>
        <p:nvSpPr>
          <p:cNvPr id="8" name="Text 6"/>
          <p:cNvSpPr txBox="1"/>
          <p:nvPr/>
        </p:nvSpPr>
        <p:spPr>
          <a:xfrm>
            <a:off x="64008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The fourth option</a:t>
            </a:r>
            <a:endParaRPr lang="en-US" sz="1300" dirty="0"/>
          </a:p>
        </p:txBody>
      </p:sp>
      <p:sp>
        <p:nvSpPr>
          <p:cNvPr id="9" name="Text 7"/>
          <p:cNvSpPr txBox="1"/>
          <p:nvPr/>
        </p:nvSpPr>
        <p:spPr>
          <a:xfrm>
            <a:off x="64008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What you get by not choosing: a crash mid-thought, half-finished work, no explanation.</a:t>
            </a:r>
            <a:endParaRPr lang="en-US" sz="1000" dirty="0"/>
          </a:p>
        </p:txBody>
      </p:sp>
      <p:sp>
        <p:nvSpPr>
          <p:cNvPr id="10" name="Shape 8"/>
          <p:cNvSpPr/>
          <p:nvPr/>
        </p:nvSpPr>
        <p:spPr>
          <a:xfrm>
            <a:off x="3246120" y="1325880"/>
            <a:ext cx="2606040"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342900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08</a:t>
            </a:r>
            <a:endParaRPr lang="en-US" sz="1100" dirty="0"/>
          </a:p>
        </p:txBody>
      </p:sp>
      <p:sp>
        <p:nvSpPr>
          <p:cNvPr id="12" name="Text 10"/>
          <p:cNvSpPr txBox="1"/>
          <p:nvPr/>
        </p:nvSpPr>
        <p:spPr>
          <a:xfrm>
            <a:off x="342900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Kill switch</a:t>
            </a:r>
            <a:endParaRPr lang="en-US" sz="1300" dirty="0"/>
          </a:p>
        </p:txBody>
      </p:sp>
      <p:sp>
        <p:nvSpPr>
          <p:cNvPr id="13" name="Text 11"/>
          <p:cNvSpPr txBox="1"/>
          <p:nvPr/>
        </p:nvSpPr>
        <p:spPr>
          <a:xfrm>
            <a:off x="342900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One setting changed by hand, in seconds, with no deployment, that stops new work.</a:t>
            </a:r>
            <a:endParaRPr lang="en-US" sz="1000" dirty="0"/>
          </a:p>
        </p:txBody>
      </p:sp>
      <p:sp>
        <p:nvSpPr>
          <p:cNvPr id="14" name="Shape 12"/>
          <p:cNvSpPr/>
          <p:nvPr/>
        </p:nvSpPr>
        <p:spPr>
          <a:xfrm>
            <a:off x="6035040" y="1325880"/>
            <a:ext cx="2606040"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621792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09</a:t>
            </a:r>
            <a:endParaRPr lang="en-US" sz="1100" dirty="0"/>
          </a:p>
        </p:txBody>
      </p:sp>
      <p:sp>
        <p:nvSpPr>
          <p:cNvPr id="16" name="Text 14"/>
          <p:cNvSpPr txBox="1"/>
          <p:nvPr/>
        </p:nvSpPr>
        <p:spPr>
          <a:xfrm>
            <a:off x="621792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Draining</a:t>
            </a:r>
            <a:endParaRPr lang="en-US" sz="1300" dirty="0"/>
          </a:p>
        </p:txBody>
      </p:sp>
      <p:sp>
        <p:nvSpPr>
          <p:cNvPr id="17" name="Text 15"/>
          <p:cNvSpPr txBox="1"/>
          <p:nvPr/>
        </p:nvSpPr>
        <p:spPr>
          <a:xfrm>
            <a:off x="621792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Stopping new work while current work finishes. Killing nine 90% runs means paying twice.</a:t>
            </a:r>
            <a:endParaRPr lang="en-US" sz="1000" dirty="0"/>
          </a:p>
        </p:txBody>
      </p:sp>
      <p:sp>
        <p:nvSpPr>
          <p:cNvPr id="18" name="Shape 16"/>
          <p:cNvSpPr/>
          <p:nvPr/>
        </p:nvSpPr>
        <p:spPr>
          <a:xfrm>
            <a:off x="457200" y="2971800"/>
            <a:ext cx="2606040"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4008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10</a:t>
            </a:r>
            <a:endParaRPr lang="en-US" sz="1100" dirty="0"/>
          </a:p>
        </p:txBody>
      </p:sp>
      <p:sp>
        <p:nvSpPr>
          <p:cNvPr id="20" name="Text 18"/>
          <p:cNvSpPr txBox="1"/>
          <p:nvPr/>
        </p:nvSpPr>
        <p:spPr>
          <a:xfrm>
            <a:off x="64008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Named exception</a:t>
            </a:r>
            <a:endParaRPr lang="en-US" sz="1300" dirty="0"/>
          </a:p>
        </p:txBody>
      </p:sp>
      <p:sp>
        <p:nvSpPr>
          <p:cNvPr id="21" name="Text 19"/>
          <p:cNvSpPr txBox="1"/>
          <p:nvPr/>
        </p:nvSpPr>
        <p:spPr>
          <a:xfrm>
            <a:off x="64008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An error with its own name, like BudgetExceeded, so your code can handle that exact case.</a:t>
            </a:r>
            <a:endParaRPr lang="en-US" sz="1000" dirty="0"/>
          </a:p>
        </p:txBody>
      </p:sp>
      <p:sp>
        <p:nvSpPr>
          <p:cNvPr id="22" name="Shape 20"/>
          <p:cNvSpPr/>
          <p:nvPr/>
        </p:nvSpPr>
        <p:spPr>
          <a:xfrm>
            <a:off x="3246120" y="2971800"/>
            <a:ext cx="2606040"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342900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11</a:t>
            </a:r>
            <a:endParaRPr lang="en-US" sz="1100" dirty="0"/>
          </a:p>
        </p:txBody>
      </p:sp>
      <p:sp>
        <p:nvSpPr>
          <p:cNvPr id="24" name="Text 22"/>
          <p:cNvSpPr txBox="1"/>
          <p:nvPr/>
        </p:nvSpPr>
        <p:spPr>
          <a:xfrm>
            <a:off x="342900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Refusing early</a:t>
            </a:r>
            <a:endParaRPr lang="en-US" sz="1300" dirty="0"/>
          </a:p>
        </p:txBody>
      </p:sp>
      <p:sp>
        <p:nvSpPr>
          <p:cNvPr id="25" name="Text 23"/>
          <p:cNvSpPr txBox="1"/>
          <p:nvPr/>
        </p:nvSpPr>
        <p:spPr>
          <a:xfrm>
            <a:off x="342900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Checking the daily cap before any model call, so a refused run costs nothing at all.</a:t>
            </a:r>
            <a:endParaRPr lang="en-US" sz="1000" dirty="0"/>
          </a:p>
        </p:txBody>
      </p:sp>
      <p:sp>
        <p:nvSpPr>
          <p:cNvPr id="26" name="Shape 24"/>
          <p:cNvSpPr/>
          <p:nvPr/>
        </p:nvSpPr>
        <p:spPr>
          <a:xfrm>
            <a:off x="6035040" y="2971800"/>
            <a:ext cx="2606040"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621792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12</a:t>
            </a:r>
            <a:endParaRPr lang="en-US" sz="1100" dirty="0"/>
          </a:p>
        </p:txBody>
      </p:sp>
      <p:sp>
        <p:nvSpPr>
          <p:cNvPr id="28" name="Text 26"/>
          <p:cNvSpPr txBox="1"/>
          <p:nvPr/>
        </p:nvSpPr>
        <p:spPr>
          <a:xfrm>
            <a:off x="621792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Fire drill</a:t>
            </a:r>
            <a:endParaRPr lang="en-US" sz="1300" dirty="0"/>
          </a:p>
        </p:txBody>
      </p:sp>
      <p:sp>
        <p:nvSpPr>
          <p:cNvPr id="29" name="Text 27"/>
          <p:cNvSpPr txBox="1"/>
          <p:nvPr/>
        </p:nvSpPr>
        <p:spPr>
          <a:xfrm>
            <a:off x="621792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Testing safety equipment deliberately while nothing is wrong. Untested equipment is decoration.</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Setting the caps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457200" y="1325880"/>
            <a:ext cx="8229600" cy="548640"/>
          </a:xfrm>
          <a:prstGeom prst="roundRect">
            <a:avLst>
              <a:gd name="adj" fmla="val 13333"/>
            </a:avLst>
          </a:prstGeom>
          <a:solidFill>
            <a:srgbClr val="F3F4F6"/>
          </a:solidFill>
          <a:ln w="12700">
            <a:solidFill>
              <a:srgbClr val="F3F4F6"/>
            </a:solidFill>
            <a:prstDash val="solid"/>
          </a:ln>
        </p:spPr>
      </p:sp>
      <p:sp>
        <p:nvSpPr>
          <p:cNvPr id="7" name="Text 5"/>
          <p:cNvSpPr txBox="1"/>
          <p:nvPr/>
        </p:nvSpPr>
        <p:spPr>
          <a:xfrm>
            <a:off x="594360" y="1325880"/>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RUN_BUDGET_USD=0.02 python3 run_agent.py …</a:t>
            </a:r>
            <a:endParaRPr lang="en-US" sz="850" dirty="0"/>
          </a:p>
        </p:txBody>
      </p:sp>
      <p:sp>
        <p:nvSpPr>
          <p:cNvPr id="8" name="Text 6"/>
          <p:cNvSpPr txBox="1"/>
          <p:nvPr/>
        </p:nvSpPr>
        <p:spPr>
          <a:xfrm>
            <a:off x="4023360" y="1325880"/>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Set an environment variable for one command only, then run the agent. The variable is gone afterwards.</a:t>
            </a:r>
            <a:endParaRPr lang="en-US" sz="1050" dirty="0"/>
          </a:p>
        </p:txBody>
      </p:sp>
      <p:sp>
        <p:nvSpPr>
          <p:cNvPr id="9" name="Shape 7"/>
          <p:cNvSpPr/>
          <p:nvPr/>
        </p:nvSpPr>
        <p:spPr>
          <a:xfrm>
            <a:off x="457200" y="1947672"/>
            <a:ext cx="822960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594360" y="1947672"/>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DAILY_BUDGET_USD=0.10 python3 run_agent.py …</a:t>
            </a:r>
            <a:endParaRPr lang="en-US" sz="850" dirty="0"/>
          </a:p>
        </p:txBody>
      </p:sp>
      <p:sp>
        <p:nvSpPr>
          <p:cNvPr id="11" name="Text 9"/>
          <p:cNvSpPr txBox="1"/>
          <p:nvPr/>
        </p:nvSpPr>
        <p:spPr>
          <a:xfrm>
            <a:off x="4023360" y="1947672"/>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same trick for the daily cap. Your envelope reads it when the run starts.</a:t>
            </a:r>
            <a:endParaRPr lang="en-US" sz="1050" dirty="0"/>
          </a:p>
        </p:txBody>
      </p:sp>
      <p:sp>
        <p:nvSpPr>
          <p:cNvPr id="12" name="Shape 10"/>
          <p:cNvSpPr/>
          <p:nvPr/>
        </p:nvSpPr>
        <p:spPr>
          <a:xfrm>
            <a:off x="457200" y="2569464"/>
            <a:ext cx="8229600" cy="548640"/>
          </a:xfrm>
          <a:prstGeom prst="roundRect">
            <a:avLst>
              <a:gd name="adj" fmla="val 13333"/>
            </a:avLst>
          </a:prstGeom>
          <a:solidFill>
            <a:srgbClr val="F3F4F6"/>
          </a:solidFill>
          <a:ln w="12700">
            <a:solidFill>
              <a:srgbClr val="F3F4F6"/>
            </a:solidFill>
            <a:prstDash val="solid"/>
          </a:ln>
        </p:spPr>
      </p:sp>
      <p:sp>
        <p:nvSpPr>
          <p:cNvPr id="13" name="Text 11"/>
          <p:cNvSpPr txBox="1"/>
          <p:nvPr/>
        </p:nvSpPr>
        <p:spPr>
          <a:xfrm>
            <a:off x="594360" y="2569464"/>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AGENT_ENABLED=false python3 run_agent.py …</a:t>
            </a:r>
            <a:endParaRPr lang="en-US" sz="850" dirty="0"/>
          </a:p>
        </p:txBody>
      </p:sp>
      <p:sp>
        <p:nvSpPr>
          <p:cNvPr id="14" name="Text 12"/>
          <p:cNvSpPr txBox="1"/>
          <p:nvPr/>
        </p:nvSpPr>
        <p:spPr>
          <a:xfrm>
            <a:off x="4023360" y="2569464"/>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kill switch as an environment variable. Your envelope checks it before taking new work.</a:t>
            </a:r>
            <a:endParaRPr lang="en-US" sz="1050" dirty="0"/>
          </a:p>
        </p:txBody>
      </p:sp>
      <p:sp>
        <p:nvSpPr>
          <p:cNvPr id="15" name="Shape 13"/>
          <p:cNvSpPr/>
          <p:nvPr/>
        </p:nvSpPr>
        <p:spPr>
          <a:xfrm>
            <a:off x="457200" y="3191256"/>
            <a:ext cx="8229600" cy="548640"/>
          </a:xfrm>
          <a:prstGeom prst="roundRect">
            <a:avLst>
              <a:gd name="adj" fmla="val 13333"/>
            </a:avLst>
          </a:prstGeom>
          <a:solidFill>
            <a:srgbClr val="FFFFFF"/>
          </a:solidFill>
          <a:ln w="12700">
            <a:solidFill>
              <a:srgbClr val="FFFFFF"/>
            </a:solidFill>
            <a:prstDash val="solid"/>
          </a:ln>
        </p:spPr>
      </p:sp>
      <p:sp>
        <p:nvSpPr>
          <p:cNvPr id="16" name="Text 14"/>
          <p:cNvSpPr txBox="1"/>
          <p:nvPr/>
        </p:nvSpPr>
        <p:spPr>
          <a:xfrm>
            <a:off x="594360" y="3191256"/>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timeout 120 …</a:t>
            </a:r>
            <a:endParaRPr lang="en-US" sz="850" dirty="0"/>
          </a:p>
        </p:txBody>
      </p:sp>
      <p:sp>
        <p:nvSpPr>
          <p:cNvPr id="17" name="Text 15"/>
          <p:cNvSpPr txBox="1"/>
          <p:nvPr/>
        </p:nvSpPr>
        <p:spPr>
          <a:xfrm>
            <a:off x="4023360" y="3191256"/>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Stop the command after 120 seconds. Here it is only a backstop; the cap should fire first.</a:t>
            </a:r>
            <a:endParaRPr lang="en-US" sz="1050" dirty="0"/>
          </a:p>
        </p:txBody>
      </p:sp>
      <p:sp>
        <p:nvSpPr>
          <p:cNvPr id="18" name="Shape 16"/>
          <p:cNvSpPr/>
          <p:nvPr/>
        </p:nvSpPr>
        <p:spPr>
          <a:xfrm>
            <a:off x="457200" y="3813048"/>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594360" y="3813048"/>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--input samples/malformed.json</a:t>
            </a:r>
            <a:endParaRPr lang="en-US" sz="850" dirty="0"/>
          </a:p>
        </p:txBody>
      </p:sp>
      <p:sp>
        <p:nvSpPr>
          <p:cNvPr id="20" name="Text 18"/>
          <p:cNvSpPr txBox="1"/>
          <p:nvPr/>
        </p:nvSpPr>
        <p:spPr>
          <a:xfrm>
            <a:off x="4023360" y="3813048"/>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flag on the course script: the record the agent cannot process. Module 1's runaway.</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Shell helpers for the fire drill</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457200" y="1325880"/>
            <a:ext cx="8229600" cy="548640"/>
          </a:xfrm>
          <a:prstGeom prst="roundRect">
            <a:avLst>
              <a:gd name="adj" fmla="val 13333"/>
            </a:avLst>
          </a:prstGeom>
          <a:solidFill>
            <a:srgbClr val="F3F4F6"/>
          </a:solidFill>
          <a:ln w="12700">
            <a:solidFill>
              <a:srgbClr val="F3F4F6"/>
            </a:solidFill>
            <a:prstDash val="solid"/>
          </a:ln>
        </p:spPr>
      </p:sp>
      <p:sp>
        <p:nvSpPr>
          <p:cNvPr id="7" name="Text 5"/>
          <p:cNvSpPr txBox="1"/>
          <p:nvPr/>
        </p:nvSpPr>
        <p:spPr>
          <a:xfrm>
            <a:off x="594360" y="1325880"/>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export NAME=value   /   $env:NAME="value"</a:t>
            </a:r>
            <a:endParaRPr lang="en-US" sz="850" dirty="0"/>
          </a:p>
        </p:txBody>
      </p:sp>
      <p:sp>
        <p:nvSpPr>
          <p:cNvPr id="8" name="Text 6"/>
          <p:cNvSpPr txBox="1"/>
          <p:nvPr/>
        </p:nvSpPr>
        <p:spPr>
          <a:xfrm>
            <a:off x="4023360" y="1325880"/>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Set a variable for the whole session: the first on Mac and Linux, the second in PowerShell.</a:t>
            </a:r>
            <a:endParaRPr lang="en-US" sz="1050" dirty="0"/>
          </a:p>
        </p:txBody>
      </p:sp>
      <p:sp>
        <p:nvSpPr>
          <p:cNvPr id="9" name="Shape 7"/>
          <p:cNvSpPr/>
          <p:nvPr/>
        </p:nvSpPr>
        <p:spPr>
          <a:xfrm>
            <a:off x="457200" y="1947672"/>
            <a:ext cx="822960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594360" y="1947672"/>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echo $RUN_BUDGET_USD   /   echo $env:RUN_BUDGET_USD</a:t>
            </a:r>
            <a:endParaRPr lang="en-US" sz="850" dirty="0"/>
          </a:p>
        </p:txBody>
      </p:sp>
      <p:sp>
        <p:nvSpPr>
          <p:cNvPr id="11" name="Text 9"/>
          <p:cNvSpPr txBox="1"/>
          <p:nvPr/>
        </p:nvSpPr>
        <p:spPr>
          <a:xfrm>
            <a:off x="4023360" y="1947672"/>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Print a variable back, to check it is really set in this shell.</a:t>
            </a:r>
            <a:endParaRPr lang="en-US" sz="1050" dirty="0"/>
          </a:p>
        </p:txBody>
      </p:sp>
      <p:sp>
        <p:nvSpPr>
          <p:cNvPr id="12" name="Shape 10"/>
          <p:cNvSpPr/>
          <p:nvPr/>
        </p:nvSpPr>
        <p:spPr>
          <a:xfrm>
            <a:off x="457200" y="2569464"/>
            <a:ext cx="8229600" cy="548640"/>
          </a:xfrm>
          <a:prstGeom prst="roundRect">
            <a:avLst>
              <a:gd name="adj" fmla="val 13333"/>
            </a:avLst>
          </a:prstGeom>
          <a:solidFill>
            <a:srgbClr val="F3F4F6"/>
          </a:solidFill>
          <a:ln w="12700">
            <a:solidFill>
              <a:srgbClr val="F3F4F6"/>
            </a:solidFill>
            <a:prstDash val="solid"/>
          </a:ln>
        </p:spPr>
      </p:sp>
      <p:sp>
        <p:nvSpPr>
          <p:cNvPr id="13" name="Text 11"/>
          <p:cNvSpPr txBox="1"/>
          <p:nvPr/>
        </p:nvSpPr>
        <p:spPr>
          <a:xfrm>
            <a:off x="594360" y="2569464"/>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python3 run_agent.py … &amp;</a:t>
            </a:r>
            <a:endParaRPr lang="en-US" sz="850" dirty="0"/>
          </a:p>
        </p:txBody>
      </p:sp>
      <p:sp>
        <p:nvSpPr>
          <p:cNvPr id="14" name="Text 12"/>
          <p:cNvSpPr txBox="1"/>
          <p:nvPr/>
        </p:nvSpPr>
        <p:spPr>
          <a:xfrm>
            <a:off x="4023360" y="2569464"/>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trailing ampersand runs it in the background, so you can start several and flip the switch.</a:t>
            </a:r>
            <a:endParaRPr lang="en-US" sz="1050" dirty="0"/>
          </a:p>
        </p:txBody>
      </p:sp>
      <p:sp>
        <p:nvSpPr>
          <p:cNvPr id="15" name="Shape 13"/>
          <p:cNvSpPr/>
          <p:nvPr/>
        </p:nvSpPr>
        <p:spPr>
          <a:xfrm>
            <a:off x="457200" y="3191256"/>
            <a:ext cx="8229600" cy="548640"/>
          </a:xfrm>
          <a:prstGeom prst="roundRect">
            <a:avLst>
              <a:gd name="adj" fmla="val 13333"/>
            </a:avLst>
          </a:prstGeom>
          <a:solidFill>
            <a:srgbClr val="FFFFFF"/>
          </a:solidFill>
          <a:ln w="12700">
            <a:solidFill>
              <a:srgbClr val="FFFFFF"/>
            </a:solidFill>
            <a:prstDash val="solid"/>
          </a:ln>
        </p:spPr>
      </p:sp>
      <p:sp>
        <p:nvSpPr>
          <p:cNvPr id="16" name="Text 14"/>
          <p:cNvSpPr txBox="1"/>
          <p:nvPr/>
        </p:nvSpPr>
        <p:spPr>
          <a:xfrm>
            <a:off x="594360" y="3191256"/>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jobs   /   Get-Job</a:t>
            </a:r>
            <a:endParaRPr lang="en-US" sz="850" dirty="0"/>
          </a:p>
        </p:txBody>
      </p:sp>
      <p:sp>
        <p:nvSpPr>
          <p:cNvPr id="17" name="Text 15"/>
          <p:cNvSpPr txBox="1"/>
          <p:nvPr/>
        </p:nvSpPr>
        <p:spPr>
          <a:xfrm>
            <a:off x="4023360" y="3191256"/>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List what you started in the background, to confirm the running ones finished.</a:t>
            </a:r>
            <a:endParaRPr lang="en-US" sz="1050" dirty="0"/>
          </a:p>
        </p:txBody>
      </p:sp>
      <p:sp>
        <p:nvSpPr>
          <p:cNvPr id="18" name="Shape 16"/>
          <p:cNvSpPr/>
          <p:nvPr/>
        </p:nvSpPr>
        <p:spPr>
          <a:xfrm>
            <a:off x="457200" y="3813048"/>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594360" y="3813048"/>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BudgetExceeded</a:t>
            </a:r>
            <a:endParaRPr lang="en-US" sz="850" dirty="0"/>
          </a:p>
        </p:txBody>
      </p:sp>
      <p:sp>
        <p:nvSpPr>
          <p:cNvPr id="20" name="Text 18"/>
          <p:cNvSpPr txBox="1"/>
          <p:nvPr/>
        </p:nvSpPr>
        <p:spPr>
          <a:xfrm>
            <a:off x="4023360" y="3813048"/>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Not a command: the name you give your own exception, so your code can catch this exact case.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Budget Caps and Kill Switches</dc:title>
  <dc:subject>PptxGenJS Presentation</dc:subject>
  <dc:creator>Emmanuel Naweji</dc:creator>
  <cp:lastModifiedBy>Emmanuel Naweji</cp:lastModifiedBy>
  <cp:revision>1</cp:revision>
  <dcterms:created xsi:type="dcterms:W3CDTF">2026-09-23T12:51:10Z</dcterms:created>
  <dcterms:modified xsi:type="dcterms:W3CDTF">2026-09-23T12:51:10Z</dcterms:modified>
</cp:coreProperties>
</file>