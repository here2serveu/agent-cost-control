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 Script" id="{7799e1c6-472b-44ef-1687-c888512eefea}">
          <p14:sldIdLst>
            <p14:sldId id="256"/>
            <p14:sldId id="257"/>
            <p14:sldId id="258"/>
          </p14:sldIdLst>
        </p14:section>
        <p14:section name="Setup · Script" id="{a7866768-4674-4ccd-0d45-427ccadd093a}">
          <p14:sldIdLst>
            <p14:sldId id="259"/>
            <p14:sldId id="260"/>
          </p14:sldIdLst>
        </p14:section>
        <p14:section name="01 · Script" id="{9841c746-291d-8001-920a-2346a58f4d8a}">
          <p14:sldIdLst>
            <p14:sldId id="261"/>
            <p14:sldId id="262"/>
          </p14:sldIdLst>
        </p14:section>
        <p14:section name="01 · iPad" id="{5e8b7973-d842-5069-9889-0819ef474608}">
          <p14:sldIdLst>
            <p14:sldId id="263"/>
          </p14:sldIdLst>
        </p14:section>
        <p14:section name="02 · Script" id="{91147933-2f67-7df5-8781-8741d97d5b2f}">
          <p14:sldIdLst>
            <p14:sldId id="264"/>
            <p14:sldId id="265"/>
            <p14:sldId id="266"/>
          </p14:sldIdLst>
        </p14:section>
        <p14:section name="02 · iPad" id="{3667830e-8c71-6cc3-476f-bc7b5b20a0e5}">
          <p14:sldIdLst>
            <p14:sldId id="267"/>
          </p14:sldIdLst>
        </p14:section>
        <p14:section name="03 · Script" id="{115a5bb9-ec39-9281-293b-2b3ca50ae8ed}">
          <p14:sldIdLst>
            <p14:sldId id="268"/>
            <p14:sldId id="269"/>
          </p14:sldIdLst>
        </p14:section>
        <p14:section name="03 · iPad" id="{3318dc3b-5f38-a527-185d-f2bcf8d196de}">
          <p14:sldIdLst>
            <p14:sldId id="270"/>
          </p14:sldIdLst>
        </p14:section>
        <p14:section name="04 · Script" id="{af6a9774-0579-d54b-9379-8f20ed61a2bc}">
          <p14:sldIdLst>
            <p14:sldId id="271"/>
            <p14:sldId id="272"/>
            <p14:sldId id="273"/>
          </p14:sldIdLst>
        </p14:section>
        <p14:section name="04 · iPad" id="{1120d869-2a1d-27a8-2e72-124ff0ac3a0b}">
          <p14:sldIdLst>
            <p14:sldId id="274"/>
          </p14:sldIdLst>
        </p14:section>
        <p14:section name="05 · Script" id="{c75e5008-c184-6904-8bdf-8a21351c1157}">
          <p14:sldIdLst>
            <p14:sldId id="275"/>
            <p14:sldId id="276"/>
            <p14:sldId id="277"/>
          </p14:sldIdLst>
        </p14:section>
        <p14:section name="05 · iPad" id="{2144f39e-e605-f75c-2b92-7e0d5908ba2d}">
          <p14:sldIdLst>
            <p14:sldId id="278"/>
          </p14:sldIdLst>
        </p14:section>
        <p14:section name="06 · Script" id="{d6993b88-656f-a1bb-c757-3a156aa7dbbd}">
          <p14:sldIdLst>
            <p14:sldId id="279"/>
            <p14:sldId id="280"/>
          </p14:sldIdLst>
        </p14:section>
        <p14:section name="06 · Terminal (VS Code)" id="{305416f5-9bc3-7e84-1cf2-16173b911feb}">
          <p14:sldIdLst>
            <p14:sldId id="281"/>
            <p14:sldId id="282"/>
            <p14:sldId id="283"/>
            <p14:sldId id="284"/>
            <p14:sldId id="285"/>
          </p14:sldIdLst>
        </p14:section>
        <p14:section name="Wrap-up · Script" id="{2b4bacb9-c8a4-1e32-112d-81a0dbe8f8f6}">
          <p14:sldIdLst>
            <p14:sldId id="286"/>
            <p14:sldId id="287"/>
            <p14:sldId id="288"/>
          </p14:sldIdLst>
        </p14:section>
        <p14:section name="Appendix · Reference" id="{21e86de8-891e-8886-8946-9ef75f7ddf38}">
          <p14:sldIdLst>
            <p14:sldId id="289"/>
            <p14:sldId id="290"/>
            <p14:sldId id="291"/>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cost number worth reporting, and the one almost nobody calculates. This module sets the result label we left as unknown back in module 2, does the arithmetic, and turns a technical figure into something a finance team can actually compare against something else.
[Presenter: Emmanuel Naweji · Runtime ~45 min · 6 sections · Course repo github.com/Here2ServeU/agent-cost-control]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metric that finally uses the result label we set to unknown back in module two. Everything else in this course has worked without it. This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1 to 5 settle what the number means and what it shows; section 6 sets the result label and calculates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Module five adds no new tools. You need the machine from module one, the envelope and recorded runs from module two, and Prometheus running so the PromQL query in stage four has something to answer from. The only new file is SUCCESS.md, and you write that yourself before any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If your machine is not set up yet, stop here and watch the video for your computer. The Mac one is youtu.be/8ZIiXg4XOY0; the Windows one is youtu.be/3e2-GRBibWc. The Prometheus pages are there for stage four, where the same calculation becomes a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taxis. Both drive exactly four miles. Both charge you twelve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taxis. Both drive exactly four miles. Both charge you twelve dollars. The first one drives straight to your door. You get out, you are where you wanted to be. The second one drives four miles in circles, gets lost, gives up, and drops you back where you started.
Same distance. Same fare. Would you say those two taxis cost the same? Technically yes. Obviously no.
That is the difference between cost per request and cost per successful task. Cost per request is paying by the mile; it measures how much the machine did and says nothing about whether you got anywhere. Cost per successful task is paying for arrival: everything you spent, including the four miles the second taxi wasted, divided by the journeys that actually finished.
Notice what happens to taxi B in that calculation. Its cost still counts; it goes on the top of the fraction, because you really did spend that money. But it does not count as a successful journey, so it does not go on the bottom. If that is the only thing you take away it is enough: the failures go on the top and not the bottom. That is what makes the number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Draw the two taxis identically; the sameness is the point.
SAY:
Let's draw the two taxis, and make them look as similar as possible.
THEN SAY:
Keep that last line. When you build the calculation later, the mistake people make is to quietly drop the failures out of the sum entirely, which makes the number look much better and makes it meaningless. The failed runs cost real money. They belong on the top.
→ Next: the hard part; what counts as arriving.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the arithmetic, which is a division, but deciding what the word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it did not crash. The program ran to the end without throwing an error. Easiest thing in the world to measure, and almost always true; on a hundred runs you might get ninety-eight. Far too generous; an agent that returns complete nonsense without crashing counts as a success here.
The second: it produced something. An answer came out the other end. Still easy, slightly better, still generous, because the answer might be wrong. Maybe ninety-one.
The third: it passed a check. You write a rule that catches obvious rubbish. If the agent was supposed to return a number between zero and a hundred, check that it did. Now maybe seventy-four pass.
The fourth: a human accepted it. Someone looked at the output and used it, or clicked approve, or did not send it back. This is the real truth. It is also slow and expensive to collect, and you usually only get it for a sample. Maybe sixty-two.
For most people starting out, the third option is the right choice. A check you write is cheap, runs on every task, and is dramatically more honest than the first two. And you can always add human feedback later as a sample to see how far your check is drifting from the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those four numbers again: ninety-eight, ninety-one, seventy-four, sixty-two. All four describe exactly the same hundred runs. Nothing about the agent changed at all. Only the question changed. Which means your cost per successful task could be twenty cents or thirty-two cents depending entirely on a definition you chose. Both are arithmetically correct.
So here is the rule, and it matters more than which one you pick: choose one, write it down, and put the definition next to the number every single time you report it. A number without its definition is not a measurement. It is a rumour.
One practical warning. Once you publish a number, people build expectations on it. If you later change the definition, say you tighten your check, your metric will move even though nothing about the agent changed. When that happens, say so loudly, or it looks like the system got worse overnight.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Four cards with the percentages prominent; the spread is the teaching.
SAY:
Let's draw all four definitions with the number each one produces.
THEN SAY:
One practical warning. Once you publish a number, people build expectations on it. If you later change the definition, say you tighten your check, your metric will move even though nothing about the agent changed. When that happens, say so loudly, or it looks like the system got worse overnight.
→ Next: the arithmetic, which is the easy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all that, the sum itself is a single division.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you spent, on the top. The runs that succeeded, on the bottom. That is it. But let me say the top line more carefully, because this is where people go wrong: everything you spent means everything. Including the failures. Including the retries. Including the runs that looped for nine hours and produced nothing.
The temptation is to only count the money spent on successful runs, because it feels more like a fair comparison. It is not. That number tells you what a success costs when everything goes well, which is a fact about a world you do not live in.
A hundred runs started. Sixty-two succeeded. Thirty-eight failed, after spending money. Nineteen dollars spent in total. Cost per request: nineteen cents, and nobody in a meeting would question it. Cost per successful task: thirty-one cents. Sixty percent higher. Same afternoon, same money, same agent. And thirty-one cents is the number you should report.
One small practical point about time windows. Do this over a period long enough to include a normal amount of failure; a week is usually sensible. If you calculate it over one hour and that hour happened to have no failures, you will get a lovely number that means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Draw the fraction large, then the worked rows, then the two answers side by side.
SAY:
Let's draw the fraction, and then work one afternoon through it.
THEN SAY:
One small practical point about time windows. Do this over a period long enough to include a normal amount of failure; a week is usually sensible. If you calculate it over one hour and that hour happened to have no failures, you will get a lovely number that means nothing.
→ Next: what this number shows you that others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moves when nothing else does, and sometimes in the opposite direction to what you would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one: you switch to a cheaper model. Spending falls from nineteen dollars to fourteen. Anyone looking at the bill would call that a win. But the cheaper model is less capable, so more tasks fail and more get retried. Successes drop from sixty-two to forty-one. Do the division: thirty-four cents. The metric got worse. You spent less money and made the system worse, and total spend told you the opposite.
Scenario two: you add checkpoints, from module four. Spending falls from nineteen to thirteen, because you stopped paying twice for the same work. Successes are unchanged at sixty-two; the answers are identical. Twenty-one cents. Clearly better, and the bill agrees.
Scenario three is the interesting one. You raise the step limit, because you noticed some real tasks were being stopped just short of finishing. Spending goes up: nineteen becomes twenty-four. On the bill, that looks like a failure. But successes go from sixty-two to eighty-four. Twenty-nine cents. Better than where you started.
You spent more and got better value, and there is no other number in this course that would have told you that. Total spend would have called it a regression and somebody would have reverted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case for this metric in one sentence: it is the only number here that can tell the difference between spending less and being worth more.
Row three is worth remembering for a specific reason. At some point someone will ask you to cut agent spending by a fixed percentage. This metric is how you find out whether that request makes the business better or worse; and occasionally how you make the case that the right move is to spend a bit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Three scenario rows with the three columns aligned, then the punchline.
SAY:
Let's draw three changes you might make, and what each does to the number.
THEN SAY:
Row three is worth remembering for a specific reason. At some point someone will ask you to cut agent spending by a fixed percentage. This metric is how you find out whether that request makes the business better or worse; and occasionally how you make the case that the right move is to spend a bit more.
→ Next: saying it so a non-engineer can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step, and it is not technical at all. It is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outside engineering buys tasks. If you tell a finance director that your agent costs thirty-one cents per successful task, they will nod politely and it will mean nothing to them, because they do not know what a task is or whether thirty-one cents is good.
So translate it once, into the unit their world already uses. Thirty-one cents per successful task becomes thirty-one cents per resolved support ticket. Or per invoice processed. Or per document summarised. Whatever the agent is actually for. It is the same number, but now it is attached to something they already count, already budget for, and already have opinions about.
And the moment it is in their unit, something useful happens: they can compare it to something else. A human doing the same ticket might cost four dollars and twenty cents. Your agent does it for thirty-one cents. That is a conversation worth having. And you should include the honest comparison too: the old rules-based system did it for two cents a ticket, but only handled forty percent of them. Now the trade-off is visible, and somebody can make a real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entire reason this metric exists. Not so engineers can optimise. So that the people who decide whether the agent continues to exist can understand what they are buying.
One last piece of advice about reporting it. Give the number, give its definition, and give the comparison. All three, every time. A number on its own invites people to invent their own context for it, and the context they invent is rarely the one you want.
Notice that the third comparison is not flattering to the agent on cost alone. Include it anyway. If you only ever present comparisons that make your work look good, people eventually stop believing the ones that do, and the honest version is the one that gets you listened to when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Translations at the top, comparisons underneath.
SAY:
Let's draw the translation, and then what it lets someone compare against.
THEN SAY:
Notice that the third comparison is not flattering to the agent on cost alone. Include it anyway. If you only ever present comparisons that make your work look good, people eventually stop believing the ones that do, and the honest version is the one that gets you listened to when it matters.
→ Last section: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We are finally setting that result label, then calculating the metric, then alerting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We are finally setting that result label, then calculating the metric, then alerting on it. Everything still lives in the envelope from module two.
Production note — Build in an editor with a terminal beside it. Stage 3 is the moment the whole course pays off; let the number sit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one: write down your definition. Before touching any code, open a file called SUCCESS.md and write a paragraph saying what counts as success for your agent and why. This sounds like a formality. It is the most important stage, and it is the one people skip.
Read it back and ask whether a colleague could apply your definition to ten runs and get the same answers you would. If not, it is not specific enough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two: write the check. Turn that paragraph into a function that takes a run's output and returns true or false. Keep it simple; does the output have the right shape, are the required fields present, is the number in a plausible range. Then set the result label from it, replacing the unknown we have been carrying since module two.
Look at the metrics output. The result label should now say success or failure rather than unknown. Run a few tasks, including the malformed one, and confirm both values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three: the metric. Write a script that reads your recorded runs over a window, sums all spend, counts successful runs, and divides. Print all three numbers; spend, successes, and the result; not just the answer.
There it is. Sit with that number for a moment and compare it against your cost per request. For most agents at this stage the gap is somewhere between fifty and a hundred percent, and it is the first time most people see what their work actually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four: the same thing in PromQL, so it can live on a dashboard. You want total cost divided by the count of runs where the result label is success, over the same window. Add it as a recording rule so the dashboard does not recompute it constantly.
That should roughly match what your script printed. If it does not, the usual cause is the two calculations covering different time windows; check both before assuming something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five: alert on the ratio, not on spend. Set an alert for when cost per successful task rises above a threshold you choose from your own data. This is the alert that catches quality problems disguised as cost problems.
Comparing against the previous window is what makes it actionable. A number in isolation tells you little; a number that moved fifteen percent since last week tells you to go and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module five, and the course is now functionally complete. You can see what you spend, with four labels attached. You have caps that stop a runaway by themselves, and a switch anyone can flip. You stop paying twice for repeated work. And you now have the one number that tells you whether any of it is actually worth the money.
The result label we set to unknown back in module two is finally set properly, which means every calculation that depends on success is now real rather than an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name one thing honestly before the last module. Your definition of success is almost certainly imperfect. A check you wrote will pass some outputs that a human would reject, and probably fail a few that are fine. That is normal, and it does not make the number useless; it makes it a good approximation that you can improve.
The thing that would make it useless is not writing the definition down at all, so that nobody knows what the number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six pulls everything together into something that runs without you watching it. The dashboard, burn-rate alerts, model routing for the cheap steps, and the weekly review that makes this somebody's actual job rather than a project you did once. See you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 exercises before module 6.
1. Write SUCCESS.md first. Before any code, write a paragraph defining success for your agent. Test it: could a colleague apply it to ten runs and get the same answers you would?
2. Score the same runs four ways. Take fifty real runs and count how many pass each of the four definitions. Write down all four numbers and look at the spread.
3. Build the check. Turn your definition into a function returning true or false. Set the result label from it. Confirm the metrics output no longer says unknown.
4. Calculate the metric by hand. For one week of runs: total spend divided by successful runs. Do it in a spreadsheet first. Compare against cost per request and note the gap.
5. Automate it. Write cost_per_success.py. Print spend, successes and the result; all three, never just the answer.
6. Put it in PromQL. Write the same calculation as a query and confirm it matches your script. If they differ, check the time windows before assuming a bug.
7. Run the three scenarios. Model what happens if you switch to a cheaper model, add checkpoints, or raise the step limit. Estimates are fine; the point is seeing spend and value move in opposite directions.
8. Translate it, and compare it. Write your number in the business unit, then find one honest comparison, including one that does not flatter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Cost per successful task : Total spend divided by the runs that succeeded. Failures count on the top, not the bottom.
02 Numerator and denominator : The top and bottom of a fraction: everything you spent on top, successful runs underneath.
03 The taxi test : Two taxis drive four miles for the same fare; one arrives. Cost per request cannot tell them apart.
04 The four definitions : Didn't crash (~98%), produced something (~91%), passed a check (~74%), a human accepted it (~62%).
05 Definition beats precision : Your number can be $0.20 or $0.32 purely by definition. Publish the definition with the number.
06 A check : A simple rule catching obvious rubbish: right shape, required fields, plausible range. Usually the right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 The result label : The fourth label from module 2, unknown until now. Everything that depends on success needs it set.
08 Spending less vs worth more : A cheaper model can lower spend and raise this metric. Only this number tells them apart.
09 Recording rule : A pre-calculated query stored by Prometheus, so a dashboard does not recompute an expensive sum.
10 Alerting on the ratio : Alert when cost per successful task rises, not when spend rises. Catches quality problems in disguise.
11 Translation : Restating the number in the unit the business counts: per ticket, per invoice, per document.
12 Number, definition, comparison : Report all three, every time. A number alone invites context you did not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 SUCCESS.md   /   Get-Content SUCCESS.md : Print your definition back. The first on Mac and Linux, the second in PowerShell.
python3 run_agent.py … &amp;&amp; curl -s localhost:8000/metrics : Run one task, then read the metrics your program is serving.
| grep result= : Keep only the lines mentioning the result label, so you can see success or failure.
python3 cost_per_success.py --since 7d : Your own script: spend, successes and the division, over the last seven days.
--compare-previous : A flag on your script: show the same figure for the window before, so you can see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localhost:9090 : Where Prometheus answers queries; 8000 is your own program's metrics page.
/api/v1/query?query=… : Ask Prometheus a question over HTTP and get the answer as JSON.
sum(increase(agent_cost_usd_total[7d])) : How much that counter grew over seven days, added up across all labels.
agent_runs_total{result="success"} : Only the runs whose result label says success; this is the denominator.
Recording rule : Not a command: a query Prometheus computes on a schedule, so dashboards load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youtu.be/8ZIiXg4XOY0" TargetMode="External"/><Relationship Id="rId2" Type="http://schemas.openxmlformats.org/officeDocument/2006/relationships/hyperlink" Target="https://youtu.be/3e2-GRBibWc" TargetMode="External"/><Relationship Id="rId3" Type="http://schemas.openxmlformats.org/officeDocument/2006/relationships/hyperlink" Target="https://python.org/downloads" TargetMode="External"/><Relationship Id="rId4" Type="http://schemas.openxmlformats.org/officeDocument/2006/relationships/hyperlink" Target="https://prometheus.io/docs/prometheus/latest/querying/basics" TargetMode="External"/><Relationship Id="rId5" Type="http://schemas.openxmlformats.org/officeDocument/2006/relationships/hyperlink" Target="https://prometheus.io/docs/prometheus/latest/configuration/recording_rules" TargetMode="External"/><Relationship Id="rId6" Type="http://schemas.openxmlformats.org/officeDocument/2006/relationships/hyperlink" Target="https://prometheus.io/docs/prometheus/latest/configuration/alerting_rules" TargetMode="Externa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822960"/>
            <a:ext cx="7315200" cy="274320"/>
          </a:xfrm>
          <a:prstGeom prst="rect">
            <a:avLst/>
          </a:prstGeom>
          <a:noFill/>
          <a:ln/>
        </p:spPr>
        <p:txBody>
          <a:bodyPr wrap="square" lIns="0" tIns="0" rIns="0" bIns="0" rtlCol="0" anchor="t"/>
          <a:lstStyle/>
          <a:p>
            <a:pPr indent="0" marL="0">
              <a:buNone/>
            </a:pPr>
            <a:r>
              <a:rPr lang="en-US" sz="1100" b="1" spc="300" kern="0" dirty="0">
                <a:solidFill>
                  <a:srgbClr val="F59E0B"/>
                </a:solidFill>
                <a:latin typeface="Calibri" pitchFamily="34" charset="0"/>
                <a:ea typeface="Calibri" pitchFamily="34" charset="-122"/>
                <a:cs typeface="Calibri" pitchFamily="34" charset="-120"/>
              </a:rPr>
              <a:t>THE AGENT COST PROBLEM  ·  MODULE 5 OF 6</a:t>
            </a:r>
            <a:endParaRPr lang="en-US" sz="1100" dirty="0"/>
          </a:p>
        </p:txBody>
      </p:sp>
      <p:sp>
        <p:nvSpPr>
          <p:cNvPr id="3" name="Text 1"/>
          <p:cNvSpPr txBox="1"/>
          <p:nvPr/>
        </p:nvSpPr>
        <p:spPr>
          <a:xfrm>
            <a:off x="548640" y="1234440"/>
            <a:ext cx="7772400" cy="15544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Cost Per</a:t>
            </a:r>
            <a:endParaRPr lang="en-US" sz="4600" dirty="0"/>
          </a:p>
          <a:p>
            <a:pPr indent="0" marL="0">
              <a:buNone/>
            </a:pPr>
            <a:r>
              <a:rPr lang="en-US" sz="4600" b="1" dirty="0">
                <a:solidFill>
                  <a:srgbClr val="FFFFFF"/>
                </a:solidFill>
                <a:latin typeface="Cambria" pitchFamily="34" charset="0"/>
                <a:ea typeface="Cambria" pitchFamily="34" charset="-122"/>
                <a:cs typeface="Cambria" pitchFamily="34" charset="-120"/>
              </a:rPr>
              <a:t>Successful Task</a:t>
            </a:r>
            <a:endParaRPr lang="en-US" sz="4600" dirty="0"/>
          </a:p>
        </p:txBody>
      </p:sp>
      <p:sp>
        <p:nvSpPr>
          <p:cNvPr id="4" name="Text 2"/>
          <p:cNvSpPr txBox="1"/>
          <p:nvPr/>
        </p:nvSpPr>
        <p:spPr>
          <a:xfrm>
            <a:off x="548640" y="2880360"/>
            <a:ext cx="7772400" cy="64008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The only cost number worth reporting, </a:t>
            </a:r>
            <a:pPr indent="0" marL="0">
              <a:buNone/>
            </a:pPr>
            <a:r>
              <a:rPr lang="en-US" sz="1800" b="1" dirty="0">
                <a:solidFill>
                  <a:srgbClr val="FFFFFF"/>
                </a:solidFill>
                <a:latin typeface="Calibri" pitchFamily="34" charset="0"/>
                <a:ea typeface="Calibri" pitchFamily="34" charset="-122"/>
                <a:cs typeface="Calibri" pitchFamily="34" charset="-120"/>
              </a:rPr>
              <a:t>and the one almost nobody calculates.</a:t>
            </a:r>
            <a:endParaRPr lang="en-US" sz="1800" dirty="0"/>
          </a:p>
        </p:txBody>
      </p:sp>
      <p:sp>
        <p:nvSpPr>
          <p:cNvPr id="5" name="Text 3"/>
          <p:cNvSpPr txBox="1"/>
          <p:nvPr/>
        </p:nvSpPr>
        <p:spPr>
          <a:xfrm>
            <a:off x="548640" y="3931920"/>
            <a:ext cx="192024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PRESENTER</a:t>
            </a:r>
            <a:endParaRPr lang="en-US" sz="900" dirty="0"/>
          </a:p>
        </p:txBody>
      </p:sp>
      <p:sp>
        <p:nvSpPr>
          <p:cNvPr id="6" name="Text 4"/>
          <p:cNvSpPr txBox="1"/>
          <p:nvPr/>
        </p:nvSpPr>
        <p:spPr>
          <a:xfrm>
            <a:off x="548640" y="4160520"/>
            <a:ext cx="19202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Emmanuel Naweji</a:t>
            </a:r>
            <a:endParaRPr lang="en-US" sz="1200" dirty="0"/>
          </a:p>
        </p:txBody>
      </p:sp>
      <p:sp>
        <p:nvSpPr>
          <p:cNvPr id="7" name="Text 5"/>
          <p:cNvSpPr txBox="1"/>
          <p:nvPr/>
        </p:nvSpPr>
        <p:spPr>
          <a:xfrm>
            <a:off x="2651760" y="3931920"/>
            <a:ext cx="192024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RUNTIME</a:t>
            </a:r>
            <a:endParaRPr lang="en-US" sz="900" dirty="0"/>
          </a:p>
        </p:txBody>
      </p:sp>
      <p:sp>
        <p:nvSpPr>
          <p:cNvPr id="8" name="Text 6"/>
          <p:cNvSpPr txBox="1"/>
          <p:nvPr/>
        </p:nvSpPr>
        <p:spPr>
          <a:xfrm>
            <a:off x="2651760" y="4160520"/>
            <a:ext cx="19202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~45 min · 6 sections</a:t>
            </a:r>
            <a:endParaRPr lang="en-US" sz="1200" dirty="0"/>
          </a:p>
        </p:txBody>
      </p:sp>
      <p:sp>
        <p:nvSpPr>
          <p:cNvPr id="9" name="Text 7"/>
          <p:cNvSpPr txBox="1"/>
          <p:nvPr/>
        </p:nvSpPr>
        <p:spPr>
          <a:xfrm>
            <a:off x="4754880" y="3931920"/>
            <a:ext cx="384048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COURSE REPO</a:t>
            </a:r>
            <a:endParaRPr lang="en-US" sz="900" dirty="0"/>
          </a:p>
        </p:txBody>
      </p:sp>
      <p:sp>
        <p:nvSpPr>
          <p:cNvPr id="10" name="Text 8"/>
          <p:cNvSpPr txBox="1"/>
          <p:nvPr/>
        </p:nvSpPr>
        <p:spPr>
          <a:xfrm>
            <a:off x="4754880" y="4160520"/>
            <a:ext cx="384048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github.com/Here2ServeU/agent-cost-control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WHAT THIS MODULE GIVES YOU</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
        <p:nvSpPr>
          <p:cNvPr id="5" name="Text 3"/>
          <p:cNvSpPr txBox="1"/>
          <p:nvPr/>
        </p:nvSpPr>
        <p:spPr>
          <a:xfrm>
            <a:off x="457200" y="731520"/>
            <a:ext cx="8229600" cy="1371600"/>
          </a:xfrm>
          <a:prstGeom prst="rect">
            <a:avLst/>
          </a:prstGeom>
          <a:noFill/>
          <a:ln/>
        </p:spPr>
        <p:txBody>
          <a:bodyPr wrap="square" lIns="0" tIns="0" rIns="0" bIns="0" rtlCol="0" anchor="t"/>
          <a:lstStyle/>
          <a:p>
            <a:pPr indent="0" marL="0">
              <a:buNone/>
            </a:pPr>
            <a:r>
              <a:rPr lang="en-US" sz="3600" b="1" dirty="0">
                <a:solidFill>
                  <a:srgbClr val="111827"/>
                </a:solidFill>
                <a:latin typeface="Cambria" pitchFamily="34" charset="0"/>
                <a:ea typeface="Cambria" pitchFamily="34" charset="-122"/>
                <a:cs typeface="Cambria" pitchFamily="34" charset="-120"/>
              </a:rPr>
              <a:t>The failures go on the top,</a:t>
            </a:r>
            <a:endParaRPr lang="en-US" sz="3600" dirty="0"/>
          </a:p>
          <a:p>
            <a:pPr indent="0" marL="0">
              <a:buNone/>
            </a:pPr>
            <a:r>
              <a:rPr lang="en-US" sz="3600" b="1" dirty="0">
                <a:solidFill>
                  <a:srgbClr val="111827"/>
                </a:solidFill>
                <a:latin typeface="Cambria" pitchFamily="34" charset="0"/>
                <a:ea typeface="Cambria" pitchFamily="34" charset="-122"/>
                <a:cs typeface="Cambria" pitchFamily="34" charset="-120"/>
              </a:rPr>
              <a:t>not the bottom.</a:t>
            </a:r>
            <a:endParaRPr lang="en-US" sz="3600" dirty="0"/>
          </a:p>
        </p:txBody>
      </p:sp>
      <p:sp>
        <p:nvSpPr>
          <p:cNvPr id="6" name="Shape 4"/>
          <p:cNvSpPr/>
          <p:nvPr/>
        </p:nvSpPr>
        <p:spPr>
          <a:xfrm>
            <a:off x="457200" y="2514600"/>
            <a:ext cx="2606040" cy="1920240"/>
          </a:xfrm>
          <a:prstGeom prst="roundRect">
            <a:avLst>
              <a:gd name="adj" fmla="val 3810"/>
            </a:avLst>
          </a:prstGeom>
          <a:solidFill>
            <a:srgbClr val="F3F4F6"/>
          </a:solidFill>
          <a:ln w="12700">
            <a:solidFill>
              <a:srgbClr val="F3F4F6"/>
            </a:solidFill>
            <a:prstDash val="solid"/>
          </a:ln>
        </p:spPr>
      </p:sp>
      <p:sp>
        <p:nvSpPr>
          <p:cNvPr id="7" name="Shape 5"/>
          <p:cNvSpPr/>
          <p:nvPr/>
        </p:nvSpPr>
        <p:spPr>
          <a:xfrm>
            <a:off x="685800" y="2697480"/>
            <a:ext cx="384048" cy="384048"/>
          </a:xfrm>
          <a:prstGeom prst="roundRect">
            <a:avLst>
              <a:gd name="adj" fmla="val 19048"/>
            </a:avLst>
          </a:prstGeom>
          <a:solidFill>
            <a:srgbClr val="1D4ED8"/>
          </a:solidFill>
          <a:ln w="12700">
            <a:solidFill>
              <a:srgbClr val="1D4ED8"/>
            </a:solidFill>
            <a:prstDash val="solid"/>
          </a:ln>
        </p:spPr>
      </p:sp>
      <p:pic>
        <p:nvPicPr>
          <p:cNvPr id="8" name="Image 0" descr="preencoded.png">    </p:cNvPr>
          <p:cNvPicPr>
            <a:picLocks noChangeAspect="1"/>
          </p:cNvPicPr>
          <p:nvPr/>
        </p:nvPicPr>
        <p:blipFill>
          <a:blip r:embed="rId1"/>
          <a:stretch>
            <a:fillRect/>
          </a:stretch>
        </p:blipFill>
        <p:spPr>
          <a:xfrm>
            <a:off x="768096" y="2779776"/>
            <a:ext cx="219456" cy="219456"/>
          </a:xfrm>
          <a:prstGeom prst="rect">
            <a:avLst/>
          </a:prstGeom>
        </p:spPr>
      </p:pic>
      <p:sp>
        <p:nvSpPr>
          <p:cNvPr id="9" name="Text 6"/>
          <p:cNvSpPr txBox="1"/>
          <p:nvPr/>
        </p:nvSpPr>
        <p:spPr>
          <a:xfrm>
            <a:off x="68580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definition of success</a:t>
            </a:r>
            <a:endParaRPr lang="en-US" sz="1500" dirty="0"/>
          </a:p>
        </p:txBody>
      </p:sp>
      <p:sp>
        <p:nvSpPr>
          <p:cNvPr id="10" name="Text 7"/>
          <p:cNvSpPr txBox="1"/>
          <p:nvPr/>
        </p:nvSpPr>
        <p:spPr>
          <a:xfrm>
            <a:off x="68580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Written down, so the number means the same thing every time you report it.</a:t>
            </a:r>
            <a:endParaRPr lang="en-US" sz="1200" dirty="0"/>
          </a:p>
        </p:txBody>
      </p:sp>
      <p:sp>
        <p:nvSpPr>
          <p:cNvPr id="11" name="Shape 8"/>
          <p:cNvSpPr/>
          <p:nvPr/>
        </p:nvSpPr>
        <p:spPr>
          <a:xfrm>
            <a:off x="3246120" y="2514600"/>
            <a:ext cx="2606040" cy="1920240"/>
          </a:xfrm>
          <a:prstGeom prst="roundRect">
            <a:avLst>
              <a:gd name="adj" fmla="val 3810"/>
            </a:avLst>
          </a:prstGeom>
          <a:solidFill>
            <a:srgbClr val="F3F4F6"/>
          </a:solidFill>
          <a:ln w="12700">
            <a:solidFill>
              <a:srgbClr val="F3F4F6"/>
            </a:solidFill>
            <a:prstDash val="solid"/>
          </a:ln>
        </p:spPr>
      </p:sp>
      <p:sp>
        <p:nvSpPr>
          <p:cNvPr id="12" name="Shape 9"/>
          <p:cNvSpPr/>
          <p:nvPr/>
        </p:nvSpPr>
        <p:spPr>
          <a:xfrm>
            <a:off x="3474720" y="2697480"/>
            <a:ext cx="384048" cy="384048"/>
          </a:xfrm>
          <a:prstGeom prst="roundRect">
            <a:avLst>
              <a:gd name="adj" fmla="val 19048"/>
            </a:avLst>
          </a:prstGeom>
          <a:solidFill>
            <a:srgbClr val="047857"/>
          </a:solidFill>
          <a:ln w="12700">
            <a:solidFill>
              <a:srgbClr val="047857"/>
            </a:solidFill>
            <a:prstDash val="solid"/>
          </a:ln>
        </p:spPr>
      </p:sp>
      <p:pic>
        <p:nvPicPr>
          <p:cNvPr id="13" name="Image 1" descr="preencoded.png">    </p:cNvPr>
          <p:cNvPicPr>
            <a:picLocks noChangeAspect="1"/>
          </p:cNvPicPr>
          <p:nvPr/>
        </p:nvPicPr>
        <p:blipFill>
          <a:blip r:embed="rId2"/>
          <a:stretch>
            <a:fillRect/>
          </a:stretch>
        </p:blipFill>
        <p:spPr>
          <a:xfrm>
            <a:off x="3557016" y="2779776"/>
            <a:ext cx="219456" cy="219456"/>
          </a:xfrm>
          <a:prstGeom prst="rect">
            <a:avLst/>
          </a:prstGeom>
        </p:spPr>
      </p:pic>
      <p:sp>
        <p:nvSpPr>
          <p:cNvPr id="14" name="Text 10"/>
          <p:cNvSpPr txBox="1"/>
          <p:nvPr/>
        </p:nvSpPr>
        <p:spPr>
          <a:xfrm>
            <a:off x="347472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The result label, set</a:t>
            </a:r>
            <a:endParaRPr lang="en-US" sz="1500" dirty="0"/>
          </a:p>
        </p:txBody>
      </p:sp>
      <p:sp>
        <p:nvSpPr>
          <p:cNvPr id="15" name="Text 11"/>
          <p:cNvSpPr txBox="1"/>
          <p:nvPr/>
        </p:nvSpPr>
        <p:spPr>
          <a:xfrm>
            <a:off x="347472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one we left as unknown in module 2 is finally filled in properly.</a:t>
            </a:r>
            <a:endParaRPr lang="en-US" sz="1200" dirty="0"/>
          </a:p>
        </p:txBody>
      </p:sp>
      <p:sp>
        <p:nvSpPr>
          <p:cNvPr id="16" name="Shape 12"/>
          <p:cNvSpPr/>
          <p:nvPr/>
        </p:nvSpPr>
        <p:spPr>
          <a:xfrm>
            <a:off x="6035040" y="2514600"/>
            <a:ext cx="2606040" cy="1920240"/>
          </a:xfrm>
          <a:prstGeom prst="roundRect">
            <a:avLst>
              <a:gd name="adj" fmla="val 3810"/>
            </a:avLst>
          </a:prstGeom>
          <a:solidFill>
            <a:srgbClr val="F3F4F6"/>
          </a:solidFill>
          <a:ln w="12700">
            <a:solidFill>
              <a:srgbClr val="F3F4F6"/>
            </a:solidFill>
            <a:prstDash val="solid"/>
          </a:ln>
        </p:spPr>
      </p:sp>
      <p:sp>
        <p:nvSpPr>
          <p:cNvPr id="17" name="Shape 13"/>
          <p:cNvSpPr/>
          <p:nvPr/>
        </p:nvSpPr>
        <p:spPr>
          <a:xfrm>
            <a:off x="6263640" y="2697480"/>
            <a:ext cx="384048" cy="384048"/>
          </a:xfrm>
          <a:prstGeom prst="roundRect">
            <a:avLst>
              <a:gd name="adj" fmla="val 19048"/>
            </a:avLst>
          </a:prstGeom>
          <a:solidFill>
            <a:srgbClr val="B45309"/>
          </a:solidFill>
          <a:ln w="12700">
            <a:solidFill>
              <a:srgbClr val="B45309"/>
            </a:solidFill>
            <a:prstDash val="solid"/>
          </a:ln>
        </p:spPr>
      </p:sp>
      <p:pic>
        <p:nvPicPr>
          <p:cNvPr id="18" name="Image 2" descr="preencoded.png">    </p:cNvPr>
          <p:cNvPicPr>
            <a:picLocks noChangeAspect="1"/>
          </p:cNvPicPr>
          <p:nvPr/>
        </p:nvPicPr>
        <p:blipFill>
          <a:blip r:embed="rId3"/>
          <a:stretch>
            <a:fillRect/>
          </a:stretch>
        </p:blipFill>
        <p:spPr>
          <a:xfrm>
            <a:off x="6345936" y="2779776"/>
            <a:ext cx="219456" cy="219456"/>
          </a:xfrm>
          <a:prstGeom prst="rect">
            <a:avLst/>
          </a:prstGeom>
        </p:spPr>
      </p:pic>
      <p:sp>
        <p:nvSpPr>
          <p:cNvPr id="19" name="Text 14"/>
          <p:cNvSpPr txBox="1"/>
          <p:nvPr/>
        </p:nvSpPr>
        <p:spPr>
          <a:xfrm>
            <a:off x="626364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 number finance can use</a:t>
            </a:r>
            <a:endParaRPr lang="en-US" sz="1500" dirty="0"/>
          </a:p>
        </p:txBody>
      </p:sp>
      <p:sp>
        <p:nvSpPr>
          <p:cNvPr id="20" name="Text 15"/>
          <p:cNvSpPr txBox="1"/>
          <p:nvPr/>
        </p:nvSpPr>
        <p:spPr>
          <a:xfrm>
            <a:off x="626364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Stated in their unit, next to something they can compare it against.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SECTIONS AT A GLANCE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Six sections; one number worth reporting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457200" y="1417320"/>
            <a:ext cx="2606040" cy="1371600"/>
          </a:xfrm>
          <a:prstGeom prst="roundRect">
            <a:avLst>
              <a:gd name="adj" fmla="val 5333"/>
            </a:avLst>
          </a:prstGeom>
          <a:solidFill>
            <a:srgbClr val="F3F4F6"/>
          </a:solidFill>
          <a:ln w="12700">
            <a:solidFill>
              <a:srgbClr val="F3F4F6"/>
            </a:solidFill>
            <a:prstDash val="solid"/>
          </a:ln>
        </p:spPr>
      </p:sp>
      <p:sp>
        <p:nvSpPr>
          <p:cNvPr id="7" name="Text 5"/>
          <p:cNvSpPr txBox="1"/>
          <p:nvPr/>
        </p:nvSpPr>
        <p:spPr>
          <a:xfrm>
            <a:off x="68580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01</a:t>
            </a:r>
            <a:endParaRPr lang="en-US" sz="2800" dirty="0"/>
          </a:p>
        </p:txBody>
      </p:sp>
      <p:sp>
        <p:nvSpPr>
          <p:cNvPr id="8" name="Text 6"/>
          <p:cNvSpPr txBox="1"/>
          <p:nvPr/>
        </p:nvSpPr>
        <p:spPr>
          <a:xfrm>
            <a:off x="192024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~7 min</a:t>
            </a:r>
            <a:endParaRPr lang="en-US" sz="1100" dirty="0"/>
          </a:p>
        </p:txBody>
      </p:sp>
      <p:sp>
        <p:nvSpPr>
          <p:cNvPr id="9" name="Text 7"/>
          <p:cNvSpPr txBox="1"/>
          <p:nvPr/>
        </p:nvSpPr>
        <p:spPr>
          <a:xfrm>
            <a:off x="68580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The Taxi</a:t>
            </a:r>
            <a:endParaRPr lang="en-US" sz="1400" dirty="0"/>
          </a:p>
        </p:txBody>
      </p:sp>
      <p:sp>
        <p:nvSpPr>
          <p:cNvPr id="10" name="Shape 8"/>
          <p:cNvSpPr/>
          <p:nvPr/>
        </p:nvSpPr>
        <p:spPr>
          <a:xfrm>
            <a:off x="3246120" y="1417320"/>
            <a:ext cx="2606040" cy="1371600"/>
          </a:xfrm>
          <a:prstGeom prst="roundRect">
            <a:avLst>
              <a:gd name="adj" fmla="val 5333"/>
            </a:avLst>
          </a:prstGeom>
          <a:solidFill>
            <a:srgbClr val="F3F4F6"/>
          </a:solidFill>
          <a:ln w="12700">
            <a:solidFill>
              <a:srgbClr val="F3F4F6"/>
            </a:solidFill>
            <a:prstDash val="solid"/>
          </a:ln>
        </p:spPr>
      </p:sp>
      <p:sp>
        <p:nvSpPr>
          <p:cNvPr id="11" name="Text 9"/>
          <p:cNvSpPr txBox="1"/>
          <p:nvPr/>
        </p:nvSpPr>
        <p:spPr>
          <a:xfrm>
            <a:off x="347472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02</a:t>
            </a:r>
            <a:endParaRPr lang="en-US" sz="2800" dirty="0"/>
          </a:p>
        </p:txBody>
      </p:sp>
      <p:sp>
        <p:nvSpPr>
          <p:cNvPr id="12" name="Text 10"/>
          <p:cNvSpPr txBox="1"/>
          <p:nvPr/>
        </p:nvSpPr>
        <p:spPr>
          <a:xfrm>
            <a:off x="470916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~9 min</a:t>
            </a:r>
            <a:endParaRPr lang="en-US" sz="1100" dirty="0"/>
          </a:p>
        </p:txBody>
      </p:sp>
      <p:sp>
        <p:nvSpPr>
          <p:cNvPr id="13" name="Text 11"/>
          <p:cNvSpPr txBox="1"/>
          <p:nvPr/>
        </p:nvSpPr>
        <p:spPr>
          <a:xfrm>
            <a:off x="347472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What Is Success</a:t>
            </a:r>
            <a:endParaRPr lang="en-US" sz="1400" dirty="0"/>
          </a:p>
        </p:txBody>
      </p:sp>
      <p:sp>
        <p:nvSpPr>
          <p:cNvPr id="14" name="Shape 12"/>
          <p:cNvSpPr/>
          <p:nvPr/>
        </p:nvSpPr>
        <p:spPr>
          <a:xfrm>
            <a:off x="6035040" y="1417320"/>
            <a:ext cx="2606040" cy="1371600"/>
          </a:xfrm>
          <a:prstGeom prst="roundRect">
            <a:avLst>
              <a:gd name="adj" fmla="val 5333"/>
            </a:avLst>
          </a:prstGeom>
          <a:solidFill>
            <a:srgbClr val="F3F4F6"/>
          </a:solidFill>
          <a:ln w="12700">
            <a:solidFill>
              <a:srgbClr val="F3F4F6"/>
            </a:solidFill>
            <a:prstDash val="solid"/>
          </a:ln>
        </p:spPr>
      </p:sp>
      <p:sp>
        <p:nvSpPr>
          <p:cNvPr id="15" name="Text 13"/>
          <p:cNvSpPr txBox="1"/>
          <p:nvPr/>
        </p:nvSpPr>
        <p:spPr>
          <a:xfrm>
            <a:off x="626364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03</a:t>
            </a:r>
            <a:endParaRPr lang="en-US" sz="2800" dirty="0"/>
          </a:p>
        </p:txBody>
      </p:sp>
      <p:sp>
        <p:nvSpPr>
          <p:cNvPr id="16" name="Text 14"/>
          <p:cNvSpPr txBox="1"/>
          <p:nvPr/>
        </p:nvSpPr>
        <p:spPr>
          <a:xfrm>
            <a:off x="749808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~6 min</a:t>
            </a:r>
            <a:endParaRPr lang="en-US" sz="1100" dirty="0"/>
          </a:p>
        </p:txBody>
      </p:sp>
      <p:sp>
        <p:nvSpPr>
          <p:cNvPr id="17" name="Text 15"/>
          <p:cNvSpPr txBox="1"/>
          <p:nvPr/>
        </p:nvSpPr>
        <p:spPr>
          <a:xfrm>
            <a:off x="626364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The Arithmetic</a:t>
            </a:r>
            <a:endParaRPr lang="en-US" sz="1400" dirty="0"/>
          </a:p>
        </p:txBody>
      </p:sp>
      <p:sp>
        <p:nvSpPr>
          <p:cNvPr id="18" name="Shape 16"/>
          <p:cNvSpPr/>
          <p:nvPr/>
        </p:nvSpPr>
        <p:spPr>
          <a:xfrm>
            <a:off x="457200" y="2971800"/>
            <a:ext cx="2606040" cy="1371600"/>
          </a:xfrm>
          <a:prstGeom prst="roundRect">
            <a:avLst>
              <a:gd name="adj" fmla="val 5333"/>
            </a:avLst>
          </a:prstGeom>
          <a:solidFill>
            <a:srgbClr val="F3F4F6"/>
          </a:solidFill>
          <a:ln w="12700">
            <a:solidFill>
              <a:srgbClr val="F3F4F6"/>
            </a:solidFill>
            <a:prstDash val="solid"/>
          </a:ln>
        </p:spPr>
      </p:sp>
      <p:sp>
        <p:nvSpPr>
          <p:cNvPr id="19" name="Text 17"/>
          <p:cNvSpPr txBox="1"/>
          <p:nvPr/>
        </p:nvSpPr>
        <p:spPr>
          <a:xfrm>
            <a:off x="685800" y="315468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04</a:t>
            </a:r>
            <a:endParaRPr lang="en-US" sz="2800" dirty="0"/>
          </a:p>
        </p:txBody>
      </p:sp>
      <p:sp>
        <p:nvSpPr>
          <p:cNvPr id="20" name="Text 18"/>
          <p:cNvSpPr txBox="1"/>
          <p:nvPr/>
        </p:nvSpPr>
        <p:spPr>
          <a:xfrm>
            <a:off x="1920240" y="321868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~8 min</a:t>
            </a:r>
            <a:endParaRPr lang="en-US" sz="1100" dirty="0"/>
          </a:p>
        </p:txBody>
      </p:sp>
      <p:sp>
        <p:nvSpPr>
          <p:cNvPr id="21" name="Text 19"/>
          <p:cNvSpPr txBox="1"/>
          <p:nvPr/>
        </p:nvSpPr>
        <p:spPr>
          <a:xfrm>
            <a:off x="685800" y="372160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What It Reveals</a:t>
            </a:r>
            <a:endParaRPr lang="en-US" sz="1400" dirty="0"/>
          </a:p>
        </p:txBody>
      </p:sp>
      <p:sp>
        <p:nvSpPr>
          <p:cNvPr id="22" name="Shape 20"/>
          <p:cNvSpPr/>
          <p:nvPr/>
        </p:nvSpPr>
        <p:spPr>
          <a:xfrm>
            <a:off x="3246120" y="2971800"/>
            <a:ext cx="2606040" cy="1371600"/>
          </a:xfrm>
          <a:prstGeom prst="roundRect">
            <a:avLst>
              <a:gd name="adj" fmla="val 5333"/>
            </a:avLst>
          </a:prstGeom>
          <a:solidFill>
            <a:srgbClr val="F3F4F6"/>
          </a:solidFill>
          <a:ln w="12700">
            <a:solidFill>
              <a:srgbClr val="F3F4F6"/>
            </a:solidFill>
            <a:prstDash val="solid"/>
          </a:ln>
        </p:spPr>
      </p:sp>
      <p:sp>
        <p:nvSpPr>
          <p:cNvPr id="23" name="Text 21"/>
          <p:cNvSpPr txBox="1"/>
          <p:nvPr/>
        </p:nvSpPr>
        <p:spPr>
          <a:xfrm>
            <a:off x="3474720" y="315468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05</a:t>
            </a:r>
            <a:endParaRPr lang="en-US" sz="2800" dirty="0"/>
          </a:p>
        </p:txBody>
      </p:sp>
      <p:sp>
        <p:nvSpPr>
          <p:cNvPr id="24" name="Text 22"/>
          <p:cNvSpPr txBox="1"/>
          <p:nvPr/>
        </p:nvSpPr>
        <p:spPr>
          <a:xfrm>
            <a:off x="4709160" y="321868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~7 min</a:t>
            </a:r>
            <a:endParaRPr lang="en-US" sz="1100" dirty="0"/>
          </a:p>
        </p:txBody>
      </p:sp>
      <p:sp>
        <p:nvSpPr>
          <p:cNvPr id="25" name="Text 23"/>
          <p:cNvSpPr txBox="1"/>
          <p:nvPr/>
        </p:nvSpPr>
        <p:spPr>
          <a:xfrm>
            <a:off x="3474720" y="372160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Telling Finance</a:t>
            </a:r>
            <a:endParaRPr lang="en-US" sz="1400" dirty="0"/>
          </a:p>
        </p:txBody>
      </p:sp>
      <p:sp>
        <p:nvSpPr>
          <p:cNvPr id="26" name="Shape 24"/>
          <p:cNvSpPr/>
          <p:nvPr/>
        </p:nvSpPr>
        <p:spPr>
          <a:xfrm>
            <a:off x="6035040" y="2971800"/>
            <a:ext cx="2606040" cy="1371600"/>
          </a:xfrm>
          <a:prstGeom prst="roundRect">
            <a:avLst>
              <a:gd name="adj" fmla="val 5333"/>
            </a:avLst>
          </a:prstGeom>
          <a:solidFill>
            <a:srgbClr val="111827"/>
          </a:solidFill>
          <a:ln w="12700">
            <a:solidFill>
              <a:srgbClr val="111827"/>
            </a:solidFill>
            <a:prstDash val="solid"/>
          </a:ln>
        </p:spPr>
      </p:sp>
      <p:sp>
        <p:nvSpPr>
          <p:cNvPr id="27" name="Text 25"/>
          <p:cNvSpPr txBox="1"/>
          <p:nvPr/>
        </p:nvSpPr>
        <p:spPr>
          <a:xfrm>
            <a:off x="6263640" y="3154680"/>
            <a:ext cx="914400" cy="457200"/>
          </a:xfrm>
          <a:prstGeom prst="rect">
            <a:avLst/>
          </a:prstGeom>
          <a:noFill/>
          <a:ln/>
        </p:spPr>
        <p:txBody>
          <a:bodyPr wrap="square" lIns="0" tIns="0" rIns="0" bIns="0" rtlCol="0" anchor="t"/>
          <a:lstStyle/>
          <a:p>
            <a:pPr indent="0" marL="0">
              <a:buNone/>
            </a:pPr>
            <a:r>
              <a:rPr lang="en-US" sz="2800" b="1" dirty="0">
                <a:solidFill>
                  <a:srgbClr val="F59E0B"/>
                </a:solidFill>
                <a:latin typeface="Cambria" pitchFamily="34" charset="0"/>
                <a:ea typeface="Cambria" pitchFamily="34" charset="-122"/>
                <a:cs typeface="Cambria" pitchFamily="34" charset="-120"/>
              </a:rPr>
              <a:t>06</a:t>
            </a:r>
            <a:endParaRPr lang="en-US" sz="2800" dirty="0"/>
          </a:p>
        </p:txBody>
      </p:sp>
      <p:sp>
        <p:nvSpPr>
          <p:cNvPr id="28" name="Text 26"/>
          <p:cNvSpPr txBox="1"/>
          <p:nvPr/>
        </p:nvSpPr>
        <p:spPr>
          <a:xfrm>
            <a:off x="7498080" y="3218688"/>
            <a:ext cx="960120" cy="274320"/>
          </a:xfrm>
          <a:prstGeom prst="rect">
            <a:avLst/>
          </a:prstGeom>
          <a:noFill/>
          <a:ln/>
        </p:spPr>
        <p:txBody>
          <a:bodyPr wrap="square" lIns="0" tIns="0" rIns="0" bIns="0" rtlCol="0" anchor="t"/>
          <a:lstStyle/>
          <a:p>
            <a:pPr algn="r" indent="0" marL="0">
              <a:buNone/>
            </a:pPr>
            <a:r>
              <a:rPr lang="en-US" sz="1100" dirty="0">
                <a:solidFill>
                  <a:srgbClr val="9CA3AF"/>
                </a:solidFill>
                <a:latin typeface="Calibri" pitchFamily="34" charset="0"/>
                <a:ea typeface="Calibri" pitchFamily="34" charset="-122"/>
                <a:cs typeface="Calibri" pitchFamily="34" charset="-120"/>
              </a:rPr>
              <a:t>~10 min</a:t>
            </a:r>
            <a:endParaRPr lang="en-US" sz="1100" dirty="0"/>
          </a:p>
        </p:txBody>
      </p:sp>
      <p:sp>
        <p:nvSpPr>
          <p:cNvPr id="29" name="Text 27"/>
          <p:cNvSpPr txBox="1"/>
          <p:nvPr/>
        </p:nvSpPr>
        <p:spPr>
          <a:xfrm>
            <a:off x="6263640" y="3721608"/>
            <a:ext cx="219456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Build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BEFORE YOU START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Install what you need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
        <p:nvSpPr>
          <p:cNvPr id="6" name="Text 4"/>
          <p:cNvSpPr txBox="1"/>
          <p:nvPr/>
        </p:nvSpPr>
        <p:spPr>
          <a:xfrm>
            <a:off x="457200" y="1188720"/>
            <a:ext cx="8229600" cy="3200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Ten minutes once, and every command in this module will run. Pick your side.</a:t>
            </a:r>
            <a:endParaRPr lang="en-US" sz="1400" dirty="0"/>
          </a:p>
        </p:txBody>
      </p:sp>
      <p:sp>
        <p:nvSpPr>
          <p:cNvPr id="7" name="Shape 5"/>
          <p:cNvSpPr/>
          <p:nvPr/>
        </p:nvSpPr>
        <p:spPr>
          <a:xfrm>
            <a:off x="457200" y="1600200"/>
            <a:ext cx="4023360" cy="2148840"/>
          </a:xfrm>
          <a:prstGeom prst="roundRect">
            <a:avLst>
              <a:gd name="adj" fmla="val 3404"/>
            </a:avLst>
          </a:prstGeom>
          <a:solidFill>
            <a:srgbClr val="F3F4F6"/>
          </a:solidFill>
          <a:ln w="12700">
            <a:solidFill>
              <a:srgbClr val="F3F4F6"/>
            </a:solidFill>
            <a:prstDash val="solid"/>
          </a:ln>
        </p:spPr>
      </p:sp>
      <p:sp>
        <p:nvSpPr>
          <p:cNvPr id="8" name="Text 6"/>
          <p:cNvSpPr txBox="1"/>
          <p:nvPr/>
        </p:nvSpPr>
        <p:spPr>
          <a:xfrm>
            <a:off x="685800" y="1737360"/>
            <a:ext cx="3566160" cy="274320"/>
          </a:xfrm>
          <a:prstGeom prst="rect">
            <a:avLst/>
          </a:prstGeom>
          <a:noFill/>
          <a:ln/>
        </p:spPr>
        <p:txBody>
          <a:bodyPr wrap="square" lIns="0" tIns="0" rIns="0" bIns="0" rtlCol="0" anchor="t"/>
          <a:lstStyle/>
          <a:p>
            <a:pPr indent="0" marL="0">
              <a:buNone/>
            </a:pPr>
            <a:r>
              <a:rPr lang="en-US" sz="1100" b="1" spc="100" kern="0" dirty="0">
                <a:solidFill>
                  <a:srgbClr val="1D4ED8"/>
                </a:solidFill>
                <a:latin typeface="Calibri" pitchFamily="34" charset="0"/>
                <a:ea typeface="Calibri" pitchFamily="34" charset="-122"/>
                <a:cs typeface="Calibri" pitchFamily="34" charset="-120"/>
              </a:rPr>
              <a:t>macOS  ·  TERMINAL</a:t>
            </a:r>
            <a:endParaRPr lang="en-US" sz="1100" dirty="0"/>
          </a:p>
        </p:txBody>
      </p:sp>
      <p:sp>
        <p:nvSpPr>
          <p:cNvPr id="9" name="Shape 7"/>
          <p:cNvSpPr/>
          <p:nvPr/>
        </p:nvSpPr>
        <p:spPr>
          <a:xfrm>
            <a:off x="685800" y="2057400"/>
            <a:ext cx="3566160" cy="1508760"/>
          </a:xfrm>
          <a:prstGeom prst="roundRect">
            <a:avLst>
              <a:gd name="adj" fmla="val 4848"/>
            </a:avLst>
          </a:prstGeom>
          <a:solidFill>
            <a:srgbClr val="0F172A"/>
          </a:solidFill>
          <a:ln w="12700">
            <a:solidFill>
              <a:srgbClr val="0F172A"/>
            </a:solidFill>
            <a:prstDash val="solid"/>
          </a:ln>
        </p:spPr>
      </p:sp>
      <p:sp>
        <p:nvSpPr>
          <p:cNvPr id="10" name="Text 8"/>
          <p:cNvSpPr txBox="1"/>
          <p:nvPr/>
        </p:nvSpPr>
        <p:spPr>
          <a:xfrm>
            <a:off x="868680" y="2194560"/>
            <a:ext cx="3291840" cy="1280160"/>
          </a:xfrm>
          <a:prstGeom prst="rect">
            <a:avLst/>
          </a:prstGeom>
          <a:noFill/>
          <a:ln/>
        </p:spPr>
        <p:txBody>
          <a:bodyPr wrap="square" lIns="0" tIns="0" rIns="0" bIns="0" rtlCol="0" anchor="t"/>
          <a:lstStyle/>
          <a:p>
            <a:pPr indent="0" marL="0">
              <a:buNone/>
            </a:pPr>
            <a:r>
              <a:rPr lang="en-US" sz="950" dirty="0">
                <a:solidFill>
                  <a:srgbClr val="9CA3AF"/>
                </a:solidFill>
                <a:latin typeface="Courier New" pitchFamily="34" charset="0"/>
                <a:ea typeface="Courier New" pitchFamily="34" charset="-122"/>
                <a:cs typeface="Courier New" pitchFamily="34" charset="-120"/>
              </a:rPr>
              <a:t># install Homebrew first: brew.sh</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python git</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--cask \</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visual-studio-code</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python3 --version &amp;&amp; git --version</a:t>
            </a:r>
            <a:endParaRPr lang="en-US" sz="950" dirty="0"/>
          </a:p>
        </p:txBody>
      </p:sp>
      <p:sp>
        <p:nvSpPr>
          <p:cNvPr id="11" name="Shape 9"/>
          <p:cNvSpPr/>
          <p:nvPr/>
        </p:nvSpPr>
        <p:spPr>
          <a:xfrm>
            <a:off x="4663440" y="1600200"/>
            <a:ext cx="4023360" cy="2148840"/>
          </a:xfrm>
          <a:prstGeom prst="roundRect">
            <a:avLst>
              <a:gd name="adj" fmla="val 3404"/>
            </a:avLst>
          </a:prstGeom>
          <a:solidFill>
            <a:srgbClr val="F3F4F6"/>
          </a:solidFill>
          <a:ln w="12700">
            <a:solidFill>
              <a:srgbClr val="F3F4F6"/>
            </a:solidFill>
            <a:prstDash val="solid"/>
          </a:ln>
        </p:spPr>
      </p:sp>
      <p:sp>
        <p:nvSpPr>
          <p:cNvPr id="12" name="Text 10"/>
          <p:cNvSpPr txBox="1"/>
          <p:nvPr/>
        </p:nvSpPr>
        <p:spPr>
          <a:xfrm>
            <a:off x="4892040" y="1737360"/>
            <a:ext cx="3566160" cy="274320"/>
          </a:xfrm>
          <a:prstGeom prst="rect">
            <a:avLst/>
          </a:prstGeom>
          <a:noFill/>
          <a:ln/>
        </p:spPr>
        <p:txBody>
          <a:bodyPr wrap="square" lIns="0" tIns="0" rIns="0" bIns="0" rtlCol="0" anchor="t"/>
          <a:lstStyle/>
          <a:p>
            <a:pPr indent="0" marL="0">
              <a:buNone/>
            </a:pPr>
            <a:r>
              <a:rPr lang="en-US" sz="1100" b="1" spc="100" kern="0" dirty="0">
                <a:solidFill>
                  <a:srgbClr val="6D28D9"/>
                </a:solidFill>
                <a:latin typeface="Calibri" pitchFamily="34" charset="0"/>
                <a:ea typeface="Calibri" pitchFamily="34" charset="-122"/>
                <a:cs typeface="Calibri" pitchFamily="34" charset="-120"/>
              </a:rPr>
              <a:t>WINDOWS  ·  POWERSHELL</a:t>
            </a:r>
            <a:endParaRPr lang="en-US" sz="1100" dirty="0"/>
          </a:p>
        </p:txBody>
      </p:sp>
      <p:sp>
        <p:nvSpPr>
          <p:cNvPr id="13" name="Shape 11"/>
          <p:cNvSpPr/>
          <p:nvPr/>
        </p:nvSpPr>
        <p:spPr>
          <a:xfrm>
            <a:off x="4892040" y="2057400"/>
            <a:ext cx="3566160" cy="1508760"/>
          </a:xfrm>
          <a:prstGeom prst="roundRect">
            <a:avLst>
              <a:gd name="adj" fmla="val 4848"/>
            </a:avLst>
          </a:prstGeom>
          <a:solidFill>
            <a:srgbClr val="0F172A"/>
          </a:solidFill>
          <a:ln w="12700">
            <a:solidFill>
              <a:srgbClr val="0F172A"/>
            </a:solidFill>
            <a:prstDash val="solid"/>
          </a:ln>
        </p:spPr>
      </p:sp>
      <p:sp>
        <p:nvSpPr>
          <p:cNvPr id="14" name="Text 12"/>
          <p:cNvSpPr txBox="1"/>
          <p:nvPr/>
        </p:nvSpPr>
        <p:spPr>
          <a:xfrm>
            <a:off x="5074920" y="2194560"/>
            <a:ext cx="3291840" cy="1280160"/>
          </a:xfrm>
          <a:prstGeom prst="rect">
            <a:avLst/>
          </a:prstGeom>
          <a:noFill/>
          <a:ln/>
        </p:spPr>
        <p:txBody>
          <a:bodyPr wrap="square" lIns="0" tIns="0" rIns="0" bIns="0" rtlCol="0" anchor="t"/>
          <a:lstStyle/>
          <a:p>
            <a:pPr indent="0" marL="0">
              <a:buNone/>
            </a:pPr>
            <a:r>
              <a:rPr lang="en-US" sz="950" dirty="0">
                <a:solidFill>
                  <a:srgbClr val="9CA3AF"/>
                </a:solidFill>
                <a:latin typeface="Courier New" pitchFamily="34" charset="0"/>
                <a:ea typeface="Courier New" pitchFamily="34" charset="-122"/>
                <a:cs typeface="Courier New" pitchFamily="34" charset="-120"/>
              </a:rPr>
              <a:t># winget ships with Windows 11</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Python.Python.3.12</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Git.Git</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Microsoft.VisualStudioCode</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py --version; git --version</a:t>
            </a:r>
            <a:endParaRPr lang="en-US" sz="950" dirty="0"/>
          </a:p>
        </p:txBody>
      </p:sp>
      <p:sp>
        <p:nvSpPr>
          <p:cNvPr id="15" name="Text 13"/>
          <p:cNvSpPr txBox="1"/>
          <p:nvPr/>
        </p:nvSpPr>
        <p:spPr>
          <a:xfrm>
            <a:off x="457200" y="3840480"/>
            <a:ext cx="822960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WHAT MODULE 5 ADDS</a:t>
            </a:r>
            <a:endParaRPr lang="en-US" sz="1000" dirty="0"/>
          </a:p>
        </p:txBody>
      </p:sp>
      <p:sp>
        <p:nvSpPr>
          <p:cNvPr id="16" name="Shape 14"/>
          <p:cNvSpPr/>
          <p:nvPr/>
        </p:nvSpPr>
        <p:spPr>
          <a:xfrm>
            <a:off x="457200" y="4114800"/>
            <a:ext cx="2606040" cy="594360"/>
          </a:xfrm>
          <a:prstGeom prst="roundRect">
            <a:avLst>
              <a:gd name="adj" fmla="val 12308"/>
            </a:avLst>
          </a:prstGeom>
          <a:solidFill>
            <a:srgbClr val="ECFDF5"/>
          </a:solidFill>
          <a:ln w="12700">
            <a:solidFill>
              <a:srgbClr val="ECFDF5"/>
            </a:solidFill>
            <a:prstDash val="solid"/>
          </a:ln>
        </p:spPr>
      </p:sp>
      <p:sp>
        <p:nvSpPr>
          <p:cNvPr id="17" name="Text 15"/>
          <p:cNvSpPr txBox="1"/>
          <p:nvPr/>
        </p:nvSpPr>
        <p:spPr>
          <a:xfrm>
            <a:off x="64008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A file called SUCCESS.md</a:t>
            </a:r>
            <a:endParaRPr lang="en-US" sz="1150" dirty="0"/>
          </a:p>
        </p:txBody>
      </p:sp>
      <p:sp>
        <p:nvSpPr>
          <p:cNvPr id="18" name="Text 16"/>
          <p:cNvSpPr txBox="1"/>
          <p:nvPr/>
        </p:nvSpPr>
        <p:spPr>
          <a:xfrm>
            <a:off x="64008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your definition, written down first</a:t>
            </a:r>
            <a:endParaRPr lang="en-US" sz="950" dirty="0"/>
          </a:p>
        </p:txBody>
      </p:sp>
      <p:sp>
        <p:nvSpPr>
          <p:cNvPr id="19" name="Shape 17"/>
          <p:cNvSpPr/>
          <p:nvPr/>
        </p:nvSpPr>
        <p:spPr>
          <a:xfrm>
            <a:off x="3246120" y="4114800"/>
            <a:ext cx="2606040" cy="594360"/>
          </a:xfrm>
          <a:prstGeom prst="roundRect">
            <a:avLst>
              <a:gd name="adj" fmla="val 12308"/>
            </a:avLst>
          </a:prstGeom>
          <a:solidFill>
            <a:srgbClr val="ECFDF5"/>
          </a:solidFill>
          <a:ln w="12700">
            <a:solidFill>
              <a:srgbClr val="ECFDF5"/>
            </a:solidFill>
            <a:prstDash val="solid"/>
          </a:ln>
        </p:spPr>
      </p:sp>
      <p:sp>
        <p:nvSpPr>
          <p:cNvPr id="20" name="Text 18"/>
          <p:cNvSpPr txBox="1"/>
          <p:nvPr/>
        </p:nvSpPr>
        <p:spPr>
          <a:xfrm>
            <a:off x="342900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Prometheus running</a:t>
            </a:r>
            <a:endParaRPr lang="en-US" sz="1150" dirty="0"/>
          </a:p>
        </p:txBody>
      </p:sp>
      <p:sp>
        <p:nvSpPr>
          <p:cNvPr id="21" name="Text 19"/>
          <p:cNvSpPr txBox="1"/>
          <p:nvPr/>
        </p:nvSpPr>
        <p:spPr>
          <a:xfrm>
            <a:off x="342900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from module 2, for the PromQL query</a:t>
            </a:r>
            <a:endParaRPr lang="en-US" sz="950" dirty="0"/>
          </a:p>
        </p:txBody>
      </p:sp>
      <p:sp>
        <p:nvSpPr>
          <p:cNvPr id="22" name="Shape 20"/>
          <p:cNvSpPr/>
          <p:nvPr/>
        </p:nvSpPr>
        <p:spPr>
          <a:xfrm>
            <a:off x="6035040" y="4114800"/>
            <a:ext cx="2606040" cy="594360"/>
          </a:xfrm>
          <a:prstGeom prst="roundRect">
            <a:avLst>
              <a:gd name="adj" fmla="val 12308"/>
            </a:avLst>
          </a:prstGeom>
          <a:solidFill>
            <a:srgbClr val="ECFDF5"/>
          </a:solidFill>
          <a:ln w="12700">
            <a:solidFill>
              <a:srgbClr val="ECFDF5"/>
            </a:solidFill>
            <a:prstDash val="solid"/>
          </a:ln>
        </p:spPr>
      </p:sp>
      <p:sp>
        <p:nvSpPr>
          <p:cNvPr id="23" name="Text 21"/>
          <p:cNvSpPr txBox="1"/>
          <p:nvPr/>
        </p:nvSpPr>
        <p:spPr>
          <a:xfrm>
            <a:off x="621792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curl</a:t>
            </a:r>
            <a:endParaRPr lang="en-US" sz="1150" dirty="0"/>
          </a:p>
        </p:txBody>
      </p:sp>
      <p:sp>
        <p:nvSpPr>
          <p:cNvPr id="24" name="Text 22"/>
          <p:cNvSpPr txBox="1"/>
          <p:nvPr/>
        </p:nvSpPr>
        <p:spPr>
          <a:xfrm>
            <a:off x="621792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already on Mac and Windows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BEFORE YOU START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Watch these before you install anything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
        <p:nvSpPr>
          <p:cNvPr id="6" name="Text 4"/>
          <p:cNvSpPr txBox="1"/>
          <p:nvPr/>
        </p:nvSpPr>
        <p:spPr>
          <a:xfrm>
            <a:off x="457200" y="1143000"/>
            <a:ext cx="8229600" cy="32004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Two short videos take you from a blank machine to Git, Python and VS Code installed. Pick the one for your computer.</a:t>
            </a:r>
            <a:endParaRPr lang="en-US" sz="1300" dirty="0"/>
          </a:p>
        </p:txBody>
      </p:sp>
      <p:sp>
        <p:nvSpPr>
          <p:cNvPr id="7" name="Shape 5"/>
          <p:cNvSpPr/>
          <p:nvPr/>
        </p:nvSpPr>
        <p:spPr>
          <a:xfrm>
            <a:off x="457200" y="1554480"/>
            <a:ext cx="4023360" cy="1371600"/>
          </a:xfrm>
          <a:prstGeom prst="roundRect">
            <a:avLst>
              <a:gd name="adj" fmla="val 5333"/>
            </a:avLst>
          </a:prstGeom>
          <a:solidFill>
            <a:srgbClr val="F3F4F6"/>
          </a:solidFill>
          <a:ln w="12700">
            <a:solidFill>
              <a:srgbClr val="F3F4F6"/>
            </a:solidFill>
            <a:prstDash val="solid"/>
          </a:ln>
        </p:spPr>
      </p:sp>
      <p:sp>
        <p:nvSpPr>
          <p:cNvPr id="8" name="Shape 6"/>
          <p:cNvSpPr/>
          <p:nvPr/>
        </p:nvSpPr>
        <p:spPr>
          <a:xfrm>
            <a:off x="685800" y="1737360"/>
            <a:ext cx="1143000" cy="292608"/>
          </a:xfrm>
          <a:prstGeom prst="roundRect">
            <a:avLst>
              <a:gd name="adj" fmla="val 50000"/>
            </a:avLst>
          </a:prstGeom>
          <a:solidFill>
            <a:srgbClr val="1D4ED8"/>
          </a:solidFill>
          <a:ln w="12700">
            <a:solidFill>
              <a:srgbClr val="1D4ED8"/>
            </a:solidFill>
            <a:prstDash val="solid"/>
          </a:ln>
        </p:spPr>
      </p:sp>
      <p:sp>
        <p:nvSpPr>
          <p:cNvPr id="9" name="Text 7"/>
          <p:cNvSpPr txBox="1"/>
          <p:nvPr/>
        </p:nvSpPr>
        <p:spPr>
          <a:xfrm>
            <a:off x="685800" y="1737360"/>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macOS</a:t>
            </a:r>
            <a:endParaRPr lang="en-US" sz="950" dirty="0"/>
          </a:p>
        </p:txBody>
      </p:sp>
      <p:sp>
        <p:nvSpPr>
          <p:cNvPr id="10" name="Text 8"/>
          <p:cNvSpPr txBox="1"/>
          <p:nvPr/>
        </p:nvSpPr>
        <p:spPr>
          <a:xfrm>
            <a:off x="685800" y="2121408"/>
            <a:ext cx="35661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Install Git, Python and VS Code on a Mac</a:t>
            </a:r>
            <a:endParaRPr lang="en-US" sz="1400" dirty="0"/>
          </a:p>
        </p:txBody>
      </p:sp>
      <p:sp>
        <p:nvSpPr>
          <p:cNvPr id="11" name="Text 9">
            <a:hlinkClick r:id="rId1" tooltip=""/>
          </p:cNvPr>
          <p:cNvSpPr txBox="1"/>
          <p:nvPr/>
        </p:nvSpPr>
        <p:spPr>
          <a:xfrm>
            <a:off x="685800" y="2560320"/>
            <a:ext cx="3566160" cy="274320"/>
          </a:xfrm>
          <a:prstGeom prst="rect">
            <a:avLst/>
          </a:prstGeom>
          <a:noFill/>
          <a:ln/>
        </p:spPr>
        <p:txBody>
          <a:bodyPr wrap="square" lIns="0" tIns="0" rIns="0" bIns="0" rtlCol="0" anchor="ctr"/>
          <a:lstStyle/>
          <a:p>
            <a:pPr indent="0" marL="0">
              <a:buNone/>
            </a:pPr>
            <a:r>
              <a:rPr lang="en-US" sz="1100" u="sng" dirty="0">
                <a:solidFill>
                  <a:srgbClr val="1D4ED8"/>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https://youtu.be/8ZIiXg4XOY0</a:t>
            </a:r>
            <a:endParaRPr lang="en-US" sz="1100" dirty="0"/>
          </a:p>
        </p:txBody>
      </p:sp>
      <p:sp>
        <p:nvSpPr>
          <p:cNvPr id="12" name="Shape 10"/>
          <p:cNvSpPr/>
          <p:nvPr/>
        </p:nvSpPr>
        <p:spPr>
          <a:xfrm>
            <a:off x="4663440" y="1554480"/>
            <a:ext cx="4023360" cy="1371600"/>
          </a:xfrm>
          <a:prstGeom prst="roundRect">
            <a:avLst>
              <a:gd name="adj" fmla="val 5333"/>
            </a:avLst>
          </a:prstGeom>
          <a:solidFill>
            <a:srgbClr val="F3F4F6"/>
          </a:solidFill>
          <a:ln w="12700">
            <a:solidFill>
              <a:srgbClr val="F3F4F6"/>
            </a:solidFill>
            <a:prstDash val="solid"/>
          </a:ln>
        </p:spPr>
      </p:sp>
      <p:sp>
        <p:nvSpPr>
          <p:cNvPr id="13" name="Shape 11"/>
          <p:cNvSpPr/>
          <p:nvPr/>
        </p:nvSpPr>
        <p:spPr>
          <a:xfrm>
            <a:off x="4892040" y="1737360"/>
            <a:ext cx="1143000" cy="292608"/>
          </a:xfrm>
          <a:prstGeom prst="roundRect">
            <a:avLst>
              <a:gd name="adj" fmla="val 50000"/>
            </a:avLst>
          </a:prstGeom>
          <a:solidFill>
            <a:srgbClr val="6D28D9"/>
          </a:solidFill>
          <a:ln w="12700">
            <a:solidFill>
              <a:srgbClr val="6D28D9"/>
            </a:solidFill>
            <a:prstDash val="solid"/>
          </a:ln>
        </p:spPr>
      </p:sp>
      <p:sp>
        <p:nvSpPr>
          <p:cNvPr id="14" name="Text 12"/>
          <p:cNvSpPr txBox="1"/>
          <p:nvPr/>
        </p:nvSpPr>
        <p:spPr>
          <a:xfrm>
            <a:off x="4892040" y="1737360"/>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WINDOWS</a:t>
            </a:r>
            <a:endParaRPr lang="en-US" sz="950" dirty="0"/>
          </a:p>
        </p:txBody>
      </p:sp>
      <p:sp>
        <p:nvSpPr>
          <p:cNvPr id="15" name="Text 13"/>
          <p:cNvSpPr txBox="1"/>
          <p:nvPr/>
        </p:nvSpPr>
        <p:spPr>
          <a:xfrm>
            <a:off x="4892040" y="2121408"/>
            <a:ext cx="35661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Install Git, Python and VS Code on Windows</a:t>
            </a:r>
            <a:endParaRPr lang="en-US" sz="1400" dirty="0"/>
          </a:p>
        </p:txBody>
      </p:sp>
      <p:sp>
        <p:nvSpPr>
          <p:cNvPr id="16" name="Text 14">
            <a:hlinkClick r:id="rId2" tooltip=""/>
          </p:cNvPr>
          <p:cNvSpPr txBox="1"/>
          <p:nvPr/>
        </p:nvSpPr>
        <p:spPr>
          <a:xfrm>
            <a:off x="4892040" y="2560320"/>
            <a:ext cx="3566160" cy="274320"/>
          </a:xfrm>
          <a:prstGeom prst="rect">
            <a:avLst/>
          </a:prstGeom>
          <a:noFill/>
          <a:ln/>
        </p:spPr>
        <p:txBody>
          <a:bodyPr wrap="square" lIns="0" tIns="0" rIns="0" bIns="0" rtlCol="0" anchor="ctr"/>
          <a:lstStyle/>
          <a:p>
            <a:pPr indent="0" marL="0">
              <a:buNone/>
            </a:pPr>
            <a:r>
              <a:rPr lang="en-US" sz="1100" u="sng" dirty="0">
                <a:solidFill>
                  <a:srgbClr val="6D28D9"/>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https://youtu.be/3e2-GRBibWc</a:t>
            </a:r>
            <a:endParaRPr lang="en-US" sz="1100" dirty="0"/>
          </a:p>
        </p:txBody>
      </p:sp>
      <p:sp>
        <p:nvSpPr>
          <p:cNvPr id="17" name="Text 15"/>
          <p:cNvSpPr txBox="1"/>
          <p:nvPr/>
        </p:nvSpPr>
        <p:spPr>
          <a:xfrm>
            <a:off x="457200" y="3108960"/>
            <a:ext cx="8229600" cy="274320"/>
          </a:xfrm>
          <a:prstGeom prst="rect">
            <a:avLst/>
          </a:prstGeom>
          <a:noFill/>
          <a:ln/>
        </p:spPr>
        <p:txBody>
          <a:bodyPr wrap="square" lIns="0" tIns="0" rIns="0" bIns="0" rtlCol="0" anchor="t"/>
          <a:lstStyle/>
          <a:p>
            <a:pPr indent="0" marL="0">
              <a:buNone/>
            </a:pPr>
            <a:r>
              <a:rPr lang="en-US" sz="950" b="1" spc="200" kern="0" dirty="0">
                <a:solidFill>
                  <a:srgbClr val="6B7280"/>
                </a:solidFill>
                <a:latin typeface="Calibri" pitchFamily="34" charset="0"/>
                <a:ea typeface="Calibri" pitchFamily="34" charset="-122"/>
                <a:cs typeface="Calibri" pitchFamily="34" charset="-120"/>
              </a:rPr>
              <a:t>OFFICIAL PAGES, IF YOU PREFER TO READ</a:t>
            </a:r>
            <a:endParaRPr lang="en-US" sz="950" dirty="0"/>
          </a:p>
        </p:txBody>
      </p:sp>
      <p:sp>
        <p:nvSpPr>
          <p:cNvPr id="18" name="Shape 16"/>
          <p:cNvSpPr/>
          <p:nvPr/>
        </p:nvSpPr>
        <p:spPr>
          <a:xfrm>
            <a:off x="457200" y="3429000"/>
            <a:ext cx="4023360" cy="566928"/>
          </a:xfrm>
          <a:prstGeom prst="roundRect">
            <a:avLst>
              <a:gd name="adj" fmla="val 12903"/>
            </a:avLst>
          </a:prstGeom>
          <a:solidFill>
            <a:srgbClr val="F3F4F6"/>
          </a:solidFill>
          <a:ln w="12700">
            <a:solidFill>
              <a:srgbClr val="F3F4F6"/>
            </a:solidFill>
            <a:prstDash val="solid"/>
          </a:ln>
        </p:spPr>
      </p:sp>
      <p:sp>
        <p:nvSpPr>
          <p:cNvPr id="19" name="Text 17"/>
          <p:cNvSpPr txBox="1"/>
          <p:nvPr/>
        </p:nvSpPr>
        <p:spPr>
          <a:xfrm>
            <a:off x="658368" y="3483864"/>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Install Python</a:t>
            </a:r>
            <a:endParaRPr lang="en-US" sz="1150" dirty="0"/>
          </a:p>
        </p:txBody>
      </p:sp>
      <p:sp>
        <p:nvSpPr>
          <p:cNvPr id="20" name="Text 18"/>
          <p:cNvSpPr txBox="1"/>
          <p:nvPr/>
        </p:nvSpPr>
        <p:spPr>
          <a:xfrm>
            <a:off x="658368" y="3721608"/>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downloads, Mac and Windows</a:t>
            </a:r>
            <a:endParaRPr lang="en-US" sz="900" dirty="0"/>
          </a:p>
        </p:txBody>
      </p:sp>
      <p:sp>
        <p:nvSpPr>
          <p:cNvPr id="21" name="Text 19">
            <a:hlinkClick r:id="rId3" tooltip=""/>
          </p:cNvPr>
          <p:cNvSpPr txBox="1"/>
          <p:nvPr/>
        </p:nvSpPr>
        <p:spPr>
          <a:xfrm>
            <a:off x="2697480" y="3429000"/>
            <a:ext cx="1691640" cy="566928"/>
          </a:xfrm>
          <a:prstGeom prst="rect">
            <a:avLst/>
          </a:prstGeom>
          <a:noFill/>
          <a:ln/>
        </p:spPr>
        <p:txBody>
          <a:bodyPr wrap="square" lIns="0" tIns="0" rIns="0" bIns="0" rtlCol="0" anchor="ctr"/>
          <a:lstStyle/>
          <a:p>
            <a:pPr indent="0" marL="0">
              <a:buNone/>
            </a:pPr>
            <a:r>
              <a:rPr lang="en-US" sz="700" u="sng" dirty="0">
                <a:solidFill>
                  <a:srgbClr val="6D28D9"/>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python.org/downloads</a:t>
            </a:r>
            <a:endParaRPr lang="en-US" sz="700" dirty="0"/>
          </a:p>
        </p:txBody>
      </p:sp>
      <p:sp>
        <p:nvSpPr>
          <p:cNvPr id="22" name="Shape 20"/>
          <p:cNvSpPr/>
          <p:nvPr/>
        </p:nvSpPr>
        <p:spPr>
          <a:xfrm>
            <a:off x="4663440" y="3429000"/>
            <a:ext cx="4023360" cy="566928"/>
          </a:xfrm>
          <a:prstGeom prst="roundRect">
            <a:avLst>
              <a:gd name="adj" fmla="val 12903"/>
            </a:avLst>
          </a:prstGeom>
          <a:solidFill>
            <a:srgbClr val="F3F4F6"/>
          </a:solidFill>
          <a:ln w="12700">
            <a:solidFill>
              <a:srgbClr val="F3F4F6"/>
            </a:solidFill>
            <a:prstDash val="solid"/>
          </a:ln>
        </p:spPr>
      </p:sp>
      <p:sp>
        <p:nvSpPr>
          <p:cNvPr id="23" name="Text 21"/>
          <p:cNvSpPr txBox="1"/>
          <p:nvPr/>
        </p:nvSpPr>
        <p:spPr>
          <a:xfrm>
            <a:off x="4864608" y="3483864"/>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PromQL basics</a:t>
            </a:r>
            <a:endParaRPr lang="en-US" sz="1150" dirty="0"/>
          </a:p>
        </p:txBody>
      </p:sp>
      <p:sp>
        <p:nvSpPr>
          <p:cNvPr id="24" name="Text 22"/>
          <p:cNvSpPr txBox="1"/>
          <p:nvPr/>
        </p:nvSpPr>
        <p:spPr>
          <a:xfrm>
            <a:off x="4864608" y="3721608"/>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The official query language docs</a:t>
            </a:r>
            <a:endParaRPr lang="en-US" sz="900" dirty="0"/>
          </a:p>
        </p:txBody>
      </p:sp>
      <p:sp>
        <p:nvSpPr>
          <p:cNvPr id="25" name="Text 23">
            <a:hlinkClick r:id="rId4" tooltip=""/>
          </p:cNvPr>
          <p:cNvSpPr txBox="1"/>
          <p:nvPr/>
        </p:nvSpPr>
        <p:spPr>
          <a:xfrm>
            <a:off x="6903720" y="3429000"/>
            <a:ext cx="1691640" cy="566928"/>
          </a:xfrm>
          <a:prstGeom prst="rect">
            <a:avLst/>
          </a:prstGeom>
          <a:noFill/>
          <a:ln/>
        </p:spPr>
        <p:txBody>
          <a:bodyPr wrap="square" lIns="0" tIns="0" rIns="0" bIns="0" rtlCol="0" anchor="ctr"/>
          <a:lstStyle/>
          <a:p>
            <a:pPr indent="0" marL="0">
              <a:buNone/>
            </a:pPr>
            <a:r>
              <a:rPr lang="en-US" sz="700" u="sng" dirty="0">
                <a:solidFill>
                  <a:srgbClr val="6D28D9"/>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prometheus.io/docs/prometheus/latest/querying/basics</a:t>
            </a:r>
            <a:endParaRPr lang="en-US" sz="700" dirty="0"/>
          </a:p>
        </p:txBody>
      </p:sp>
      <p:sp>
        <p:nvSpPr>
          <p:cNvPr id="26" name="Shape 24"/>
          <p:cNvSpPr/>
          <p:nvPr/>
        </p:nvSpPr>
        <p:spPr>
          <a:xfrm>
            <a:off x="457200" y="4087368"/>
            <a:ext cx="4023360" cy="566928"/>
          </a:xfrm>
          <a:prstGeom prst="roundRect">
            <a:avLst>
              <a:gd name="adj" fmla="val 12903"/>
            </a:avLst>
          </a:prstGeom>
          <a:solidFill>
            <a:srgbClr val="F3F4F6"/>
          </a:solidFill>
          <a:ln w="12700">
            <a:solidFill>
              <a:srgbClr val="F3F4F6"/>
            </a:solidFill>
            <a:prstDash val="solid"/>
          </a:ln>
        </p:spPr>
      </p:sp>
      <p:sp>
        <p:nvSpPr>
          <p:cNvPr id="27" name="Text 25"/>
          <p:cNvSpPr txBox="1"/>
          <p:nvPr/>
        </p:nvSpPr>
        <p:spPr>
          <a:xfrm>
            <a:off x="658368" y="4142232"/>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Recording rules</a:t>
            </a:r>
            <a:endParaRPr lang="en-US" sz="1150" dirty="0"/>
          </a:p>
        </p:txBody>
      </p:sp>
      <p:sp>
        <p:nvSpPr>
          <p:cNvPr id="28" name="Text 26"/>
          <p:cNvSpPr txBox="1"/>
          <p:nvPr/>
        </p:nvSpPr>
        <p:spPr>
          <a:xfrm>
            <a:off x="658368" y="4379976"/>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guide to pre-computed queries</a:t>
            </a:r>
            <a:endParaRPr lang="en-US" sz="900" dirty="0"/>
          </a:p>
        </p:txBody>
      </p:sp>
      <p:sp>
        <p:nvSpPr>
          <p:cNvPr id="29" name="Text 27">
            <a:hlinkClick r:id="rId5" tooltip=""/>
          </p:cNvPr>
          <p:cNvSpPr txBox="1"/>
          <p:nvPr/>
        </p:nvSpPr>
        <p:spPr>
          <a:xfrm>
            <a:off x="2697480" y="4087368"/>
            <a:ext cx="1691640" cy="566928"/>
          </a:xfrm>
          <a:prstGeom prst="rect">
            <a:avLst/>
          </a:prstGeom>
          <a:noFill/>
          <a:ln/>
        </p:spPr>
        <p:txBody>
          <a:bodyPr wrap="square" lIns="0" tIns="0" rIns="0" bIns="0" rtlCol="0" anchor="ctr"/>
          <a:lstStyle/>
          <a:p>
            <a:pPr indent="0" marL="0">
              <a:buNone/>
            </a:pPr>
            <a:r>
              <a:rPr lang="en-US" sz="700" u="sng" dirty="0">
                <a:solidFill>
                  <a:srgbClr val="6D28D9"/>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prometheus.io/docs/prometheus/latest/configuration/recording_rules</a:t>
            </a:r>
            <a:endParaRPr lang="en-US" sz="700" dirty="0"/>
          </a:p>
        </p:txBody>
      </p:sp>
      <p:sp>
        <p:nvSpPr>
          <p:cNvPr id="30" name="Shape 28"/>
          <p:cNvSpPr/>
          <p:nvPr/>
        </p:nvSpPr>
        <p:spPr>
          <a:xfrm>
            <a:off x="4663440" y="4087368"/>
            <a:ext cx="4023360" cy="566928"/>
          </a:xfrm>
          <a:prstGeom prst="roundRect">
            <a:avLst>
              <a:gd name="adj" fmla="val 12903"/>
            </a:avLst>
          </a:prstGeom>
          <a:solidFill>
            <a:srgbClr val="F3F4F6"/>
          </a:solidFill>
          <a:ln w="12700">
            <a:solidFill>
              <a:srgbClr val="F3F4F6"/>
            </a:solidFill>
            <a:prstDash val="solid"/>
          </a:ln>
        </p:spPr>
      </p:sp>
      <p:sp>
        <p:nvSpPr>
          <p:cNvPr id="31" name="Text 29"/>
          <p:cNvSpPr txBox="1"/>
          <p:nvPr/>
        </p:nvSpPr>
        <p:spPr>
          <a:xfrm>
            <a:off x="4864608" y="4142232"/>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Alerting rules</a:t>
            </a:r>
            <a:endParaRPr lang="en-US" sz="1150" dirty="0"/>
          </a:p>
        </p:txBody>
      </p:sp>
      <p:sp>
        <p:nvSpPr>
          <p:cNvPr id="32" name="Text 30"/>
          <p:cNvSpPr txBox="1"/>
          <p:nvPr/>
        </p:nvSpPr>
        <p:spPr>
          <a:xfrm>
            <a:off x="4864608" y="4379976"/>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guide to alerts</a:t>
            </a:r>
            <a:endParaRPr lang="en-US" sz="900" dirty="0"/>
          </a:p>
        </p:txBody>
      </p:sp>
      <p:sp>
        <p:nvSpPr>
          <p:cNvPr id="33" name="Text 31">
            <a:hlinkClick r:id="rId6" tooltip=""/>
          </p:cNvPr>
          <p:cNvSpPr txBox="1"/>
          <p:nvPr/>
        </p:nvSpPr>
        <p:spPr>
          <a:xfrm>
            <a:off x="6903720" y="4087368"/>
            <a:ext cx="1691640" cy="566928"/>
          </a:xfrm>
          <a:prstGeom prst="rect">
            <a:avLst/>
          </a:prstGeom>
          <a:noFill/>
          <a:ln/>
        </p:spPr>
        <p:txBody>
          <a:bodyPr wrap="square" lIns="0" tIns="0" rIns="0" bIns="0" rtlCol="0" anchor="ctr"/>
          <a:lstStyle/>
          <a:p>
            <a:pPr indent="0" marL="0">
              <a:buNone/>
            </a:pPr>
            <a:r>
              <a:rPr lang="en-US" sz="700" u="sng" dirty="0">
                <a:solidFill>
                  <a:srgbClr val="6D28D9"/>
                </a:solidFill>
                <a:latin typeface="Courier New" pitchFamily="34" charset="0"/>
                <a:ea typeface="Courier New" pitchFamily="34" charset="-122"/>
                <a:cs typeface="Courier New" pitchFamily="34" charset="-120"/>
                <a:hlinkClick r:id="rId6" invalidUrl="" action="" tgtFrame="" tooltip="" history="1" highlightClick="0" endSnd="0">
                  <a:extLst>
                    <a:ext uri="{A12FA001-AC4F-418D-AE19-62706E023703}">
                      <ahyp:hlinkClr xmlns:ahyp="http://schemas.microsoft.com/office/drawing/2018/hyperlinkcolor" val="tx"/>
                    </a:ext>
                  </a:extLst>
                </a:hlinkClick>
              </a:rPr>
              <a:t>prometheus.io/docs/prometheus/latest/configuration/alerting_rules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01</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Would You Pay a Taxi by the Mile It Drove?</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~7 min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01 · THE TAXI</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Same distance. Same fare. Same cost?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457200" y="1234440"/>
            <a:ext cx="4023360" cy="1920240"/>
          </a:xfrm>
          <a:prstGeom prst="roundRect">
            <a:avLst>
              <a:gd name="adj" fmla="val 3810"/>
            </a:avLst>
          </a:prstGeom>
          <a:solidFill>
            <a:srgbClr val="ECFDF5"/>
          </a:solidFill>
          <a:ln w="12700">
            <a:solidFill>
              <a:srgbClr val="ECFDF5"/>
            </a:solidFill>
            <a:prstDash val="solid"/>
          </a:ln>
        </p:spPr>
      </p:sp>
      <p:sp>
        <p:nvSpPr>
          <p:cNvPr id="7" name="Text 5"/>
          <p:cNvSpPr txBox="1"/>
          <p:nvPr/>
        </p:nvSpPr>
        <p:spPr>
          <a:xfrm>
            <a:off x="731520" y="1371600"/>
            <a:ext cx="3474720" cy="274320"/>
          </a:xfrm>
          <a:prstGeom prst="rect">
            <a:avLst/>
          </a:prstGeom>
          <a:noFill/>
          <a:ln/>
        </p:spPr>
        <p:txBody>
          <a:bodyPr wrap="square" lIns="0" tIns="0" rIns="0" bIns="0" rtlCol="0" anchor="t"/>
          <a:lstStyle/>
          <a:p>
            <a:pPr indent="0" marL="0">
              <a:buNone/>
            </a:pPr>
            <a:r>
              <a:rPr lang="en-US" sz="1100" b="1" spc="200" kern="0" dirty="0">
                <a:solidFill>
                  <a:srgbClr val="047857"/>
                </a:solidFill>
                <a:latin typeface="Calibri" pitchFamily="34" charset="0"/>
                <a:ea typeface="Calibri" pitchFamily="34" charset="-122"/>
                <a:cs typeface="Calibri" pitchFamily="34" charset="-120"/>
              </a:rPr>
              <a:t>TAXI A</a:t>
            </a:r>
            <a:endParaRPr lang="en-US" sz="1100" dirty="0"/>
          </a:p>
        </p:txBody>
      </p:sp>
      <p:sp>
        <p:nvSpPr>
          <p:cNvPr id="8" name="Text 6"/>
          <p:cNvSpPr txBox="1"/>
          <p:nvPr/>
        </p:nvSpPr>
        <p:spPr>
          <a:xfrm>
            <a:off x="731520" y="1664208"/>
            <a:ext cx="3474720" cy="3200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drove four miles, straight to your door</a:t>
            </a:r>
            <a:endParaRPr lang="en-US" sz="1300" dirty="0"/>
          </a:p>
        </p:txBody>
      </p:sp>
      <p:sp>
        <p:nvSpPr>
          <p:cNvPr id="9" name="Shape 7"/>
          <p:cNvSpPr/>
          <p:nvPr/>
        </p:nvSpPr>
        <p:spPr>
          <a:xfrm>
            <a:off x="731520" y="2057400"/>
            <a:ext cx="3474720" cy="640080"/>
          </a:xfrm>
          <a:prstGeom prst="roundRect">
            <a:avLst>
              <a:gd name="adj" fmla="val 11429"/>
            </a:avLst>
          </a:prstGeom>
          <a:solidFill>
            <a:srgbClr val="111827"/>
          </a:solidFill>
          <a:ln w="12700">
            <a:solidFill>
              <a:srgbClr val="111827"/>
            </a:solidFill>
            <a:prstDash val="solid"/>
          </a:ln>
        </p:spPr>
      </p:sp>
      <p:sp>
        <p:nvSpPr>
          <p:cNvPr id="10" name="Text 8"/>
          <p:cNvSpPr txBox="1"/>
          <p:nvPr/>
        </p:nvSpPr>
        <p:spPr>
          <a:xfrm>
            <a:off x="731520" y="2057400"/>
            <a:ext cx="347472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$12.00</a:t>
            </a:r>
            <a:endParaRPr lang="en-US" sz="2400" dirty="0"/>
          </a:p>
        </p:txBody>
      </p:sp>
      <p:sp>
        <p:nvSpPr>
          <p:cNvPr id="11" name="Text 9"/>
          <p:cNvSpPr txBox="1"/>
          <p:nvPr/>
        </p:nvSpPr>
        <p:spPr>
          <a:xfrm>
            <a:off x="731520" y="2743200"/>
            <a:ext cx="3474720" cy="320040"/>
          </a:xfrm>
          <a:prstGeom prst="rect">
            <a:avLst/>
          </a:prstGeom>
          <a:noFill/>
          <a:ln/>
        </p:spPr>
        <p:txBody>
          <a:bodyPr wrap="square" lIns="0" tIns="0" rIns="0" bIns="0" rtlCol="0" anchor="t"/>
          <a:lstStyle/>
          <a:p>
            <a:pPr indent="0" marL="0">
              <a:buNone/>
            </a:pPr>
            <a:r>
              <a:rPr lang="en-US" sz="1500" b="1" dirty="0">
                <a:solidFill>
                  <a:srgbClr val="047857"/>
                </a:solidFill>
                <a:latin typeface="Calibri" pitchFamily="34" charset="0"/>
                <a:ea typeface="Calibri" pitchFamily="34" charset="-122"/>
                <a:cs typeface="Calibri" pitchFamily="34" charset="-120"/>
              </a:rPr>
              <a:t>You arrived.</a:t>
            </a:r>
            <a:endParaRPr lang="en-US" sz="1500" dirty="0"/>
          </a:p>
        </p:txBody>
      </p:sp>
      <p:sp>
        <p:nvSpPr>
          <p:cNvPr id="12" name="Shape 10"/>
          <p:cNvSpPr/>
          <p:nvPr/>
        </p:nvSpPr>
        <p:spPr>
          <a:xfrm>
            <a:off x="4663440" y="1234440"/>
            <a:ext cx="4023360" cy="1920240"/>
          </a:xfrm>
          <a:prstGeom prst="roundRect">
            <a:avLst>
              <a:gd name="adj" fmla="val 3810"/>
            </a:avLst>
          </a:prstGeom>
          <a:solidFill>
            <a:srgbClr val="FEF2F2"/>
          </a:solidFill>
          <a:ln w="12700">
            <a:solidFill>
              <a:srgbClr val="FEF2F2"/>
            </a:solidFill>
            <a:prstDash val="solid"/>
          </a:ln>
        </p:spPr>
      </p:sp>
      <p:sp>
        <p:nvSpPr>
          <p:cNvPr id="13" name="Text 11"/>
          <p:cNvSpPr txBox="1"/>
          <p:nvPr/>
        </p:nvSpPr>
        <p:spPr>
          <a:xfrm>
            <a:off x="4937760" y="1371600"/>
            <a:ext cx="3474720" cy="274320"/>
          </a:xfrm>
          <a:prstGeom prst="rect">
            <a:avLst/>
          </a:prstGeom>
          <a:noFill/>
          <a:ln/>
        </p:spPr>
        <p:txBody>
          <a:bodyPr wrap="square" lIns="0" tIns="0" rIns="0" bIns="0" rtlCol="0" anchor="t"/>
          <a:lstStyle/>
          <a:p>
            <a:pPr indent="0" marL="0">
              <a:buNone/>
            </a:pPr>
            <a:r>
              <a:rPr lang="en-US" sz="1100" b="1" spc="200" kern="0" dirty="0">
                <a:solidFill>
                  <a:srgbClr val="B91C1C"/>
                </a:solidFill>
                <a:latin typeface="Calibri" pitchFamily="34" charset="0"/>
                <a:ea typeface="Calibri" pitchFamily="34" charset="-122"/>
                <a:cs typeface="Calibri" pitchFamily="34" charset="-120"/>
              </a:rPr>
              <a:t>TAXI B</a:t>
            </a:r>
            <a:endParaRPr lang="en-US" sz="1100" dirty="0"/>
          </a:p>
        </p:txBody>
      </p:sp>
      <p:sp>
        <p:nvSpPr>
          <p:cNvPr id="14" name="Text 12"/>
          <p:cNvSpPr txBox="1"/>
          <p:nvPr/>
        </p:nvSpPr>
        <p:spPr>
          <a:xfrm>
            <a:off x="4937760" y="1664208"/>
            <a:ext cx="3474720" cy="3200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drove four miles, in circles, gave up</a:t>
            </a:r>
            <a:endParaRPr lang="en-US" sz="1300" dirty="0"/>
          </a:p>
        </p:txBody>
      </p:sp>
      <p:sp>
        <p:nvSpPr>
          <p:cNvPr id="15" name="Shape 13"/>
          <p:cNvSpPr/>
          <p:nvPr/>
        </p:nvSpPr>
        <p:spPr>
          <a:xfrm>
            <a:off x="4937760" y="2057400"/>
            <a:ext cx="3474720" cy="640080"/>
          </a:xfrm>
          <a:prstGeom prst="roundRect">
            <a:avLst>
              <a:gd name="adj" fmla="val 11429"/>
            </a:avLst>
          </a:prstGeom>
          <a:solidFill>
            <a:srgbClr val="111827"/>
          </a:solidFill>
          <a:ln w="12700">
            <a:solidFill>
              <a:srgbClr val="111827"/>
            </a:solidFill>
            <a:prstDash val="solid"/>
          </a:ln>
        </p:spPr>
      </p:sp>
      <p:sp>
        <p:nvSpPr>
          <p:cNvPr id="16" name="Text 14"/>
          <p:cNvSpPr txBox="1"/>
          <p:nvPr/>
        </p:nvSpPr>
        <p:spPr>
          <a:xfrm>
            <a:off x="4937760" y="2057400"/>
            <a:ext cx="347472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ourier New" pitchFamily="34" charset="0"/>
                <a:ea typeface="Courier New" pitchFamily="34" charset="-122"/>
                <a:cs typeface="Courier New" pitchFamily="34" charset="-120"/>
              </a:rPr>
              <a:t>$12.00</a:t>
            </a:r>
            <a:endParaRPr lang="en-US" sz="2400" dirty="0"/>
          </a:p>
        </p:txBody>
      </p:sp>
      <p:sp>
        <p:nvSpPr>
          <p:cNvPr id="17" name="Text 15"/>
          <p:cNvSpPr txBox="1"/>
          <p:nvPr/>
        </p:nvSpPr>
        <p:spPr>
          <a:xfrm>
            <a:off x="4937760" y="2743200"/>
            <a:ext cx="3474720" cy="320040"/>
          </a:xfrm>
          <a:prstGeom prst="rect">
            <a:avLst/>
          </a:prstGeom>
          <a:noFill/>
          <a:ln/>
        </p:spPr>
        <p:txBody>
          <a:bodyPr wrap="square" lIns="0" tIns="0" rIns="0" bIns="0" rtlCol="0" anchor="t"/>
          <a:lstStyle/>
          <a:p>
            <a:pPr indent="0" marL="0">
              <a:buNone/>
            </a:pPr>
            <a:r>
              <a:rPr lang="en-US" sz="1500" b="1" dirty="0">
                <a:solidFill>
                  <a:srgbClr val="B91C1C"/>
                </a:solidFill>
                <a:latin typeface="Calibri" pitchFamily="34" charset="0"/>
                <a:ea typeface="Calibri" pitchFamily="34" charset="-122"/>
                <a:cs typeface="Calibri" pitchFamily="34" charset="-120"/>
              </a:rPr>
              <a:t>You are still here.</a:t>
            </a:r>
            <a:endParaRPr lang="en-US" sz="1500" dirty="0"/>
          </a:p>
        </p:txBody>
      </p:sp>
      <p:sp>
        <p:nvSpPr>
          <p:cNvPr id="18" name="Shape 16"/>
          <p:cNvSpPr/>
          <p:nvPr/>
        </p:nvSpPr>
        <p:spPr>
          <a:xfrm>
            <a:off x="457200" y="3337560"/>
            <a:ext cx="8229600" cy="548640"/>
          </a:xfrm>
          <a:prstGeom prst="roundRect">
            <a:avLst>
              <a:gd name="adj" fmla="val 13333"/>
            </a:avLst>
          </a:prstGeom>
          <a:solidFill>
            <a:srgbClr val="F3F4F6"/>
          </a:solidFill>
          <a:ln w="12700">
            <a:solidFill>
              <a:srgbClr val="F3F4F6"/>
            </a:solidFill>
            <a:prstDash val="solid"/>
          </a:ln>
        </p:spPr>
      </p:sp>
      <p:sp>
        <p:nvSpPr>
          <p:cNvPr id="19" name="Text 17"/>
          <p:cNvSpPr txBox="1"/>
          <p:nvPr/>
        </p:nvSpPr>
        <p:spPr>
          <a:xfrm>
            <a:off x="731520" y="3337560"/>
            <a:ext cx="7680960" cy="5486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Cost per request is paying by the mile: how much the machine did, and nothing about whether you got anywhere.</a:t>
            </a:r>
            <a:endParaRPr lang="en-US" sz="1400" dirty="0"/>
          </a:p>
        </p:txBody>
      </p:sp>
      <p:sp>
        <p:nvSpPr>
          <p:cNvPr id="20" name="Shape 18"/>
          <p:cNvSpPr/>
          <p:nvPr/>
        </p:nvSpPr>
        <p:spPr>
          <a:xfrm>
            <a:off x="457200" y="4023360"/>
            <a:ext cx="8229600" cy="640080"/>
          </a:xfrm>
          <a:prstGeom prst="roundRect">
            <a:avLst>
              <a:gd name="adj" fmla="val 11429"/>
            </a:avLst>
          </a:prstGeom>
          <a:solidFill>
            <a:srgbClr val="111827"/>
          </a:solidFill>
          <a:ln w="12700">
            <a:solidFill>
              <a:srgbClr val="111827"/>
            </a:solidFill>
            <a:prstDash val="solid"/>
          </a:ln>
        </p:spPr>
      </p:sp>
      <p:sp>
        <p:nvSpPr>
          <p:cNvPr id="21" name="Text 19"/>
          <p:cNvSpPr txBox="1"/>
          <p:nvPr/>
        </p:nvSpPr>
        <p:spPr>
          <a:xfrm>
            <a:off x="731520" y="4023360"/>
            <a:ext cx="7680960" cy="64008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Cost per successful task is paying for arrival. </a:t>
            </a:r>
            <a:pPr indent="0" marL="0">
              <a:buNone/>
            </a:pPr>
            <a:r>
              <a:rPr lang="en-US" sz="1400" dirty="0">
                <a:solidFill>
                  <a:srgbClr val="FFFFFF"/>
                </a:solidFill>
                <a:latin typeface="Calibri" pitchFamily="34" charset="0"/>
                <a:ea typeface="Calibri" pitchFamily="34" charset="-122"/>
                <a:cs typeface="Calibri" pitchFamily="34" charset="-120"/>
              </a:rPr>
              <a:t>Taxi B counts in the top, not the bottom.</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8">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01 · The Taxi</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two taxis</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Draw the two taxis identically; the sameness is the point.</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Two boxes side by side, the same size. TAXI A on the left, TAXI B on the right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Under A: drove four miles, straight to your door. Under B: drove four miles, in circles, gave up</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In each box, a dark rectangle with the fare inside: twelve dollars. Make them identical</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Between the boxes, small: same fare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Under A: you arrived. Under B: you are still here. Different colours for these two</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Wide box underneath: cost per request is paying by the mile · it measures how much the machine did, and says nothing about whether you got anywhere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One more box: cost per successful task is paying for arrival · total spend divided by the journeys that finished · taxi B counts in the top, not the bottom</a:t>
            </a:r>
            <a:endParaRPr lang="en-US" sz="950" dirty="0"/>
          </a:p>
        </p:txBody>
      </p:sp>
      <p:sp>
        <p:nvSpPr>
          <p:cNvPr id="12" name="Shape 8"/>
          <p:cNvSpPr/>
          <p:nvPr/>
        </p:nvSpPr>
        <p:spPr>
          <a:xfrm>
            <a:off x="3886200" y="1536192"/>
            <a:ext cx="4800600" cy="1986054"/>
          </a:xfrm>
          <a:prstGeom prst="roundRect">
            <a:avLst>
              <a:gd name="adj" fmla="val 368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528854"/>
          </a:xfrm>
          <a:prstGeom prst="rect">
            <a:avLst/>
          </a:prstGeom>
        </p:spPr>
      </p:pic>
      <p:sp>
        <p:nvSpPr>
          <p:cNvPr id="15" name="Shape 10"/>
          <p:cNvSpPr/>
          <p:nvPr/>
        </p:nvSpPr>
        <p:spPr>
          <a:xfrm>
            <a:off x="3886200" y="3677694"/>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677694"/>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“Draw them identically. The identical fare is what makes the point.”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02</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What Counts as Success?</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~9 min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02 · WHAT IS SUCCESS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Four answers, four different numbers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457200" y="1234440"/>
            <a:ext cx="1920240" cy="3017520"/>
          </a:xfrm>
          <a:prstGeom prst="roundRect">
            <a:avLst>
              <a:gd name="adj" fmla="val 3810"/>
            </a:avLst>
          </a:prstGeom>
          <a:solidFill>
            <a:srgbClr val="F3F4F6"/>
          </a:solidFill>
          <a:ln w="12700">
            <a:solidFill>
              <a:srgbClr val="F3F4F6"/>
            </a:solidFill>
            <a:prstDash val="solid"/>
          </a:ln>
        </p:spPr>
      </p:sp>
      <p:sp>
        <p:nvSpPr>
          <p:cNvPr id="7" name="Text 5"/>
          <p:cNvSpPr txBox="1"/>
          <p:nvPr/>
        </p:nvSpPr>
        <p:spPr>
          <a:xfrm>
            <a:off x="640080" y="1325880"/>
            <a:ext cx="365760" cy="274320"/>
          </a:xfrm>
          <a:prstGeom prst="rect">
            <a:avLst/>
          </a:prstGeom>
          <a:noFill/>
          <a:ln/>
        </p:spPr>
        <p:txBody>
          <a:bodyPr wrap="square" lIns="0" tIns="0" rIns="0" bIns="0" rtlCol="0" anchor="t"/>
          <a:lstStyle/>
          <a:p>
            <a:pPr indent="0" marL="0">
              <a:buNone/>
            </a:pPr>
            <a:r>
              <a:rPr lang="en-US" sz="1100" b="1" dirty="0">
                <a:solidFill>
                  <a:srgbClr val="B91C1C"/>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640080" y="1600200"/>
            <a:ext cx="1600200" cy="54864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It didn't crash</a:t>
            </a:r>
            <a:endParaRPr lang="en-US" sz="1400" dirty="0"/>
          </a:p>
        </p:txBody>
      </p:sp>
      <p:sp>
        <p:nvSpPr>
          <p:cNvPr id="9" name="Text 7"/>
          <p:cNvSpPr txBox="1"/>
          <p:nvPr/>
        </p:nvSpPr>
        <p:spPr>
          <a:xfrm>
            <a:off x="640080" y="2148840"/>
            <a:ext cx="16002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the program finished</a:t>
            </a:r>
            <a:endParaRPr lang="en-US" sz="1050" dirty="0"/>
          </a:p>
        </p:txBody>
      </p:sp>
      <p:sp>
        <p:nvSpPr>
          <p:cNvPr id="10" name="Shape 8"/>
          <p:cNvSpPr/>
          <p:nvPr/>
        </p:nvSpPr>
        <p:spPr>
          <a:xfrm>
            <a:off x="640080" y="2514600"/>
            <a:ext cx="1554480" cy="548640"/>
          </a:xfrm>
          <a:prstGeom prst="roundRect">
            <a:avLst>
              <a:gd name="adj" fmla="val 13333"/>
            </a:avLst>
          </a:prstGeom>
          <a:solidFill>
            <a:srgbClr val="111827"/>
          </a:solidFill>
          <a:ln w="12700">
            <a:solidFill>
              <a:srgbClr val="111827"/>
            </a:solidFill>
            <a:prstDash val="solid"/>
          </a:ln>
        </p:spPr>
      </p:sp>
      <p:sp>
        <p:nvSpPr>
          <p:cNvPr id="11" name="Text 9"/>
          <p:cNvSpPr txBox="1"/>
          <p:nvPr/>
        </p:nvSpPr>
        <p:spPr>
          <a:xfrm>
            <a:off x="640080" y="2514600"/>
            <a:ext cx="155448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98%</a:t>
            </a:r>
            <a:endParaRPr lang="en-US" sz="2000" dirty="0"/>
          </a:p>
        </p:txBody>
      </p:sp>
      <p:sp>
        <p:nvSpPr>
          <p:cNvPr id="12" name="Text 10"/>
          <p:cNvSpPr txBox="1"/>
          <p:nvPr/>
        </p:nvSpPr>
        <p:spPr>
          <a:xfrm>
            <a:off x="640080" y="3200400"/>
            <a:ext cx="1600200" cy="731520"/>
          </a:xfrm>
          <a:prstGeom prst="rect">
            <a:avLst/>
          </a:prstGeom>
          <a:noFill/>
          <a:ln/>
        </p:spPr>
        <p:txBody>
          <a:bodyPr wrap="square" lIns="0" tIns="0" rIns="0" bIns="0" rtlCol="0" anchor="t"/>
          <a:lstStyle/>
          <a:p>
            <a:pPr indent="0" marL="0">
              <a:buNone/>
            </a:pPr>
            <a:r>
              <a:rPr lang="en-US" sz="1150" b="1" dirty="0">
                <a:solidFill>
                  <a:srgbClr val="B91C1C"/>
                </a:solidFill>
                <a:latin typeface="Calibri" pitchFamily="34" charset="0"/>
                <a:ea typeface="Calibri" pitchFamily="34" charset="-122"/>
                <a:cs typeface="Calibri" pitchFamily="34" charset="-120"/>
              </a:rPr>
              <a:t>Far too generous</a:t>
            </a:r>
            <a:endParaRPr lang="en-US" sz="1150" dirty="0"/>
          </a:p>
        </p:txBody>
      </p:sp>
      <p:sp>
        <p:nvSpPr>
          <p:cNvPr id="13" name="Shape 11"/>
          <p:cNvSpPr/>
          <p:nvPr/>
        </p:nvSpPr>
        <p:spPr>
          <a:xfrm>
            <a:off x="2560320" y="1234440"/>
            <a:ext cx="1920240" cy="3017520"/>
          </a:xfrm>
          <a:prstGeom prst="roundRect">
            <a:avLst>
              <a:gd name="adj" fmla="val 3810"/>
            </a:avLst>
          </a:prstGeom>
          <a:solidFill>
            <a:srgbClr val="F3F4F6"/>
          </a:solidFill>
          <a:ln w="12700">
            <a:solidFill>
              <a:srgbClr val="F3F4F6"/>
            </a:solidFill>
            <a:prstDash val="solid"/>
          </a:ln>
        </p:spPr>
      </p:sp>
      <p:sp>
        <p:nvSpPr>
          <p:cNvPr id="14" name="Text 12"/>
          <p:cNvSpPr txBox="1"/>
          <p:nvPr/>
        </p:nvSpPr>
        <p:spPr>
          <a:xfrm>
            <a:off x="2743200" y="1325880"/>
            <a:ext cx="36576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2</a:t>
            </a:r>
            <a:endParaRPr lang="en-US" sz="1100" dirty="0"/>
          </a:p>
        </p:txBody>
      </p:sp>
      <p:sp>
        <p:nvSpPr>
          <p:cNvPr id="15" name="Text 13"/>
          <p:cNvSpPr txBox="1"/>
          <p:nvPr/>
        </p:nvSpPr>
        <p:spPr>
          <a:xfrm>
            <a:off x="2743200" y="1600200"/>
            <a:ext cx="1600200" cy="54864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It produced something</a:t>
            </a:r>
            <a:endParaRPr lang="en-US" sz="1400" dirty="0"/>
          </a:p>
        </p:txBody>
      </p:sp>
      <p:sp>
        <p:nvSpPr>
          <p:cNvPr id="16" name="Text 14"/>
          <p:cNvSpPr txBox="1"/>
          <p:nvPr/>
        </p:nvSpPr>
        <p:spPr>
          <a:xfrm>
            <a:off x="2743200" y="2148840"/>
            <a:ext cx="16002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an answer came out</a:t>
            </a:r>
            <a:endParaRPr lang="en-US" sz="1050" dirty="0"/>
          </a:p>
        </p:txBody>
      </p:sp>
      <p:sp>
        <p:nvSpPr>
          <p:cNvPr id="17" name="Shape 15"/>
          <p:cNvSpPr/>
          <p:nvPr/>
        </p:nvSpPr>
        <p:spPr>
          <a:xfrm>
            <a:off x="2743200" y="2514600"/>
            <a:ext cx="1554480" cy="548640"/>
          </a:xfrm>
          <a:prstGeom prst="roundRect">
            <a:avLst>
              <a:gd name="adj" fmla="val 13333"/>
            </a:avLst>
          </a:prstGeom>
          <a:solidFill>
            <a:srgbClr val="111827"/>
          </a:solidFill>
          <a:ln w="12700">
            <a:solidFill>
              <a:srgbClr val="111827"/>
            </a:solidFill>
            <a:prstDash val="solid"/>
          </a:ln>
        </p:spPr>
      </p:sp>
      <p:sp>
        <p:nvSpPr>
          <p:cNvPr id="18" name="Text 16"/>
          <p:cNvSpPr txBox="1"/>
          <p:nvPr/>
        </p:nvSpPr>
        <p:spPr>
          <a:xfrm>
            <a:off x="2743200" y="2514600"/>
            <a:ext cx="155448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91%</a:t>
            </a:r>
            <a:endParaRPr lang="en-US" sz="2000" dirty="0"/>
          </a:p>
        </p:txBody>
      </p:sp>
      <p:sp>
        <p:nvSpPr>
          <p:cNvPr id="19" name="Text 17"/>
          <p:cNvSpPr txBox="1"/>
          <p:nvPr/>
        </p:nvSpPr>
        <p:spPr>
          <a:xfrm>
            <a:off x="2743200" y="3200400"/>
            <a:ext cx="1600200" cy="731520"/>
          </a:xfrm>
          <a:prstGeom prst="rect">
            <a:avLst/>
          </a:prstGeom>
          <a:noFill/>
          <a:ln/>
        </p:spPr>
        <p:txBody>
          <a:bodyPr wrap="square" lIns="0" tIns="0" rIns="0" bIns="0" rtlCol="0" anchor="t"/>
          <a:lstStyle/>
          <a:p>
            <a:pPr indent="0" marL="0">
              <a:buNone/>
            </a:pPr>
            <a:r>
              <a:rPr lang="en-US" sz="1150" b="1" dirty="0">
                <a:solidFill>
                  <a:srgbClr val="B45309"/>
                </a:solidFill>
                <a:latin typeface="Calibri" pitchFamily="34" charset="0"/>
                <a:ea typeface="Calibri" pitchFamily="34" charset="-122"/>
                <a:cs typeface="Calibri" pitchFamily="34" charset="-120"/>
              </a:rPr>
              <a:t>Better, still generous</a:t>
            </a:r>
            <a:endParaRPr lang="en-US" sz="1150" dirty="0"/>
          </a:p>
        </p:txBody>
      </p:sp>
      <p:sp>
        <p:nvSpPr>
          <p:cNvPr id="20" name="Shape 18"/>
          <p:cNvSpPr/>
          <p:nvPr/>
        </p:nvSpPr>
        <p:spPr>
          <a:xfrm>
            <a:off x="4663440" y="1234440"/>
            <a:ext cx="1920240" cy="3017520"/>
          </a:xfrm>
          <a:prstGeom prst="roundRect">
            <a:avLst>
              <a:gd name="adj" fmla="val 3810"/>
            </a:avLst>
          </a:prstGeom>
          <a:solidFill>
            <a:srgbClr val="ECFDF5"/>
          </a:solidFill>
          <a:ln w="12700">
            <a:solidFill>
              <a:srgbClr val="ECFDF5"/>
            </a:solidFill>
            <a:prstDash val="solid"/>
          </a:ln>
        </p:spPr>
      </p:sp>
      <p:sp>
        <p:nvSpPr>
          <p:cNvPr id="21" name="Text 19"/>
          <p:cNvSpPr txBox="1"/>
          <p:nvPr/>
        </p:nvSpPr>
        <p:spPr>
          <a:xfrm>
            <a:off x="4846320" y="1325880"/>
            <a:ext cx="365760" cy="274320"/>
          </a:xfrm>
          <a:prstGeom prst="rect">
            <a:avLst/>
          </a:prstGeom>
          <a:noFill/>
          <a:ln/>
        </p:spPr>
        <p:txBody>
          <a:bodyPr wrap="square" lIns="0" tIns="0" rIns="0" bIns="0" rtlCol="0" anchor="t"/>
          <a:lstStyle/>
          <a:p>
            <a:pPr indent="0" marL="0">
              <a:buNone/>
            </a:pPr>
            <a:r>
              <a:rPr lang="en-US" sz="1100" b="1" dirty="0">
                <a:solidFill>
                  <a:srgbClr val="047857"/>
                </a:solidFill>
                <a:latin typeface="Calibri" pitchFamily="34" charset="0"/>
                <a:ea typeface="Calibri" pitchFamily="34" charset="-122"/>
                <a:cs typeface="Calibri" pitchFamily="34" charset="-120"/>
              </a:rPr>
              <a:t>3</a:t>
            </a:r>
            <a:endParaRPr lang="en-US" sz="1100" dirty="0"/>
          </a:p>
        </p:txBody>
      </p:sp>
      <p:sp>
        <p:nvSpPr>
          <p:cNvPr id="22" name="Text 20"/>
          <p:cNvSpPr txBox="1"/>
          <p:nvPr/>
        </p:nvSpPr>
        <p:spPr>
          <a:xfrm>
            <a:off x="4846320" y="1600200"/>
            <a:ext cx="1600200" cy="54864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It passed a check</a:t>
            </a:r>
            <a:endParaRPr lang="en-US" sz="1400" dirty="0"/>
          </a:p>
        </p:txBody>
      </p:sp>
      <p:sp>
        <p:nvSpPr>
          <p:cNvPr id="23" name="Text 21"/>
          <p:cNvSpPr txBox="1"/>
          <p:nvPr/>
        </p:nvSpPr>
        <p:spPr>
          <a:xfrm>
            <a:off x="4846320" y="2148840"/>
            <a:ext cx="16002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the answer looked right</a:t>
            </a:r>
            <a:endParaRPr lang="en-US" sz="1050" dirty="0"/>
          </a:p>
        </p:txBody>
      </p:sp>
      <p:sp>
        <p:nvSpPr>
          <p:cNvPr id="24" name="Shape 22"/>
          <p:cNvSpPr/>
          <p:nvPr/>
        </p:nvSpPr>
        <p:spPr>
          <a:xfrm>
            <a:off x="4846320" y="2514600"/>
            <a:ext cx="1554480" cy="548640"/>
          </a:xfrm>
          <a:prstGeom prst="roundRect">
            <a:avLst>
              <a:gd name="adj" fmla="val 13333"/>
            </a:avLst>
          </a:prstGeom>
          <a:solidFill>
            <a:srgbClr val="111827"/>
          </a:solidFill>
          <a:ln w="12700">
            <a:solidFill>
              <a:srgbClr val="111827"/>
            </a:solidFill>
            <a:prstDash val="solid"/>
          </a:ln>
        </p:spPr>
      </p:sp>
      <p:sp>
        <p:nvSpPr>
          <p:cNvPr id="25" name="Text 23"/>
          <p:cNvSpPr txBox="1"/>
          <p:nvPr/>
        </p:nvSpPr>
        <p:spPr>
          <a:xfrm>
            <a:off x="4846320" y="2514600"/>
            <a:ext cx="155448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74%</a:t>
            </a:r>
            <a:endParaRPr lang="en-US" sz="2000" dirty="0"/>
          </a:p>
        </p:txBody>
      </p:sp>
      <p:sp>
        <p:nvSpPr>
          <p:cNvPr id="26" name="Text 24"/>
          <p:cNvSpPr txBox="1"/>
          <p:nvPr/>
        </p:nvSpPr>
        <p:spPr>
          <a:xfrm>
            <a:off x="4846320" y="3200400"/>
            <a:ext cx="1600200" cy="7315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Usually the right choice</a:t>
            </a:r>
            <a:endParaRPr lang="en-US" sz="1150" dirty="0"/>
          </a:p>
        </p:txBody>
      </p:sp>
      <p:sp>
        <p:nvSpPr>
          <p:cNvPr id="27" name="Shape 25"/>
          <p:cNvSpPr/>
          <p:nvPr/>
        </p:nvSpPr>
        <p:spPr>
          <a:xfrm>
            <a:off x="6766560" y="1234440"/>
            <a:ext cx="1920240" cy="3017520"/>
          </a:xfrm>
          <a:prstGeom prst="roundRect">
            <a:avLst>
              <a:gd name="adj" fmla="val 3810"/>
            </a:avLst>
          </a:prstGeom>
          <a:solidFill>
            <a:srgbClr val="F3F4F6"/>
          </a:solidFill>
          <a:ln w="12700">
            <a:solidFill>
              <a:srgbClr val="F3F4F6"/>
            </a:solidFill>
            <a:prstDash val="solid"/>
          </a:ln>
        </p:spPr>
      </p:sp>
      <p:sp>
        <p:nvSpPr>
          <p:cNvPr id="28" name="Text 26"/>
          <p:cNvSpPr txBox="1"/>
          <p:nvPr/>
        </p:nvSpPr>
        <p:spPr>
          <a:xfrm>
            <a:off x="6949440" y="1325880"/>
            <a:ext cx="365760" cy="274320"/>
          </a:xfrm>
          <a:prstGeom prst="rect">
            <a:avLst/>
          </a:prstGeom>
          <a:noFill/>
          <a:ln/>
        </p:spPr>
        <p:txBody>
          <a:bodyPr wrap="square" lIns="0" tIns="0" rIns="0" bIns="0" rtlCol="0" anchor="t"/>
          <a:lstStyle/>
          <a:p>
            <a:pPr indent="0" marL="0">
              <a:buNone/>
            </a:pPr>
            <a:r>
              <a:rPr lang="en-US" sz="1100" b="1" dirty="0">
                <a:solidFill>
                  <a:srgbClr val="1D4ED8"/>
                </a:solidFill>
                <a:latin typeface="Calibri" pitchFamily="34" charset="0"/>
                <a:ea typeface="Calibri" pitchFamily="34" charset="-122"/>
                <a:cs typeface="Calibri" pitchFamily="34" charset="-120"/>
              </a:rPr>
              <a:t>4</a:t>
            </a:r>
            <a:endParaRPr lang="en-US" sz="1100" dirty="0"/>
          </a:p>
        </p:txBody>
      </p:sp>
      <p:sp>
        <p:nvSpPr>
          <p:cNvPr id="29" name="Text 27"/>
          <p:cNvSpPr txBox="1"/>
          <p:nvPr/>
        </p:nvSpPr>
        <p:spPr>
          <a:xfrm>
            <a:off x="6949440" y="1600200"/>
            <a:ext cx="1600200" cy="54864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A human accepted it</a:t>
            </a:r>
            <a:endParaRPr lang="en-US" sz="1400" dirty="0"/>
          </a:p>
        </p:txBody>
      </p:sp>
      <p:sp>
        <p:nvSpPr>
          <p:cNvPr id="30" name="Text 28"/>
          <p:cNvSpPr txBox="1"/>
          <p:nvPr/>
        </p:nvSpPr>
        <p:spPr>
          <a:xfrm>
            <a:off x="6949440" y="2148840"/>
            <a:ext cx="16002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someone used it</a:t>
            </a:r>
            <a:endParaRPr lang="en-US" sz="1050" dirty="0"/>
          </a:p>
        </p:txBody>
      </p:sp>
      <p:sp>
        <p:nvSpPr>
          <p:cNvPr id="31" name="Shape 29"/>
          <p:cNvSpPr/>
          <p:nvPr/>
        </p:nvSpPr>
        <p:spPr>
          <a:xfrm>
            <a:off x="6949440" y="2514600"/>
            <a:ext cx="1554480" cy="548640"/>
          </a:xfrm>
          <a:prstGeom prst="roundRect">
            <a:avLst>
              <a:gd name="adj" fmla="val 13333"/>
            </a:avLst>
          </a:prstGeom>
          <a:solidFill>
            <a:srgbClr val="111827"/>
          </a:solidFill>
          <a:ln w="12700">
            <a:solidFill>
              <a:srgbClr val="111827"/>
            </a:solidFill>
            <a:prstDash val="solid"/>
          </a:ln>
        </p:spPr>
      </p:sp>
      <p:sp>
        <p:nvSpPr>
          <p:cNvPr id="32" name="Text 30"/>
          <p:cNvSpPr txBox="1"/>
          <p:nvPr/>
        </p:nvSpPr>
        <p:spPr>
          <a:xfrm>
            <a:off x="6949440" y="2514600"/>
            <a:ext cx="155448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62%</a:t>
            </a:r>
            <a:endParaRPr lang="en-US" sz="2000" dirty="0"/>
          </a:p>
        </p:txBody>
      </p:sp>
      <p:sp>
        <p:nvSpPr>
          <p:cNvPr id="33" name="Text 31"/>
          <p:cNvSpPr txBox="1"/>
          <p:nvPr/>
        </p:nvSpPr>
        <p:spPr>
          <a:xfrm>
            <a:off x="6949440" y="3200400"/>
            <a:ext cx="1600200" cy="731520"/>
          </a:xfrm>
          <a:prstGeom prst="rect">
            <a:avLst/>
          </a:prstGeom>
          <a:noFill/>
          <a:ln/>
        </p:spPr>
        <p:txBody>
          <a:bodyPr wrap="square" lIns="0" tIns="0" rIns="0" bIns="0" rtlCol="0" anchor="t"/>
          <a:lstStyle/>
          <a:p>
            <a:pPr indent="0" marL="0">
              <a:buNone/>
            </a:pPr>
            <a:r>
              <a:rPr lang="en-US" sz="1150" b="1" dirty="0">
                <a:solidFill>
                  <a:srgbClr val="1D4ED8"/>
                </a:solidFill>
                <a:latin typeface="Calibri" pitchFamily="34" charset="0"/>
                <a:ea typeface="Calibri" pitchFamily="34" charset="-122"/>
                <a:cs typeface="Calibri" pitchFamily="34" charset="-120"/>
              </a:rPr>
              <a:t>The honest number</a:t>
            </a:r>
            <a:endParaRPr lang="en-US" sz="1150" dirty="0"/>
          </a:p>
        </p:txBody>
      </p:sp>
      <p:sp>
        <p:nvSpPr>
          <p:cNvPr id="34" name="Shape 32"/>
          <p:cNvSpPr/>
          <p:nvPr/>
        </p:nvSpPr>
        <p:spPr>
          <a:xfrm>
            <a:off x="457200" y="4343400"/>
            <a:ext cx="8229600" cy="457200"/>
          </a:xfrm>
          <a:prstGeom prst="roundRect">
            <a:avLst>
              <a:gd name="adj" fmla="val 16000"/>
            </a:avLst>
          </a:prstGeom>
          <a:solidFill>
            <a:srgbClr val="F3F4F6"/>
          </a:solidFill>
          <a:ln w="12700">
            <a:solidFill>
              <a:srgbClr val="F3F4F6"/>
            </a:solidFill>
            <a:prstDash val="solid"/>
          </a:ln>
        </p:spPr>
      </p:sp>
      <p:sp>
        <p:nvSpPr>
          <p:cNvPr id="35" name="Text 33"/>
          <p:cNvSpPr txBox="1"/>
          <p:nvPr/>
        </p:nvSpPr>
        <p:spPr>
          <a:xfrm>
            <a:off x="731520" y="4343400"/>
            <a:ext cx="7680960" cy="4572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All four describe the same hundred runs. Nothing about the agent changed; only the question changed.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02 · WHAT IS SUCCESS</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Agent Cost Control · Module 5</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
        <p:nvSpPr>
          <p:cNvPr id="5" name="Text 3"/>
          <p:cNvSpPr txBox="1"/>
          <p:nvPr/>
        </p:nvSpPr>
        <p:spPr>
          <a:xfrm>
            <a:off x="457200" y="914400"/>
            <a:ext cx="8229600" cy="12801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 number without its definition</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is not a measurement.</a:t>
            </a:r>
            <a:endParaRPr lang="en-US" sz="3400" dirty="0"/>
          </a:p>
        </p:txBody>
      </p:sp>
      <p:sp>
        <p:nvSpPr>
          <p:cNvPr id="6" name="Text 4"/>
          <p:cNvSpPr txBox="1"/>
          <p:nvPr/>
        </p:nvSpPr>
        <p:spPr>
          <a:xfrm>
            <a:off x="457200" y="2240280"/>
            <a:ext cx="8229600" cy="548640"/>
          </a:xfrm>
          <a:prstGeom prst="rect">
            <a:avLst/>
          </a:prstGeom>
          <a:noFill/>
          <a:ln/>
        </p:spPr>
        <p:txBody>
          <a:bodyPr wrap="square" lIns="0" tIns="0" rIns="0" bIns="0" rtlCol="0" anchor="t"/>
          <a:lstStyle/>
          <a:p>
            <a:pPr indent="0" marL="0">
              <a:buNone/>
            </a:pPr>
            <a:r>
              <a:rPr lang="en-US" sz="3000" b="1" i="1" dirty="0">
                <a:solidFill>
                  <a:srgbClr val="F59E0B"/>
                </a:solidFill>
                <a:latin typeface="Cambria" pitchFamily="34" charset="0"/>
                <a:ea typeface="Cambria" pitchFamily="34" charset="-122"/>
                <a:cs typeface="Cambria" pitchFamily="34" charset="-120"/>
              </a:rPr>
              <a:t>It is a rumour.</a:t>
            </a:r>
            <a:endParaRPr lang="en-US" sz="3000" dirty="0"/>
          </a:p>
        </p:txBody>
      </p:sp>
      <p:sp>
        <p:nvSpPr>
          <p:cNvPr id="7" name="Text 5"/>
          <p:cNvSpPr txBox="1"/>
          <p:nvPr/>
        </p:nvSpPr>
        <p:spPr>
          <a:xfrm>
            <a:off x="457200" y="2971800"/>
            <a:ext cx="7863840" cy="1005840"/>
          </a:xfrm>
          <a:prstGeom prst="rect">
            <a:avLst/>
          </a:prstGeom>
          <a:noFill/>
          <a:ln/>
        </p:spPr>
        <p:txBody>
          <a:bodyPr wrap="square" lIns="0" tIns="0" rIns="0" bIns="0" rtlCol="0" anchor="t"/>
          <a:lstStyle/>
          <a:p>
            <a:pPr indent="0" marL="0">
              <a:buNone/>
            </a:pPr>
            <a:r>
              <a:rPr lang="en-US" sz="1500" dirty="0">
                <a:solidFill>
                  <a:srgbClr val="9CA3AF"/>
                </a:solidFill>
                <a:latin typeface="Calibri" pitchFamily="34" charset="0"/>
                <a:ea typeface="Calibri" pitchFamily="34" charset="-122"/>
                <a:cs typeface="Calibri" pitchFamily="34" charset="-120"/>
              </a:rPr>
              <a:t>Your cost per successful task could be twenty cents or thirty-two cents depending entirely on a definition you chose. Both are arithmetically correct. So choose one, write it down, and put the definition next to the number every single time you report it.</a:t>
            </a:r>
            <a:endParaRPr lang="en-US" sz="1500" dirty="0"/>
          </a:p>
        </p:txBody>
      </p:sp>
      <p:sp>
        <p:nvSpPr>
          <p:cNvPr id="8" name="Text 6"/>
          <p:cNvSpPr txBox="1"/>
          <p:nvPr/>
        </p:nvSpPr>
        <p:spPr>
          <a:xfrm>
            <a:off x="457200" y="4023360"/>
            <a:ext cx="7863840" cy="548640"/>
          </a:xfrm>
          <a:prstGeom prst="rect">
            <a:avLst/>
          </a:prstGeom>
          <a:noFill/>
          <a:ln/>
        </p:spPr>
        <p:txBody>
          <a:bodyPr wrap="square" lIns="0" tIns="0" rIns="0" bIns="0" rtlCol="0" anchor="t"/>
          <a:lstStyle/>
          <a:p>
            <a:pPr indent="0" marL="0">
              <a:buNone/>
            </a:pPr>
            <a:r>
              <a:rPr lang="en-US" sz="1300" i="1" dirty="0">
                <a:solidFill>
                  <a:srgbClr val="9CA3AF"/>
                </a:solidFill>
                <a:latin typeface="Calibri" pitchFamily="34" charset="0"/>
                <a:ea typeface="Calibri" pitchFamily="34" charset="-122"/>
                <a:cs typeface="Calibri" pitchFamily="34" charset="-120"/>
              </a:rPr>
              <a:t>If you later tighten your check, the metric moves even though nothing about the agent changed. Say so loudly, or it looks like the system got worse overnight.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12</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02 · What Is Success</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four definitions</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Four cards with the percentages prominent; the spread is the teaching.</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Four tall cards across the page, numbered one to four</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Card one IT DIDN'T CRASH: the program finished · easy, almost always true · figure in a dark box: 98% · verdict: far too generous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Card two IT PRODUCED SOMETHING: an answer came out · still easy, might be nonsense · 91% · verdict: better, still generous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Card three IT PASSED A CHECK: the answer looked right · a rule you write catches obvious rubbish · 74% · verdict: usually the right choice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Card four A HUMAN ACCEPTED IT: someone used it · the real truth, slow and expensive · 62% · verdict: the honest number</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Wide box underneath: all four numbers describe the same hundred runs. Nothing about the agent changed; only the question changed</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One last box with the rule: pick one, write it down, put it next to the number. A number without its definition is not a measurement, it is a rumour</a:t>
            </a:r>
            <a:endParaRPr lang="en-US" sz="950" dirty="0"/>
          </a:p>
        </p:txBody>
      </p:sp>
      <p:sp>
        <p:nvSpPr>
          <p:cNvPr id="12" name="Shape 8"/>
          <p:cNvSpPr/>
          <p:nvPr/>
        </p:nvSpPr>
        <p:spPr>
          <a:xfrm>
            <a:off x="3886200" y="1536192"/>
            <a:ext cx="4800600" cy="2057400"/>
          </a:xfrm>
          <a:prstGeom prst="roundRect">
            <a:avLst>
              <a:gd name="adj" fmla="val 355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600200"/>
          </a:xfrm>
          <a:prstGeom prst="rect">
            <a:avLst/>
          </a:prstGeom>
        </p:spPr>
      </p:pic>
      <p:sp>
        <p:nvSpPr>
          <p:cNvPr id="15" name="Shape 10"/>
          <p:cNvSpPr/>
          <p:nvPr/>
        </p:nvSpPr>
        <p:spPr>
          <a:xfrm>
            <a:off x="3886200" y="3749040"/>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749040"/>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“Same hundred runs, four times. Only the question changed.”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03</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Arithmetic</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~6 min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03 · THE ARITHMETIC</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Everything you spent, over the runs that succeeded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457200" y="1188720"/>
            <a:ext cx="3657600" cy="1691640"/>
          </a:xfrm>
          <a:prstGeom prst="roundRect">
            <a:avLst>
              <a:gd name="adj" fmla="val 4324"/>
            </a:avLst>
          </a:prstGeom>
          <a:solidFill>
            <a:srgbClr val="F3F4F6"/>
          </a:solidFill>
          <a:ln w="12700">
            <a:solidFill>
              <a:srgbClr val="F3F4F6"/>
            </a:solidFill>
            <a:prstDash val="solid"/>
          </a:ln>
        </p:spPr>
      </p:sp>
      <p:sp>
        <p:nvSpPr>
          <p:cNvPr id="7" name="Text 5"/>
          <p:cNvSpPr txBox="1"/>
          <p:nvPr/>
        </p:nvSpPr>
        <p:spPr>
          <a:xfrm>
            <a:off x="640080" y="1371600"/>
            <a:ext cx="3291840" cy="320040"/>
          </a:xfrm>
          <a:prstGeom prst="rect">
            <a:avLst/>
          </a:prstGeom>
          <a:noFill/>
          <a:ln/>
        </p:spPr>
        <p:txBody>
          <a:bodyPr wrap="square" lIns="0" tIns="0" rIns="0" bIns="0" rtlCol="0" anchor="t"/>
          <a:lstStyle/>
          <a:p>
            <a:pPr algn="ctr" indent="0" marL="0">
              <a:buNone/>
            </a:pPr>
            <a:r>
              <a:rPr lang="en-US" sz="1800" b="1" dirty="0">
                <a:solidFill>
                  <a:srgbClr val="111827"/>
                </a:solidFill>
                <a:latin typeface="Cambria" pitchFamily="34" charset="0"/>
                <a:ea typeface="Cambria" pitchFamily="34" charset="-122"/>
                <a:cs typeface="Cambria" pitchFamily="34" charset="-120"/>
              </a:rPr>
              <a:t>Everything you spent</a:t>
            </a:r>
            <a:endParaRPr lang="en-US" sz="1800" dirty="0"/>
          </a:p>
        </p:txBody>
      </p:sp>
      <p:sp>
        <p:nvSpPr>
          <p:cNvPr id="8" name="Text 6"/>
          <p:cNvSpPr txBox="1"/>
          <p:nvPr/>
        </p:nvSpPr>
        <p:spPr>
          <a:xfrm>
            <a:off x="640080" y="1691640"/>
            <a:ext cx="3291840" cy="274320"/>
          </a:xfrm>
          <a:prstGeom prst="rect">
            <a:avLst/>
          </a:prstGeom>
          <a:noFill/>
          <a:ln/>
        </p:spPr>
        <p:txBody>
          <a:bodyPr wrap="square" lIns="0" tIns="0" rIns="0" bIns="0" rtlCol="0" anchor="t"/>
          <a:lstStyle/>
          <a:p>
            <a:pPr algn="ctr" indent="0" marL="0">
              <a:buNone/>
            </a:pPr>
            <a:r>
              <a:rPr lang="en-US" sz="1100" i="1" dirty="0">
                <a:solidFill>
                  <a:srgbClr val="6B7280"/>
                </a:solidFill>
                <a:latin typeface="Calibri" pitchFamily="34" charset="0"/>
                <a:ea typeface="Calibri" pitchFamily="34" charset="-122"/>
                <a:cs typeface="Calibri" pitchFamily="34" charset="-120"/>
              </a:rPr>
              <a:t>(including the failures)</a:t>
            </a:r>
            <a:endParaRPr lang="en-US" sz="1100" dirty="0"/>
          </a:p>
        </p:txBody>
      </p:sp>
      <p:sp>
        <p:nvSpPr>
          <p:cNvPr id="9" name="Shape 7"/>
          <p:cNvSpPr/>
          <p:nvPr/>
        </p:nvSpPr>
        <p:spPr>
          <a:xfrm>
            <a:off x="868680" y="2057400"/>
            <a:ext cx="2834640" cy="0"/>
          </a:xfrm>
          <a:prstGeom prst="line">
            <a:avLst/>
          </a:prstGeom>
          <a:noFill/>
          <a:ln w="25400">
            <a:solidFill>
              <a:srgbClr val="111827"/>
            </a:solidFill>
            <a:prstDash val="solid"/>
          </a:ln>
        </p:spPr>
      </p:sp>
      <p:sp>
        <p:nvSpPr>
          <p:cNvPr id="10" name="Text 8"/>
          <p:cNvSpPr txBox="1"/>
          <p:nvPr/>
        </p:nvSpPr>
        <p:spPr>
          <a:xfrm>
            <a:off x="640080" y="2194560"/>
            <a:ext cx="3291840" cy="320040"/>
          </a:xfrm>
          <a:prstGeom prst="rect">
            <a:avLst/>
          </a:prstGeom>
          <a:noFill/>
          <a:ln/>
        </p:spPr>
        <p:txBody>
          <a:bodyPr wrap="square" lIns="0" tIns="0" rIns="0" bIns="0" rtlCol="0" anchor="t"/>
          <a:lstStyle/>
          <a:p>
            <a:pPr algn="ctr" indent="0" marL="0">
              <a:buNone/>
            </a:pPr>
            <a:r>
              <a:rPr lang="en-US" sz="1800" b="1" dirty="0">
                <a:solidFill>
                  <a:srgbClr val="111827"/>
                </a:solidFill>
                <a:latin typeface="Cambria" pitchFamily="34" charset="0"/>
                <a:ea typeface="Cambria" pitchFamily="34" charset="-122"/>
                <a:cs typeface="Cambria" pitchFamily="34" charset="-120"/>
              </a:rPr>
              <a:t>The runs that succeeded</a:t>
            </a:r>
            <a:endParaRPr lang="en-US" sz="1800" dirty="0"/>
          </a:p>
        </p:txBody>
      </p:sp>
      <p:sp>
        <p:nvSpPr>
          <p:cNvPr id="11" name="Text 9"/>
          <p:cNvSpPr txBox="1"/>
          <p:nvPr/>
        </p:nvSpPr>
        <p:spPr>
          <a:xfrm>
            <a:off x="640080" y="2514600"/>
            <a:ext cx="3291840" cy="274320"/>
          </a:xfrm>
          <a:prstGeom prst="rect">
            <a:avLst/>
          </a:prstGeom>
          <a:noFill/>
          <a:ln/>
        </p:spPr>
        <p:txBody>
          <a:bodyPr wrap="square" lIns="0" tIns="0" rIns="0" bIns="0" rtlCol="0" anchor="t"/>
          <a:lstStyle/>
          <a:p>
            <a:pPr algn="ctr" indent="0" marL="0">
              <a:buNone/>
            </a:pPr>
            <a:r>
              <a:rPr lang="en-US" sz="1100" i="1" dirty="0">
                <a:solidFill>
                  <a:srgbClr val="6B7280"/>
                </a:solidFill>
                <a:latin typeface="Calibri" pitchFamily="34" charset="0"/>
                <a:ea typeface="Calibri" pitchFamily="34" charset="-122"/>
                <a:cs typeface="Calibri" pitchFamily="34" charset="-120"/>
              </a:rPr>
              <a:t>(only those)</a:t>
            </a:r>
            <a:endParaRPr lang="en-US" sz="1100" dirty="0"/>
          </a:p>
        </p:txBody>
      </p:sp>
      <p:sp>
        <p:nvSpPr>
          <p:cNvPr id="12" name="Shape 10"/>
          <p:cNvSpPr/>
          <p:nvPr/>
        </p:nvSpPr>
        <p:spPr>
          <a:xfrm>
            <a:off x="4389120" y="1188720"/>
            <a:ext cx="4297680" cy="1691640"/>
          </a:xfrm>
          <a:prstGeom prst="roundRect">
            <a:avLst>
              <a:gd name="adj" fmla="val 4324"/>
            </a:avLst>
          </a:prstGeom>
          <a:solidFill>
            <a:srgbClr val="F3F4F6"/>
          </a:solidFill>
          <a:ln w="12700">
            <a:solidFill>
              <a:srgbClr val="F3F4F6"/>
            </a:solidFill>
            <a:prstDash val="solid"/>
          </a:ln>
        </p:spPr>
      </p:sp>
      <p:sp>
        <p:nvSpPr>
          <p:cNvPr id="13" name="Text 11"/>
          <p:cNvSpPr txBox="1"/>
          <p:nvPr/>
        </p:nvSpPr>
        <p:spPr>
          <a:xfrm>
            <a:off x="4572000" y="1325880"/>
            <a:ext cx="3931920" cy="228600"/>
          </a:xfrm>
          <a:prstGeom prst="rect">
            <a:avLst/>
          </a:prstGeom>
          <a:noFill/>
          <a:ln/>
        </p:spPr>
        <p:txBody>
          <a:bodyPr wrap="square" lIns="0" tIns="0" rIns="0" bIns="0" rtlCol="0" anchor="t"/>
          <a:lstStyle/>
          <a:p>
            <a:pPr indent="0" marL="0">
              <a:buNone/>
            </a:pPr>
            <a:r>
              <a:rPr lang="en-US" sz="950" b="1" spc="200" kern="0" dirty="0">
                <a:solidFill>
                  <a:srgbClr val="6B7280"/>
                </a:solidFill>
                <a:latin typeface="Calibri" pitchFamily="34" charset="0"/>
                <a:ea typeface="Calibri" pitchFamily="34" charset="-122"/>
                <a:cs typeface="Calibri" pitchFamily="34" charset="-120"/>
              </a:rPr>
              <a:t>ONE AFTERNOON</a:t>
            </a:r>
            <a:endParaRPr lang="en-US" sz="950" dirty="0"/>
          </a:p>
        </p:txBody>
      </p:sp>
      <p:sp>
        <p:nvSpPr>
          <p:cNvPr id="14" name="Text 12"/>
          <p:cNvSpPr txBox="1"/>
          <p:nvPr/>
        </p:nvSpPr>
        <p:spPr>
          <a:xfrm>
            <a:off x="4572000" y="1600200"/>
            <a:ext cx="2377440" cy="27432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100 runs started</a:t>
            </a:r>
            <a:endParaRPr lang="en-US" sz="1250" dirty="0"/>
          </a:p>
        </p:txBody>
      </p:sp>
      <p:sp>
        <p:nvSpPr>
          <p:cNvPr id="15" name="Text 13"/>
          <p:cNvSpPr txBox="1"/>
          <p:nvPr/>
        </p:nvSpPr>
        <p:spPr>
          <a:xfrm>
            <a:off x="6949440" y="1600200"/>
            <a:ext cx="1645920" cy="274320"/>
          </a:xfrm>
          <a:prstGeom prst="rect">
            <a:avLst/>
          </a:prstGeom>
          <a:noFill/>
          <a:ln/>
        </p:spPr>
        <p:txBody>
          <a:bodyPr wrap="square" lIns="0" tIns="0" rIns="0" bIns="0" rtlCol="0" anchor="t"/>
          <a:lstStyle/>
          <a:p>
            <a:pPr indent="0" marL="0">
              <a:buNone/>
            </a:pPr>
            <a:endParaRPr lang="en-US" sz="1000" dirty="0"/>
          </a:p>
        </p:txBody>
      </p:sp>
      <p:sp>
        <p:nvSpPr>
          <p:cNvPr id="16" name="Text 14"/>
          <p:cNvSpPr txBox="1"/>
          <p:nvPr/>
        </p:nvSpPr>
        <p:spPr>
          <a:xfrm>
            <a:off x="4572000" y="1892808"/>
            <a:ext cx="2377440" cy="27432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62 succeeded</a:t>
            </a:r>
            <a:endParaRPr lang="en-US" sz="1250" dirty="0"/>
          </a:p>
        </p:txBody>
      </p:sp>
      <p:sp>
        <p:nvSpPr>
          <p:cNvPr id="17" name="Text 15"/>
          <p:cNvSpPr txBox="1"/>
          <p:nvPr/>
        </p:nvSpPr>
        <p:spPr>
          <a:xfrm>
            <a:off x="6949440" y="1892808"/>
            <a:ext cx="1645920" cy="274320"/>
          </a:xfrm>
          <a:prstGeom prst="rect">
            <a:avLst/>
          </a:prstGeom>
          <a:noFill/>
          <a:ln/>
        </p:spPr>
        <p:txBody>
          <a:bodyPr wrap="square" lIns="0" tIns="0" rIns="0" bIns="0" rtlCol="0" anchor="t"/>
          <a:lstStyle/>
          <a:p>
            <a:pPr indent="0" marL="0">
              <a:buNone/>
            </a:pPr>
            <a:r>
              <a:rPr lang="en-US" sz="1000" i="1" dirty="0">
                <a:solidFill>
                  <a:srgbClr val="6B7280"/>
                </a:solidFill>
                <a:latin typeface="Calibri" pitchFamily="34" charset="0"/>
                <a:ea typeface="Calibri" pitchFamily="34" charset="-122"/>
                <a:cs typeface="Calibri" pitchFamily="34" charset="-120"/>
              </a:rPr>
              <a:t>the denominator</a:t>
            </a:r>
            <a:endParaRPr lang="en-US" sz="1000" dirty="0"/>
          </a:p>
        </p:txBody>
      </p:sp>
      <p:sp>
        <p:nvSpPr>
          <p:cNvPr id="18" name="Text 16"/>
          <p:cNvSpPr txBox="1"/>
          <p:nvPr/>
        </p:nvSpPr>
        <p:spPr>
          <a:xfrm>
            <a:off x="4572000" y="2185416"/>
            <a:ext cx="2377440" cy="27432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38 failed, after spending money</a:t>
            </a:r>
            <a:endParaRPr lang="en-US" sz="1250" dirty="0"/>
          </a:p>
        </p:txBody>
      </p:sp>
      <p:sp>
        <p:nvSpPr>
          <p:cNvPr id="19" name="Text 17"/>
          <p:cNvSpPr txBox="1"/>
          <p:nvPr/>
        </p:nvSpPr>
        <p:spPr>
          <a:xfrm>
            <a:off x="6949440" y="2185416"/>
            <a:ext cx="1645920" cy="274320"/>
          </a:xfrm>
          <a:prstGeom prst="rect">
            <a:avLst/>
          </a:prstGeom>
          <a:noFill/>
          <a:ln/>
        </p:spPr>
        <p:txBody>
          <a:bodyPr wrap="square" lIns="0" tIns="0" rIns="0" bIns="0" rtlCol="0" anchor="t"/>
          <a:lstStyle/>
          <a:p>
            <a:pPr indent="0" marL="0">
              <a:buNone/>
            </a:pPr>
            <a:r>
              <a:rPr lang="en-US" sz="1000" i="1" dirty="0">
                <a:solidFill>
                  <a:srgbClr val="B91C1C"/>
                </a:solidFill>
                <a:latin typeface="Calibri" pitchFamily="34" charset="0"/>
                <a:ea typeface="Calibri" pitchFamily="34" charset="-122"/>
                <a:cs typeface="Calibri" pitchFamily="34" charset="-120"/>
              </a:rPr>
              <a:t>these still count on top</a:t>
            </a:r>
            <a:endParaRPr lang="en-US" sz="1000" dirty="0"/>
          </a:p>
        </p:txBody>
      </p:sp>
      <p:sp>
        <p:nvSpPr>
          <p:cNvPr id="20" name="Text 18"/>
          <p:cNvSpPr txBox="1"/>
          <p:nvPr/>
        </p:nvSpPr>
        <p:spPr>
          <a:xfrm>
            <a:off x="4572000" y="2478024"/>
            <a:ext cx="2377440" cy="27432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$19 spent in total</a:t>
            </a:r>
            <a:endParaRPr lang="en-US" sz="1250" dirty="0"/>
          </a:p>
        </p:txBody>
      </p:sp>
      <p:sp>
        <p:nvSpPr>
          <p:cNvPr id="21" name="Text 19"/>
          <p:cNvSpPr txBox="1"/>
          <p:nvPr/>
        </p:nvSpPr>
        <p:spPr>
          <a:xfrm>
            <a:off x="6949440" y="2478024"/>
            <a:ext cx="1645920" cy="274320"/>
          </a:xfrm>
          <a:prstGeom prst="rect">
            <a:avLst/>
          </a:prstGeom>
          <a:noFill/>
          <a:ln/>
        </p:spPr>
        <p:txBody>
          <a:bodyPr wrap="square" lIns="0" tIns="0" rIns="0" bIns="0" rtlCol="0" anchor="t"/>
          <a:lstStyle/>
          <a:p>
            <a:pPr indent="0" marL="0">
              <a:buNone/>
            </a:pPr>
            <a:r>
              <a:rPr lang="en-US" sz="1000" i="1" dirty="0">
                <a:solidFill>
                  <a:srgbClr val="6B7280"/>
                </a:solidFill>
                <a:latin typeface="Calibri" pitchFamily="34" charset="0"/>
                <a:ea typeface="Calibri" pitchFamily="34" charset="-122"/>
                <a:cs typeface="Calibri" pitchFamily="34" charset="-120"/>
              </a:rPr>
              <a:t>the numerator</a:t>
            </a:r>
            <a:endParaRPr lang="en-US" sz="1000" dirty="0"/>
          </a:p>
        </p:txBody>
      </p:sp>
      <p:sp>
        <p:nvSpPr>
          <p:cNvPr id="22" name="Shape 20"/>
          <p:cNvSpPr/>
          <p:nvPr/>
        </p:nvSpPr>
        <p:spPr>
          <a:xfrm>
            <a:off x="457200" y="3063240"/>
            <a:ext cx="4023360" cy="1371600"/>
          </a:xfrm>
          <a:prstGeom prst="roundRect">
            <a:avLst>
              <a:gd name="adj" fmla="val 5333"/>
            </a:avLst>
          </a:prstGeom>
          <a:solidFill>
            <a:srgbClr val="F3F4F6"/>
          </a:solidFill>
          <a:ln w="12700">
            <a:solidFill>
              <a:srgbClr val="F3F4F6"/>
            </a:solidFill>
            <a:prstDash val="solid"/>
          </a:ln>
        </p:spPr>
      </p:sp>
      <p:sp>
        <p:nvSpPr>
          <p:cNvPr id="23" name="Text 21"/>
          <p:cNvSpPr txBox="1"/>
          <p:nvPr/>
        </p:nvSpPr>
        <p:spPr>
          <a:xfrm>
            <a:off x="685800" y="3200400"/>
            <a:ext cx="3566160" cy="274320"/>
          </a:xfrm>
          <a:prstGeom prst="rect">
            <a:avLst/>
          </a:prstGeom>
          <a:noFill/>
          <a:ln/>
        </p:spPr>
        <p:txBody>
          <a:bodyPr wrap="square" lIns="0" tIns="0" rIns="0" bIns="0" rtlCol="0" anchor="t"/>
          <a:lstStyle/>
          <a:p>
            <a:pPr indent="0" marL="0">
              <a:buNone/>
            </a:pPr>
            <a:r>
              <a:rPr lang="en-US" sz="1000" b="1" spc="150" kern="0" dirty="0">
                <a:solidFill>
                  <a:srgbClr val="6B7280"/>
                </a:solidFill>
                <a:latin typeface="Calibri" pitchFamily="34" charset="0"/>
                <a:ea typeface="Calibri" pitchFamily="34" charset="-122"/>
                <a:cs typeface="Calibri" pitchFamily="34" charset="-120"/>
              </a:rPr>
              <a:t>COST PER REQUEST</a:t>
            </a:r>
            <a:endParaRPr lang="en-US" sz="1000" dirty="0"/>
          </a:p>
        </p:txBody>
      </p:sp>
      <p:sp>
        <p:nvSpPr>
          <p:cNvPr id="24" name="Text 22"/>
          <p:cNvSpPr txBox="1"/>
          <p:nvPr/>
        </p:nvSpPr>
        <p:spPr>
          <a:xfrm>
            <a:off x="685800" y="3520440"/>
            <a:ext cx="3566160" cy="457200"/>
          </a:xfrm>
          <a:prstGeom prst="rect">
            <a:avLst/>
          </a:prstGeom>
          <a:noFill/>
          <a:ln/>
        </p:spPr>
        <p:txBody>
          <a:bodyPr wrap="square" lIns="0" tIns="0" rIns="0" bIns="0" rtlCol="0" anchor="t"/>
          <a:lstStyle/>
          <a:p>
            <a:pPr indent="0" marL="0">
              <a:buNone/>
            </a:pPr>
            <a:r>
              <a:rPr lang="en-US" sz="1800" b="1" dirty="0">
                <a:solidFill>
                  <a:srgbClr val="6B7280"/>
                </a:solidFill>
                <a:latin typeface="Courier New" pitchFamily="34" charset="0"/>
                <a:ea typeface="Courier New" pitchFamily="34" charset="-122"/>
                <a:cs typeface="Courier New" pitchFamily="34" charset="-120"/>
              </a:rPr>
              <a:t>$19 ÷ 100 = $0.19</a:t>
            </a:r>
            <a:endParaRPr lang="en-US" sz="1800" dirty="0"/>
          </a:p>
        </p:txBody>
      </p:sp>
      <p:sp>
        <p:nvSpPr>
          <p:cNvPr id="25" name="Text 23"/>
          <p:cNvSpPr txBox="1"/>
          <p:nvPr/>
        </p:nvSpPr>
        <p:spPr>
          <a:xfrm>
            <a:off x="685800" y="4023360"/>
            <a:ext cx="3566160" cy="32004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Sounds fine. Nobody would question it.</a:t>
            </a:r>
            <a:endParaRPr lang="en-US" sz="1200" dirty="0"/>
          </a:p>
        </p:txBody>
      </p:sp>
      <p:sp>
        <p:nvSpPr>
          <p:cNvPr id="26" name="Shape 24"/>
          <p:cNvSpPr/>
          <p:nvPr/>
        </p:nvSpPr>
        <p:spPr>
          <a:xfrm>
            <a:off x="4663440" y="3063240"/>
            <a:ext cx="4023360" cy="1371600"/>
          </a:xfrm>
          <a:prstGeom prst="roundRect">
            <a:avLst>
              <a:gd name="adj" fmla="val 5333"/>
            </a:avLst>
          </a:prstGeom>
          <a:solidFill>
            <a:srgbClr val="ECFDF5"/>
          </a:solidFill>
          <a:ln w="31750">
            <a:solidFill>
              <a:srgbClr val="047857"/>
            </a:solidFill>
            <a:prstDash val="solid"/>
          </a:ln>
        </p:spPr>
      </p:sp>
      <p:sp>
        <p:nvSpPr>
          <p:cNvPr id="27" name="Text 25"/>
          <p:cNvSpPr txBox="1"/>
          <p:nvPr/>
        </p:nvSpPr>
        <p:spPr>
          <a:xfrm>
            <a:off x="4892040" y="3200400"/>
            <a:ext cx="3566160" cy="274320"/>
          </a:xfrm>
          <a:prstGeom prst="rect">
            <a:avLst/>
          </a:prstGeom>
          <a:noFill/>
          <a:ln/>
        </p:spPr>
        <p:txBody>
          <a:bodyPr wrap="square" lIns="0" tIns="0" rIns="0" bIns="0" rtlCol="0" anchor="t"/>
          <a:lstStyle/>
          <a:p>
            <a:pPr indent="0" marL="0">
              <a:buNone/>
            </a:pPr>
            <a:r>
              <a:rPr lang="en-US" sz="1000" b="1" spc="150" kern="0" dirty="0">
                <a:solidFill>
                  <a:srgbClr val="047857"/>
                </a:solidFill>
                <a:latin typeface="Calibri" pitchFamily="34" charset="0"/>
                <a:ea typeface="Calibri" pitchFamily="34" charset="-122"/>
                <a:cs typeface="Calibri" pitchFamily="34" charset="-120"/>
              </a:rPr>
              <a:t>COST PER SUCCESSFUL TASK</a:t>
            </a:r>
            <a:endParaRPr lang="en-US" sz="1000" dirty="0"/>
          </a:p>
        </p:txBody>
      </p:sp>
      <p:sp>
        <p:nvSpPr>
          <p:cNvPr id="28" name="Text 26"/>
          <p:cNvSpPr txBox="1"/>
          <p:nvPr/>
        </p:nvSpPr>
        <p:spPr>
          <a:xfrm>
            <a:off x="4892040" y="3520440"/>
            <a:ext cx="3566160" cy="457200"/>
          </a:xfrm>
          <a:prstGeom prst="rect">
            <a:avLst/>
          </a:prstGeom>
          <a:noFill/>
          <a:ln/>
        </p:spPr>
        <p:txBody>
          <a:bodyPr wrap="square" lIns="0" tIns="0" rIns="0" bIns="0" rtlCol="0" anchor="t"/>
          <a:lstStyle/>
          <a:p>
            <a:pPr indent="0" marL="0">
              <a:buNone/>
            </a:pPr>
            <a:r>
              <a:rPr lang="en-US" sz="1800" b="1" dirty="0">
                <a:solidFill>
                  <a:srgbClr val="047857"/>
                </a:solidFill>
                <a:latin typeface="Courier New" pitchFamily="34" charset="0"/>
                <a:ea typeface="Courier New" pitchFamily="34" charset="-122"/>
                <a:cs typeface="Courier New" pitchFamily="34" charset="-120"/>
              </a:rPr>
              <a:t>$19 ÷ 62 = $0.31</a:t>
            </a:r>
            <a:endParaRPr lang="en-US" sz="1800" dirty="0"/>
          </a:p>
        </p:txBody>
      </p:sp>
      <p:sp>
        <p:nvSpPr>
          <p:cNvPr id="29" name="Text 27"/>
          <p:cNvSpPr txBox="1"/>
          <p:nvPr/>
        </p:nvSpPr>
        <p:spPr>
          <a:xfrm>
            <a:off x="4892040" y="4023360"/>
            <a:ext cx="3566160" cy="320040"/>
          </a:xfrm>
          <a:prstGeom prst="rect">
            <a:avLst/>
          </a:prstGeom>
          <a:noFill/>
          <a:ln/>
        </p:spPr>
        <p:txBody>
          <a:bodyPr wrap="square" lIns="0" tIns="0" rIns="0" bIns="0" rtlCol="0" anchor="t"/>
          <a:lstStyle/>
          <a:p>
            <a:pPr indent="0" marL="0">
              <a:buNone/>
            </a:pPr>
            <a:r>
              <a:rPr lang="en-US" sz="1200" b="1" dirty="0">
                <a:solidFill>
                  <a:srgbClr val="1F2937"/>
                </a:solidFill>
                <a:latin typeface="Calibri" pitchFamily="34" charset="0"/>
                <a:ea typeface="Calibri" pitchFamily="34" charset="-122"/>
                <a:cs typeface="Calibri" pitchFamily="34" charset="-120"/>
              </a:rPr>
              <a:t>Sixty percent higher, and it is the true number.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5">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15</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03 · The Arithmetic</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fraction</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Draw the fraction large, then the worked rows, then the two answers side by side.</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Upper part of the page: a large fraction. On the top line: everything you spent, and in brackets: including the failures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horizontal line under it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Below the line: the runs that succeeded, and in brackets: only those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Heading underneath: one afternoon, worked through. Then four rows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hundred runs started · sixty-two succeeded (the denominator) · thirty-eight failed after spending money (these still count on top) · nineteen dollars spent in total (the numerator)</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Two boxes at the bottom. Left COST PER REQUEST: 19 ÷ 100 = nineteen cents. Underneath: sounds fine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Right COST PER SUCCESSFUL TASK: 19 ÷ 62 = thirty-one cents. Underneath: the true number. Draw this box heavier than the left one</a:t>
            </a:r>
            <a:endParaRPr lang="en-US" sz="950" dirty="0"/>
          </a:p>
        </p:txBody>
      </p:sp>
      <p:sp>
        <p:nvSpPr>
          <p:cNvPr id="12" name="Shape 8"/>
          <p:cNvSpPr/>
          <p:nvPr/>
        </p:nvSpPr>
        <p:spPr>
          <a:xfrm>
            <a:off x="3886200" y="1536192"/>
            <a:ext cx="4800600" cy="2095630"/>
          </a:xfrm>
          <a:prstGeom prst="roundRect">
            <a:avLst>
              <a:gd name="adj" fmla="val 3491"/>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638430"/>
          </a:xfrm>
          <a:prstGeom prst="rect">
            <a:avLst/>
          </a:prstGeom>
        </p:spPr>
      </p:pic>
      <p:sp>
        <p:nvSpPr>
          <p:cNvPr id="15" name="Shape 10"/>
          <p:cNvSpPr/>
          <p:nvPr/>
        </p:nvSpPr>
        <p:spPr>
          <a:xfrm>
            <a:off x="3886200" y="3787270"/>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787270"/>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“The failures go on the top. Write that in big letters.”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04</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What This Number Reveals</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04 · WHAT IT REVEALS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Three changes; watch spend and value part company</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17</a:t>
            </a:r>
            <a:endParaRPr lang="en-US" sz="900" dirty="0"/>
          </a:p>
        </p:txBody>
      </p:sp>
      <p:sp>
        <p:nvSpPr>
          <p:cNvPr id="6" name="Text 4"/>
          <p:cNvSpPr txBox="1"/>
          <p:nvPr/>
        </p:nvSpPr>
        <p:spPr>
          <a:xfrm>
            <a:off x="457200" y="1143000"/>
            <a:ext cx="3291840" cy="228600"/>
          </a:xfrm>
          <a:prstGeom prst="rect">
            <a:avLst/>
          </a:prstGeom>
          <a:noFill/>
          <a:ln/>
        </p:spPr>
        <p:txBody>
          <a:bodyPr wrap="square" lIns="0" tIns="0" rIns="0" bIns="0" rtlCol="0" anchor="t"/>
          <a:lstStyle/>
          <a:p>
            <a:pPr indent="0" marL="0">
              <a:buNone/>
            </a:pPr>
            <a:r>
              <a:rPr lang="en-US" sz="900" b="1" spc="150" kern="0" dirty="0">
                <a:solidFill>
                  <a:srgbClr val="6B7280"/>
                </a:solidFill>
                <a:latin typeface="Calibri" pitchFamily="34" charset="0"/>
                <a:ea typeface="Calibri" pitchFamily="34" charset="-122"/>
                <a:cs typeface="Calibri" pitchFamily="34" charset="-120"/>
              </a:rPr>
              <a:t>WHAT YOU CHANGED</a:t>
            </a:r>
            <a:endParaRPr lang="en-US" sz="900" dirty="0"/>
          </a:p>
        </p:txBody>
      </p:sp>
      <p:sp>
        <p:nvSpPr>
          <p:cNvPr id="7" name="Text 5"/>
          <p:cNvSpPr txBox="1"/>
          <p:nvPr/>
        </p:nvSpPr>
        <p:spPr>
          <a:xfrm>
            <a:off x="3840480" y="1143000"/>
            <a:ext cx="1188720" cy="228600"/>
          </a:xfrm>
          <a:prstGeom prst="rect">
            <a:avLst/>
          </a:prstGeom>
          <a:noFill/>
          <a:ln/>
        </p:spPr>
        <p:txBody>
          <a:bodyPr wrap="square" lIns="0" tIns="0" rIns="0" bIns="0" rtlCol="0" anchor="t"/>
          <a:lstStyle/>
          <a:p>
            <a:pPr indent="0" marL="0">
              <a:buNone/>
            </a:pPr>
            <a:r>
              <a:rPr lang="en-US" sz="900" b="1" spc="150" kern="0" dirty="0">
                <a:solidFill>
                  <a:srgbClr val="6B7280"/>
                </a:solidFill>
                <a:latin typeface="Calibri" pitchFamily="34" charset="0"/>
                <a:ea typeface="Calibri" pitchFamily="34" charset="-122"/>
                <a:cs typeface="Calibri" pitchFamily="34" charset="-120"/>
              </a:rPr>
              <a:t>SPEND</a:t>
            </a:r>
            <a:endParaRPr lang="en-US" sz="900" dirty="0"/>
          </a:p>
        </p:txBody>
      </p:sp>
      <p:sp>
        <p:nvSpPr>
          <p:cNvPr id="8" name="Text 6"/>
          <p:cNvSpPr txBox="1"/>
          <p:nvPr/>
        </p:nvSpPr>
        <p:spPr>
          <a:xfrm>
            <a:off x="5074920" y="1143000"/>
            <a:ext cx="1188720" cy="228600"/>
          </a:xfrm>
          <a:prstGeom prst="rect">
            <a:avLst/>
          </a:prstGeom>
          <a:noFill/>
          <a:ln/>
        </p:spPr>
        <p:txBody>
          <a:bodyPr wrap="square" lIns="0" tIns="0" rIns="0" bIns="0" rtlCol="0" anchor="t"/>
          <a:lstStyle/>
          <a:p>
            <a:pPr indent="0" marL="0">
              <a:buNone/>
            </a:pPr>
            <a:r>
              <a:rPr lang="en-US" sz="900" b="1" spc="150" kern="0" dirty="0">
                <a:solidFill>
                  <a:srgbClr val="6B7280"/>
                </a:solidFill>
                <a:latin typeface="Calibri" pitchFamily="34" charset="0"/>
                <a:ea typeface="Calibri" pitchFamily="34" charset="-122"/>
                <a:cs typeface="Calibri" pitchFamily="34" charset="-120"/>
              </a:rPr>
              <a:t>SUCCESSES</a:t>
            </a:r>
            <a:endParaRPr lang="en-US" sz="900" dirty="0"/>
          </a:p>
        </p:txBody>
      </p:sp>
      <p:sp>
        <p:nvSpPr>
          <p:cNvPr id="9" name="Text 7"/>
          <p:cNvSpPr txBox="1"/>
          <p:nvPr/>
        </p:nvSpPr>
        <p:spPr>
          <a:xfrm>
            <a:off x="6309360" y="1143000"/>
            <a:ext cx="1188720" cy="228600"/>
          </a:xfrm>
          <a:prstGeom prst="rect">
            <a:avLst/>
          </a:prstGeom>
          <a:noFill/>
          <a:ln/>
        </p:spPr>
        <p:txBody>
          <a:bodyPr wrap="square" lIns="0" tIns="0" rIns="0" bIns="0" rtlCol="0" anchor="t"/>
          <a:lstStyle/>
          <a:p>
            <a:pPr indent="0" marL="0">
              <a:buNone/>
            </a:pPr>
            <a:r>
              <a:rPr lang="en-US" sz="900" b="1" spc="150" kern="0" dirty="0">
                <a:solidFill>
                  <a:srgbClr val="6B7280"/>
                </a:solidFill>
                <a:latin typeface="Calibri" pitchFamily="34" charset="0"/>
                <a:ea typeface="Calibri" pitchFamily="34" charset="-122"/>
                <a:cs typeface="Calibri" pitchFamily="34" charset="-120"/>
              </a:rPr>
              <a:t>THE METRIC</a:t>
            </a:r>
            <a:endParaRPr lang="en-US" sz="900" dirty="0"/>
          </a:p>
        </p:txBody>
      </p:sp>
      <p:sp>
        <p:nvSpPr>
          <p:cNvPr id="10" name="Text 8"/>
          <p:cNvSpPr txBox="1"/>
          <p:nvPr/>
        </p:nvSpPr>
        <p:spPr>
          <a:xfrm>
            <a:off x="7543800" y="1143000"/>
            <a:ext cx="1188720" cy="228600"/>
          </a:xfrm>
          <a:prstGeom prst="rect">
            <a:avLst/>
          </a:prstGeom>
          <a:noFill/>
          <a:ln/>
        </p:spPr>
        <p:txBody>
          <a:bodyPr wrap="square" lIns="0" tIns="0" rIns="0" bIns="0" rtlCol="0" anchor="t"/>
          <a:lstStyle/>
          <a:p>
            <a:pPr indent="0" marL="0">
              <a:buNone/>
            </a:pPr>
            <a:r>
              <a:rPr lang="en-US" sz="900" b="1" spc="150" kern="0" dirty="0">
                <a:solidFill>
                  <a:srgbClr val="6B7280"/>
                </a:solidFill>
                <a:latin typeface="Calibri" pitchFamily="34" charset="0"/>
                <a:ea typeface="Calibri" pitchFamily="34" charset="-122"/>
                <a:cs typeface="Calibri" pitchFamily="34" charset="-120"/>
              </a:rPr>
              <a:t>VERDICT</a:t>
            </a:r>
            <a:endParaRPr lang="en-US" sz="900" dirty="0"/>
          </a:p>
        </p:txBody>
      </p:sp>
      <p:sp>
        <p:nvSpPr>
          <p:cNvPr id="11" name="Shape 9"/>
          <p:cNvSpPr/>
          <p:nvPr/>
        </p:nvSpPr>
        <p:spPr>
          <a:xfrm>
            <a:off x="457200" y="1417320"/>
            <a:ext cx="8229600" cy="822960"/>
          </a:xfrm>
          <a:prstGeom prst="roundRect">
            <a:avLst>
              <a:gd name="adj" fmla="val 8889"/>
            </a:avLst>
          </a:prstGeom>
          <a:solidFill>
            <a:srgbClr val="FEF2F2"/>
          </a:solidFill>
          <a:ln w="12700">
            <a:solidFill>
              <a:srgbClr val="FEF2F2"/>
            </a:solidFill>
            <a:prstDash val="solid"/>
          </a:ln>
        </p:spPr>
      </p:sp>
      <p:sp>
        <p:nvSpPr>
          <p:cNvPr id="12" name="Text 10"/>
          <p:cNvSpPr txBox="1"/>
          <p:nvPr/>
        </p:nvSpPr>
        <p:spPr>
          <a:xfrm>
            <a:off x="640080" y="1527048"/>
            <a:ext cx="3108960" cy="27432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Switch to a cheaper model</a:t>
            </a:r>
            <a:endParaRPr lang="en-US" sz="1300" dirty="0"/>
          </a:p>
        </p:txBody>
      </p:sp>
      <p:sp>
        <p:nvSpPr>
          <p:cNvPr id="13" name="Text 11"/>
          <p:cNvSpPr txBox="1"/>
          <p:nvPr/>
        </p:nvSpPr>
        <p:spPr>
          <a:xfrm>
            <a:off x="640080" y="1819656"/>
            <a:ext cx="3108960" cy="32004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less capable, so more failures and retries</a:t>
            </a:r>
            <a:endParaRPr lang="en-US" sz="1000" dirty="0"/>
          </a:p>
        </p:txBody>
      </p:sp>
      <p:sp>
        <p:nvSpPr>
          <p:cNvPr id="14" name="Text 12"/>
          <p:cNvSpPr txBox="1"/>
          <p:nvPr/>
        </p:nvSpPr>
        <p:spPr>
          <a:xfrm>
            <a:off x="3840480" y="1417320"/>
            <a:ext cx="1188720" cy="82296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$19 → $14</a:t>
            </a:r>
            <a:endParaRPr lang="en-US" sz="1200" dirty="0"/>
          </a:p>
        </p:txBody>
      </p:sp>
      <p:sp>
        <p:nvSpPr>
          <p:cNvPr id="15" name="Text 13"/>
          <p:cNvSpPr txBox="1"/>
          <p:nvPr/>
        </p:nvSpPr>
        <p:spPr>
          <a:xfrm>
            <a:off x="5074920" y="1417320"/>
            <a:ext cx="1188720" cy="82296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62 → 41</a:t>
            </a:r>
            <a:endParaRPr lang="en-US" sz="1200" dirty="0"/>
          </a:p>
        </p:txBody>
      </p:sp>
      <p:sp>
        <p:nvSpPr>
          <p:cNvPr id="16" name="Text 14"/>
          <p:cNvSpPr txBox="1"/>
          <p:nvPr/>
        </p:nvSpPr>
        <p:spPr>
          <a:xfrm>
            <a:off x="6309360" y="1417320"/>
            <a:ext cx="1188720" cy="82296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$0.31 → $0.34</a:t>
            </a:r>
            <a:endParaRPr lang="en-US" sz="1200" dirty="0"/>
          </a:p>
        </p:txBody>
      </p:sp>
      <p:sp>
        <p:nvSpPr>
          <p:cNvPr id="17" name="Text 15"/>
          <p:cNvSpPr txBox="1"/>
          <p:nvPr/>
        </p:nvSpPr>
        <p:spPr>
          <a:xfrm>
            <a:off x="7543800" y="1417320"/>
            <a:ext cx="1005840" cy="822960"/>
          </a:xfrm>
          <a:prstGeom prst="rect">
            <a:avLst/>
          </a:prstGeom>
          <a:noFill/>
          <a:ln/>
        </p:spPr>
        <p:txBody>
          <a:bodyPr wrap="square" lIns="0" tIns="0" rIns="0" bIns="0" rtlCol="0" anchor="ctr"/>
          <a:lstStyle/>
          <a:p>
            <a:pPr indent="0" marL="0">
              <a:buNone/>
            </a:pPr>
            <a:r>
              <a:rPr lang="en-US" sz="1300" b="1" dirty="0">
                <a:solidFill>
                  <a:srgbClr val="B91C1C"/>
                </a:solidFill>
                <a:latin typeface="Calibri" pitchFamily="34" charset="0"/>
                <a:ea typeface="Calibri" pitchFamily="34" charset="-122"/>
                <a:cs typeface="Calibri" pitchFamily="34" charset="-120"/>
              </a:rPr>
              <a:t>WORSE</a:t>
            </a:r>
            <a:endParaRPr lang="en-US" sz="1300" dirty="0"/>
          </a:p>
        </p:txBody>
      </p:sp>
      <p:sp>
        <p:nvSpPr>
          <p:cNvPr id="18" name="Shape 16"/>
          <p:cNvSpPr/>
          <p:nvPr/>
        </p:nvSpPr>
        <p:spPr>
          <a:xfrm>
            <a:off x="457200" y="2331720"/>
            <a:ext cx="8229600" cy="822960"/>
          </a:xfrm>
          <a:prstGeom prst="roundRect">
            <a:avLst>
              <a:gd name="adj" fmla="val 8889"/>
            </a:avLst>
          </a:prstGeom>
          <a:solidFill>
            <a:srgbClr val="ECFDF5"/>
          </a:solidFill>
          <a:ln w="12700">
            <a:solidFill>
              <a:srgbClr val="ECFDF5"/>
            </a:solidFill>
            <a:prstDash val="solid"/>
          </a:ln>
        </p:spPr>
      </p:sp>
      <p:sp>
        <p:nvSpPr>
          <p:cNvPr id="19" name="Text 17"/>
          <p:cNvSpPr txBox="1"/>
          <p:nvPr/>
        </p:nvSpPr>
        <p:spPr>
          <a:xfrm>
            <a:off x="640080" y="2441448"/>
            <a:ext cx="3108960" cy="27432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Add checkpoints (module 4)</a:t>
            </a:r>
            <a:endParaRPr lang="en-US" sz="1300" dirty="0"/>
          </a:p>
        </p:txBody>
      </p:sp>
      <p:sp>
        <p:nvSpPr>
          <p:cNvPr id="20" name="Text 18"/>
          <p:cNvSpPr txBox="1"/>
          <p:nvPr/>
        </p:nvSpPr>
        <p:spPr>
          <a:xfrm>
            <a:off x="640080" y="2734056"/>
            <a:ext cx="3108960" cy="32004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stop paying twice; answers identical</a:t>
            </a:r>
            <a:endParaRPr lang="en-US" sz="1000" dirty="0"/>
          </a:p>
        </p:txBody>
      </p:sp>
      <p:sp>
        <p:nvSpPr>
          <p:cNvPr id="21" name="Text 19"/>
          <p:cNvSpPr txBox="1"/>
          <p:nvPr/>
        </p:nvSpPr>
        <p:spPr>
          <a:xfrm>
            <a:off x="3840480" y="2331720"/>
            <a:ext cx="1188720" cy="82296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$19 → $13</a:t>
            </a:r>
            <a:endParaRPr lang="en-US" sz="1200" dirty="0"/>
          </a:p>
        </p:txBody>
      </p:sp>
      <p:sp>
        <p:nvSpPr>
          <p:cNvPr id="22" name="Text 20"/>
          <p:cNvSpPr txBox="1"/>
          <p:nvPr/>
        </p:nvSpPr>
        <p:spPr>
          <a:xfrm>
            <a:off x="5074920" y="2331720"/>
            <a:ext cx="1188720" cy="82296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62 → 62</a:t>
            </a:r>
            <a:endParaRPr lang="en-US" sz="1200" dirty="0"/>
          </a:p>
        </p:txBody>
      </p:sp>
      <p:sp>
        <p:nvSpPr>
          <p:cNvPr id="23" name="Text 21"/>
          <p:cNvSpPr txBox="1"/>
          <p:nvPr/>
        </p:nvSpPr>
        <p:spPr>
          <a:xfrm>
            <a:off x="6309360" y="2331720"/>
            <a:ext cx="1188720" cy="82296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$0.31 → $0.21</a:t>
            </a:r>
            <a:endParaRPr lang="en-US" sz="1200" dirty="0"/>
          </a:p>
        </p:txBody>
      </p:sp>
      <p:sp>
        <p:nvSpPr>
          <p:cNvPr id="24" name="Text 22"/>
          <p:cNvSpPr txBox="1"/>
          <p:nvPr/>
        </p:nvSpPr>
        <p:spPr>
          <a:xfrm>
            <a:off x="7543800" y="2331720"/>
            <a:ext cx="1005840" cy="822960"/>
          </a:xfrm>
          <a:prstGeom prst="rect">
            <a:avLst/>
          </a:prstGeom>
          <a:noFill/>
          <a:ln/>
        </p:spPr>
        <p:txBody>
          <a:bodyPr wrap="square" lIns="0" tIns="0" rIns="0" bIns="0" rtlCol="0" anchor="ctr"/>
          <a:lstStyle/>
          <a:p>
            <a:pPr indent="0" marL="0">
              <a:buNone/>
            </a:pPr>
            <a:r>
              <a:rPr lang="en-US" sz="1300" b="1" dirty="0">
                <a:solidFill>
                  <a:srgbClr val="047857"/>
                </a:solidFill>
                <a:latin typeface="Calibri" pitchFamily="34" charset="0"/>
                <a:ea typeface="Calibri" pitchFamily="34" charset="-122"/>
                <a:cs typeface="Calibri" pitchFamily="34" charset="-120"/>
              </a:rPr>
              <a:t>BETTER</a:t>
            </a:r>
            <a:endParaRPr lang="en-US" sz="1300" dirty="0"/>
          </a:p>
        </p:txBody>
      </p:sp>
      <p:sp>
        <p:nvSpPr>
          <p:cNvPr id="25" name="Shape 23"/>
          <p:cNvSpPr/>
          <p:nvPr/>
        </p:nvSpPr>
        <p:spPr>
          <a:xfrm>
            <a:off x="457200" y="3246120"/>
            <a:ext cx="8229600" cy="822960"/>
          </a:xfrm>
          <a:prstGeom prst="roundRect">
            <a:avLst>
              <a:gd name="adj" fmla="val 8889"/>
            </a:avLst>
          </a:prstGeom>
          <a:solidFill>
            <a:srgbClr val="ECFDF5"/>
          </a:solidFill>
          <a:ln w="12700">
            <a:solidFill>
              <a:srgbClr val="ECFDF5"/>
            </a:solidFill>
            <a:prstDash val="solid"/>
          </a:ln>
        </p:spPr>
      </p:sp>
      <p:sp>
        <p:nvSpPr>
          <p:cNvPr id="26" name="Text 24"/>
          <p:cNvSpPr txBox="1"/>
          <p:nvPr/>
        </p:nvSpPr>
        <p:spPr>
          <a:xfrm>
            <a:off x="640080" y="3355848"/>
            <a:ext cx="3108960" cy="27432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Raise the step limit</a:t>
            </a:r>
            <a:endParaRPr lang="en-US" sz="1300" dirty="0"/>
          </a:p>
        </p:txBody>
      </p:sp>
      <p:sp>
        <p:nvSpPr>
          <p:cNvPr id="27" name="Text 25"/>
          <p:cNvSpPr txBox="1"/>
          <p:nvPr/>
        </p:nvSpPr>
        <p:spPr>
          <a:xfrm>
            <a:off x="640080" y="3648456"/>
            <a:ext cx="3108960" cy="32004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more real tasks get to finish</a:t>
            </a:r>
            <a:endParaRPr lang="en-US" sz="1000" dirty="0"/>
          </a:p>
        </p:txBody>
      </p:sp>
      <p:sp>
        <p:nvSpPr>
          <p:cNvPr id="28" name="Text 26"/>
          <p:cNvSpPr txBox="1"/>
          <p:nvPr/>
        </p:nvSpPr>
        <p:spPr>
          <a:xfrm>
            <a:off x="3840480" y="3246120"/>
            <a:ext cx="1188720" cy="82296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$19 → $24</a:t>
            </a:r>
            <a:endParaRPr lang="en-US" sz="1200" dirty="0"/>
          </a:p>
        </p:txBody>
      </p:sp>
      <p:sp>
        <p:nvSpPr>
          <p:cNvPr id="29" name="Text 27"/>
          <p:cNvSpPr txBox="1"/>
          <p:nvPr/>
        </p:nvSpPr>
        <p:spPr>
          <a:xfrm>
            <a:off x="5074920" y="3246120"/>
            <a:ext cx="1188720" cy="82296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62 → 84</a:t>
            </a:r>
            <a:endParaRPr lang="en-US" sz="1200" dirty="0"/>
          </a:p>
        </p:txBody>
      </p:sp>
      <p:sp>
        <p:nvSpPr>
          <p:cNvPr id="30" name="Text 28"/>
          <p:cNvSpPr txBox="1"/>
          <p:nvPr/>
        </p:nvSpPr>
        <p:spPr>
          <a:xfrm>
            <a:off x="6309360" y="3246120"/>
            <a:ext cx="1188720" cy="82296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$0.31 → $0.29</a:t>
            </a:r>
            <a:endParaRPr lang="en-US" sz="1200" dirty="0"/>
          </a:p>
        </p:txBody>
      </p:sp>
      <p:sp>
        <p:nvSpPr>
          <p:cNvPr id="31" name="Text 29"/>
          <p:cNvSpPr txBox="1"/>
          <p:nvPr/>
        </p:nvSpPr>
        <p:spPr>
          <a:xfrm>
            <a:off x="7543800" y="3246120"/>
            <a:ext cx="1005840" cy="822960"/>
          </a:xfrm>
          <a:prstGeom prst="rect">
            <a:avLst/>
          </a:prstGeom>
          <a:noFill/>
          <a:ln/>
        </p:spPr>
        <p:txBody>
          <a:bodyPr wrap="square" lIns="0" tIns="0" rIns="0" bIns="0" rtlCol="0" anchor="ctr"/>
          <a:lstStyle/>
          <a:p>
            <a:pPr indent="0" marL="0">
              <a:buNone/>
            </a:pPr>
            <a:r>
              <a:rPr lang="en-US" sz="1300" b="1" dirty="0">
                <a:solidFill>
                  <a:srgbClr val="047857"/>
                </a:solidFill>
                <a:latin typeface="Calibri" pitchFamily="34" charset="0"/>
                <a:ea typeface="Calibri" pitchFamily="34" charset="-122"/>
                <a:cs typeface="Calibri" pitchFamily="34" charset="-120"/>
              </a:rPr>
              <a:t>BETTER</a:t>
            </a:r>
            <a:endParaRPr lang="en-US" sz="1300" dirty="0"/>
          </a:p>
        </p:txBody>
      </p:sp>
      <p:sp>
        <p:nvSpPr>
          <p:cNvPr id="32" name="Shape 30"/>
          <p:cNvSpPr/>
          <p:nvPr/>
        </p:nvSpPr>
        <p:spPr>
          <a:xfrm>
            <a:off x="457200" y="4206240"/>
            <a:ext cx="8229600" cy="548640"/>
          </a:xfrm>
          <a:prstGeom prst="roundRect">
            <a:avLst>
              <a:gd name="adj" fmla="val 13333"/>
            </a:avLst>
          </a:prstGeom>
          <a:solidFill>
            <a:srgbClr val="111827"/>
          </a:solidFill>
          <a:ln w="12700">
            <a:solidFill>
              <a:srgbClr val="111827"/>
            </a:solidFill>
            <a:prstDash val="solid"/>
          </a:ln>
        </p:spPr>
      </p:sp>
      <p:sp>
        <p:nvSpPr>
          <p:cNvPr id="33" name="Text 31"/>
          <p:cNvSpPr txBox="1"/>
          <p:nvPr/>
        </p:nvSpPr>
        <p:spPr>
          <a:xfrm>
            <a:off x="457200" y="4206240"/>
            <a:ext cx="82296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Row one: you spent less and it got worse. Row three: you spent more and it got better.</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04 · WHAT IT REVEALS</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Agent Cost Control · Module 5</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
        <p:nvSpPr>
          <p:cNvPr id="5" name="Text 3"/>
          <p:cNvSpPr txBox="1"/>
          <p:nvPr/>
        </p:nvSpPr>
        <p:spPr>
          <a:xfrm>
            <a:off x="457200" y="1097280"/>
            <a:ext cx="8229600" cy="18288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The only number here that can</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tell the difference between</a:t>
            </a:r>
            <a:endParaRPr lang="en-US" sz="3000" dirty="0"/>
          </a:p>
          <a:p>
            <a:pPr indent="0" marL="0">
              <a:buNone/>
            </a:pPr>
            <a:r>
              <a:rPr lang="en-US" sz="3000" b="1" dirty="0">
                <a:solidFill>
                  <a:srgbClr val="FFFFFF"/>
                </a:solidFill>
                <a:latin typeface="Cambria" pitchFamily="34" charset="0"/>
                <a:ea typeface="Cambria" pitchFamily="34" charset="-122"/>
                <a:cs typeface="Cambria" pitchFamily="34" charset="-120"/>
              </a:rPr>
              <a:t>spending less and being worth more.</a:t>
            </a:r>
            <a:endParaRPr lang="en-US" sz="3000" dirty="0"/>
          </a:p>
        </p:txBody>
      </p:sp>
      <p:sp>
        <p:nvSpPr>
          <p:cNvPr id="6" name="Text 4"/>
          <p:cNvSpPr txBox="1"/>
          <p:nvPr/>
        </p:nvSpPr>
        <p:spPr>
          <a:xfrm>
            <a:off x="457200" y="3200400"/>
            <a:ext cx="7863840" cy="1097280"/>
          </a:xfrm>
          <a:prstGeom prst="rect">
            <a:avLst/>
          </a:prstGeom>
          <a:noFill/>
          <a:ln/>
        </p:spPr>
        <p:txBody>
          <a:bodyPr wrap="square" lIns="0" tIns="0" rIns="0" bIns="0" rtlCol="0" anchor="t"/>
          <a:lstStyle/>
          <a:p>
            <a:pPr indent="0" marL="0">
              <a:buNone/>
            </a:pPr>
            <a:r>
              <a:rPr lang="en-US" sz="1600" dirty="0">
                <a:solidFill>
                  <a:srgbClr val="9CA3AF"/>
                </a:solidFill>
                <a:latin typeface="Calibri" pitchFamily="34" charset="0"/>
                <a:ea typeface="Calibri" pitchFamily="34" charset="-122"/>
                <a:cs typeface="Calibri" pitchFamily="34" charset="-120"/>
              </a:rPr>
              <a:t>At some point someone will ask you to cut agent spending by a fixed percentage. This metric is how you find out whether that request makes the business better or worse; and occasionally how you make the case that the right move is to spend a bit more.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name="Slide 19">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19</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04 · What It Reveals</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three scenarios</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Three scenario rows with the three columns aligned, then the punchline.</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Three wide rows down the page. Description on the left, three columns of figures on the right headed SPEND, SUCCESSES, THE METRIC</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one, cheaper model: spend 19 to 14 · successes 62 to 41 · metric 31 cents to 34 cents · verdict WORSE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two, checkpoints from module four: spend 19 to 13 · successes 62 to 62 · metric 31 to 21 cents · verdict BETTER</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Row three, raise the step limit: spend 19 to 24 · successes 62 to 84 · metric 31 to 29 cents · verdict BETTER</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Shade row one differently from rows two and three so the verdicts read at a glance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Wide box at the bottom: look at row one and row three. Row one, you spent LESS and it got worse. Row three, you spent MORE and it got better</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Underneath: no other number in this course can tell you that. Total spend would have told you the opposite</a:t>
            </a:r>
            <a:endParaRPr lang="en-US" sz="950" dirty="0"/>
          </a:p>
        </p:txBody>
      </p:sp>
      <p:sp>
        <p:nvSpPr>
          <p:cNvPr id="12" name="Shape 8"/>
          <p:cNvSpPr/>
          <p:nvPr/>
        </p:nvSpPr>
        <p:spPr>
          <a:xfrm>
            <a:off x="3886200" y="1536192"/>
            <a:ext cx="4800600" cy="1877496"/>
          </a:xfrm>
          <a:prstGeom prst="roundRect">
            <a:avLst>
              <a:gd name="adj" fmla="val 389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420296"/>
          </a:xfrm>
          <a:prstGeom prst="rect">
            <a:avLst/>
          </a:prstGeom>
        </p:spPr>
      </p:pic>
      <p:sp>
        <p:nvSpPr>
          <p:cNvPr id="15" name="Shape 10"/>
          <p:cNvSpPr/>
          <p:nvPr/>
        </p:nvSpPr>
        <p:spPr>
          <a:xfrm>
            <a:off x="3886200" y="3569136"/>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569136"/>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“Line the three columns up. Row one and row three are the point.”</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05</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Saying It in Their Words</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~7 min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05 · TELLING FINANCE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Same number, in the unit they already count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457200" y="1234440"/>
            <a:ext cx="3291840" cy="1737360"/>
          </a:xfrm>
          <a:prstGeom prst="roundRect">
            <a:avLst>
              <a:gd name="adj" fmla="val 4211"/>
            </a:avLst>
          </a:prstGeom>
          <a:solidFill>
            <a:srgbClr val="F3F4F6"/>
          </a:solidFill>
          <a:ln w="12700">
            <a:solidFill>
              <a:srgbClr val="F3F4F6"/>
            </a:solidFill>
            <a:prstDash val="solid"/>
          </a:ln>
        </p:spPr>
      </p:sp>
      <p:sp>
        <p:nvSpPr>
          <p:cNvPr id="7" name="Text 5"/>
          <p:cNvSpPr txBox="1"/>
          <p:nvPr/>
        </p:nvSpPr>
        <p:spPr>
          <a:xfrm>
            <a:off x="640080" y="1371600"/>
            <a:ext cx="2926080" cy="256032"/>
          </a:xfrm>
          <a:prstGeom prst="rect">
            <a:avLst/>
          </a:prstGeom>
          <a:noFill/>
          <a:ln/>
        </p:spPr>
        <p:txBody>
          <a:bodyPr wrap="square" lIns="0" tIns="0" rIns="0" bIns="0" rtlCol="0" anchor="t"/>
          <a:lstStyle/>
          <a:p>
            <a:pPr indent="0" marL="0">
              <a:buNone/>
            </a:pPr>
            <a:r>
              <a:rPr lang="en-US" sz="950" b="1" spc="150" kern="0" dirty="0">
                <a:solidFill>
                  <a:srgbClr val="6B7280"/>
                </a:solidFill>
                <a:latin typeface="Calibri" pitchFamily="34" charset="0"/>
                <a:ea typeface="Calibri" pitchFamily="34" charset="-122"/>
                <a:cs typeface="Calibri" pitchFamily="34" charset="-120"/>
              </a:rPr>
              <a:t>WHAT YOU MEASURED</a:t>
            </a:r>
            <a:endParaRPr lang="en-US" sz="950" dirty="0"/>
          </a:p>
        </p:txBody>
      </p:sp>
      <p:sp>
        <p:nvSpPr>
          <p:cNvPr id="8" name="Text 6"/>
          <p:cNvSpPr txBox="1"/>
          <p:nvPr/>
        </p:nvSpPr>
        <p:spPr>
          <a:xfrm>
            <a:off x="640080" y="1691640"/>
            <a:ext cx="2926080" cy="1097280"/>
          </a:xfrm>
          <a:prstGeom prst="rect">
            <a:avLst/>
          </a:prstGeom>
          <a:noFill/>
          <a:ln/>
        </p:spPr>
        <p:txBody>
          <a:bodyPr wrap="square" lIns="0" tIns="0" rIns="0" bIns="0" rtlCol="0" anchor="t"/>
          <a:lstStyle/>
          <a:p>
            <a:pPr indent="0" marL="0">
              <a:buNone/>
            </a:pPr>
            <a:r>
              <a:rPr lang="en-US" sz="1700" dirty="0">
                <a:solidFill>
                  <a:srgbClr val="1F2937"/>
                </a:solidFill>
                <a:latin typeface="Calibri" pitchFamily="34" charset="0"/>
                <a:ea typeface="Calibri" pitchFamily="34" charset="-122"/>
                <a:cs typeface="Calibri" pitchFamily="34" charset="-120"/>
              </a:rPr>
              <a:t>$0.31</a:t>
            </a:r>
            <a:endParaRPr lang="en-US" sz="1700" dirty="0"/>
          </a:p>
          <a:p>
            <a:pPr indent="0" marL="0">
              <a:buNone/>
            </a:pPr>
            <a:r>
              <a:rPr lang="en-US" sz="1700" dirty="0">
                <a:solidFill>
                  <a:srgbClr val="1F2937"/>
                </a:solidFill>
                <a:latin typeface="Calibri" pitchFamily="34" charset="0"/>
                <a:ea typeface="Calibri" pitchFamily="34" charset="-122"/>
                <a:cs typeface="Calibri" pitchFamily="34" charset="-120"/>
              </a:rPr>
              <a:t>per successful task</a:t>
            </a:r>
            <a:endParaRPr lang="en-US" sz="1700" dirty="0"/>
          </a:p>
        </p:txBody>
      </p:sp>
      <p:pic>
        <p:nvPicPr>
          <p:cNvPr id="9" name="Image 0" descr="preencoded.png">    </p:cNvPr>
          <p:cNvPicPr>
            <a:picLocks noChangeAspect="1"/>
          </p:cNvPicPr>
          <p:nvPr/>
        </p:nvPicPr>
        <p:blipFill>
          <a:blip r:embed="rId1"/>
          <a:stretch>
            <a:fillRect/>
          </a:stretch>
        </p:blipFill>
        <p:spPr>
          <a:xfrm>
            <a:off x="3931920" y="1965960"/>
            <a:ext cx="274320" cy="274320"/>
          </a:xfrm>
          <a:prstGeom prst="rect">
            <a:avLst/>
          </a:prstGeom>
        </p:spPr>
      </p:pic>
      <p:sp>
        <p:nvSpPr>
          <p:cNvPr id="10" name="Shape 7"/>
          <p:cNvSpPr/>
          <p:nvPr/>
        </p:nvSpPr>
        <p:spPr>
          <a:xfrm>
            <a:off x="4480560" y="1234440"/>
            <a:ext cx="4206240" cy="1737360"/>
          </a:xfrm>
          <a:prstGeom prst="roundRect">
            <a:avLst>
              <a:gd name="adj" fmla="val 4211"/>
            </a:avLst>
          </a:prstGeom>
          <a:solidFill>
            <a:srgbClr val="EFF6FF"/>
          </a:solidFill>
          <a:ln w="12700">
            <a:solidFill>
              <a:srgbClr val="EFF6FF"/>
            </a:solidFill>
            <a:prstDash val="solid"/>
          </a:ln>
        </p:spPr>
      </p:sp>
      <p:sp>
        <p:nvSpPr>
          <p:cNvPr id="11" name="Text 8"/>
          <p:cNvSpPr txBox="1"/>
          <p:nvPr/>
        </p:nvSpPr>
        <p:spPr>
          <a:xfrm>
            <a:off x="4663440" y="1371600"/>
            <a:ext cx="3840480" cy="256032"/>
          </a:xfrm>
          <a:prstGeom prst="rect">
            <a:avLst/>
          </a:prstGeom>
          <a:noFill/>
          <a:ln/>
        </p:spPr>
        <p:txBody>
          <a:bodyPr wrap="square" lIns="0" tIns="0" rIns="0" bIns="0" rtlCol="0" anchor="t"/>
          <a:lstStyle/>
          <a:p>
            <a:pPr indent="0" marL="0">
              <a:buNone/>
            </a:pPr>
            <a:r>
              <a:rPr lang="en-US" sz="950" b="1" spc="150" kern="0" dirty="0">
                <a:solidFill>
                  <a:srgbClr val="1D4ED8"/>
                </a:solidFill>
                <a:latin typeface="Calibri" pitchFamily="34" charset="0"/>
                <a:ea typeface="Calibri" pitchFamily="34" charset="-122"/>
                <a:cs typeface="Calibri" pitchFamily="34" charset="-120"/>
              </a:rPr>
              <a:t>WHAT THEY ALREADY COUNT</a:t>
            </a:r>
            <a:endParaRPr lang="en-US" sz="950" dirty="0"/>
          </a:p>
        </p:txBody>
      </p:sp>
      <p:sp>
        <p:nvSpPr>
          <p:cNvPr id="12" name="Text 9"/>
          <p:cNvSpPr txBox="1"/>
          <p:nvPr/>
        </p:nvSpPr>
        <p:spPr>
          <a:xfrm>
            <a:off x="4663440" y="1691640"/>
            <a:ext cx="3840480" cy="1143000"/>
          </a:xfrm>
          <a:prstGeom prst="rect">
            <a:avLst/>
          </a:prstGeom>
          <a:noFill/>
          <a:ln/>
        </p:spPr>
        <p:txBody>
          <a:bodyPr wrap="square" lIns="0" tIns="0" rIns="0" bIns="0" rtlCol="0" anchor="t"/>
          <a:lstStyle/>
          <a:p>
            <a:pPr marL="342900" indent="-342900">
              <a:spcAft>
                <a:spcPts val="500"/>
              </a:spcAft>
              <a:buSzPct val="100000"/>
              <a:buChar char="•"/>
            </a:pPr>
            <a:r>
              <a:rPr lang="en-US" sz="1350" b="1" dirty="0">
                <a:solidFill>
                  <a:srgbClr val="1D4ED8"/>
                </a:solidFill>
                <a:latin typeface="Calibri" pitchFamily="34" charset="0"/>
                <a:ea typeface="Calibri" pitchFamily="34" charset="-122"/>
                <a:cs typeface="Calibri" pitchFamily="34" charset="-120"/>
              </a:rPr>
              <a:t>31¢ per resolved support ticket</a:t>
            </a:r>
            <a:endParaRPr lang="en-US" sz="1350" dirty="0"/>
          </a:p>
          <a:p>
            <a:pPr marL="342900" indent="-342900">
              <a:spcAft>
                <a:spcPts val="500"/>
              </a:spcAft>
              <a:buSzPct val="100000"/>
              <a:buChar char="•"/>
            </a:pPr>
            <a:r>
              <a:rPr lang="en-US" sz="1350" b="1" dirty="0">
                <a:solidFill>
                  <a:srgbClr val="1D4ED8"/>
                </a:solidFill>
                <a:latin typeface="Calibri" pitchFamily="34" charset="0"/>
                <a:ea typeface="Calibri" pitchFamily="34" charset="-122"/>
                <a:cs typeface="Calibri" pitchFamily="34" charset="-120"/>
              </a:rPr>
              <a:t>31¢ per invoice processed</a:t>
            </a:r>
            <a:endParaRPr lang="en-US" sz="1350" dirty="0"/>
          </a:p>
          <a:p>
            <a:pPr marL="342900" indent="-342900">
              <a:spcAft>
                <a:spcPts val="500"/>
              </a:spcAft>
              <a:buSzPct val="100000"/>
              <a:buChar char="•"/>
            </a:pPr>
            <a:r>
              <a:rPr lang="en-US" sz="1350" b="1" dirty="0">
                <a:solidFill>
                  <a:srgbClr val="1D4ED8"/>
                </a:solidFill>
                <a:latin typeface="Calibri" pitchFamily="34" charset="0"/>
                <a:ea typeface="Calibri" pitchFamily="34" charset="-122"/>
                <a:cs typeface="Calibri" pitchFamily="34" charset="-120"/>
              </a:rPr>
              <a:t>31¢ per document summarised</a:t>
            </a:r>
            <a:endParaRPr lang="en-US" sz="1350" dirty="0"/>
          </a:p>
        </p:txBody>
      </p:sp>
      <p:sp>
        <p:nvSpPr>
          <p:cNvPr id="13" name="Text 10"/>
          <p:cNvSpPr txBox="1"/>
          <p:nvPr/>
        </p:nvSpPr>
        <p:spPr>
          <a:xfrm>
            <a:off x="457200" y="3108960"/>
            <a:ext cx="8229600" cy="256032"/>
          </a:xfrm>
          <a:prstGeom prst="rect">
            <a:avLst/>
          </a:prstGeom>
          <a:noFill/>
          <a:ln/>
        </p:spPr>
        <p:txBody>
          <a:bodyPr wrap="square" lIns="0" tIns="0" rIns="0" bIns="0" rtlCol="0" anchor="t"/>
          <a:lstStyle/>
          <a:p>
            <a:pPr indent="0" marL="0">
              <a:buNone/>
            </a:pPr>
            <a:r>
              <a:rPr lang="en-US" sz="950" b="1" spc="150" kern="0" dirty="0">
                <a:solidFill>
                  <a:srgbClr val="6B7280"/>
                </a:solidFill>
                <a:latin typeface="Calibri" pitchFamily="34" charset="0"/>
                <a:ea typeface="Calibri" pitchFamily="34" charset="-122"/>
                <a:cs typeface="Calibri" pitchFamily="34" charset="-120"/>
              </a:rPr>
              <a:t>AND THEN THEY CAN COMPARE IT TO SOMETHING</a:t>
            </a:r>
            <a:endParaRPr lang="en-US" sz="950" dirty="0"/>
          </a:p>
        </p:txBody>
      </p:sp>
      <p:sp>
        <p:nvSpPr>
          <p:cNvPr id="14" name="Shape 11"/>
          <p:cNvSpPr/>
          <p:nvPr/>
        </p:nvSpPr>
        <p:spPr>
          <a:xfrm>
            <a:off x="457200" y="3429000"/>
            <a:ext cx="8229600" cy="384048"/>
          </a:xfrm>
          <a:prstGeom prst="roundRect">
            <a:avLst>
              <a:gd name="adj" fmla="val 19048"/>
            </a:avLst>
          </a:prstGeom>
          <a:solidFill>
            <a:srgbClr val="F3F4F6"/>
          </a:solidFill>
          <a:ln w="12700">
            <a:solidFill>
              <a:srgbClr val="F3F4F6"/>
            </a:solidFill>
            <a:prstDash val="solid"/>
          </a:ln>
        </p:spPr>
      </p:sp>
      <p:sp>
        <p:nvSpPr>
          <p:cNvPr id="15" name="Text 12"/>
          <p:cNvSpPr txBox="1"/>
          <p:nvPr/>
        </p:nvSpPr>
        <p:spPr>
          <a:xfrm>
            <a:off x="685800" y="3429000"/>
            <a:ext cx="4572000" cy="38404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A human doing the same ticket</a:t>
            </a:r>
            <a:endParaRPr lang="en-US" sz="1250" dirty="0"/>
          </a:p>
        </p:txBody>
      </p:sp>
      <p:sp>
        <p:nvSpPr>
          <p:cNvPr id="16" name="Text 13"/>
          <p:cNvSpPr txBox="1"/>
          <p:nvPr/>
        </p:nvSpPr>
        <p:spPr>
          <a:xfrm>
            <a:off x="5394960" y="3429000"/>
            <a:ext cx="3108960" cy="384048"/>
          </a:xfrm>
          <a:prstGeom prst="rect">
            <a:avLst/>
          </a:prstGeom>
          <a:noFill/>
          <a:ln/>
        </p:spPr>
        <p:txBody>
          <a:bodyPr wrap="square" lIns="0" tIns="0" rIns="0" bIns="0" rtlCol="0" anchor="ctr"/>
          <a:lstStyle/>
          <a:p>
            <a:pPr indent="0" marL="0">
              <a:buNone/>
            </a:pPr>
            <a:r>
              <a:rPr lang="en-US" sz="1250" b="1" dirty="0">
                <a:solidFill>
                  <a:srgbClr val="1F2937"/>
                </a:solidFill>
                <a:latin typeface="Calibri" pitchFamily="34" charset="0"/>
                <a:ea typeface="Calibri" pitchFamily="34" charset="-122"/>
                <a:cs typeface="Calibri" pitchFamily="34" charset="-120"/>
              </a:rPr>
              <a:t>$4.20</a:t>
            </a:r>
            <a:endParaRPr lang="en-US" sz="1250" dirty="0"/>
          </a:p>
        </p:txBody>
      </p:sp>
      <p:sp>
        <p:nvSpPr>
          <p:cNvPr id="17" name="Shape 14"/>
          <p:cNvSpPr/>
          <p:nvPr/>
        </p:nvSpPr>
        <p:spPr>
          <a:xfrm>
            <a:off x="457200" y="3858768"/>
            <a:ext cx="8229600" cy="384048"/>
          </a:xfrm>
          <a:prstGeom prst="roundRect">
            <a:avLst>
              <a:gd name="adj" fmla="val 19048"/>
            </a:avLst>
          </a:prstGeom>
          <a:solidFill>
            <a:srgbClr val="FFFFFF"/>
          </a:solidFill>
          <a:ln w="12700">
            <a:solidFill>
              <a:srgbClr val="FFFFFF"/>
            </a:solidFill>
            <a:prstDash val="solid"/>
          </a:ln>
        </p:spPr>
      </p:sp>
      <p:sp>
        <p:nvSpPr>
          <p:cNvPr id="18" name="Text 15"/>
          <p:cNvSpPr txBox="1"/>
          <p:nvPr/>
        </p:nvSpPr>
        <p:spPr>
          <a:xfrm>
            <a:off x="685800" y="3858768"/>
            <a:ext cx="4572000" cy="38404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Your agent</a:t>
            </a:r>
            <a:endParaRPr lang="en-US" sz="1250" dirty="0"/>
          </a:p>
        </p:txBody>
      </p:sp>
      <p:sp>
        <p:nvSpPr>
          <p:cNvPr id="19" name="Text 16"/>
          <p:cNvSpPr txBox="1"/>
          <p:nvPr/>
        </p:nvSpPr>
        <p:spPr>
          <a:xfrm>
            <a:off x="5394960" y="3858768"/>
            <a:ext cx="3108960" cy="384048"/>
          </a:xfrm>
          <a:prstGeom prst="rect">
            <a:avLst/>
          </a:prstGeom>
          <a:noFill/>
          <a:ln/>
        </p:spPr>
        <p:txBody>
          <a:bodyPr wrap="square" lIns="0" tIns="0" rIns="0" bIns="0" rtlCol="0" anchor="ctr"/>
          <a:lstStyle/>
          <a:p>
            <a:pPr indent="0" marL="0">
              <a:buNone/>
            </a:pPr>
            <a:r>
              <a:rPr lang="en-US" sz="1250" b="1" dirty="0">
                <a:solidFill>
                  <a:srgbClr val="047857"/>
                </a:solidFill>
                <a:latin typeface="Calibri" pitchFamily="34" charset="0"/>
                <a:ea typeface="Calibri" pitchFamily="34" charset="-122"/>
                <a:cs typeface="Calibri" pitchFamily="34" charset="-120"/>
              </a:rPr>
              <a:t>31¢</a:t>
            </a:r>
            <a:endParaRPr lang="en-US" sz="1250" dirty="0"/>
          </a:p>
        </p:txBody>
      </p:sp>
      <p:sp>
        <p:nvSpPr>
          <p:cNvPr id="20" name="Shape 17"/>
          <p:cNvSpPr/>
          <p:nvPr/>
        </p:nvSpPr>
        <p:spPr>
          <a:xfrm>
            <a:off x="457200" y="4288536"/>
            <a:ext cx="8229600" cy="384048"/>
          </a:xfrm>
          <a:prstGeom prst="roundRect">
            <a:avLst>
              <a:gd name="adj" fmla="val 19048"/>
            </a:avLst>
          </a:prstGeom>
          <a:solidFill>
            <a:srgbClr val="F3F4F6"/>
          </a:solidFill>
          <a:ln w="12700">
            <a:solidFill>
              <a:srgbClr val="F3F4F6"/>
            </a:solidFill>
            <a:prstDash val="solid"/>
          </a:ln>
        </p:spPr>
      </p:sp>
      <p:sp>
        <p:nvSpPr>
          <p:cNvPr id="21" name="Text 18"/>
          <p:cNvSpPr txBox="1"/>
          <p:nvPr/>
        </p:nvSpPr>
        <p:spPr>
          <a:xfrm>
            <a:off x="685800" y="4288536"/>
            <a:ext cx="4572000" cy="384048"/>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The old rules-based system</a:t>
            </a:r>
            <a:endParaRPr lang="en-US" sz="1250" dirty="0"/>
          </a:p>
        </p:txBody>
      </p:sp>
      <p:sp>
        <p:nvSpPr>
          <p:cNvPr id="22" name="Text 19"/>
          <p:cNvSpPr txBox="1"/>
          <p:nvPr/>
        </p:nvSpPr>
        <p:spPr>
          <a:xfrm>
            <a:off x="5394960" y="4288536"/>
            <a:ext cx="3108960" cy="384048"/>
          </a:xfrm>
          <a:prstGeom prst="rect">
            <a:avLst/>
          </a:prstGeom>
          <a:noFill/>
          <a:ln/>
        </p:spPr>
        <p:txBody>
          <a:bodyPr wrap="square" lIns="0" tIns="0" rIns="0" bIns="0" rtlCol="0" anchor="ctr"/>
          <a:lstStyle/>
          <a:p>
            <a:pPr indent="0" marL="0">
              <a:buNone/>
            </a:pPr>
            <a:r>
              <a:rPr lang="en-US" sz="1250" b="1" dirty="0">
                <a:solidFill>
                  <a:srgbClr val="B91C1C"/>
                </a:solidFill>
                <a:latin typeface="Calibri" pitchFamily="34" charset="0"/>
                <a:ea typeface="Calibri" pitchFamily="34" charset="-122"/>
                <a:cs typeface="Calibri" pitchFamily="34" charset="-120"/>
              </a:rPr>
              <a:t>2¢, but only 40% of tickets</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05 · TELLING FINANCE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Report all three, every time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22</a:t>
            </a:r>
            <a:endParaRPr lang="en-US" sz="900" dirty="0"/>
          </a:p>
        </p:txBody>
      </p:sp>
      <p:sp>
        <p:nvSpPr>
          <p:cNvPr id="6" name="Text 4"/>
          <p:cNvSpPr txBox="1"/>
          <p:nvPr/>
        </p:nvSpPr>
        <p:spPr>
          <a:xfrm>
            <a:off x="457200" y="1051560"/>
            <a:ext cx="8229600" cy="228600"/>
          </a:xfrm>
          <a:prstGeom prst="rect">
            <a:avLst/>
          </a:prstGeom>
          <a:noFill/>
          <a:ln/>
        </p:spPr>
        <p:txBody>
          <a:bodyPr wrap="square" lIns="0" tIns="0" rIns="0" bIns="0" rtlCol="0" anchor="t"/>
          <a:lstStyle/>
          <a:p>
            <a:pPr indent="0" marL="0">
              <a:buNone/>
            </a:pPr>
            <a:r>
              <a:rPr lang="en-US" sz="1200" i="1" dirty="0">
                <a:solidFill>
                  <a:srgbClr val="6B7280"/>
                </a:solidFill>
                <a:latin typeface="Calibri" pitchFamily="34" charset="0"/>
                <a:ea typeface="Calibri" pitchFamily="34" charset="-122"/>
                <a:cs typeface="Calibri" pitchFamily="34" charset="-120"/>
              </a:rPr>
              <a:t>The number, its definition, and the comparison.</a:t>
            </a:r>
            <a:endParaRPr lang="en-US" sz="1200" dirty="0"/>
          </a:p>
        </p:txBody>
      </p:sp>
      <p:sp>
        <p:nvSpPr>
          <p:cNvPr id="7" name="Shape 5"/>
          <p:cNvSpPr/>
          <p:nvPr/>
        </p:nvSpPr>
        <p:spPr>
          <a:xfrm>
            <a:off x="457200" y="1371600"/>
            <a:ext cx="8229600" cy="868680"/>
          </a:xfrm>
          <a:prstGeom prst="roundRect">
            <a:avLst>
              <a:gd name="adj" fmla="val 8421"/>
            </a:avLst>
          </a:prstGeom>
          <a:solidFill>
            <a:srgbClr val="F3F4F6"/>
          </a:solidFill>
          <a:ln w="12700">
            <a:solidFill>
              <a:srgbClr val="F3F4F6"/>
            </a:solidFill>
            <a:prstDash val="solid"/>
          </a:ln>
        </p:spPr>
      </p:sp>
      <p:sp>
        <p:nvSpPr>
          <p:cNvPr id="8" name="Text 6"/>
          <p:cNvSpPr txBox="1"/>
          <p:nvPr/>
        </p:nvSpPr>
        <p:spPr>
          <a:xfrm>
            <a:off x="731520" y="1371600"/>
            <a:ext cx="2103120" cy="868680"/>
          </a:xfrm>
          <a:prstGeom prst="rect">
            <a:avLst/>
          </a:prstGeom>
          <a:noFill/>
          <a:ln/>
        </p:spPr>
        <p:txBody>
          <a:bodyPr wrap="square" lIns="0" tIns="0" rIns="0" bIns="0" rtlCol="0" anchor="ctr"/>
          <a:lstStyle/>
          <a:p>
            <a:pPr indent="0" marL="0">
              <a:buNone/>
            </a:pPr>
            <a:r>
              <a:rPr lang="en-US" sz="1500" b="1" dirty="0">
                <a:solidFill>
                  <a:srgbClr val="111827"/>
                </a:solidFill>
                <a:latin typeface="Calibri" pitchFamily="34" charset="0"/>
                <a:ea typeface="Calibri" pitchFamily="34" charset="-122"/>
                <a:cs typeface="Calibri" pitchFamily="34" charset="-120"/>
              </a:rPr>
              <a:t>The number</a:t>
            </a:r>
            <a:endParaRPr lang="en-US" sz="1500" dirty="0"/>
          </a:p>
        </p:txBody>
      </p:sp>
      <p:sp>
        <p:nvSpPr>
          <p:cNvPr id="9" name="Text 7"/>
          <p:cNvSpPr txBox="1"/>
          <p:nvPr/>
        </p:nvSpPr>
        <p:spPr>
          <a:xfrm>
            <a:off x="2926080" y="1371600"/>
            <a:ext cx="5577840" cy="86868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$0.31 per resolved ticket, over the last seven days.</a:t>
            </a:r>
            <a:endParaRPr lang="en-US" sz="1350" dirty="0"/>
          </a:p>
        </p:txBody>
      </p:sp>
      <p:sp>
        <p:nvSpPr>
          <p:cNvPr id="10" name="Shape 8"/>
          <p:cNvSpPr/>
          <p:nvPr/>
        </p:nvSpPr>
        <p:spPr>
          <a:xfrm>
            <a:off x="457200" y="2377440"/>
            <a:ext cx="8229600" cy="868680"/>
          </a:xfrm>
          <a:prstGeom prst="roundRect">
            <a:avLst>
              <a:gd name="adj" fmla="val 8421"/>
            </a:avLst>
          </a:prstGeom>
          <a:solidFill>
            <a:srgbClr val="F3F4F6"/>
          </a:solidFill>
          <a:ln w="12700">
            <a:solidFill>
              <a:srgbClr val="F3F4F6"/>
            </a:solidFill>
            <a:prstDash val="solid"/>
          </a:ln>
        </p:spPr>
      </p:sp>
      <p:sp>
        <p:nvSpPr>
          <p:cNvPr id="11" name="Text 9"/>
          <p:cNvSpPr txBox="1"/>
          <p:nvPr/>
        </p:nvSpPr>
        <p:spPr>
          <a:xfrm>
            <a:off x="731520" y="2377440"/>
            <a:ext cx="2103120" cy="868680"/>
          </a:xfrm>
          <a:prstGeom prst="rect">
            <a:avLst/>
          </a:prstGeom>
          <a:noFill/>
          <a:ln/>
        </p:spPr>
        <p:txBody>
          <a:bodyPr wrap="square" lIns="0" tIns="0" rIns="0" bIns="0" rtlCol="0" anchor="ctr"/>
          <a:lstStyle/>
          <a:p>
            <a:pPr indent="0" marL="0">
              <a:buNone/>
            </a:pPr>
            <a:r>
              <a:rPr lang="en-US" sz="1500" b="1" dirty="0">
                <a:solidFill>
                  <a:srgbClr val="1D4ED8"/>
                </a:solidFill>
                <a:latin typeface="Calibri" pitchFamily="34" charset="0"/>
                <a:ea typeface="Calibri" pitchFamily="34" charset="-122"/>
                <a:cs typeface="Calibri" pitchFamily="34" charset="-120"/>
              </a:rPr>
              <a:t>The definition</a:t>
            </a:r>
            <a:endParaRPr lang="en-US" sz="1500" dirty="0"/>
          </a:p>
        </p:txBody>
      </p:sp>
      <p:sp>
        <p:nvSpPr>
          <p:cNvPr id="12" name="Text 10"/>
          <p:cNvSpPr txBox="1"/>
          <p:nvPr/>
        </p:nvSpPr>
        <p:spPr>
          <a:xfrm>
            <a:off x="2926080" y="2377440"/>
            <a:ext cx="5577840" cy="86868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Success means it passed our check: required fields present, value in range.</a:t>
            </a:r>
            <a:endParaRPr lang="en-US" sz="1350" dirty="0"/>
          </a:p>
        </p:txBody>
      </p:sp>
      <p:sp>
        <p:nvSpPr>
          <p:cNvPr id="13" name="Shape 11"/>
          <p:cNvSpPr/>
          <p:nvPr/>
        </p:nvSpPr>
        <p:spPr>
          <a:xfrm>
            <a:off x="457200" y="3383280"/>
            <a:ext cx="8229600" cy="868680"/>
          </a:xfrm>
          <a:prstGeom prst="roundRect">
            <a:avLst>
              <a:gd name="adj" fmla="val 8421"/>
            </a:avLst>
          </a:prstGeom>
          <a:solidFill>
            <a:srgbClr val="F3F4F6"/>
          </a:solidFill>
          <a:ln w="12700">
            <a:solidFill>
              <a:srgbClr val="F3F4F6"/>
            </a:solidFill>
            <a:prstDash val="solid"/>
          </a:ln>
        </p:spPr>
      </p:sp>
      <p:sp>
        <p:nvSpPr>
          <p:cNvPr id="14" name="Text 12"/>
          <p:cNvSpPr txBox="1"/>
          <p:nvPr/>
        </p:nvSpPr>
        <p:spPr>
          <a:xfrm>
            <a:off x="731520" y="3383280"/>
            <a:ext cx="2103120" cy="868680"/>
          </a:xfrm>
          <a:prstGeom prst="rect">
            <a:avLst/>
          </a:prstGeom>
          <a:noFill/>
          <a:ln/>
        </p:spPr>
        <p:txBody>
          <a:bodyPr wrap="square" lIns="0" tIns="0" rIns="0" bIns="0" rtlCol="0" anchor="ctr"/>
          <a:lstStyle/>
          <a:p>
            <a:pPr indent="0" marL="0">
              <a:buNone/>
            </a:pPr>
            <a:r>
              <a:rPr lang="en-US" sz="1500" b="1" dirty="0">
                <a:solidFill>
                  <a:srgbClr val="047857"/>
                </a:solidFill>
                <a:latin typeface="Calibri" pitchFamily="34" charset="0"/>
                <a:ea typeface="Calibri" pitchFamily="34" charset="-122"/>
                <a:cs typeface="Calibri" pitchFamily="34" charset="-120"/>
              </a:rPr>
              <a:t>The comparison</a:t>
            </a:r>
            <a:endParaRPr lang="en-US" sz="1500" dirty="0"/>
          </a:p>
        </p:txBody>
      </p:sp>
      <p:sp>
        <p:nvSpPr>
          <p:cNvPr id="15" name="Text 13"/>
          <p:cNvSpPr txBox="1"/>
          <p:nvPr/>
        </p:nvSpPr>
        <p:spPr>
          <a:xfrm>
            <a:off x="2926080" y="3383280"/>
            <a:ext cx="5577840" cy="86868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A human costs $4.20. The old system costs 2¢ but handles 40%.</a:t>
            </a:r>
            <a:endParaRPr lang="en-US" sz="1350" dirty="0"/>
          </a:p>
        </p:txBody>
      </p:sp>
      <p:sp>
        <p:nvSpPr>
          <p:cNvPr id="16" name="Shape 14"/>
          <p:cNvSpPr/>
          <p:nvPr/>
        </p:nvSpPr>
        <p:spPr>
          <a:xfrm>
            <a:off x="457200" y="4434840"/>
            <a:ext cx="8229600" cy="502920"/>
          </a:xfrm>
          <a:prstGeom prst="roundRect">
            <a:avLst>
              <a:gd name="adj" fmla="val 14545"/>
            </a:avLst>
          </a:prstGeom>
          <a:solidFill>
            <a:srgbClr val="111827"/>
          </a:solidFill>
          <a:ln w="12700">
            <a:solidFill>
              <a:srgbClr val="111827"/>
            </a:solidFill>
            <a:prstDash val="solid"/>
          </a:ln>
        </p:spPr>
      </p:sp>
      <p:sp>
        <p:nvSpPr>
          <p:cNvPr id="17" name="Text 15"/>
          <p:cNvSpPr txBox="1"/>
          <p:nvPr/>
        </p:nvSpPr>
        <p:spPr>
          <a:xfrm>
            <a:off x="457200" y="4434840"/>
            <a:ext cx="8229600" cy="50292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A number on its own invites people to invent their own context, and it is rarely the one you wanted.</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name="Slide 23">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23</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05 · Telling Finance</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translation</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Translations at the top, comparisons underneath.</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Three rows across the top. On the left of each, the same thing: thirty-one cents per successful task. Make all three identical and plain</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An arrow from each one pointing right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Right of row one: 31¢ per resolved support ticket. Row two: 31¢ per invoice processed. Row three: 31¢ per document summarised. Colour these differently from the left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Heading underneath: and then they can compare it to something</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Three more rows: a human doing it, four dollars and twenty cents per ticket · your agent, thirty-one cents · the old rules-based system, two cents but only forty percent of the time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 box at the bottom: now it is a business conversation, not a technical one. That is the entire reason this metric exists</a:t>
            </a:r>
            <a:endParaRPr lang="en-US" sz="950" dirty="0"/>
          </a:p>
        </p:txBody>
      </p:sp>
      <p:sp>
        <p:nvSpPr>
          <p:cNvPr id="12" name="Shape 8"/>
          <p:cNvSpPr/>
          <p:nvPr/>
        </p:nvSpPr>
        <p:spPr>
          <a:xfrm>
            <a:off x="3886200" y="1536192"/>
            <a:ext cx="4800600" cy="2235200"/>
          </a:xfrm>
          <a:prstGeom prst="roundRect">
            <a:avLst>
              <a:gd name="adj" fmla="val 3273"/>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778000"/>
          </a:xfrm>
          <a:prstGeom prst="rect">
            <a:avLst/>
          </a:prstGeom>
        </p:spPr>
      </p:pic>
      <p:sp>
        <p:nvSpPr>
          <p:cNvPr id="15" name="Shape 10"/>
          <p:cNvSpPr/>
          <p:nvPr/>
        </p:nvSpPr>
        <p:spPr>
          <a:xfrm>
            <a:off x="3886200" y="3926840"/>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926840"/>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“Same number, three times, in three different units.”</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06</a:t>
            </a:r>
            <a:endParaRPr lang="en-US" sz="9600" dirty="0"/>
          </a:p>
        </p:txBody>
      </p:sp>
      <p:sp>
        <p:nvSpPr>
          <p:cNvPr id="3" name="Text 1"/>
          <p:cNvSpPr txBox="1"/>
          <p:nvPr/>
        </p:nvSpPr>
        <p:spPr>
          <a:xfrm>
            <a:off x="548640" y="2240280"/>
            <a:ext cx="8046720" cy="11887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Build It: Set the Result Label</a:t>
            </a:r>
            <a:endParaRPr lang="en-US" sz="3400" dirty="0"/>
          </a:p>
        </p:txBody>
      </p:sp>
      <p:sp>
        <p:nvSpPr>
          <p:cNvPr id="4" name="Text 2"/>
          <p:cNvSpPr txBox="1"/>
          <p:nvPr/>
        </p:nvSpPr>
        <p:spPr>
          <a:xfrm>
            <a:off x="548640" y="36118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~10 min</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Five stages; run after every one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25</a:t>
            </a:r>
            <a:endParaRPr lang="en-US" sz="900" dirty="0"/>
          </a:p>
        </p:txBody>
      </p:sp>
      <p:sp>
        <p:nvSpPr>
          <p:cNvPr id="6" name="Shape 4"/>
          <p:cNvSpPr/>
          <p:nvPr/>
        </p:nvSpPr>
        <p:spPr>
          <a:xfrm>
            <a:off x="457200" y="1280160"/>
            <a:ext cx="2606040" cy="1280160"/>
          </a:xfrm>
          <a:prstGeom prst="roundRect">
            <a:avLst>
              <a:gd name="adj" fmla="val 5714"/>
            </a:avLst>
          </a:prstGeom>
          <a:solidFill>
            <a:srgbClr val="F3F4F6"/>
          </a:solidFill>
          <a:ln w="12700">
            <a:solidFill>
              <a:srgbClr val="F3F4F6"/>
            </a:solidFill>
            <a:prstDash val="solid"/>
          </a:ln>
        </p:spPr>
      </p:sp>
      <p:sp>
        <p:nvSpPr>
          <p:cNvPr id="7" name="Text 5"/>
          <p:cNvSpPr txBox="1"/>
          <p:nvPr/>
        </p:nvSpPr>
        <p:spPr>
          <a:xfrm>
            <a:off x="658368" y="139903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1</a:t>
            </a:r>
            <a:endParaRPr lang="en-US" sz="900" dirty="0"/>
          </a:p>
        </p:txBody>
      </p:sp>
      <p:sp>
        <p:nvSpPr>
          <p:cNvPr id="8" name="Text 6"/>
          <p:cNvSpPr txBox="1"/>
          <p:nvPr/>
        </p:nvSpPr>
        <p:spPr>
          <a:xfrm>
            <a:off x="658368" y="1645920"/>
            <a:ext cx="2240280" cy="320040"/>
          </a:xfrm>
          <a:prstGeom prst="rect">
            <a:avLst/>
          </a:prstGeom>
          <a:noFill/>
          <a:ln/>
        </p:spPr>
        <p:txBody>
          <a:bodyPr wrap="square" lIns="0" tIns="0" rIns="0" bIns="0" rtlCol="0" anchor="t"/>
          <a:lstStyle/>
          <a:p>
            <a:pPr indent="0" marL="0">
              <a:buNone/>
            </a:pPr>
            <a:r>
              <a:rPr lang="en-US" sz="1450" b="1" dirty="0">
                <a:solidFill>
                  <a:srgbClr val="111827"/>
                </a:solidFill>
                <a:latin typeface="Calibri" pitchFamily="34" charset="0"/>
                <a:ea typeface="Calibri" pitchFamily="34" charset="-122"/>
                <a:cs typeface="Calibri" pitchFamily="34" charset="-120"/>
              </a:rPr>
              <a:t>Write your definition</a:t>
            </a:r>
            <a:endParaRPr lang="en-US" sz="1450" dirty="0"/>
          </a:p>
        </p:txBody>
      </p:sp>
      <p:sp>
        <p:nvSpPr>
          <p:cNvPr id="9" name="Text 7"/>
          <p:cNvSpPr txBox="1"/>
          <p:nvPr/>
        </p:nvSpPr>
        <p:spPr>
          <a:xfrm>
            <a:off x="658368" y="197510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SUCCESS.md, before you touch any code.</a:t>
            </a:r>
            <a:endParaRPr lang="en-US" sz="1100" dirty="0"/>
          </a:p>
        </p:txBody>
      </p:sp>
      <p:sp>
        <p:nvSpPr>
          <p:cNvPr id="10" name="Shape 8"/>
          <p:cNvSpPr/>
          <p:nvPr/>
        </p:nvSpPr>
        <p:spPr>
          <a:xfrm>
            <a:off x="3246120" y="1280160"/>
            <a:ext cx="2606040" cy="1280160"/>
          </a:xfrm>
          <a:prstGeom prst="roundRect">
            <a:avLst>
              <a:gd name="adj" fmla="val 5714"/>
            </a:avLst>
          </a:prstGeom>
          <a:solidFill>
            <a:srgbClr val="F3F4F6"/>
          </a:solidFill>
          <a:ln w="12700">
            <a:solidFill>
              <a:srgbClr val="F3F4F6"/>
            </a:solidFill>
            <a:prstDash val="solid"/>
          </a:ln>
        </p:spPr>
      </p:sp>
      <p:sp>
        <p:nvSpPr>
          <p:cNvPr id="11" name="Text 9"/>
          <p:cNvSpPr txBox="1"/>
          <p:nvPr/>
        </p:nvSpPr>
        <p:spPr>
          <a:xfrm>
            <a:off x="3447288" y="139903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2</a:t>
            </a:r>
            <a:endParaRPr lang="en-US" sz="900" dirty="0"/>
          </a:p>
        </p:txBody>
      </p:sp>
      <p:sp>
        <p:nvSpPr>
          <p:cNvPr id="12" name="Text 10"/>
          <p:cNvSpPr txBox="1"/>
          <p:nvPr/>
        </p:nvSpPr>
        <p:spPr>
          <a:xfrm>
            <a:off x="3447288" y="1645920"/>
            <a:ext cx="2240280" cy="320040"/>
          </a:xfrm>
          <a:prstGeom prst="rect">
            <a:avLst/>
          </a:prstGeom>
          <a:noFill/>
          <a:ln/>
        </p:spPr>
        <p:txBody>
          <a:bodyPr wrap="square" lIns="0" tIns="0" rIns="0" bIns="0" rtlCol="0" anchor="t"/>
          <a:lstStyle/>
          <a:p>
            <a:pPr indent="0" marL="0">
              <a:buNone/>
            </a:pPr>
            <a:r>
              <a:rPr lang="en-US" sz="1450" b="1" dirty="0">
                <a:solidFill>
                  <a:srgbClr val="111827"/>
                </a:solidFill>
                <a:latin typeface="Calibri" pitchFamily="34" charset="0"/>
                <a:ea typeface="Calibri" pitchFamily="34" charset="-122"/>
                <a:cs typeface="Calibri" pitchFamily="34" charset="-120"/>
              </a:rPr>
              <a:t>Write the check</a:t>
            </a:r>
            <a:endParaRPr lang="en-US" sz="1450" dirty="0"/>
          </a:p>
        </p:txBody>
      </p:sp>
      <p:sp>
        <p:nvSpPr>
          <p:cNvPr id="13" name="Text 11"/>
          <p:cNvSpPr txBox="1"/>
          <p:nvPr/>
        </p:nvSpPr>
        <p:spPr>
          <a:xfrm>
            <a:off x="3447288" y="197510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A function returning true or false; set the result label from it.</a:t>
            </a:r>
            <a:endParaRPr lang="en-US" sz="1100" dirty="0"/>
          </a:p>
        </p:txBody>
      </p:sp>
      <p:sp>
        <p:nvSpPr>
          <p:cNvPr id="14" name="Shape 12"/>
          <p:cNvSpPr/>
          <p:nvPr/>
        </p:nvSpPr>
        <p:spPr>
          <a:xfrm>
            <a:off x="6035040" y="1280160"/>
            <a:ext cx="2606040" cy="1280160"/>
          </a:xfrm>
          <a:prstGeom prst="roundRect">
            <a:avLst>
              <a:gd name="adj" fmla="val 5714"/>
            </a:avLst>
          </a:prstGeom>
          <a:solidFill>
            <a:srgbClr val="F3F4F6"/>
          </a:solidFill>
          <a:ln w="12700">
            <a:solidFill>
              <a:srgbClr val="F3F4F6"/>
            </a:solidFill>
            <a:prstDash val="solid"/>
          </a:ln>
        </p:spPr>
      </p:sp>
      <p:sp>
        <p:nvSpPr>
          <p:cNvPr id="15" name="Text 13"/>
          <p:cNvSpPr txBox="1"/>
          <p:nvPr/>
        </p:nvSpPr>
        <p:spPr>
          <a:xfrm>
            <a:off x="6236208" y="139903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3</a:t>
            </a:r>
            <a:endParaRPr lang="en-US" sz="900" dirty="0"/>
          </a:p>
        </p:txBody>
      </p:sp>
      <p:sp>
        <p:nvSpPr>
          <p:cNvPr id="16" name="Text 14"/>
          <p:cNvSpPr txBox="1"/>
          <p:nvPr/>
        </p:nvSpPr>
        <p:spPr>
          <a:xfrm>
            <a:off x="6236208" y="1645920"/>
            <a:ext cx="2240280" cy="320040"/>
          </a:xfrm>
          <a:prstGeom prst="rect">
            <a:avLst/>
          </a:prstGeom>
          <a:noFill/>
          <a:ln/>
        </p:spPr>
        <p:txBody>
          <a:bodyPr wrap="square" lIns="0" tIns="0" rIns="0" bIns="0" rtlCol="0" anchor="t"/>
          <a:lstStyle/>
          <a:p>
            <a:pPr indent="0" marL="0">
              <a:buNone/>
            </a:pPr>
            <a:r>
              <a:rPr lang="en-US" sz="1450" b="1" dirty="0">
                <a:solidFill>
                  <a:srgbClr val="111827"/>
                </a:solidFill>
                <a:latin typeface="Calibri" pitchFamily="34" charset="0"/>
                <a:ea typeface="Calibri" pitchFamily="34" charset="-122"/>
                <a:cs typeface="Calibri" pitchFamily="34" charset="-120"/>
              </a:rPr>
              <a:t>The metric</a:t>
            </a:r>
            <a:endParaRPr lang="en-US" sz="1450" dirty="0"/>
          </a:p>
        </p:txBody>
      </p:sp>
      <p:sp>
        <p:nvSpPr>
          <p:cNvPr id="17" name="Text 15"/>
          <p:cNvSpPr txBox="1"/>
          <p:nvPr/>
        </p:nvSpPr>
        <p:spPr>
          <a:xfrm>
            <a:off x="6236208" y="197510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A script that sums spend, counts successes, divides.</a:t>
            </a:r>
            <a:endParaRPr lang="en-US" sz="1100" dirty="0"/>
          </a:p>
        </p:txBody>
      </p:sp>
      <p:sp>
        <p:nvSpPr>
          <p:cNvPr id="18" name="Shape 16"/>
          <p:cNvSpPr/>
          <p:nvPr/>
        </p:nvSpPr>
        <p:spPr>
          <a:xfrm>
            <a:off x="457200" y="2743200"/>
            <a:ext cx="2606040" cy="1280160"/>
          </a:xfrm>
          <a:prstGeom prst="roundRect">
            <a:avLst>
              <a:gd name="adj" fmla="val 5714"/>
            </a:avLst>
          </a:prstGeom>
          <a:solidFill>
            <a:srgbClr val="F3F4F6"/>
          </a:solidFill>
          <a:ln w="12700">
            <a:solidFill>
              <a:srgbClr val="F3F4F6"/>
            </a:solidFill>
            <a:prstDash val="solid"/>
          </a:ln>
        </p:spPr>
      </p:sp>
      <p:sp>
        <p:nvSpPr>
          <p:cNvPr id="19" name="Text 17"/>
          <p:cNvSpPr txBox="1"/>
          <p:nvPr/>
        </p:nvSpPr>
        <p:spPr>
          <a:xfrm>
            <a:off x="658368" y="286207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4</a:t>
            </a:r>
            <a:endParaRPr lang="en-US" sz="900" dirty="0"/>
          </a:p>
        </p:txBody>
      </p:sp>
      <p:sp>
        <p:nvSpPr>
          <p:cNvPr id="20" name="Text 18"/>
          <p:cNvSpPr txBox="1"/>
          <p:nvPr/>
        </p:nvSpPr>
        <p:spPr>
          <a:xfrm>
            <a:off x="658368" y="3108960"/>
            <a:ext cx="2240280" cy="320040"/>
          </a:xfrm>
          <a:prstGeom prst="rect">
            <a:avLst/>
          </a:prstGeom>
          <a:noFill/>
          <a:ln/>
        </p:spPr>
        <p:txBody>
          <a:bodyPr wrap="square" lIns="0" tIns="0" rIns="0" bIns="0" rtlCol="0" anchor="t"/>
          <a:lstStyle/>
          <a:p>
            <a:pPr indent="0" marL="0">
              <a:buNone/>
            </a:pPr>
            <a:r>
              <a:rPr lang="en-US" sz="1450" b="1" dirty="0">
                <a:solidFill>
                  <a:srgbClr val="111827"/>
                </a:solidFill>
                <a:latin typeface="Calibri" pitchFamily="34" charset="0"/>
                <a:ea typeface="Calibri" pitchFamily="34" charset="-122"/>
                <a:cs typeface="Calibri" pitchFamily="34" charset="-120"/>
              </a:rPr>
              <a:t>The same thing in PromQL</a:t>
            </a:r>
            <a:endParaRPr lang="en-US" sz="1450" dirty="0"/>
          </a:p>
        </p:txBody>
      </p:sp>
      <p:sp>
        <p:nvSpPr>
          <p:cNvPr id="21" name="Text 19"/>
          <p:cNvSpPr txBox="1"/>
          <p:nvPr/>
        </p:nvSpPr>
        <p:spPr>
          <a:xfrm>
            <a:off x="658368" y="343814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So it can live on a dashboard in module 6.</a:t>
            </a:r>
            <a:endParaRPr lang="en-US" sz="1100" dirty="0"/>
          </a:p>
        </p:txBody>
      </p:sp>
      <p:sp>
        <p:nvSpPr>
          <p:cNvPr id="22" name="Shape 20"/>
          <p:cNvSpPr/>
          <p:nvPr/>
        </p:nvSpPr>
        <p:spPr>
          <a:xfrm>
            <a:off x="3246120" y="2743200"/>
            <a:ext cx="2606040" cy="1280160"/>
          </a:xfrm>
          <a:prstGeom prst="roundRect">
            <a:avLst>
              <a:gd name="adj" fmla="val 5714"/>
            </a:avLst>
          </a:prstGeom>
          <a:solidFill>
            <a:srgbClr val="F3F4F6"/>
          </a:solidFill>
          <a:ln w="12700">
            <a:solidFill>
              <a:srgbClr val="F3F4F6"/>
            </a:solidFill>
            <a:prstDash val="solid"/>
          </a:ln>
        </p:spPr>
      </p:sp>
      <p:sp>
        <p:nvSpPr>
          <p:cNvPr id="23" name="Text 21"/>
          <p:cNvSpPr txBox="1"/>
          <p:nvPr/>
        </p:nvSpPr>
        <p:spPr>
          <a:xfrm>
            <a:off x="3447288" y="2862072"/>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5</a:t>
            </a:r>
            <a:endParaRPr lang="en-US" sz="900" dirty="0"/>
          </a:p>
        </p:txBody>
      </p:sp>
      <p:sp>
        <p:nvSpPr>
          <p:cNvPr id="24" name="Text 22"/>
          <p:cNvSpPr txBox="1"/>
          <p:nvPr/>
        </p:nvSpPr>
        <p:spPr>
          <a:xfrm>
            <a:off x="3447288" y="3108960"/>
            <a:ext cx="2240280" cy="320040"/>
          </a:xfrm>
          <a:prstGeom prst="rect">
            <a:avLst/>
          </a:prstGeom>
          <a:noFill/>
          <a:ln/>
        </p:spPr>
        <p:txBody>
          <a:bodyPr wrap="square" lIns="0" tIns="0" rIns="0" bIns="0" rtlCol="0" anchor="t"/>
          <a:lstStyle/>
          <a:p>
            <a:pPr indent="0" marL="0">
              <a:buNone/>
            </a:pPr>
            <a:r>
              <a:rPr lang="en-US" sz="1450" b="1" dirty="0">
                <a:solidFill>
                  <a:srgbClr val="111827"/>
                </a:solidFill>
                <a:latin typeface="Calibri" pitchFamily="34" charset="0"/>
                <a:ea typeface="Calibri" pitchFamily="34" charset="-122"/>
                <a:cs typeface="Calibri" pitchFamily="34" charset="-120"/>
              </a:rPr>
              <a:t>Alert on the ratio</a:t>
            </a:r>
            <a:endParaRPr lang="en-US" sz="1450" dirty="0"/>
          </a:p>
        </p:txBody>
      </p:sp>
      <p:sp>
        <p:nvSpPr>
          <p:cNvPr id="25" name="Text 23"/>
          <p:cNvSpPr txBox="1"/>
          <p:nvPr/>
        </p:nvSpPr>
        <p:spPr>
          <a:xfrm>
            <a:off x="3447288" y="3438144"/>
            <a:ext cx="2240280" cy="5029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Not on spend. This catches quality problems.</a:t>
            </a:r>
            <a:endParaRPr lang="en-US" sz="1100" dirty="0"/>
          </a:p>
        </p:txBody>
      </p:sp>
      <p:sp>
        <p:nvSpPr>
          <p:cNvPr id="26" name="Shape 24"/>
          <p:cNvSpPr/>
          <p:nvPr/>
        </p:nvSpPr>
        <p:spPr>
          <a:xfrm>
            <a:off x="6035040" y="2743200"/>
            <a:ext cx="2606040" cy="1280160"/>
          </a:xfrm>
          <a:prstGeom prst="roundRect">
            <a:avLst>
              <a:gd name="adj" fmla="val 5714"/>
            </a:avLst>
          </a:prstGeom>
          <a:solidFill>
            <a:srgbClr val="111827"/>
          </a:solidFill>
          <a:ln w="12700">
            <a:solidFill>
              <a:srgbClr val="111827"/>
            </a:solidFill>
            <a:prstDash val="solid"/>
          </a:ln>
        </p:spPr>
      </p:sp>
      <p:sp>
        <p:nvSpPr>
          <p:cNvPr id="27" name="Text 25"/>
          <p:cNvSpPr txBox="1"/>
          <p:nvPr/>
        </p:nvSpPr>
        <p:spPr>
          <a:xfrm>
            <a:off x="6217920" y="2743200"/>
            <a:ext cx="2286000" cy="12801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Everything still lives in the envelope from module two.</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1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Write down your definition first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26</a:t>
            </a:r>
            <a:endParaRPr lang="en-US" sz="900" dirty="0"/>
          </a:p>
        </p:txBody>
      </p:sp>
      <p:sp>
        <p:nvSpPr>
          <p:cNvPr id="6" name="Text 4"/>
          <p:cNvSpPr txBox="1"/>
          <p:nvPr/>
        </p:nvSpPr>
        <p:spPr>
          <a:xfrm>
            <a:off x="457200" y="1188720"/>
            <a:ext cx="8229600" cy="7315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Before touching any code, open a file called SUCCESS.md and write a paragraph saying what counts as success for your agent, and why. This sounds like a formality. It is the most important stage, and it is the one people skip.</a:t>
            </a:r>
            <a:endParaRPr lang="en-US" sz="1400" dirty="0"/>
          </a:p>
        </p:txBody>
      </p:sp>
      <p:sp>
        <p:nvSpPr>
          <p:cNvPr id="7" name="Shape 5"/>
          <p:cNvSpPr/>
          <p:nvPr/>
        </p:nvSpPr>
        <p:spPr>
          <a:xfrm>
            <a:off x="365760" y="205740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205740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cat SUCCESS.md</a:t>
            </a:r>
            <a:endParaRPr lang="en-US" sz="1600" dirty="0"/>
          </a:p>
        </p:txBody>
      </p:sp>
      <p:sp>
        <p:nvSpPr>
          <p:cNvPr id="9" name="Shape 7"/>
          <p:cNvSpPr/>
          <p:nvPr/>
        </p:nvSpPr>
        <p:spPr>
          <a:xfrm>
            <a:off x="457200" y="3154680"/>
            <a:ext cx="8229600" cy="1188720"/>
          </a:xfrm>
          <a:prstGeom prst="roundRect">
            <a:avLst>
              <a:gd name="adj" fmla="val 6154"/>
            </a:avLst>
          </a:prstGeom>
          <a:solidFill>
            <a:srgbClr val="FEF3C7"/>
          </a:solidFill>
          <a:ln w="12700">
            <a:solidFill>
              <a:srgbClr val="FEF3C7"/>
            </a:solidFill>
            <a:prstDash val="solid"/>
          </a:ln>
        </p:spPr>
      </p:sp>
      <p:sp>
        <p:nvSpPr>
          <p:cNvPr id="10" name="Text 8"/>
          <p:cNvSpPr txBox="1"/>
          <p:nvPr/>
        </p:nvSpPr>
        <p:spPr>
          <a:xfrm>
            <a:off x="731520" y="3154680"/>
            <a:ext cx="7680960" cy="118872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Read it back and ask one question: </a:t>
            </a:r>
            <a:pPr indent="0" marL="0">
              <a:buNone/>
            </a:pPr>
            <a:r>
              <a:rPr lang="en-US" sz="1400" dirty="0">
                <a:solidFill>
                  <a:srgbClr val="1F2937"/>
                </a:solidFill>
                <a:latin typeface="Calibri" pitchFamily="34" charset="0"/>
                <a:ea typeface="Calibri" pitchFamily="34" charset="-122"/>
                <a:cs typeface="Calibri" pitchFamily="34" charset="-120"/>
              </a:rPr>
              <a:t>could a colleague apply your definition to ten runs and get the same answers you would? If not, it is not specific enough yet.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2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Write the check, and set the label</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27</a:t>
            </a:r>
            <a:endParaRPr lang="en-US" sz="900" dirty="0"/>
          </a:p>
        </p:txBody>
      </p:sp>
      <p:sp>
        <p:nvSpPr>
          <p:cNvPr id="6" name="Text 4"/>
          <p:cNvSpPr txBox="1"/>
          <p:nvPr/>
        </p:nvSpPr>
        <p:spPr>
          <a:xfrm>
            <a:off x="457200" y="1143000"/>
            <a:ext cx="8229600" cy="82296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Turn that paragraph into a function that takes a run's output and returns true or false. Keep it simple: does the output have the right shape, are the required fields present, is the number in a plausible range. Then set the result label from it, replacing the unknown we have carried since module two.</a:t>
            </a:r>
            <a:endParaRPr lang="en-US" sz="1350" dirty="0"/>
          </a:p>
        </p:txBody>
      </p:sp>
      <p:sp>
        <p:nvSpPr>
          <p:cNvPr id="7" name="Shape 5"/>
          <p:cNvSpPr/>
          <p:nvPr/>
        </p:nvSpPr>
        <p:spPr>
          <a:xfrm>
            <a:off x="365760" y="205740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2057400"/>
            <a:ext cx="8092440" cy="868680"/>
          </a:xfrm>
          <a:prstGeom prst="rect">
            <a:avLst/>
          </a:prstGeom>
          <a:noFill/>
          <a:ln/>
        </p:spPr>
        <p:txBody>
          <a:bodyPr wrap="square" lIns="0" tIns="0" rIns="0" bIns="0" rtlCol="0" anchor="ctr"/>
          <a:lstStyle/>
          <a:p>
            <a:pPr indent="0" marL="0">
              <a:buNone/>
            </a:pPr>
            <a:r>
              <a:rPr lang="en-US" sz="1044" b="1" dirty="0">
                <a:solidFill>
                  <a:srgbClr val="F59E0B"/>
                </a:solidFill>
                <a:latin typeface="Courier New" pitchFamily="34" charset="0"/>
                <a:ea typeface="Courier New" pitchFamily="34" charset="-122"/>
                <a:cs typeface="Courier New" pitchFamily="34" charset="-120"/>
              </a:rPr>
              <a:t>$ </a:t>
            </a:r>
            <a:pPr indent="0" marL="0">
              <a:buNone/>
            </a:pPr>
            <a:r>
              <a:rPr lang="en-US" sz="1044" dirty="0">
                <a:solidFill>
                  <a:srgbClr val="E8EAED"/>
                </a:solidFill>
                <a:latin typeface="Courier New" pitchFamily="34" charset="0"/>
                <a:ea typeface="Courier New" pitchFamily="34" charset="-122"/>
                <a:cs typeface="Courier New" pitchFamily="34" charset="-120"/>
              </a:rPr>
              <a:t>python3 run_agent.py --input samples/normal.json &amp;&amp; curl -s localhost:8000/metrics | grep result=</a:t>
            </a:r>
            <a:endParaRPr lang="en-US" sz="1044" dirty="0"/>
          </a:p>
        </p:txBody>
      </p:sp>
      <p:sp>
        <p:nvSpPr>
          <p:cNvPr id="9" name="Shape 7"/>
          <p:cNvSpPr/>
          <p:nvPr/>
        </p:nvSpPr>
        <p:spPr>
          <a:xfrm>
            <a:off x="457200" y="3429000"/>
            <a:ext cx="8229600" cy="1051560"/>
          </a:xfrm>
          <a:prstGeom prst="roundRect">
            <a:avLst>
              <a:gd name="adj" fmla="val 6957"/>
            </a:avLst>
          </a:prstGeom>
          <a:solidFill>
            <a:srgbClr val="ECFDF5"/>
          </a:solidFill>
          <a:ln w="12700">
            <a:solidFill>
              <a:srgbClr val="ECFDF5"/>
            </a:solidFill>
            <a:prstDash val="solid"/>
          </a:ln>
        </p:spPr>
      </p:sp>
      <p:sp>
        <p:nvSpPr>
          <p:cNvPr id="10" name="Text 8"/>
          <p:cNvSpPr txBox="1"/>
          <p:nvPr/>
        </p:nvSpPr>
        <p:spPr>
          <a:xfrm>
            <a:off x="731520" y="3429000"/>
            <a:ext cx="7680960" cy="1051560"/>
          </a:xfrm>
          <a:prstGeom prst="rect">
            <a:avLst/>
          </a:prstGeom>
          <a:noFill/>
          <a:ln/>
        </p:spPr>
        <p:txBody>
          <a:bodyPr wrap="square" lIns="0" tIns="0" rIns="0" bIns="0" rtlCol="0" anchor="ctr"/>
          <a:lstStyle/>
          <a:p>
            <a:pPr indent="0" marL="0">
              <a:buNone/>
            </a:pPr>
            <a:r>
              <a:rPr lang="en-US" sz="1350" b="1" dirty="0">
                <a:solidFill>
                  <a:srgbClr val="047857"/>
                </a:solidFill>
                <a:latin typeface="Calibri" pitchFamily="34" charset="0"/>
                <a:ea typeface="Calibri" pitchFamily="34" charset="-122"/>
                <a:cs typeface="Calibri" pitchFamily="34" charset="-120"/>
              </a:rPr>
              <a:t>The result label should now say success or failure, not unknown. </a:t>
            </a:r>
            <a:pPr indent="0" marL="0">
              <a:buNone/>
            </a:pPr>
            <a:r>
              <a:rPr lang="en-US" sz="1350" dirty="0">
                <a:solidFill>
                  <a:srgbClr val="1F2937"/>
                </a:solidFill>
                <a:latin typeface="Calibri" pitchFamily="34" charset="0"/>
                <a:ea typeface="Calibri" pitchFamily="34" charset="-122"/>
                <a:cs typeface="Calibri" pitchFamily="34" charset="-120"/>
              </a:rPr>
              <a:t>Run a few tasks, including the malformed one, and confirm both values appear.</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3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metric; this is the moment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28</a:t>
            </a:r>
            <a:endParaRPr lang="en-US" sz="900" dirty="0"/>
          </a:p>
        </p:txBody>
      </p:sp>
      <p:sp>
        <p:nvSpPr>
          <p:cNvPr id="6" name="Text 4"/>
          <p:cNvSpPr txBox="1"/>
          <p:nvPr/>
        </p:nvSpPr>
        <p:spPr>
          <a:xfrm>
            <a:off x="457200" y="1188720"/>
            <a:ext cx="8229600" cy="64008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Write a script that reads your recorded runs over a window, sums all spend, counts successful runs, and divides. Print all three numbers: spend, successes, and the result. Not just the answer.</a:t>
            </a:r>
            <a:endParaRPr lang="en-US" sz="1400" dirty="0"/>
          </a:p>
        </p:txBody>
      </p:sp>
      <p:sp>
        <p:nvSpPr>
          <p:cNvPr id="7" name="Shape 5"/>
          <p:cNvSpPr/>
          <p:nvPr/>
        </p:nvSpPr>
        <p:spPr>
          <a:xfrm>
            <a:off x="365760" y="196596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96596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cost_per_success.py --since 7d</a:t>
            </a:r>
            <a:endParaRPr lang="en-US" sz="1600" dirty="0"/>
          </a:p>
        </p:txBody>
      </p:sp>
      <p:sp>
        <p:nvSpPr>
          <p:cNvPr id="9" name="Shape 7"/>
          <p:cNvSpPr/>
          <p:nvPr/>
        </p:nvSpPr>
        <p:spPr>
          <a:xfrm>
            <a:off x="457200" y="3063240"/>
            <a:ext cx="8229600" cy="1325880"/>
          </a:xfrm>
          <a:prstGeom prst="roundRect">
            <a:avLst>
              <a:gd name="adj" fmla="val 5517"/>
            </a:avLst>
          </a:prstGeom>
          <a:solidFill>
            <a:srgbClr val="111827"/>
          </a:solidFill>
          <a:ln w="12700">
            <a:solidFill>
              <a:srgbClr val="111827"/>
            </a:solidFill>
            <a:prstDash val="solid"/>
          </a:ln>
        </p:spPr>
      </p:sp>
      <p:sp>
        <p:nvSpPr>
          <p:cNvPr id="10" name="Text 8"/>
          <p:cNvSpPr txBox="1"/>
          <p:nvPr/>
        </p:nvSpPr>
        <p:spPr>
          <a:xfrm>
            <a:off x="731520" y="3063240"/>
            <a:ext cx="7680960" cy="1325880"/>
          </a:xfrm>
          <a:prstGeom prst="rect">
            <a:avLst/>
          </a:prstGeom>
          <a:noFill/>
          <a:ln/>
        </p:spPr>
        <p:txBody>
          <a:bodyPr wrap="square" lIns="0" tIns="0" rIns="0" bIns="0" rtlCol="0" anchor="ctr"/>
          <a:lstStyle/>
          <a:p>
            <a:pPr indent="0" marL="0">
              <a:buNone/>
            </a:pPr>
            <a:r>
              <a:rPr lang="en-US" sz="1450" b="1" dirty="0">
                <a:solidFill>
                  <a:srgbClr val="F59E0B"/>
                </a:solidFill>
                <a:latin typeface="Calibri" pitchFamily="34" charset="0"/>
                <a:ea typeface="Calibri" pitchFamily="34" charset="-122"/>
                <a:cs typeface="Calibri" pitchFamily="34" charset="-120"/>
              </a:rPr>
              <a:t>Sit with that number, and compare it against your cost per request. </a:t>
            </a:r>
            <a:endParaRPr lang="en-US" sz="1450" dirty="0"/>
          </a:p>
          <a:p>
            <a:pPr indent="0" marL="0">
              <a:buNone/>
            </a:pPr>
            <a:r>
              <a:rPr lang="en-US" sz="1450" dirty="0">
                <a:solidFill>
                  <a:srgbClr val="FFFFFF"/>
                </a:solidFill>
                <a:latin typeface="Calibri" pitchFamily="34" charset="0"/>
                <a:ea typeface="Calibri" pitchFamily="34" charset="-122"/>
                <a:cs typeface="Calibri" pitchFamily="34" charset="-120"/>
              </a:rPr>
              <a:t>For most agents at this stage the gap is between fifty and a hundred percent, and it is the first time most people see what their work actually costs.</a:t>
            </a:r>
            <a:endParaRPr lang="en-US" sz="14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4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same calculation, in PromQL</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29</a:t>
            </a:r>
            <a:endParaRPr lang="en-US" sz="900" dirty="0"/>
          </a:p>
        </p:txBody>
      </p:sp>
      <p:sp>
        <p:nvSpPr>
          <p:cNvPr id="6" name="Text 4"/>
          <p:cNvSpPr txBox="1"/>
          <p:nvPr/>
        </p:nvSpPr>
        <p:spPr>
          <a:xfrm>
            <a:off x="457200" y="1143000"/>
            <a:ext cx="8229600" cy="54864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Total cost divided by the count of runs where the result label is success, over the same window. Add it as a recording rule so the dashboard does not recompute it constantly.</a:t>
            </a:r>
            <a:endParaRPr lang="en-US" sz="1350" dirty="0"/>
          </a:p>
        </p:txBody>
      </p:sp>
      <p:sp>
        <p:nvSpPr>
          <p:cNvPr id="7" name="Shape 5"/>
          <p:cNvSpPr/>
          <p:nvPr/>
        </p:nvSpPr>
        <p:spPr>
          <a:xfrm>
            <a:off x="365760" y="1737360"/>
            <a:ext cx="8412480" cy="1188720"/>
          </a:xfrm>
          <a:prstGeom prst="roundRect">
            <a:avLst>
              <a:gd name="adj" fmla="val 6154"/>
            </a:avLst>
          </a:prstGeom>
          <a:solidFill>
            <a:srgbClr val="0F172A"/>
          </a:solidFill>
          <a:ln w="12700">
            <a:solidFill>
              <a:srgbClr val="0F172A"/>
            </a:solidFill>
            <a:prstDash val="solid"/>
          </a:ln>
        </p:spPr>
      </p:sp>
      <p:sp>
        <p:nvSpPr>
          <p:cNvPr id="8" name="Text 6"/>
          <p:cNvSpPr txBox="1"/>
          <p:nvPr/>
        </p:nvSpPr>
        <p:spPr>
          <a:xfrm>
            <a:off x="594360" y="1737360"/>
            <a:ext cx="8092440" cy="1188720"/>
          </a:xfrm>
          <a:prstGeom prst="rect">
            <a:avLst/>
          </a:prstGeom>
          <a:noFill/>
          <a:ln/>
        </p:spPr>
        <p:txBody>
          <a:bodyPr wrap="square" lIns="0" tIns="0" rIns="0" bIns="0" rtlCol="0" anchor="ctr"/>
          <a:lstStyle/>
          <a:p>
            <a:pPr indent="0" marL="0">
              <a:buNone/>
            </a:pPr>
            <a:r>
              <a:rPr lang="en-US" sz="1050" b="1" dirty="0">
                <a:solidFill>
                  <a:srgbClr val="F59E0B"/>
                </a:solidFill>
                <a:latin typeface="Courier New" pitchFamily="34" charset="0"/>
                <a:ea typeface="Courier New" pitchFamily="34" charset="-122"/>
                <a:cs typeface="Courier New" pitchFamily="34" charset="-120"/>
              </a:rPr>
              <a:t>$ </a:t>
            </a:r>
            <a:pPr indent="0" marL="0">
              <a:buNone/>
            </a:pPr>
            <a:r>
              <a:rPr lang="en-US" sz="1050" dirty="0">
                <a:solidFill>
                  <a:srgbClr val="E8EAED"/>
                </a:solidFill>
                <a:latin typeface="Courier New" pitchFamily="34" charset="0"/>
                <a:ea typeface="Courier New" pitchFamily="34" charset="-122"/>
                <a:cs typeface="Courier New" pitchFamily="34" charset="-120"/>
              </a:rPr>
              <a:t>curl -s 'localhost:9090/api/v1/query?query=sum(increase(agent_cost_usd_total[7d]))/sum(increase(agent_runs_total{result="success"}[7d]))'</a:t>
            </a:r>
            <a:endParaRPr lang="en-US" sz="1050" dirty="0"/>
          </a:p>
        </p:txBody>
      </p:sp>
      <p:sp>
        <p:nvSpPr>
          <p:cNvPr id="9" name="Shape 7"/>
          <p:cNvSpPr/>
          <p:nvPr/>
        </p:nvSpPr>
        <p:spPr>
          <a:xfrm>
            <a:off x="457200" y="3154680"/>
            <a:ext cx="8229600" cy="1234440"/>
          </a:xfrm>
          <a:prstGeom prst="roundRect">
            <a:avLst>
              <a:gd name="adj" fmla="val 5926"/>
            </a:avLst>
          </a:prstGeom>
          <a:solidFill>
            <a:srgbClr val="F3F4F6"/>
          </a:solidFill>
          <a:ln w="12700">
            <a:solidFill>
              <a:srgbClr val="F3F4F6"/>
            </a:solidFill>
            <a:prstDash val="solid"/>
          </a:ln>
        </p:spPr>
      </p:sp>
      <p:sp>
        <p:nvSpPr>
          <p:cNvPr id="10" name="Text 8"/>
          <p:cNvSpPr txBox="1"/>
          <p:nvPr/>
        </p:nvSpPr>
        <p:spPr>
          <a:xfrm>
            <a:off x="731520" y="3154680"/>
            <a:ext cx="7680960" cy="1234440"/>
          </a:xfrm>
          <a:prstGeom prst="rect">
            <a:avLst/>
          </a:prstGeom>
          <a:noFill/>
          <a:ln/>
        </p:spPr>
        <p:txBody>
          <a:bodyPr wrap="square" lIns="0" tIns="0" rIns="0" bIns="0" rtlCol="0" anchor="ctr"/>
          <a:lstStyle/>
          <a:p>
            <a:pPr indent="0" marL="0">
              <a:buNone/>
            </a:pPr>
            <a:r>
              <a:rPr lang="en-US" sz="1350" b="1" dirty="0">
                <a:solidFill>
                  <a:srgbClr val="111827"/>
                </a:solidFill>
                <a:latin typeface="Calibri" pitchFamily="34" charset="0"/>
                <a:ea typeface="Calibri" pitchFamily="34" charset="-122"/>
                <a:cs typeface="Calibri" pitchFamily="34" charset="-120"/>
              </a:rPr>
              <a:t>That should roughly match what your script printed. </a:t>
            </a:r>
            <a:endParaRPr lang="en-US" sz="1350" dirty="0"/>
          </a:p>
          <a:p>
            <a:pPr indent="0" marL="0">
              <a:buNone/>
            </a:pPr>
            <a:r>
              <a:rPr lang="en-US" sz="1350" dirty="0">
                <a:solidFill>
                  <a:srgbClr val="1F2937"/>
                </a:solidFill>
                <a:latin typeface="Calibri" pitchFamily="34" charset="0"/>
                <a:ea typeface="Calibri" pitchFamily="34" charset="-122"/>
                <a:cs typeface="Calibri" pitchFamily="34" charset="-120"/>
              </a:rPr>
              <a:t>If it does not, the usual cause is the two calculations covering different time windows; check both before assuming something is broken.</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5 OF 5</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Alert on the ratio, not on spend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30</a:t>
            </a:r>
            <a:endParaRPr lang="en-US" sz="900" dirty="0"/>
          </a:p>
        </p:txBody>
      </p:sp>
      <p:sp>
        <p:nvSpPr>
          <p:cNvPr id="6" name="Text 4"/>
          <p:cNvSpPr txBox="1"/>
          <p:nvPr/>
        </p:nvSpPr>
        <p:spPr>
          <a:xfrm>
            <a:off x="457200" y="1188720"/>
            <a:ext cx="8229600" cy="5943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Set an alert for when cost per successful task rises above a threshold you choose from your own data. This is the alert that catches quality problems disguised as cost problems.</a:t>
            </a:r>
            <a:endParaRPr lang="en-US" sz="1400" dirty="0"/>
          </a:p>
        </p:txBody>
      </p:sp>
      <p:sp>
        <p:nvSpPr>
          <p:cNvPr id="7" name="Shape 5"/>
          <p:cNvSpPr/>
          <p:nvPr/>
        </p:nvSpPr>
        <p:spPr>
          <a:xfrm>
            <a:off x="365760" y="192024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192024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cost_per_success.py --since 7d --compare-previous</a:t>
            </a:r>
            <a:endParaRPr lang="en-US" sz="1600" dirty="0"/>
          </a:p>
        </p:txBody>
      </p:sp>
      <p:sp>
        <p:nvSpPr>
          <p:cNvPr id="9" name="Shape 7"/>
          <p:cNvSpPr/>
          <p:nvPr/>
        </p:nvSpPr>
        <p:spPr>
          <a:xfrm>
            <a:off x="457200" y="3017520"/>
            <a:ext cx="8229600" cy="1325880"/>
          </a:xfrm>
          <a:prstGeom prst="roundRect">
            <a:avLst>
              <a:gd name="adj" fmla="val 5517"/>
            </a:avLst>
          </a:prstGeom>
          <a:solidFill>
            <a:srgbClr val="ECFDF5"/>
          </a:solidFill>
          <a:ln w="12700">
            <a:solidFill>
              <a:srgbClr val="ECFDF5"/>
            </a:solidFill>
            <a:prstDash val="solid"/>
          </a:ln>
        </p:spPr>
      </p:sp>
      <p:sp>
        <p:nvSpPr>
          <p:cNvPr id="10" name="Text 8"/>
          <p:cNvSpPr txBox="1"/>
          <p:nvPr/>
        </p:nvSpPr>
        <p:spPr>
          <a:xfrm>
            <a:off x="731520" y="3017520"/>
            <a:ext cx="7680960" cy="1325880"/>
          </a:xfrm>
          <a:prstGeom prst="rect">
            <a:avLst/>
          </a:prstGeom>
          <a:noFill/>
          <a:ln/>
        </p:spPr>
        <p:txBody>
          <a:bodyPr wrap="square" lIns="0" tIns="0" rIns="0" bIns="0" rtlCol="0" anchor="ctr"/>
          <a:lstStyle/>
          <a:p>
            <a:pPr indent="0" marL="0">
              <a:buNone/>
            </a:pPr>
            <a:r>
              <a:rPr lang="en-US" sz="1400" b="1" dirty="0">
                <a:solidFill>
                  <a:srgbClr val="047857"/>
                </a:solidFill>
                <a:latin typeface="Calibri" pitchFamily="34" charset="0"/>
                <a:ea typeface="Calibri" pitchFamily="34" charset="-122"/>
                <a:cs typeface="Calibri" pitchFamily="34" charset="-120"/>
              </a:rPr>
              <a:t>Comparing against the previous window is what makes it actionable. </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A number in isolation tells you little; a number that moved fifteen percent since last week tells you to go and look.</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RECAP</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course is now functionally complete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31</a:t>
            </a:r>
            <a:endParaRPr lang="en-US" sz="900" dirty="0"/>
          </a:p>
        </p:txBody>
      </p:sp>
      <p:sp>
        <p:nvSpPr>
          <p:cNvPr id="6" name="Shape 4"/>
          <p:cNvSpPr/>
          <p:nvPr/>
        </p:nvSpPr>
        <p:spPr>
          <a:xfrm>
            <a:off x="457200" y="1325880"/>
            <a:ext cx="4023360" cy="1280160"/>
          </a:xfrm>
          <a:prstGeom prst="roundRect">
            <a:avLst>
              <a:gd name="adj" fmla="val 5714"/>
            </a:avLst>
          </a:prstGeom>
          <a:solidFill>
            <a:srgbClr val="F3F4F6"/>
          </a:solidFill>
          <a:ln w="12700">
            <a:solidFill>
              <a:srgbClr val="F3F4F6"/>
            </a:solidFill>
            <a:prstDash val="solid"/>
          </a:ln>
        </p:spPr>
      </p:sp>
      <p:sp>
        <p:nvSpPr>
          <p:cNvPr id="7" name="Shape 5"/>
          <p:cNvSpPr/>
          <p:nvPr/>
        </p:nvSpPr>
        <p:spPr>
          <a:xfrm>
            <a:off x="685800" y="1554480"/>
            <a:ext cx="411480" cy="411480"/>
          </a:xfrm>
          <a:prstGeom prst="ellipse">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776326" y="1645006"/>
            <a:ext cx="230429" cy="230429"/>
          </a:xfrm>
          <a:prstGeom prst="rect">
            <a:avLst/>
          </a:prstGeom>
        </p:spPr>
      </p:pic>
      <p:sp>
        <p:nvSpPr>
          <p:cNvPr id="9" name="Text 6"/>
          <p:cNvSpPr txBox="1"/>
          <p:nvPr/>
        </p:nvSpPr>
        <p:spPr>
          <a:xfrm>
            <a:off x="1280160" y="1527048"/>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You can see what you spend</a:t>
            </a:r>
            <a:endParaRPr lang="en-US" sz="1500" dirty="0"/>
          </a:p>
        </p:txBody>
      </p:sp>
      <p:sp>
        <p:nvSpPr>
          <p:cNvPr id="10" name="Text 7"/>
          <p:cNvSpPr txBox="1"/>
          <p:nvPr/>
        </p:nvSpPr>
        <p:spPr>
          <a:xfrm>
            <a:off x="1280160" y="1874520"/>
            <a:ext cx="30175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With four labels attached, from module 2.</a:t>
            </a:r>
            <a:endParaRPr lang="en-US" sz="1200" dirty="0"/>
          </a:p>
        </p:txBody>
      </p:sp>
      <p:sp>
        <p:nvSpPr>
          <p:cNvPr id="11" name="Shape 8"/>
          <p:cNvSpPr/>
          <p:nvPr/>
        </p:nvSpPr>
        <p:spPr>
          <a:xfrm>
            <a:off x="4663440" y="1325880"/>
            <a:ext cx="4023360" cy="1280160"/>
          </a:xfrm>
          <a:prstGeom prst="roundRect">
            <a:avLst>
              <a:gd name="adj" fmla="val 5714"/>
            </a:avLst>
          </a:prstGeom>
          <a:solidFill>
            <a:srgbClr val="F3F4F6"/>
          </a:solidFill>
          <a:ln w="12700">
            <a:solidFill>
              <a:srgbClr val="F3F4F6"/>
            </a:solidFill>
            <a:prstDash val="solid"/>
          </a:ln>
        </p:spPr>
      </p:sp>
      <p:sp>
        <p:nvSpPr>
          <p:cNvPr id="12" name="Shape 9"/>
          <p:cNvSpPr/>
          <p:nvPr/>
        </p:nvSpPr>
        <p:spPr>
          <a:xfrm>
            <a:off x="4892040" y="1554480"/>
            <a:ext cx="411480" cy="411480"/>
          </a:xfrm>
          <a:prstGeom prst="ellipse">
            <a:avLst/>
          </a:prstGeom>
          <a:solidFill>
            <a:srgbClr val="B45309"/>
          </a:solidFill>
          <a:ln w="12700">
            <a:solidFill>
              <a:srgbClr val="B45309"/>
            </a:solidFill>
            <a:prstDash val="solid"/>
          </a:ln>
        </p:spPr>
      </p:sp>
      <p:pic>
        <p:nvPicPr>
          <p:cNvPr id="13" name="Image 1" descr="preencoded.png">    </p:cNvPr>
          <p:cNvPicPr>
            <a:picLocks noChangeAspect="1"/>
          </p:cNvPicPr>
          <p:nvPr/>
        </p:nvPicPr>
        <p:blipFill>
          <a:blip r:embed="rId2"/>
          <a:stretch>
            <a:fillRect/>
          </a:stretch>
        </p:blipFill>
        <p:spPr>
          <a:xfrm>
            <a:off x="4982566" y="1645006"/>
            <a:ext cx="230429" cy="230429"/>
          </a:xfrm>
          <a:prstGeom prst="rect">
            <a:avLst/>
          </a:prstGeom>
        </p:spPr>
      </p:pic>
      <p:sp>
        <p:nvSpPr>
          <p:cNvPr id="14" name="Text 10"/>
          <p:cNvSpPr txBox="1"/>
          <p:nvPr/>
        </p:nvSpPr>
        <p:spPr>
          <a:xfrm>
            <a:off x="5486400" y="1527048"/>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Caps stop a runaway by itself</a:t>
            </a:r>
            <a:endParaRPr lang="en-US" sz="1500" dirty="0"/>
          </a:p>
        </p:txBody>
      </p:sp>
      <p:sp>
        <p:nvSpPr>
          <p:cNvPr id="15" name="Text 11"/>
          <p:cNvSpPr txBox="1"/>
          <p:nvPr/>
        </p:nvSpPr>
        <p:spPr>
          <a:xfrm>
            <a:off x="5486400" y="1874520"/>
            <a:ext cx="30175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And a switch anyone can flip, from module 3.</a:t>
            </a:r>
            <a:endParaRPr lang="en-US" sz="1200" dirty="0"/>
          </a:p>
        </p:txBody>
      </p:sp>
      <p:sp>
        <p:nvSpPr>
          <p:cNvPr id="16" name="Shape 12"/>
          <p:cNvSpPr/>
          <p:nvPr/>
        </p:nvSpPr>
        <p:spPr>
          <a:xfrm>
            <a:off x="457200" y="2788920"/>
            <a:ext cx="4023360" cy="1280160"/>
          </a:xfrm>
          <a:prstGeom prst="roundRect">
            <a:avLst>
              <a:gd name="adj" fmla="val 5714"/>
            </a:avLst>
          </a:prstGeom>
          <a:solidFill>
            <a:srgbClr val="F3F4F6"/>
          </a:solidFill>
          <a:ln w="12700">
            <a:solidFill>
              <a:srgbClr val="F3F4F6"/>
            </a:solidFill>
            <a:prstDash val="solid"/>
          </a:ln>
        </p:spPr>
      </p:sp>
      <p:sp>
        <p:nvSpPr>
          <p:cNvPr id="17" name="Shape 13"/>
          <p:cNvSpPr/>
          <p:nvPr/>
        </p:nvSpPr>
        <p:spPr>
          <a:xfrm>
            <a:off x="685800" y="3017520"/>
            <a:ext cx="411480" cy="411480"/>
          </a:xfrm>
          <a:prstGeom prst="ellipse">
            <a:avLst/>
          </a:prstGeom>
          <a:solidFill>
            <a:srgbClr val="B45309"/>
          </a:solidFill>
          <a:ln w="12700">
            <a:solidFill>
              <a:srgbClr val="B45309"/>
            </a:solidFill>
            <a:prstDash val="solid"/>
          </a:ln>
        </p:spPr>
      </p:sp>
      <p:pic>
        <p:nvPicPr>
          <p:cNvPr id="18" name="Image 2" descr="preencoded.png">    </p:cNvPr>
          <p:cNvPicPr>
            <a:picLocks noChangeAspect="1"/>
          </p:cNvPicPr>
          <p:nvPr/>
        </p:nvPicPr>
        <p:blipFill>
          <a:blip r:embed="rId3"/>
          <a:stretch>
            <a:fillRect/>
          </a:stretch>
        </p:blipFill>
        <p:spPr>
          <a:xfrm>
            <a:off x="776326" y="3108046"/>
            <a:ext cx="230429" cy="230429"/>
          </a:xfrm>
          <a:prstGeom prst="rect">
            <a:avLst/>
          </a:prstGeom>
        </p:spPr>
      </p:pic>
      <p:sp>
        <p:nvSpPr>
          <p:cNvPr id="19" name="Text 14"/>
          <p:cNvSpPr txBox="1"/>
          <p:nvPr/>
        </p:nvSpPr>
        <p:spPr>
          <a:xfrm>
            <a:off x="1280160" y="2990088"/>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You stop paying twice</a:t>
            </a:r>
            <a:endParaRPr lang="en-US" sz="1500" dirty="0"/>
          </a:p>
        </p:txBody>
      </p:sp>
      <p:sp>
        <p:nvSpPr>
          <p:cNvPr id="20" name="Text 15"/>
          <p:cNvSpPr txBox="1"/>
          <p:nvPr/>
        </p:nvSpPr>
        <p:spPr>
          <a:xfrm>
            <a:off x="1280160" y="3337560"/>
            <a:ext cx="30175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Step limits, loop detection and save points, from module 4.</a:t>
            </a:r>
            <a:endParaRPr lang="en-US" sz="1200" dirty="0"/>
          </a:p>
        </p:txBody>
      </p:sp>
      <p:sp>
        <p:nvSpPr>
          <p:cNvPr id="21" name="Shape 16"/>
          <p:cNvSpPr/>
          <p:nvPr/>
        </p:nvSpPr>
        <p:spPr>
          <a:xfrm>
            <a:off x="4663440" y="2788920"/>
            <a:ext cx="4023360" cy="1280160"/>
          </a:xfrm>
          <a:prstGeom prst="roundRect">
            <a:avLst>
              <a:gd name="adj" fmla="val 5714"/>
            </a:avLst>
          </a:prstGeom>
          <a:solidFill>
            <a:srgbClr val="F3F4F6"/>
          </a:solidFill>
          <a:ln w="12700">
            <a:solidFill>
              <a:srgbClr val="F3F4F6"/>
            </a:solidFill>
            <a:prstDash val="solid"/>
          </a:ln>
        </p:spPr>
      </p:sp>
      <p:sp>
        <p:nvSpPr>
          <p:cNvPr id="22" name="Shape 17"/>
          <p:cNvSpPr/>
          <p:nvPr/>
        </p:nvSpPr>
        <p:spPr>
          <a:xfrm>
            <a:off x="4892040" y="3017520"/>
            <a:ext cx="411480" cy="411480"/>
          </a:xfrm>
          <a:prstGeom prst="ellipse">
            <a:avLst/>
          </a:prstGeom>
          <a:solidFill>
            <a:srgbClr val="B45309"/>
          </a:solidFill>
          <a:ln w="12700">
            <a:solidFill>
              <a:srgbClr val="B45309"/>
            </a:solidFill>
            <a:prstDash val="solid"/>
          </a:ln>
        </p:spPr>
      </p:sp>
      <p:pic>
        <p:nvPicPr>
          <p:cNvPr id="23" name="Image 3" descr="preencoded.png">    </p:cNvPr>
          <p:cNvPicPr>
            <a:picLocks noChangeAspect="1"/>
          </p:cNvPicPr>
          <p:nvPr/>
        </p:nvPicPr>
        <p:blipFill>
          <a:blip r:embed="rId4"/>
          <a:stretch>
            <a:fillRect/>
          </a:stretch>
        </p:blipFill>
        <p:spPr>
          <a:xfrm>
            <a:off x="4982566" y="3108046"/>
            <a:ext cx="230429" cy="230429"/>
          </a:xfrm>
          <a:prstGeom prst="rect">
            <a:avLst/>
          </a:prstGeom>
        </p:spPr>
      </p:pic>
      <p:sp>
        <p:nvSpPr>
          <p:cNvPr id="24" name="Text 18"/>
          <p:cNvSpPr txBox="1"/>
          <p:nvPr/>
        </p:nvSpPr>
        <p:spPr>
          <a:xfrm>
            <a:off x="5486400" y="2990088"/>
            <a:ext cx="30175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You know what it is worth</a:t>
            </a:r>
            <a:endParaRPr lang="en-US" sz="1500" dirty="0"/>
          </a:p>
        </p:txBody>
      </p:sp>
      <p:sp>
        <p:nvSpPr>
          <p:cNvPr id="25" name="Text 19"/>
          <p:cNvSpPr txBox="1"/>
          <p:nvPr/>
        </p:nvSpPr>
        <p:spPr>
          <a:xfrm>
            <a:off x="5486400" y="3337560"/>
            <a:ext cx="301752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Cost per successful task, with the result label finally set.</a:t>
            </a:r>
            <a:endParaRPr lang="en-US" sz="1200" dirty="0"/>
          </a:p>
        </p:txBody>
      </p:sp>
      <p:sp>
        <p:nvSpPr>
          <p:cNvPr id="26" name="Text 20"/>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600" b="1" i="1" dirty="0">
                <a:solidFill>
                  <a:srgbClr val="B45309"/>
                </a:solidFill>
                <a:latin typeface="Cambria" pitchFamily="34" charset="0"/>
                <a:ea typeface="Cambria" pitchFamily="34" charset="-122"/>
                <a:cs typeface="Cambria" pitchFamily="34" charset="-120"/>
              </a:rPr>
              <a:t>Every calculation that depends on success is now real rather than an estimate.</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ONE HONEST THING</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Agent Cost Control · Module 5</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32</a:t>
            </a:r>
            <a:endParaRPr lang="en-US" sz="900" dirty="0"/>
          </a:p>
        </p:txBody>
      </p:sp>
      <p:sp>
        <p:nvSpPr>
          <p:cNvPr id="5" name="Text 3"/>
          <p:cNvSpPr txBox="1"/>
          <p:nvPr/>
        </p:nvSpPr>
        <p:spPr>
          <a:xfrm>
            <a:off x="457200" y="1005840"/>
            <a:ext cx="8229600" cy="12801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Your definition of success is</a:t>
            </a:r>
            <a:endParaRPr lang="en-US" sz="3400" dirty="0"/>
          </a:p>
          <a:p>
            <a:pPr indent="0" marL="0">
              <a:buNone/>
            </a:pPr>
            <a:r>
              <a:rPr lang="en-US" sz="3400" b="1" dirty="0">
                <a:solidFill>
                  <a:srgbClr val="FFFFFF"/>
                </a:solidFill>
                <a:latin typeface="Cambria" pitchFamily="34" charset="0"/>
                <a:ea typeface="Cambria" pitchFamily="34" charset="-122"/>
                <a:cs typeface="Cambria" pitchFamily="34" charset="-120"/>
              </a:rPr>
              <a:t>almost certainly imperfect.</a:t>
            </a:r>
            <a:endParaRPr lang="en-US" sz="3400" dirty="0"/>
          </a:p>
        </p:txBody>
      </p:sp>
      <p:sp>
        <p:nvSpPr>
          <p:cNvPr id="6" name="Text 4"/>
          <p:cNvSpPr txBox="1"/>
          <p:nvPr/>
        </p:nvSpPr>
        <p:spPr>
          <a:xfrm>
            <a:off x="457200" y="2423160"/>
            <a:ext cx="7863840" cy="1005840"/>
          </a:xfrm>
          <a:prstGeom prst="rect">
            <a:avLst/>
          </a:prstGeom>
          <a:noFill/>
          <a:ln/>
        </p:spPr>
        <p:txBody>
          <a:bodyPr wrap="square" lIns="0" tIns="0" rIns="0" bIns="0" rtlCol="0" anchor="t"/>
          <a:lstStyle/>
          <a:p>
            <a:pPr indent="0" marL="0">
              <a:buNone/>
            </a:pPr>
            <a:r>
              <a:rPr lang="en-US" sz="1600" dirty="0">
                <a:solidFill>
                  <a:srgbClr val="9CA3AF"/>
                </a:solidFill>
                <a:latin typeface="Calibri" pitchFamily="34" charset="0"/>
                <a:ea typeface="Calibri" pitchFamily="34" charset="-122"/>
                <a:cs typeface="Calibri" pitchFamily="34" charset="-120"/>
              </a:rPr>
              <a:t>A check you wrote will pass some outputs a human would reject, and probably fail a few that are fine. That is normal, and it does not make the number useless; it makes it a good approximation that you can improve.</a:t>
            </a:r>
            <a:endParaRPr lang="en-US" sz="1600" dirty="0"/>
          </a:p>
        </p:txBody>
      </p:sp>
      <p:sp>
        <p:nvSpPr>
          <p:cNvPr id="7" name="Text 5"/>
          <p:cNvSpPr txBox="1"/>
          <p:nvPr/>
        </p:nvSpPr>
        <p:spPr>
          <a:xfrm>
            <a:off x="457200" y="3520440"/>
            <a:ext cx="7863840" cy="731520"/>
          </a:xfrm>
          <a:prstGeom prst="rect">
            <a:avLst/>
          </a:prstGeom>
          <a:noFill/>
          <a:ln/>
        </p:spPr>
        <p:txBody>
          <a:bodyPr wrap="square" lIns="0" tIns="0" rIns="0" bIns="0" rtlCol="0" anchor="t"/>
          <a:lstStyle/>
          <a:p>
            <a:pPr indent="0" marL="0">
              <a:buNone/>
            </a:pPr>
            <a:r>
              <a:rPr lang="en-US" sz="1600" b="1" dirty="0">
                <a:solidFill>
                  <a:srgbClr val="F59E0B"/>
                </a:solidFill>
                <a:latin typeface="Calibri" pitchFamily="34" charset="0"/>
                <a:ea typeface="Calibri" pitchFamily="34" charset="-122"/>
                <a:cs typeface="Calibri" pitchFamily="34" charset="-120"/>
              </a:rPr>
              <a:t>What would make it useless is not writing the definition down at all, so that nobody knows what the number means.</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97280"/>
            <a:ext cx="5486400" cy="274320"/>
          </a:xfrm>
          <a:prstGeom prst="rect">
            <a:avLst/>
          </a:prstGeom>
          <a:noFill/>
          <a:ln/>
        </p:spPr>
        <p:txBody>
          <a:bodyPr wrap="square" lIns="0" tIns="0" rIns="0" bIns="0" rtlCol="0" anchor="t"/>
          <a:lstStyle/>
          <a:p>
            <a:pPr indent="0" marL="0">
              <a:buNone/>
            </a:pPr>
            <a:r>
              <a:rPr lang="en-US" sz="1100" b="1" spc="300" kern="0" dirty="0">
                <a:solidFill>
                  <a:srgbClr val="F59E0B"/>
                </a:solidFill>
                <a:latin typeface="Calibri" pitchFamily="34" charset="0"/>
                <a:ea typeface="Calibri" pitchFamily="34" charset="-122"/>
                <a:cs typeface="Calibri" pitchFamily="34" charset="-120"/>
              </a:rPr>
              <a:t>NEXT · MODULE 6 OF 6</a:t>
            </a:r>
            <a:endParaRPr lang="en-US" sz="1100" dirty="0"/>
          </a:p>
        </p:txBody>
      </p:sp>
      <p:sp>
        <p:nvSpPr>
          <p:cNvPr id="3" name="Text 1"/>
          <p:cNvSpPr txBox="1"/>
          <p:nvPr/>
        </p:nvSpPr>
        <p:spPr>
          <a:xfrm>
            <a:off x="548640" y="1463040"/>
            <a:ext cx="8046720" cy="914400"/>
          </a:xfrm>
          <a:prstGeom prst="rect">
            <a:avLst/>
          </a:prstGeom>
          <a:noFill/>
          <a:ln/>
        </p:spPr>
        <p:txBody>
          <a:bodyPr wrap="square" lIns="0" tIns="0" rIns="0" bIns="0" rtlCol="0" anchor="t"/>
          <a:lstStyle/>
          <a:p>
            <a:pPr indent="0" marL="0">
              <a:buNone/>
            </a:pPr>
            <a:r>
              <a:rPr lang="en-US" sz="4200" b="1" dirty="0">
                <a:solidFill>
                  <a:srgbClr val="FFFFFF"/>
                </a:solidFill>
                <a:latin typeface="Cambria" pitchFamily="34" charset="0"/>
                <a:ea typeface="Cambria" pitchFamily="34" charset="-122"/>
                <a:cs typeface="Cambria" pitchFamily="34" charset="-120"/>
              </a:rPr>
              <a:t>Make it run without you.</a:t>
            </a:r>
            <a:endParaRPr lang="en-US" sz="4200" dirty="0"/>
          </a:p>
        </p:txBody>
      </p:sp>
      <p:sp>
        <p:nvSpPr>
          <p:cNvPr id="4" name="Text 2"/>
          <p:cNvSpPr txBox="1"/>
          <p:nvPr/>
        </p:nvSpPr>
        <p:spPr>
          <a:xfrm>
            <a:off x="548640" y="2514600"/>
            <a:ext cx="7498080" cy="914400"/>
          </a:xfrm>
          <a:prstGeom prst="rect">
            <a:avLst/>
          </a:prstGeom>
          <a:noFill/>
          <a:ln/>
        </p:spPr>
        <p:txBody>
          <a:bodyPr wrap="square" lIns="0" tIns="0" rIns="0" bIns="0" rtlCol="0" anchor="t"/>
          <a:lstStyle/>
          <a:p>
            <a:pPr indent="0" marL="0">
              <a:buNone/>
            </a:pPr>
            <a:r>
              <a:rPr lang="en-US" sz="1700" dirty="0">
                <a:solidFill>
                  <a:srgbClr val="9CA3AF"/>
                </a:solidFill>
                <a:latin typeface="Calibri" pitchFamily="34" charset="0"/>
                <a:ea typeface="Calibri" pitchFamily="34" charset="-122"/>
                <a:cs typeface="Calibri" pitchFamily="34" charset="-120"/>
              </a:rPr>
              <a:t>The dashboard, burn-rate alerts, model routing for the cheap steps, and the weekly review that makes this somebody's job rather than a project you did once.</a:t>
            </a:r>
            <a:endParaRPr lang="en-US" sz="1700" dirty="0"/>
          </a:p>
        </p:txBody>
      </p:sp>
      <p:sp>
        <p:nvSpPr>
          <p:cNvPr id="5" name="Text 3"/>
          <p:cNvSpPr txBox="1"/>
          <p:nvPr/>
        </p:nvSpPr>
        <p:spPr>
          <a:xfrm>
            <a:off x="548640" y="3931920"/>
            <a:ext cx="6858000" cy="365760"/>
          </a:xfrm>
          <a:prstGeom prst="rect">
            <a:avLst/>
          </a:prstGeom>
          <a:noFill/>
          <a:ln/>
        </p:spPr>
        <p:txBody>
          <a:bodyPr wrap="square" lIns="0" tIns="0" rIns="0" bIns="0" rtlCol="0" anchor="t"/>
          <a:lstStyle/>
          <a:p>
            <a:pPr indent="0" marL="0">
              <a:buNone/>
            </a:pPr>
            <a:r>
              <a:rPr lang="en-US" sz="1500" i="1" dirty="0">
                <a:solidFill>
                  <a:srgbClr val="F59E0B"/>
                </a:solidFill>
                <a:latin typeface="Cambria" pitchFamily="34" charset="0"/>
                <a:ea typeface="Cambria" pitchFamily="34" charset="-122"/>
                <a:cs typeface="Cambria" pitchFamily="34" charset="-120"/>
              </a:rPr>
              <a:t>Definition  ·  The label  ·  The number  ·  The comparison</a:t>
            </a:r>
            <a:endParaRPr lang="en-US" sz="1500" dirty="0"/>
          </a:p>
        </p:txBody>
      </p:sp>
      <p:sp>
        <p:nvSpPr>
          <p:cNvPr id="6" name="Text 4"/>
          <p:cNvSpPr txBox="1"/>
          <p:nvPr/>
        </p:nvSpPr>
        <p:spPr>
          <a:xfrm>
            <a:off x="548640" y="4343400"/>
            <a:ext cx="73152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Emmanuel Naweji  ·  github.com/Here2ServeU/agent-cost-control</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A</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Exercises: do these before Module 6</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34</a:t>
            </a:r>
            <a:endParaRPr lang="en-US" sz="900" dirty="0"/>
          </a:p>
        </p:txBody>
      </p:sp>
      <p:sp>
        <p:nvSpPr>
          <p:cNvPr id="6" name="Shape 4"/>
          <p:cNvSpPr/>
          <p:nvPr/>
        </p:nvSpPr>
        <p:spPr>
          <a:xfrm>
            <a:off x="457200" y="1325880"/>
            <a:ext cx="1938528" cy="1481328"/>
          </a:xfrm>
          <a:prstGeom prst="roundRect">
            <a:avLst>
              <a:gd name="adj" fmla="val 4938"/>
            </a:avLst>
          </a:prstGeom>
          <a:solidFill>
            <a:srgbClr val="111827"/>
          </a:solidFill>
          <a:ln w="12700">
            <a:solidFill>
              <a:srgbClr val="111827"/>
            </a:solidFill>
            <a:prstDash val="solid"/>
          </a:ln>
        </p:spPr>
      </p:sp>
      <p:sp>
        <p:nvSpPr>
          <p:cNvPr id="7" name="Text 5"/>
          <p:cNvSpPr txBox="1"/>
          <p:nvPr/>
        </p:nvSpPr>
        <p:spPr>
          <a:xfrm>
            <a:off x="621792" y="1444752"/>
            <a:ext cx="731520" cy="365760"/>
          </a:xfrm>
          <a:prstGeom prst="rect">
            <a:avLst/>
          </a:prstGeom>
          <a:noFill/>
          <a:ln/>
        </p:spPr>
        <p:txBody>
          <a:bodyPr wrap="square" lIns="0" tIns="0" rIns="0" bIns="0" rtlCol="0" anchor="t"/>
          <a:lstStyle/>
          <a:p>
            <a:pPr indent="0" marL="0">
              <a:buNone/>
            </a:pPr>
            <a:r>
              <a:rPr lang="en-US" sz="2000" b="1" dirty="0">
                <a:solidFill>
                  <a:srgbClr val="F59E0B"/>
                </a:solidFill>
                <a:latin typeface="Cambria" pitchFamily="34" charset="0"/>
                <a:ea typeface="Cambria" pitchFamily="34" charset="-122"/>
                <a:cs typeface="Cambria" pitchFamily="34" charset="-120"/>
              </a:rPr>
              <a:t>01</a:t>
            </a:r>
            <a:endParaRPr lang="en-US" sz="2000" dirty="0"/>
          </a:p>
        </p:txBody>
      </p:sp>
      <p:sp>
        <p:nvSpPr>
          <p:cNvPr id="8" name="Text 6"/>
          <p:cNvSpPr txBox="1"/>
          <p:nvPr/>
        </p:nvSpPr>
        <p:spPr>
          <a:xfrm>
            <a:off x="621792" y="1801368"/>
            <a:ext cx="1691640" cy="32004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Write SUCCESS.md first</a:t>
            </a:r>
            <a:endParaRPr lang="en-US" sz="1150" dirty="0"/>
          </a:p>
        </p:txBody>
      </p:sp>
      <p:sp>
        <p:nvSpPr>
          <p:cNvPr id="9" name="Text 7"/>
          <p:cNvSpPr txBox="1"/>
          <p:nvPr/>
        </p:nvSpPr>
        <p:spPr>
          <a:xfrm>
            <a:off x="621792" y="2148840"/>
            <a:ext cx="1664208" cy="621792"/>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Before any code. Could a colleague apply it to ten runs and agree with you?</a:t>
            </a:r>
            <a:endParaRPr lang="en-US" sz="900" dirty="0"/>
          </a:p>
        </p:txBody>
      </p:sp>
      <p:sp>
        <p:nvSpPr>
          <p:cNvPr id="10" name="Shape 8"/>
          <p:cNvSpPr/>
          <p:nvPr/>
        </p:nvSpPr>
        <p:spPr>
          <a:xfrm>
            <a:off x="2542032" y="1325880"/>
            <a:ext cx="1938528"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2706624"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02</a:t>
            </a:r>
            <a:endParaRPr lang="en-US" sz="2000" dirty="0"/>
          </a:p>
        </p:txBody>
      </p:sp>
      <p:sp>
        <p:nvSpPr>
          <p:cNvPr id="12" name="Text 10"/>
          <p:cNvSpPr txBox="1"/>
          <p:nvPr/>
        </p:nvSpPr>
        <p:spPr>
          <a:xfrm>
            <a:off x="2706624" y="1801368"/>
            <a:ext cx="1691640" cy="32004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Score the same runs four ways</a:t>
            </a:r>
            <a:endParaRPr lang="en-US" sz="1150" dirty="0"/>
          </a:p>
        </p:txBody>
      </p:sp>
      <p:sp>
        <p:nvSpPr>
          <p:cNvPr id="13" name="Text 11"/>
          <p:cNvSpPr txBox="1"/>
          <p:nvPr/>
        </p:nvSpPr>
        <p:spPr>
          <a:xfrm>
            <a:off x="2706624" y="2148840"/>
            <a:ext cx="1664208" cy="621792"/>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Fifty real runs, four definitions. Write down all four numbers and look at the spread.</a:t>
            </a:r>
            <a:endParaRPr lang="en-US" sz="900" dirty="0"/>
          </a:p>
        </p:txBody>
      </p:sp>
      <p:sp>
        <p:nvSpPr>
          <p:cNvPr id="14" name="Shape 12"/>
          <p:cNvSpPr/>
          <p:nvPr/>
        </p:nvSpPr>
        <p:spPr>
          <a:xfrm>
            <a:off x="4626864" y="1325880"/>
            <a:ext cx="1938528"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4791456"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03</a:t>
            </a:r>
            <a:endParaRPr lang="en-US" sz="2000" dirty="0"/>
          </a:p>
        </p:txBody>
      </p:sp>
      <p:sp>
        <p:nvSpPr>
          <p:cNvPr id="16" name="Text 14"/>
          <p:cNvSpPr txBox="1"/>
          <p:nvPr/>
        </p:nvSpPr>
        <p:spPr>
          <a:xfrm>
            <a:off x="4791456" y="1801368"/>
            <a:ext cx="1691640" cy="32004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Build the check</a:t>
            </a:r>
            <a:endParaRPr lang="en-US" sz="1150" dirty="0"/>
          </a:p>
        </p:txBody>
      </p:sp>
      <p:sp>
        <p:nvSpPr>
          <p:cNvPr id="17" name="Text 15"/>
          <p:cNvSpPr txBox="1"/>
          <p:nvPr/>
        </p:nvSpPr>
        <p:spPr>
          <a:xfrm>
            <a:off x="4791456" y="2148840"/>
            <a:ext cx="1664208" cy="621792"/>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A function returning true or false. Confirm the metrics no longer say unknown.</a:t>
            </a:r>
            <a:endParaRPr lang="en-US" sz="900" dirty="0"/>
          </a:p>
        </p:txBody>
      </p:sp>
      <p:sp>
        <p:nvSpPr>
          <p:cNvPr id="18" name="Shape 16"/>
          <p:cNvSpPr/>
          <p:nvPr/>
        </p:nvSpPr>
        <p:spPr>
          <a:xfrm>
            <a:off x="6711696" y="1325880"/>
            <a:ext cx="1938528"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876288" y="144475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04</a:t>
            </a:r>
            <a:endParaRPr lang="en-US" sz="2000" dirty="0"/>
          </a:p>
        </p:txBody>
      </p:sp>
      <p:sp>
        <p:nvSpPr>
          <p:cNvPr id="20" name="Text 18"/>
          <p:cNvSpPr txBox="1"/>
          <p:nvPr/>
        </p:nvSpPr>
        <p:spPr>
          <a:xfrm>
            <a:off x="6876288" y="1801368"/>
            <a:ext cx="1691640" cy="32004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Calculate it by hand</a:t>
            </a:r>
            <a:endParaRPr lang="en-US" sz="1150" dirty="0"/>
          </a:p>
        </p:txBody>
      </p:sp>
      <p:sp>
        <p:nvSpPr>
          <p:cNvPr id="21" name="Text 19"/>
          <p:cNvSpPr txBox="1"/>
          <p:nvPr/>
        </p:nvSpPr>
        <p:spPr>
          <a:xfrm>
            <a:off x="6876288" y="2148840"/>
            <a:ext cx="1664208" cy="621792"/>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One week: total spend ÷ successful runs. In a spreadsheet, before you automate it.</a:t>
            </a:r>
            <a:endParaRPr lang="en-US" sz="900" dirty="0"/>
          </a:p>
        </p:txBody>
      </p:sp>
      <p:sp>
        <p:nvSpPr>
          <p:cNvPr id="22" name="Shape 20"/>
          <p:cNvSpPr/>
          <p:nvPr/>
        </p:nvSpPr>
        <p:spPr>
          <a:xfrm>
            <a:off x="457200" y="2971800"/>
            <a:ext cx="1938528"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621792"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05</a:t>
            </a:r>
            <a:endParaRPr lang="en-US" sz="2000" dirty="0"/>
          </a:p>
        </p:txBody>
      </p:sp>
      <p:sp>
        <p:nvSpPr>
          <p:cNvPr id="24" name="Text 22"/>
          <p:cNvSpPr txBox="1"/>
          <p:nvPr/>
        </p:nvSpPr>
        <p:spPr>
          <a:xfrm>
            <a:off x="621792" y="3447288"/>
            <a:ext cx="1691640" cy="32004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Automate it</a:t>
            </a:r>
            <a:endParaRPr lang="en-US" sz="1150" dirty="0"/>
          </a:p>
        </p:txBody>
      </p:sp>
      <p:sp>
        <p:nvSpPr>
          <p:cNvPr id="25" name="Text 23"/>
          <p:cNvSpPr txBox="1"/>
          <p:nvPr/>
        </p:nvSpPr>
        <p:spPr>
          <a:xfrm>
            <a:off x="621792" y="3794760"/>
            <a:ext cx="1664208" cy="621792"/>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cost_per_success.py. Print spend, successes and the result; never just the answer.</a:t>
            </a:r>
            <a:endParaRPr lang="en-US" sz="900" dirty="0"/>
          </a:p>
        </p:txBody>
      </p:sp>
      <p:sp>
        <p:nvSpPr>
          <p:cNvPr id="26" name="Shape 24"/>
          <p:cNvSpPr/>
          <p:nvPr/>
        </p:nvSpPr>
        <p:spPr>
          <a:xfrm>
            <a:off x="2542032" y="2971800"/>
            <a:ext cx="1938528"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2706624"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06</a:t>
            </a:r>
            <a:endParaRPr lang="en-US" sz="2000" dirty="0"/>
          </a:p>
        </p:txBody>
      </p:sp>
      <p:sp>
        <p:nvSpPr>
          <p:cNvPr id="28" name="Text 26"/>
          <p:cNvSpPr txBox="1"/>
          <p:nvPr/>
        </p:nvSpPr>
        <p:spPr>
          <a:xfrm>
            <a:off x="2706624" y="3447288"/>
            <a:ext cx="1691640" cy="32004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Put it in PromQL</a:t>
            </a:r>
            <a:endParaRPr lang="en-US" sz="1150" dirty="0"/>
          </a:p>
        </p:txBody>
      </p:sp>
      <p:sp>
        <p:nvSpPr>
          <p:cNvPr id="29" name="Text 27"/>
          <p:cNvSpPr txBox="1"/>
          <p:nvPr/>
        </p:nvSpPr>
        <p:spPr>
          <a:xfrm>
            <a:off x="2706624" y="3794760"/>
            <a:ext cx="1664208" cy="621792"/>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Confirm the query matches your script. If it differs, check the time windows first.</a:t>
            </a:r>
            <a:endParaRPr lang="en-US" sz="900" dirty="0"/>
          </a:p>
        </p:txBody>
      </p:sp>
      <p:sp>
        <p:nvSpPr>
          <p:cNvPr id="30" name="Shape 28"/>
          <p:cNvSpPr/>
          <p:nvPr/>
        </p:nvSpPr>
        <p:spPr>
          <a:xfrm>
            <a:off x="4626864" y="2971800"/>
            <a:ext cx="1938528" cy="1481328"/>
          </a:xfrm>
          <a:prstGeom prst="roundRect">
            <a:avLst>
              <a:gd name="adj" fmla="val 4938"/>
            </a:avLst>
          </a:prstGeom>
          <a:solidFill>
            <a:srgbClr val="F3F4F6"/>
          </a:solidFill>
          <a:ln w="12700">
            <a:solidFill>
              <a:srgbClr val="F3F4F6"/>
            </a:solidFill>
            <a:prstDash val="solid"/>
          </a:ln>
        </p:spPr>
      </p:sp>
      <p:sp>
        <p:nvSpPr>
          <p:cNvPr id="31" name="Text 29"/>
          <p:cNvSpPr txBox="1"/>
          <p:nvPr/>
        </p:nvSpPr>
        <p:spPr>
          <a:xfrm>
            <a:off x="4791456"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07</a:t>
            </a:r>
            <a:endParaRPr lang="en-US" sz="2000" dirty="0"/>
          </a:p>
        </p:txBody>
      </p:sp>
      <p:sp>
        <p:nvSpPr>
          <p:cNvPr id="32" name="Text 30"/>
          <p:cNvSpPr txBox="1"/>
          <p:nvPr/>
        </p:nvSpPr>
        <p:spPr>
          <a:xfrm>
            <a:off x="4791456" y="3447288"/>
            <a:ext cx="1691640" cy="32004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Run the three scenarios</a:t>
            </a:r>
            <a:endParaRPr lang="en-US" sz="1150" dirty="0"/>
          </a:p>
        </p:txBody>
      </p:sp>
      <p:sp>
        <p:nvSpPr>
          <p:cNvPr id="33" name="Text 31"/>
          <p:cNvSpPr txBox="1"/>
          <p:nvPr/>
        </p:nvSpPr>
        <p:spPr>
          <a:xfrm>
            <a:off x="4791456" y="3794760"/>
            <a:ext cx="1664208" cy="621792"/>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Cheaper model, checkpoints, higher step limit. Estimates are fine; watch them part company.</a:t>
            </a:r>
            <a:endParaRPr lang="en-US" sz="900" dirty="0"/>
          </a:p>
        </p:txBody>
      </p:sp>
      <p:sp>
        <p:nvSpPr>
          <p:cNvPr id="34" name="Shape 32"/>
          <p:cNvSpPr/>
          <p:nvPr/>
        </p:nvSpPr>
        <p:spPr>
          <a:xfrm>
            <a:off x="6711696" y="2971800"/>
            <a:ext cx="1938528" cy="1481328"/>
          </a:xfrm>
          <a:prstGeom prst="roundRect">
            <a:avLst>
              <a:gd name="adj" fmla="val 4938"/>
            </a:avLst>
          </a:prstGeom>
          <a:solidFill>
            <a:srgbClr val="F3F4F6"/>
          </a:solidFill>
          <a:ln w="12700">
            <a:solidFill>
              <a:srgbClr val="F3F4F6"/>
            </a:solidFill>
            <a:prstDash val="solid"/>
          </a:ln>
        </p:spPr>
      </p:sp>
      <p:sp>
        <p:nvSpPr>
          <p:cNvPr id="35" name="Text 33"/>
          <p:cNvSpPr txBox="1"/>
          <p:nvPr/>
        </p:nvSpPr>
        <p:spPr>
          <a:xfrm>
            <a:off x="6876288" y="3090672"/>
            <a:ext cx="731520" cy="365760"/>
          </a:xfrm>
          <a:prstGeom prst="rect">
            <a:avLst/>
          </a:prstGeom>
          <a:noFill/>
          <a:ln/>
        </p:spPr>
        <p:txBody>
          <a:bodyPr wrap="square" lIns="0" tIns="0" rIns="0" bIns="0" rtlCol="0" anchor="t"/>
          <a:lstStyle/>
          <a:p>
            <a:pPr indent="0" marL="0">
              <a:buNone/>
            </a:pPr>
            <a:r>
              <a:rPr lang="en-US" sz="2000" b="1" dirty="0">
                <a:solidFill>
                  <a:srgbClr val="B45309"/>
                </a:solidFill>
                <a:latin typeface="Cambria" pitchFamily="34" charset="0"/>
                <a:ea typeface="Cambria" pitchFamily="34" charset="-122"/>
                <a:cs typeface="Cambria" pitchFamily="34" charset="-120"/>
              </a:rPr>
              <a:t>08</a:t>
            </a:r>
            <a:endParaRPr lang="en-US" sz="2000" dirty="0"/>
          </a:p>
        </p:txBody>
      </p:sp>
      <p:sp>
        <p:nvSpPr>
          <p:cNvPr id="36" name="Text 34"/>
          <p:cNvSpPr txBox="1"/>
          <p:nvPr/>
        </p:nvSpPr>
        <p:spPr>
          <a:xfrm>
            <a:off x="6876288" y="3447288"/>
            <a:ext cx="1691640" cy="320040"/>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Translate it, and compare it</a:t>
            </a:r>
            <a:endParaRPr lang="en-US" sz="1150" dirty="0"/>
          </a:p>
        </p:txBody>
      </p:sp>
      <p:sp>
        <p:nvSpPr>
          <p:cNvPr id="37" name="Text 35"/>
          <p:cNvSpPr txBox="1"/>
          <p:nvPr/>
        </p:nvSpPr>
        <p:spPr>
          <a:xfrm>
            <a:off x="6876288" y="3794760"/>
            <a:ext cx="1664208" cy="621792"/>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Your unit: per ticket, per invoice. Include one comparison that does not flatter the agent.</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B · EVERY WORD WE USED,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Glossary: the number</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457200" y="1325880"/>
            <a:ext cx="2606040"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4008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01</a:t>
            </a:r>
            <a:endParaRPr lang="en-US" sz="1100" dirty="0"/>
          </a:p>
        </p:txBody>
      </p:sp>
      <p:sp>
        <p:nvSpPr>
          <p:cNvPr id="8" name="Text 6"/>
          <p:cNvSpPr txBox="1"/>
          <p:nvPr/>
        </p:nvSpPr>
        <p:spPr>
          <a:xfrm>
            <a:off x="64008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Cost per successful task</a:t>
            </a:r>
            <a:endParaRPr lang="en-US" sz="1300" dirty="0"/>
          </a:p>
        </p:txBody>
      </p:sp>
      <p:sp>
        <p:nvSpPr>
          <p:cNvPr id="9" name="Text 7"/>
          <p:cNvSpPr txBox="1"/>
          <p:nvPr/>
        </p:nvSpPr>
        <p:spPr>
          <a:xfrm>
            <a:off x="64008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Total spend divided by the runs that succeeded. Failures count on the top, not the bottom.</a:t>
            </a:r>
            <a:endParaRPr lang="en-US" sz="1000" dirty="0"/>
          </a:p>
        </p:txBody>
      </p:sp>
      <p:sp>
        <p:nvSpPr>
          <p:cNvPr id="10" name="Shape 8"/>
          <p:cNvSpPr/>
          <p:nvPr/>
        </p:nvSpPr>
        <p:spPr>
          <a:xfrm>
            <a:off x="3246120" y="1325880"/>
            <a:ext cx="2606040"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342900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02</a:t>
            </a:r>
            <a:endParaRPr lang="en-US" sz="1100" dirty="0"/>
          </a:p>
        </p:txBody>
      </p:sp>
      <p:sp>
        <p:nvSpPr>
          <p:cNvPr id="12" name="Text 10"/>
          <p:cNvSpPr txBox="1"/>
          <p:nvPr/>
        </p:nvSpPr>
        <p:spPr>
          <a:xfrm>
            <a:off x="342900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Numerator and denominator</a:t>
            </a:r>
            <a:endParaRPr lang="en-US" sz="1300" dirty="0"/>
          </a:p>
        </p:txBody>
      </p:sp>
      <p:sp>
        <p:nvSpPr>
          <p:cNvPr id="13" name="Text 11"/>
          <p:cNvSpPr txBox="1"/>
          <p:nvPr/>
        </p:nvSpPr>
        <p:spPr>
          <a:xfrm>
            <a:off x="342900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The top and bottom of a fraction: everything you spent on top, successful runs underneath.</a:t>
            </a:r>
            <a:endParaRPr lang="en-US" sz="1000" dirty="0"/>
          </a:p>
        </p:txBody>
      </p:sp>
      <p:sp>
        <p:nvSpPr>
          <p:cNvPr id="14" name="Shape 12"/>
          <p:cNvSpPr/>
          <p:nvPr/>
        </p:nvSpPr>
        <p:spPr>
          <a:xfrm>
            <a:off x="6035040" y="1325880"/>
            <a:ext cx="2606040"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621792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03</a:t>
            </a:r>
            <a:endParaRPr lang="en-US" sz="1100" dirty="0"/>
          </a:p>
        </p:txBody>
      </p:sp>
      <p:sp>
        <p:nvSpPr>
          <p:cNvPr id="16" name="Text 14"/>
          <p:cNvSpPr txBox="1"/>
          <p:nvPr/>
        </p:nvSpPr>
        <p:spPr>
          <a:xfrm>
            <a:off x="621792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The taxi test</a:t>
            </a:r>
            <a:endParaRPr lang="en-US" sz="1300" dirty="0"/>
          </a:p>
        </p:txBody>
      </p:sp>
      <p:sp>
        <p:nvSpPr>
          <p:cNvPr id="17" name="Text 15"/>
          <p:cNvSpPr txBox="1"/>
          <p:nvPr/>
        </p:nvSpPr>
        <p:spPr>
          <a:xfrm>
            <a:off x="621792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Two taxis drive four miles for the same fare; one arrives. Cost per request cannot tell them apart.</a:t>
            </a:r>
            <a:endParaRPr lang="en-US" sz="1000" dirty="0"/>
          </a:p>
        </p:txBody>
      </p:sp>
      <p:sp>
        <p:nvSpPr>
          <p:cNvPr id="18" name="Shape 16"/>
          <p:cNvSpPr/>
          <p:nvPr/>
        </p:nvSpPr>
        <p:spPr>
          <a:xfrm>
            <a:off x="457200" y="2971800"/>
            <a:ext cx="2606040"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4008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64008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The four definitions</a:t>
            </a:r>
            <a:endParaRPr lang="en-US" sz="1300" dirty="0"/>
          </a:p>
        </p:txBody>
      </p:sp>
      <p:sp>
        <p:nvSpPr>
          <p:cNvPr id="21" name="Text 19"/>
          <p:cNvSpPr txBox="1"/>
          <p:nvPr/>
        </p:nvSpPr>
        <p:spPr>
          <a:xfrm>
            <a:off x="64008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Didn't crash (~98%), produced something (~91%), passed a check (~74%), a human accepted it (~62%).</a:t>
            </a:r>
            <a:endParaRPr lang="en-US" sz="1000" dirty="0"/>
          </a:p>
        </p:txBody>
      </p:sp>
      <p:sp>
        <p:nvSpPr>
          <p:cNvPr id="22" name="Shape 20"/>
          <p:cNvSpPr/>
          <p:nvPr/>
        </p:nvSpPr>
        <p:spPr>
          <a:xfrm>
            <a:off x="3246120" y="2971800"/>
            <a:ext cx="2606040"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342900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05</a:t>
            </a:r>
            <a:endParaRPr lang="en-US" sz="1100" dirty="0"/>
          </a:p>
        </p:txBody>
      </p:sp>
      <p:sp>
        <p:nvSpPr>
          <p:cNvPr id="24" name="Text 22"/>
          <p:cNvSpPr txBox="1"/>
          <p:nvPr/>
        </p:nvSpPr>
        <p:spPr>
          <a:xfrm>
            <a:off x="342900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Definition beats precision</a:t>
            </a:r>
            <a:endParaRPr lang="en-US" sz="1300" dirty="0"/>
          </a:p>
        </p:txBody>
      </p:sp>
      <p:sp>
        <p:nvSpPr>
          <p:cNvPr id="25" name="Text 23"/>
          <p:cNvSpPr txBox="1"/>
          <p:nvPr/>
        </p:nvSpPr>
        <p:spPr>
          <a:xfrm>
            <a:off x="342900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Your number can be $0.20 or $0.32 purely by definition. Publish the definition with the number.</a:t>
            </a:r>
            <a:endParaRPr lang="en-US" sz="1000" dirty="0"/>
          </a:p>
        </p:txBody>
      </p:sp>
      <p:sp>
        <p:nvSpPr>
          <p:cNvPr id="26" name="Shape 24"/>
          <p:cNvSpPr/>
          <p:nvPr/>
        </p:nvSpPr>
        <p:spPr>
          <a:xfrm>
            <a:off x="6035040" y="2971800"/>
            <a:ext cx="2606040"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621792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06</a:t>
            </a:r>
            <a:endParaRPr lang="en-US" sz="1100" dirty="0"/>
          </a:p>
        </p:txBody>
      </p:sp>
      <p:sp>
        <p:nvSpPr>
          <p:cNvPr id="28" name="Text 26"/>
          <p:cNvSpPr txBox="1"/>
          <p:nvPr/>
        </p:nvSpPr>
        <p:spPr>
          <a:xfrm>
            <a:off x="621792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A check</a:t>
            </a:r>
            <a:endParaRPr lang="en-US" sz="1300" dirty="0"/>
          </a:p>
        </p:txBody>
      </p:sp>
      <p:sp>
        <p:nvSpPr>
          <p:cNvPr id="29" name="Text 27"/>
          <p:cNvSpPr txBox="1"/>
          <p:nvPr/>
        </p:nvSpPr>
        <p:spPr>
          <a:xfrm>
            <a:off x="621792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A simple rule catching obvious rubbish: right shape, required fields, plausible range. Usually the right choice.</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B · EVERY WORD WE USED,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Glossary: reporting it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457200" y="1325880"/>
            <a:ext cx="2606040"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4008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07</a:t>
            </a:r>
            <a:endParaRPr lang="en-US" sz="1100" dirty="0"/>
          </a:p>
        </p:txBody>
      </p:sp>
      <p:sp>
        <p:nvSpPr>
          <p:cNvPr id="8" name="Text 6"/>
          <p:cNvSpPr txBox="1"/>
          <p:nvPr/>
        </p:nvSpPr>
        <p:spPr>
          <a:xfrm>
            <a:off x="64008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The result label</a:t>
            </a:r>
            <a:endParaRPr lang="en-US" sz="1300" dirty="0"/>
          </a:p>
        </p:txBody>
      </p:sp>
      <p:sp>
        <p:nvSpPr>
          <p:cNvPr id="9" name="Text 7"/>
          <p:cNvSpPr txBox="1"/>
          <p:nvPr/>
        </p:nvSpPr>
        <p:spPr>
          <a:xfrm>
            <a:off x="64008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The fourth label from module 2, unknown until now. Everything that depends on success needs it set.</a:t>
            </a:r>
            <a:endParaRPr lang="en-US" sz="1000" dirty="0"/>
          </a:p>
        </p:txBody>
      </p:sp>
      <p:sp>
        <p:nvSpPr>
          <p:cNvPr id="10" name="Shape 8"/>
          <p:cNvSpPr/>
          <p:nvPr/>
        </p:nvSpPr>
        <p:spPr>
          <a:xfrm>
            <a:off x="3246120" y="1325880"/>
            <a:ext cx="2606040"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342900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08</a:t>
            </a:r>
            <a:endParaRPr lang="en-US" sz="1100" dirty="0"/>
          </a:p>
        </p:txBody>
      </p:sp>
      <p:sp>
        <p:nvSpPr>
          <p:cNvPr id="12" name="Text 10"/>
          <p:cNvSpPr txBox="1"/>
          <p:nvPr/>
        </p:nvSpPr>
        <p:spPr>
          <a:xfrm>
            <a:off x="342900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Spending less vs worth more</a:t>
            </a:r>
            <a:endParaRPr lang="en-US" sz="1300" dirty="0"/>
          </a:p>
        </p:txBody>
      </p:sp>
      <p:sp>
        <p:nvSpPr>
          <p:cNvPr id="13" name="Text 11"/>
          <p:cNvSpPr txBox="1"/>
          <p:nvPr/>
        </p:nvSpPr>
        <p:spPr>
          <a:xfrm>
            <a:off x="342900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A cheaper model can lower spend and raise this metric. Only this number tells them apart.</a:t>
            </a:r>
            <a:endParaRPr lang="en-US" sz="1000" dirty="0"/>
          </a:p>
        </p:txBody>
      </p:sp>
      <p:sp>
        <p:nvSpPr>
          <p:cNvPr id="14" name="Shape 12"/>
          <p:cNvSpPr/>
          <p:nvPr/>
        </p:nvSpPr>
        <p:spPr>
          <a:xfrm>
            <a:off x="6035040" y="1325880"/>
            <a:ext cx="2606040"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6217920"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09</a:t>
            </a:r>
            <a:endParaRPr lang="en-US" sz="1100" dirty="0"/>
          </a:p>
        </p:txBody>
      </p:sp>
      <p:sp>
        <p:nvSpPr>
          <p:cNvPr id="16" name="Text 14"/>
          <p:cNvSpPr txBox="1"/>
          <p:nvPr/>
        </p:nvSpPr>
        <p:spPr>
          <a:xfrm>
            <a:off x="6217920" y="170992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Recording rule</a:t>
            </a:r>
            <a:endParaRPr lang="en-US" sz="1300" dirty="0"/>
          </a:p>
        </p:txBody>
      </p:sp>
      <p:sp>
        <p:nvSpPr>
          <p:cNvPr id="17" name="Text 15"/>
          <p:cNvSpPr txBox="1"/>
          <p:nvPr/>
        </p:nvSpPr>
        <p:spPr>
          <a:xfrm>
            <a:off x="6217920" y="214884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A pre-calculated query stored by Prometheus, so a dashboard does not recompute an expensive sum.</a:t>
            </a:r>
            <a:endParaRPr lang="en-US" sz="1000" dirty="0"/>
          </a:p>
        </p:txBody>
      </p:sp>
      <p:sp>
        <p:nvSpPr>
          <p:cNvPr id="18" name="Shape 16"/>
          <p:cNvSpPr/>
          <p:nvPr/>
        </p:nvSpPr>
        <p:spPr>
          <a:xfrm>
            <a:off x="457200" y="2971800"/>
            <a:ext cx="2606040"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4008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10</a:t>
            </a:r>
            <a:endParaRPr lang="en-US" sz="1100" dirty="0"/>
          </a:p>
        </p:txBody>
      </p:sp>
      <p:sp>
        <p:nvSpPr>
          <p:cNvPr id="20" name="Text 18"/>
          <p:cNvSpPr txBox="1"/>
          <p:nvPr/>
        </p:nvSpPr>
        <p:spPr>
          <a:xfrm>
            <a:off x="64008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Alerting on the ratio</a:t>
            </a:r>
            <a:endParaRPr lang="en-US" sz="1300" dirty="0"/>
          </a:p>
        </p:txBody>
      </p:sp>
      <p:sp>
        <p:nvSpPr>
          <p:cNvPr id="21" name="Text 19"/>
          <p:cNvSpPr txBox="1"/>
          <p:nvPr/>
        </p:nvSpPr>
        <p:spPr>
          <a:xfrm>
            <a:off x="64008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Alert when cost per successful task rises, not when spend rises. Catches quality problems in disguise.</a:t>
            </a:r>
            <a:endParaRPr lang="en-US" sz="1000" dirty="0"/>
          </a:p>
        </p:txBody>
      </p:sp>
      <p:sp>
        <p:nvSpPr>
          <p:cNvPr id="22" name="Shape 20"/>
          <p:cNvSpPr/>
          <p:nvPr/>
        </p:nvSpPr>
        <p:spPr>
          <a:xfrm>
            <a:off x="3246120" y="2971800"/>
            <a:ext cx="2606040"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342900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11</a:t>
            </a:r>
            <a:endParaRPr lang="en-US" sz="1100" dirty="0"/>
          </a:p>
        </p:txBody>
      </p:sp>
      <p:sp>
        <p:nvSpPr>
          <p:cNvPr id="24" name="Text 22"/>
          <p:cNvSpPr txBox="1"/>
          <p:nvPr/>
        </p:nvSpPr>
        <p:spPr>
          <a:xfrm>
            <a:off x="342900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Translation</a:t>
            </a:r>
            <a:endParaRPr lang="en-US" sz="1300" dirty="0"/>
          </a:p>
        </p:txBody>
      </p:sp>
      <p:sp>
        <p:nvSpPr>
          <p:cNvPr id="25" name="Text 23"/>
          <p:cNvSpPr txBox="1"/>
          <p:nvPr/>
        </p:nvSpPr>
        <p:spPr>
          <a:xfrm>
            <a:off x="342900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Restating the number in the unit the business counts: per ticket, per invoice, per document.</a:t>
            </a:r>
            <a:endParaRPr lang="en-US" sz="1000" dirty="0"/>
          </a:p>
        </p:txBody>
      </p:sp>
      <p:sp>
        <p:nvSpPr>
          <p:cNvPr id="26" name="Shape 24"/>
          <p:cNvSpPr/>
          <p:nvPr/>
        </p:nvSpPr>
        <p:spPr>
          <a:xfrm>
            <a:off x="6035040" y="2971800"/>
            <a:ext cx="2606040"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6217920"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12</a:t>
            </a:r>
            <a:endParaRPr lang="en-US" sz="1100" dirty="0"/>
          </a:p>
        </p:txBody>
      </p:sp>
      <p:sp>
        <p:nvSpPr>
          <p:cNvPr id="28" name="Text 26"/>
          <p:cNvSpPr txBox="1"/>
          <p:nvPr/>
        </p:nvSpPr>
        <p:spPr>
          <a:xfrm>
            <a:off x="6217920" y="3355848"/>
            <a:ext cx="2286000" cy="41148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Number, definition, comparison</a:t>
            </a:r>
            <a:endParaRPr lang="en-US" sz="1300" dirty="0"/>
          </a:p>
        </p:txBody>
      </p:sp>
      <p:sp>
        <p:nvSpPr>
          <p:cNvPr id="29" name="Text 27"/>
          <p:cNvSpPr txBox="1"/>
          <p:nvPr/>
        </p:nvSpPr>
        <p:spPr>
          <a:xfrm>
            <a:off x="6217920" y="3794760"/>
            <a:ext cx="2286000" cy="621792"/>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Report all three, every time. A number alone invites context you did not choose.</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C: THE COMMANDS,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Setting the label</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37</a:t>
            </a:r>
            <a:endParaRPr lang="en-US" sz="900" dirty="0"/>
          </a:p>
        </p:txBody>
      </p:sp>
      <p:sp>
        <p:nvSpPr>
          <p:cNvPr id="6" name="Shape 4"/>
          <p:cNvSpPr/>
          <p:nvPr/>
        </p:nvSpPr>
        <p:spPr>
          <a:xfrm>
            <a:off x="457200" y="1325880"/>
            <a:ext cx="8229600" cy="548640"/>
          </a:xfrm>
          <a:prstGeom prst="roundRect">
            <a:avLst>
              <a:gd name="adj" fmla="val 13333"/>
            </a:avLst>
          </a:prstGeom>
          <a:solidFill>
            <a:srgbClr val="F3F4F6"/>
          </a:solidFill>
          <a:ln w="12700">
            <a:solidFill>
              <a:srgbClr val="F3F4F6"/>
            </a:solidFill>
            <a:prstDash val="solid"/>
          </a:ln>
        </p:spPr>
      </p:sp>
      <p:sp>
        <p:nvSpPr>
          <p:cNvPr id="7" name="Text 5"/>
          <p:cNvSpPr txBox="1"/>
          <p:nvPr/>
        </p:nvSpPr>
        <p:spPr>
          <a:xfrm>
            <a:off x="594360" y="1325880"/>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cat SUCCESS.md   /   Get-Content SUCCESS.md</a:t>
            </a:r>
            <a:endParaRPr lang="en-US" sz="800" dirty="0"/>
          </a:p>
        </p:txBody>
      </p:sp>
      <p:sp>
        <p:nvSpPr>
          <p:cNvPr id="8" name="Text 6"/>
          <p:cNvSpPr txBox="1"/>
          <p:nvPr/>
        </p:nvSpPr>
        <p:spPr>
          <a:xfrm>
            <a:off x="4114800" y="1325880"/>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Print your definition back. The first on Mac and Linux, the second in PowerShell.</a:t>
            </a:r>
            <a:endParaRPr lang="en-US" sz="1050" dirty="0"/>
          </a:p>
        </p:txBody>
      </p:sp>
      <p:sp>
        <p:nvSpPr>
          <p:cNvPr id="9" name="Shape 7"/>
          <p:cNvSpPr/>
          <p:nvPr/>
        </p:nvSpPr>
        <p:spPr>
          <a:xfrm>
            <a:off x="457200" y="1947672"/>
            <a:ext cx="8229600" cy="548640"/>
          </a:xfrm>
          <a:prstGeom prst="roundRect">
            <a:avLst>
              <a:gd name="adj" fmla="val 13333"/>
            </a:avLst>
          </a:prstGeom>
          <a:solidFill>
            <a:srgbClr val="FFFFFF"/>
          </a:solidFill>
          <a:ln w="12700">
            <a:solidFill>
              <a:srgbClr val="FFFFFF"/>
            </a:solidFill>
            <a:prstDash val="solid"/>
          </a:ln>
        </p:spPr>
      </p:sp>
      <p:sp>
        <p:nvSpPr>
          <p:cNvPr id="10" name="Text 8"/>
          <p:cNvSpPr txBox="1"/>
          <p:nvPr/>
        </p:nvSpPr>
        <p:spPr>
          <a:xfrm>
            <a:off x="594360" y="1947672"/>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python3 run_agent.py … &amp;&amp; curl -s localhost:8000/metrics</a:t>
            </a:r>
            <a:endParaRPr lang="en-US" sz="800" dirty="0"/>
          </a:p>
        </p:txBody>
      </p:sp>
      <p:sp>
        <p:nvSpPr>
          <p:cNvPr id="11" name="Text 9"/>
          <p:cNvSpPr txBox="1"/>
          <p:nvPr/>
        </p:nvSpPr>
        <p:spPr>
          <a:xfrm>
            <a:off x="4114800" y="1947672"/>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Run one task, then read the metrics your program is serving.</a:t>
            </a:r>
            <a:endParaRPr lang="en-US" sz="1050" dirty="0"/>
          </a:p>
        </p:txBody>
      </p:sp>
      <p:sp>
        <p:nvSpPr>
          <p:cNvPr id="12" name="Shape 10"/>
          <p:cNvSpPr/>
          <p:nvPr/>
        </p:nvSpPr>
        <p:spPr>
          <a:xfrm>
            <a:off x="457200" y="2569464"/>
            <a:ext cx="8229600" cy="548640"/>
          </a:xfrm>
          <a:prstGeom prst="roundRect">
            <a:avLst>
              <a:gd name="adj" fmla="val 13333"/>
            </a:avLst>
          </a:prstGeom>
          <a:solidFill>
            <a:srgbClr val="F3F4F6"/>
          </a:solidFill>
          <a:ln w="12700">
            <a:solidFill>
              <a:srgbClr val="F3F4F6"/>
            </a:solidFill>
            <a:prstDash val="solid"/>
          </a:ln>
        </p:spPr>
      </p:sp>
      <p:sp>
        <p:nvSpPr>
          <p:cNvPr id="13" name="Text 11"/>
          <p:cNvSpPr txBox="1"/>
          <p:nvPr/>
        </p:nvSpPr>
        <p:spPr>
          <a:xfrm>
            <a:off x="594360" y="2569464"/>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 grep result=</a:t>
            </a:r>
            <a:endParaRPr lang="en-US" sz="800" dirty="0"/>
          </a:p>
        </p:txBody>
      </p:sp>
      <p:sp>
        <p:nvSpPr>
          <p:cNvPr id="14" name="Text 12"/>
          <p:cNvSpPr txBox="1"/>
          <p:nvPr/>
        </p:nvSpPr>
        <p:spPr>
          <a:xfrm>
            <a:off x="4114800" y="2569464"/>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Keep only the lines mentioning the result label, so you can see success or failure.</a:t>
            </a:r>
            <a:endParaRPr lang="en-US" sz="1050" dirty="0"/>
          </a:p>
        </p:txBody>
      </p:sp>
      <p:sp>
        <p:nvSpPr>
          <p:cNvPr id="15" name="Shape 13"/>
          <p:cNvSpPr/>
          <p:nvPr/>
        </p:nvSpPr>
        <p:spPr>
          <a:xfrm>
            <a:off x="457200" y="3191256"/>
            <a:ext cx="8229600" cy="548640"/>
          </a:xfrm>
          <a:prstGeom prst="roundRect">
            <a:avLst>
              <a:gd name="adj" fmla="val 13333"/>
            </a:avLst>
          </a:prstGeom>
          <a:solidFill>
            <a:srgbClr val="FFFFFF"/>
          </a:solidFill>
          <a:ln w="12700">
            <a:solidFill>
              <a:srgbClr val="FFFFFF"/>
            </a:solidFill>
            <a:prstDash val="solid"/>
          </a:ln>
        </p:spPr>
      </p:sp>
      <p:sp>
        <p:nvSpPr>
          <p:cNvPr id="16" name="Text 14"/>
          <p:cNvSpPr txBox="1"/>
          <p:nvPr/>
        </p:nvSpPr>
        <p:spPr>
          <a:xfrm>
            <a:off x="594360" y="3191256"/>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python3 cost_per_success.py --since 7d</a:t>
            </a:r>
            <a:endParaRPr lang="en-US" sz="800" dirty="0"/>
          </a:p>
        </p:txBody>
      </p:sp>
      <p:sp>
        <p:nvSpPr>
          <p:cNvPr id="17" name="Text 15"/>
          <p:cNvSpPr txBox="1"/>
          <p:nvPr/>
        </p:nvSpPr>
        <p:spPr>
          <a:xfrm>
            <a:off x="4114800" y="3191256"/>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Your own script: spend, successes and the division, over the last seven days.</a:t>
            </a:r>
            <a:endParaRPr lang="en-US" sz="1050" dirty="0"/>
          </a:p>
        </p:txBody>
      </p:sp>
      <p:sp>
        <p:nvSpPr>
          <p:cNvPr id="18" name="Shape 16"/>
          <p:cNvSpPr/>
          <p:nvPr/>
        </p:nvSpPr>
        <p:spPr>
          <a:xfrm>
            <a:off x="457200" y="3813048"/>
            <a:ext cx="8229600" cy="548640"/>
          </a:xfrm>
          <a:prstGeom prst="roundRect">
            <a:avLst>
              <a:gd name="adj" fmla="val 13333"/>
            </a:avLst>
          </a:prstGeom>
          <a:solidFill>
            <a:srgbClr val="F3F4F6"/>
          </a:solidFill>
          <a:ln w="12700">
            <a:solidFill>
              <a:srgbClr val="F3F4F6"/>
            </a:solidFill>
            <a:prstDash val="solid"/>
          </a:ln>
        </p:spPr>
      </p:sp>
      <p:sp>
        <p:nvSpPr>
          <p:cNvPr id="19" name="Text 17"/>
          <p:cNvSpPr txBox="1"/>
          <p:nvPr/>
        </p:nvSpPr>
        <p:spPr>
          <a:xfrm>
            <a:off x="594360" y="3813048"/>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--compare-previous</a:t>
            </a:r>
            <a:endParaRPr lang="en-US" sz="800" dirty="0"/>
          </a:p>
        </p:txBody>
      </p:sp>
      <p:sp>
        <p:nvSpPr>
          <p:cNvPr id="20" name="Text 18"/>
          <p:cNvSpPr txBox="1"/>
          <p:nvPr/>
        </p:nvSpPr>
        <p:spPr>
          <a:xfrm>
            <a:off x="4114800" y="3813048"/>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 flag on your script: show the same figure for the window before, so you can see movement.</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C: THE COMMANDS,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Reading it back from Prometheus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5</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38</a:t>
            </a:r>
            <a:endParaRPr lang="en-US" sz="900" dirty="0"/>
          </a:p>
        </p:txBody>
      </p:sp>
      <p:sp>
        <p:nvSpPr>
          <p:cNvPr id="6" name="Shape 4"/>
          <p:cNvSpPr/>
          <p:nvPr/>
        </p:nvSpPr>
        <p:spPr>
          <a:xfrm>
            <a:off x="457200" y="1325880"/>
            <a:ext cx="8229600" cy="548640"/>
          </a:xfrm>
          <a:prstGeom prst="roundRect">
            <a:avLst>
              <a:gd name="adj" fmla="val 13333"/>
            </a:avLst>
          </a:prstGeom>
          <a:solidFill>
            <a:srgbClr val="F3F4F6"/>
          </a:solidFill>
          <a:ln w="12700">
            <a:solidFill>
              <a:srgbClr val="F3F4F6"/>
            </a:solidFill>
            <a:prstDash val="solid"/>
          </a:ln>
        </p:spPr>
      </p:sp>
      <p:sp>
        <p:nvSpPr>
          <p:cNvPr id="7" name="Text 5"/>
          <p:cNvSpPr txBox="1"/>
          <p:nvPr/>
        </p:nvSpPr>
        <p:spPr>
          <a:xfrm>
            <a:off x="594360" y="1325880"/>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localhost:9090</a:t>
            </a:r>
            <a:endParaRPr lang="en-US" sz="800" dirty="0"/>
          </a:p>
        </p:txBody>
      </p:sp>
      <p:sp>
        <p:nvSpPr>
          <p:cNvPr id="8" name="Text 6"/>
          <p:cNvSpPr txBox="1"/>
          <p:nvPr/>
        </p:nvSpPr>
        <p:spPr>
          <a:xfrm>
            <a:off x="4114800" y="1325880"/>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Where Prometheus answers queries; 8000 is your own program's metrics page.</a:t>
            </a:r>
            <a:endParaRPr lang="en-US" sz="1050" dirty="0"/>
          </a:p>
        </p:txBody>
      </p:sp>
      <p:sp>
        <p:nvSpPr>
          <p:cNvPr id="9" name="Shape 7"/>
          <p:cNvSpPr/>
          <p:nvPr/>
        </p:nvSpPr>
        <p:spPr>
          <a:xfrm>
            <a:off x="457200" y="1947672"/>
            <a:ext cx="8229600" cy="548640"/>
          </a:xfrm>
          <a:prstGeom prst="roundRect">
            <a:avLst>
              <a:gd name="adj" fmla="val 13333"/>
            </a:avLst>
          </a:prstGeom>
          <a:solidFill>
            <a:srgbClr val="FFFFFF"/>
          </a:solidFill>
          <a:ln w="12700">
            <a:solidFill>
              <a:srgbClr val="FFFFFF"/>
            </a:solidFill>
            <a:prstDash val="solid"/>
          </a:ln>
        </p:spPr>
      </p:sp>
      <p:sp>
        <p:nvSpPr>
          <p:cNvPr id="10" name="Text 8"/>
          <p:cNvSpPr txBox="1"/>
          <p:nvPr/>
        </p:nvSpPr>
        <p:spPr>
          <a:xfrm>
            <a:off x="594360" y="1947672"/>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/api/v1/query?query=…</a:t>
            </a:r>
            <a:endParaRPr lang="en-US" sz="800" dirty="0"/>
          </a:p>
        </p:txBody>
      </p:sp>
      <p:sp>
        <p:nvSpPr>
          <p:cNvPr id="11" name="Text 9"/>
          <p:cNvSpPr txBox="1"/>
          <p:nvPr/>
        </p:nvSpPr>
        <p:spPr>
          <a:xfrm>
            <a:off x="4114800" y="1947672"/>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Ask Prometheus a question over HTTP and get the answer as JSON.</a:t>
            </a:r>
            <a:endParaRPr lang="en-US" sz="1050" dirty="0"/>
          </a:p>
        </p:txBody>
      </p:sp>
      <p:sp>
        <p:nvSpPr>
          <p:cNvPr id="12" name="Shape 10"/>
          <p:cNvSpPr/>
          <p:nvPr/>
        </p:nvSpPr>
        <p:spPr>
          <a:xfrm>
            <a:off x="457200" y="2569464"/>
            <a:ext cx="8229600" cy="548640"/>
          </a:xfrm>
          <a:prstGeom prst="roundRect">
            <a:avLst>
              <a:gd name="adj" fmla="val 13333"/>
            </a:avLst>
          </a:prstGeom>
          <a:solidFill>
            <a:srgbClr val="F3F4F6"/>
          </a:solidFill>
          <a:ln w="12700">
            <a:solidFill>
              <a:srgbClr val="F3F4F6"/>
            </a:solidFill>
            <a:prstDash val="solid"/>
          </a:ln>
        </p:spPr>
      </p:sp>
      <p:sp>
        <p:nvSpPr>
          <p:cNvPr id="13" name="Text 11"/>
          <p:cNvSpPr txBox="1"/>
          <p:nvPr/>
        </p:nvSpPr>
        <p:spPr>
          <a:xfrm>
            <a:off x="594360" y="2569464"/>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sum(increase(agent_cost_usd_total[7d]))</a:t>
            </a:r>
            <a:endParaRPr lang="en-US" sz="800" dirty="0"/>
          </a:p>
        </p:txBody>
      </p:sp>
      <p:sp>
        <p:nvSpPr>
          <p:cNvPr id="14" name="Text 12"/>
          <p:cNvSpPr txBox="1"/>
          <p:nvPr/>
        </p:nvSpPr>
        <p:spPr>
          <a:xfrm>
            <a:off x="4114800" y="2569464"/>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How much that counter grew over seven days, added up across all labels.</a:t>
            </a:r>
            <a:endParaRPr lang="en-US" sz="1050" dirty="0"/>
          </a:p>
        </p:txBody>
      </p:sp>
      <p:sp>
        <p:nvSpPr>
          <p:cNvPr id="15" name="Shape 13"/>
          <p:cNvSpPr/>
          <p:nvPr/>
        </p:nvSpPr>
        <p:spPr>
          <a:xfrm>
            <a:off x="457200" y="3191256"/>
            <a:ext cx="8229600" cy="548640"/>
          </a:xfrm>
          <a:prstGeom prst="roundRect">
            <a:avLst>
              <a:gd name="adj" fmla="val 13333"/>
            </a:avLst>
          </a:prstGeom>
          <a:solidFill>
            <a:srgbClr val="FFFFFF"/>
          </a:solidFill>
          <a:ln w="12700">
            <a:solidFill>
              <a:srgbClr val="FFFFFF"/>
            </a:solidFill>
            <a:prstDash val="solid"/>
          </a:ln>
        </p:spPr>
      </p:sp>
      <p:sp>
        <p:nvSpPr>
          <p:cNvPr id="16" name="Text 14"/>
          <p:cNvSpPr txBox="1"/>
          <p:nvPr/>
        </p:nvSpPr>
        <p:spPr>
          <a:xfrm>
            <a:off x="594360" y="3191256"/>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agent_runs_total{result="success"}</a:t>
            </a:r>
            <a:endParaRPr lang="en-US" sz="800" dirty="0"/>
          </a:p>
        </p:txBody>
      </p:sp>
      <p:sp>
        <p:nvSpPr>
          <p:cNvPr id="17" name="Text 15"/>
          <p:cNvSpPr txBox="1"/>
          <p:nvPr/>
        </p:nvSpPr>
        <p:spPr>
          <a:xfrm>
            <a:off x="4114800" y="3191256"/>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Only the runs whose result label says success; this is the denominator.</a:t>
            </a:r>
            <a:endParaRPr lang="en-US" sz="1050" dirty="0"/>
          </a:p>
        </p:txBody>
      </p:sp>
      <p:sp>
        <p:nvSpPr>
          <p:cNvPr id="18" name="Shape 16"/>
          <p:cNvSpPr/>
          <p:nvPr/>
        </p:nvSpPr>
        <p:spPr>
          <a:xfrm>
            <a:off x="457200" y="3813048"/>
            <a:ext cx="8229600" cy="548640"/>
          </a:xfrm>
          <a:prstGeom prst="roundRect">
            <a:avLst>
              <a:gd name="adj" fmla="val 13333"/>
            </a:avLst>
          </a:prstGeom>
          <a:solidFill>
            <a:srgbClr val="F3F4F6"/>
          </a:solidFill>
          <a:ln w="12700">
            <a:solidFill>
              <a:srgbClr val="F3F4F6"/>
            </a:solidFill>
            <a:prstDash val="solid"/>
          </a:ln>
        </p:spPr>
      </p:sp>
      <p:sp>
        <p:nvSpPr>
          <p:cNvPr id="19" name="Text 17"/>
          <p:cNvSpPr txBox="1"/>
          <p:nvPr/>
        </p:nvSpPr>
        <p:spPr>
          <a:xfrm>
            <a:off x="594360" y="3813048"/>
            <a:ext cx="3383280" cy="548640"/>
          </a:xfrm>
          <a:prstGeom prst="rect">
            <a:avLst/>
          </a:prstGeom>
          <a:noFill/>
          <a:ln/>
        </p:spPr>
        <p:txBody>
          <a:bodyPr wrap="square" lIns="0" tIns="0" rIns="0" bIns="0" rtlCol="0" anchor="ctr"/>
          <a:lstStyle/>
          <a:p>
            <a:pPr indent="0" marL="0">
              <a:buNone/>
            </a:pPr>
            <a:r>
              <a:rPr lang="en-US" sz="800" b="1" dirty="0">
                <a:solidFill>
                  <a:srgbClr val="6D28D9"/>
                </a:solidFill>
                <a:latin typeface="Courier New" pitchFamily="34" charset="0"/>
                <a:ea typeface="Courier New" pitchFamily="34" charset="-122"/>
                <a:cs typeface="Courier New" pitchFamily="34" charset="-120"/>
              </a:rPr>
              <a:t>Recording rule</a:t>
            </a:r>
            <a:endParaRPr lang="en-US" sz="800" dirty="0"/>
          </a:p>
        </p:txBody>
      </p:sp>
      <p:sp>
        <p:nvSpPr>
          <p:cNvPr id="20" name="Text 18"/>
          <p:cNvSpPr txBox="1"/>
          <p:nvPr/>
        </p:nvSpPr>
        <p:spPr>
          <a:xfrm>
            <a:off x="4114800" y="3813048"/>
            <a:ext cx="4480560" cy="54864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Not a command: a query Prometheus computes on a schedule, so dashboards load quickly.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5: Cost Per Successful Task</dc:title>
  <dc:subject>PptxGenJS Presentation</dc:subject>
  <dc:creator>Emmanuel Naweji</dc:creator>
  <cp:lastModifiedBy>Emmanuel Naweji</cp:lastModifiedBy>
  <cp:revision>1</cp:revision>
  <dcterms:created xsi:type="dcterms:W3CDTF">2026-09-23T19:11:08Z</dcterms:created>
  <dcterms:modified xsi:type="dcterms:W3CDTF">2026-09-23T19:11:08Z</dcterms:modified>
</cp:coreProperties>
</file>