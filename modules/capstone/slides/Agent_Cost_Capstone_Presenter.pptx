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8ec7c4-55ea-86eb-e7ef-6c9f855c1529}">
          <p14:sldIdLst>
            <p14:sldId id="256"/>
            <p14:sldId id="257"/>
            <p14:sldId id="258"/>
          </p14:sldIdLst>
        </p14:section>
        <p14:section name="Setup" id="{47e86260-683c-59ce-998b-64dfb148f647}">
          <p14:sldIdLst>
            <p14:sldId id="259"/>
            <p14:sldId id="260"/>
          </p14:sldIdLst>
        </p14:section>
        <p14:section name="01 · Script" id="{df79c91d-0ee1-66f6-c607-adfd13bcba2f}">
          <p14:sldIdLst>
            <p14:sldId id="261"/>
            <p14:sldId id="262"/>
            <p14:sldId id="263"/>
          </p14:sldIdLst>
        </p14:section>
        <p14:section name="01 · iPad" id="{c0cd1cf5-1911-30eb-5365-5c05aca32cfc}">
          <p14:sldIdLst>
            <p14:sldId id="264"/>
          </p14:sldIdLst>
        </p14:section>
        <p14:section name="02 · Script" id="{be15ee84-a8ab-7ebf-c36c-9c1cf7d180b6}">
          <p14:sldIdLst>
            <p14:sldId id="265"/>
            <p14:sldId id="266"/>
            <p14:sldId id="267"/>
          </p14:sldIdLst>
        </p14:section>
        <p14:section name="02 · iPad" id="{b0d506dd-4e9a-6838-b00b-830cce843e26}">
          <p14:sldIdLst>
            <p14:sldId id="268"/>
          </p14:sldIdLst>
        </p14:section>
        <p14:section name="03 · Script" id="{8362ced4-b582-6658-1340-5b934feac5b8}">
          <p14:sldIdLst>
            <p14:sldId id="269"/>
            <p14:sldId id="270"/>
            <p14:sldId id="271"/>
          </p14:sldIdLst>
        </p14:section>
        <p14:section name="03 · iPad" id="{9c27e254-3e2d-ec74-4719-f8721226703f}">
          <p14:sldIdLst>
            <p14:sldId id="272"/>
          </p14:sldIdLst>
        </p14:section>
        <p14:section name="04 · Script" id="{7228295a-5919-495d-57ba-a98e51df4938}">
          <p14:sldIdLst>
            <p14:sldId id="273"/>
            <p14:sldId id="274"/>
            <p14:sldId id="275"/>
          </p14:sldIdLst>
        </p14:section>
        <p14:section name="04 · iPad" id="{201e998c-ec36-b225-d883-0a2c53c9f3a8}">
          <p14:sldIdLst>
            <p14:sldId id="276"/>
          </p14:sldIdLst>
        </p14:section>
        <p14:section name="05 · Script" id="{12889397-a5ea-2cb8-b63d-b67a4b8203ed}">
          <p14:sldIdLst>
            <p14:sldId id="277"/>
            <p14:sldId id="278"/>
            <p14:sldId id="279"/>
          </p14:sldIdLst>
        </p14:section>
        <p14:section name="05 · iPad" id="{889b6312-06ae-96f8-dcc3-6f3cef245730}">
          <p14:sldIdLst>
            <p14:sldId id="280"/>
          </p14:sldIdLst>
        </p14:section>
        <p14:section name="06 · Terminal" id="{a4b1af22-bb49-cbf8-7010-db9591bbf58c}">
          <p14:sldIdLst>
            <p14:sldId id="281"/>
            <p14:sldId id="282"/>
            <p14:sldId id="283"/>
            <p14:sldId id="284"/>
            <p14:sldId id="285"/>
            <p14:sldId id="286"/>
            <p14:sldId id="287"/>
            <p14:sldId id="288"/>
            <p14:sldId id="289"/>
          </p14:sldIdLst>
        </p14:section>
        <p14:section name="Wrap-up · Script" id="{fec47a65-a982-56f1-0b33-a6482edb5945}">
          <p14:sldIdLst>
            <p14:sldId id="290"/>
            <p14:sldId id="291"/>
            <p14:sldId id="292"/>
          </p14:sldIdLst>
        </p14:section>
        <p14:section name="Appendix" id="{db36f4e5-785e-e4da-b039-d3f6da279046}">
          <p14:sldIdLst>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capstone.
Everything in the six modules was a piece. This is the assembly. We take the agent you met in module one; the one with no instrumentation and no ceiling; we give it the input that makes it loop, and we make it safe to leave running overnight.
Six steps. And here is the part that matters: at the end, every one of them is proven by running it with the mechanism turned off and then turned on. Not asserted in a comment.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walk out with is not six ideas; it is one agent that stops.
A repo you can run today. It is offline, free and deterministic, because nobody should have to spend money to learn cost control. A check that proves it, called verify.py. And two numbers you can show anybody who asks what this work was for.
One line to hold on to all session: every proof in here works by turning the mechanism off first. Run it with the cap disabled, watch what happens, turn it back on. That is not just how the tests work; it is how you get budget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We start by watching the problem again for twenty seconds, because it is worth remembering what it feels like. Then the six steps and what each one actually buys you. Then the order they fire in, which is load-bearing and which almost everybody gets wrong. Then the proofs. Then the two numbers. Then you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Docker Desktop matters for this session because the last section brings up Prometheus and Grafana. Everything else runs with plain Python.
Then clone the course repo and change into the capstone folder. Everything from here happens in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The videos are the same two from every module. Nothing new.
Three commands and you are running. One dependency, prometheus_client, and that is only so the metrics look exactly like they would in production. The model itself is simulated, so nothing in this session costs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with the problem, so the fix means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Actually run it, for twenty seconds, before you fix anything.
What you see is steps scrolling past. What you do not see is a single number telling you what those steps cost. Not one. There is no cost accounting, no cap, no loop detection, no checkpoint, no definition of success, and no alert.
It ends because you killed it. It did not finish. It cannot finish, because the input makes it bounce between parsing and validating forever, and nothing in the program is watching for that.
It runs until somebody notices. On a Tuesday night, that means until the morning, and the person who notices is usually not you.
→ Next: the six things that change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sample inputs, because you need more than one failure shape to test against.
Good JSON converges in five steps. You need a control; without one you cannot tell whether a change made things better.
Malformed bounces. Parse, validate, parse, validate. It is the input from module one and it is the one we use for most of the session.
Drifting never repeats itself and never finishes either. Every single step looks like progress: a new field, a new lookup, something new to explore. That is the one that quietly empties an account, because nothing about it looks wrong until the bill arrives.
→ Next: the six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New iPad page. The naive loop on the left, the safe loop on the right, then the line underneath.
SAY:
Let's draw the before and after, because the whole session fits in one picture.
THEN SAY:
Notice what is not on the right-hand side. There is no clever algorithm. There is no new framework. It is four things you already know how to write, in an order that matters. That is genuinely all this is, and that is why it is worth actually doing rather than putting on a roadmap.
→ Next: the six steps and what each one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each one costs you to build, and what it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and each one buys exactly one thing.
Instrument it, and you can see it. Cap it, and it is bounded. Detect the loop, and it stops in six steps instead of fourteen. Checkpoint it, and stopping becomes cheap. Cost per successful task, and you finally have the true number. Alert on the rate, and you find out while it is happening.
Here is the honest bit. Each one of these on its own is close to useless. Instrumentation with no cap just means you get to watch the money leave in high resolution. A cap with no checkpointing means every stop throws away work. They only work together.
And together they are boring. Nothing dramatic happens. That is the goal: an agent nobody has to watch is the deliverable.
→ Next: what it costs to build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for each step, and none of them are long.
Metrics, about sixty lines. Budget, seventy. Loop detection, sixty. Checkpointing, forty-five. The report, sixty. The alert rules, fifty.
The whole safety layer is under four hundred lines. I want that number on the screen because of what people assume. They assume cost control is a platform problem; that it needs a team and a quarter and a vendor. It needs an afternoon.
It is not hard. It is just never the thing anybody does first, because it is not the demo.
→ Next: the order they fire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New iPad page. Six rungs, each with what it buys on the right.
SAY:
Let's write the ladder, because the right-hand column is the part people skip.
THEN SAY:
If somebody only ever does two of these, make it one and three. Instrumentation and loop detection. Those two together catch most of what actually goes wrong, and they are the cheapest to build. The cap is the seatbelt you hope never to need; loop detection is the thing that stops the crash.
→ Next: the order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one order, and two reasons it cannot be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checks, and the order is load-bearing.
Record the step. Save the checkpoint. Check for a loop. Check the cap. Every time, in that order.
Why record first? Because you want the cost of the step that killed you. If you record after the check, the step that triggered the stop is money you spent and cannot see; and that is precisely the step somebody will ask you about.
Why loop detection before the cap? Because the cap costs you the entire budget to use. It works, but by the time it fires you have spent everything you were willing to spend. Detection costs three or four steps. Fire the cheap stop first, every single time.
If you read one file in this repo, read runner.py, top to bottom. Every mechanism in this course appears exactly once, in the order it has to fire.
→ Next: what the pre-flight check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check, and it is the one people leave out.
Charging after the step is honest, but it is late. You have already spent the money. A cheap estimate before the step lets you decline to start something you cannot afford to finish.
Without it, you cross your cap by whatever the last step happened to cost. On an expensive model with a long context, that overshoot can be a meaningful fraction of the cap itself, which rather defeats the point.
With it, the run stops just under the line, every time, and the reason field says so in words a person can read. In the repo you will see a run stop at four and a half cents against a five cent cap. It did not get lucky. It declined to start a step it could not afford.
→ Next: proving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New iPad page. Four links left to right, then the two reasons underneath.
SAY:
Let's draw the chain, because the order is the part that is easy to get wrong and hard to notice.
THEN SAY:
Here is a test for whether you have this right in your own code. Take the run that stopped. Can you say what the last step cost, and can you say which check stopped it, without reading the source? If either answer is no, something is firing in the wrong order or recording too late.
→ Next: proof by turning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claims, and the only kind of evidence worth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mechanism in this repo can be turned off with a flag, and that is not a convenience feature. It is how each one is proved.
No caps: run the runaway and watch the projected monthly spend climb past the budget. No loop detection: the same input, stopped by the cap instead, at roughly twice the cost. No checkpoint: kill it and measure exactly what you threw away.
And this is also how you get the work approved. I want to be direct about this, because it is the difference between doing this and being allowed to do this. Nobody funds a safety layer on the strength of an argument. They fund it when you show them the same run twice; once with the mechanism off, once with it on, and the difference in dollars on the screen.
→ Next: the six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claims, six proofs. This is verify.py, and it is the capstone check.
Instrumented: run it, assert the counters actually moved, and assert a million input tokens prices out to exactly three dollars.
Capped: turn loop detection off so the cap is the only thing left that can stop it, set a five cent cap, and it stops at four and a half cents.
Loop caught first: the same input twice, detector on and off. Six steps against fourteen.
Checkpointed: kill a good run partway, resume it, and assert the resumed run carries over at least what the killed one spent.
Cost per success: ten runs, six good and four looping, and the per-success number comes out well above per-request.
Alerted: run the runaway with caps off and compute the same projection the Prometheus rule computes.
And it exits non-zero if any of those stops being true. Put it in CI and the safety layer cannot quietly rot.
→ Next: the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New iPad page. Three columns; the right-hand one is the takeaway.
SAY:
Let's write the proof table, and pay attention to the middle column.
THEN SAY:
One practical note. Put verify.py in your CI pipeline. Safety layers rot quietly; somebody refactors the runner, the checkpoint stops being written after every step, and nothing fails until the night it matters. A check that exits non-zero is the only thing that keeps this true six months from now.
→ Next: the bill that never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one subtraction, and the conversation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The first is what that input would have cost in module one, with nothing in the way, extrapolated across one night. The second is what the same input costs now: six steps, seven cents, stopped by loop detection with a reason written down.
And here is the uncomfortable thing about the difference between them. Nobody will ever thank you for it, because it never appears on an invoice. There is no line item called 'the runaway that did not happen'. The work that prevents an incident is invisible in exactly the way that the incident is not.
Which is why you have to show it to them yourself. Run the uncapped version once, deliberately, in a controlled way, record the number, and put it next to the number you have now. That is the only form this argument takes that anybody acts on.
→ Next: saying it in their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work, said three ways, because three different rooms count in three different units.
Your manager wants the incident that will not recur. Show the run with the protection off and the run with it on; that is a before and after they can repeat to their own manager.
Finance wants a unit they already understand. Not tokens, not runs; cents per resolved ticket, and the share of spend going to work that fails.
And the engineer who inherits this wants to know it will not become their problem. Four hundred lines, a check that fails in CI, and a flag on every mechanism so they can measure what each one buys rather than taking your word for it.
Same number. Three units. Say it in the one the room already uses.
→ Last section: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New iPad page. Two boxes, a minus sign between them, then let it sit.
SAY:
Let's draw the two numbers, and then leave them on the screen for a second.
THEN SAY:
Do not rush off this slide. Let it sit. This is the one people photograph, and it is the one they repeat in a meeting you are not in.
→ Next: build it, for real this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commands, in the order the steps were built. Then the capstone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commands, in the order the steps were built, and then the check.
Watch it fail. Watch it stop. Prove the cap by turning detection off. Prove the checkpoint by killing it and resuming. Read the true number. Prove the alert by running the runaway with caps off, and then turn them straight back on.
Then verify.py, and six PASS lines.
Do the sixth one carefully. Turning caps off on purpose is the only genuinely dangerous thing in this entire course, and it is dangerous on exactly one input. Do it with the step ceiling set, do it once, and turn them back on before you walk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one. Run the naive agent against the looping input, with a timeout so it ends.
Let it run the full twenty seconds on screen. People need to watch it not stop. Point at the output and say: there is no number here.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two. Same input, same model, everything switched on.
Six steps. Seven cents. And look at the 'why' line: bouncing, validate to parse, for three cycles. That is a reason a person can read, attached to a number a person can act on. The naive version gave you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three. Turn loop detection off, so the cap is the only thing left that can stop it, and set the cap low so you do not wait.
Fourteen steps and fourteen cents, against six steps and seven cents with the detector on. Both stopped. One cost twice as much to stop.
That is the argument for loop detection in one command, and it is the argument you use when somebody says the cap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four. Kill a good run partway with a low step ceiling, then resume it.
The resumed run prints a line that says 'not re-paid', and a number. That is the work the checkpoint kept.
This is the step people skip, and skipping it quietly undermines everything else. If stopping is expensive, you will set your caps too loose, because every stop hurts. Make stopping cheap and you can afford to be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five. Run a batch with good and bad inputs mixed, then ask for the arithmetic.
Successes on the bottom. Failures still counted on the top. And the failed-run tax as a share of spend, which in this deliberately ugly sample is ninety percent.
Notice the report prints the definition of success every single time, right above the number. A number without its definition is not a measurement; it is a rumour.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Step six. Bring the stack up; Prometheus on 9090, Grafana on 3000, and a pushgateway, because a run that lasts four seconds is never scraped.
Then run the runaway deliberately with caps and detection off, and push the metrics. Watch the fast rule cross its threshold.
And I want to be blunt about this one. This is the only genuinely dangerous command in the entire course. Keep the step ceiling on. Run it once. Turn the caps back on before you walk away from the machine. An alert you have never seen fire is not an alert; but an alert you prove by accident at three in the morning is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And then the check. Six PASS lines.
One last practical thing, and it matters more than it sounds. Put verify.py in your CI pipeline. Safety layers rot quietly. Somebody refactors the runner, the checkpoint stops being written after every step, and nothing fails; not until the night it matters.
A check that exits non-zero is the only thing that keeps this true six months from now, when you have moved on to something else and somebody new owns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sessions. One agent.
We started with something that could spend four figures overnight while every dashboard stayed green, and one number, and a shrug.
We end with an agent that stops itself in six steps, at a cost you chose, with a reason written down, and a check that proves it still does that tomorrow.
Under four hundred lines. An afternoon. Not a platform, not a quarter, not a vendor; and I keep saying that because the assumption that this is big is the single most common reason it never gets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worth keeping, and it is not technical.
Every one of these six is a decision moved earlier. A cap is deciding what a task is worth before it runs instead of after. A step limit is deciding how long is too long while you are calm rather than during an incident. A definition of success is deciding what you mean before you report a number rather than being asked in a meeting. A checkpoint is deciding that stopping should be cheap, before the night you need to stop.
None of those are hard in advance. All of them are hard at three in the morning, which is exactly when you will otherwise be making them.
That is what cost control actually is. Not cleverness. Deciding early, writing it down, and letting a machine enforce it while you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course.
Go and run verify.py against your own agent; not this one, yours. Then show somebody the two numbers.
Thank you for building this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exercises. Two and three are the ones that teach the most, because they both work by breaking something on purpose and watching what you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terms from this session, in plain English. Three and five are the two that bite people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from this session in one place, in plain English, so nobody has to scrub back through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THE CAPSTONE</a:t>
            </a:r>
            <a:endParaRPr lang="en-US" sz="1100" dirty="0"/>
          </a:p>
        </p:txBody>
      </p:sp>
      <p:sp>
        <p:nvSpPr>
          <p:cNvPr id="3" name="Text 1"/>
          <p:cNvSpPr txBox="1"/>
          <p:nvPr/>
        </p:nvSpPr>
        <p:spPr>
          <a:xfrm>
            <a:off x="457200" y="1143000"/>
            <a:ext cx="822960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Safe to Leave</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Running Overnight</a:t>
            </a:r>
            <a:endParaRPr lang="en-US" sz="4600" dirty="0"/>
          </a:p>
        </p:txBody>
      </p:sp>
      <p:sp>
        <p:nvSpPr>
          <p:cNvPr id="4" name="Text 2"/>
          <p:cNvSpPr txBox="1"/>
          <p:nvPr/>
        </p:nvSpPr>
        <p:spPr>
          <a:xfrm>
            <a:off x="457200" y="2834640"/>
            <a:ext cx="7863840" cy="54864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One uninstrumented agent. One looping input. Six steps, and </a:t>
            </a:r>
            <a:pPr indent="0" marL="0">
              <a:buNone/>
            </a:pPr>
            <a:r>
              <a:rPr lang="en-US" sz="1500" b="1" dirty="0">
                <a:solidFill>
                  <a:srgbClr val="FFFFFF"/>
                </a:solidFill>
                <a:latin typeface="Calibri" pitchFamily="34" charset="0"/>
                <a:ea typeface="Calibri" pitchFamily="34" charset="-122"/>
                <a:cs typeface="Calibri" pitchFamily="34" charset="-120"/>
              </a:rPr>
              <a:t>every one of them proven by running it.</a:t>
            </a:r>
            <a:endParaRPr lang="en-US" sz="1500" dirty="0"/>
          </a:p>
        </p:txBody>
      </p:sp>
      <p:sp>
        <p:nvSpPr>
          <p:cNvPr id="5" name="Text 3"/>
          <p:cNvSpPr txBox="1"/>
          <p:nvPr/>
        </p:nvSpPr>
        <p:spPr>
          <a:xfrm>
            <a:off x="457200" y="3794760"/>
            <a:ext cx="2560320" cy="22860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457200" y="4069080"/>
            <a:ext cx="2560320" cy="320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Emmanuel Naweji</a:t>
            </a:r>
            <a:endParaRPr lang="en-US" sz="1250" dirty="0"/>
          </a:p>
        </p:txBody>
      </p:sp>
      <p:sp>
        <p:nvSpPr>
          <p:cNvPr id="7" name="Text 5"/>
          <p:cNvSpPr txBox="1"/>
          <p:nvPr/>
        </p:nvSpPr>
        <p:spPr>
          <a:xfrm>
            <a:off x="3200400" y="3794760"/>
            <a:ext cx="2560320" cy="22860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3200400" y="4069080"/>
            <a:ext cx="2560320" cy="320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~45 min · 6 sections</a:t>
            </a:r>
            <a:endParaRPr lang="en-US" sz="1250" dirty="0"/>
          </a:p>
        </p:txBody>
      </p:sp>
      <p:sp>
        <p:nvSpPr>
          <p:cNvPr id="9" name="Text 7"/>
          <p:cNvSpPr txBox="1"/>
          <p:nvPr/>
        </p:nvSpPr>
        <p:spPr>
          <a:xfrm>
            <a:off x="5943600" y="3794760"/>
            <a:ext cx="2560320" cy="228600"/>
          </a:xfrm>
          <a:prstGeom prst="rect">
            <a:avLst/>
          </a:prstGeom>
          <a:noFill/>
          <a:ln/>
        </p:spPr>
        <p:txBody>
          <a:bodyPr wrap="square" lIns="0" tIns="0" rIns="0" bIns="0" rtlCol="0" anchor="t"/>
          <a:lstStyle/>
          <a:p>
            <a:pPr indent="0" marL="0">
              <a:buNone/>
            </a:pPr>
            <a:r>
              <a:rPr lang="en-US" sz="900" b="1" spc="200" kern="0" dirty="0">
                <a:solidFill>
                  <a:srgbClr val="F59E0B"/>
                </a:solidFill>
                <a:latin typeface="Calibri" pitchFamily="34" charset="0"/>
                <a:ea typeface="Calibri" pitchFamily="34" charset="-122"/>
                <a:cs typeface="Calibri" pitchFamily="34" charset="-120"/>
              </a:rPr>
              <a:t>THE CODE</a:t>
            </a:r>
            <a:endParaRPr lang="en-US" sz="900" dirty="0"/>
          </a:p>
        </p:txBody>
      </p:sp>
      <p:sp>
        <p:nvSpPr>
          <p:cNvPr id="10" name="Text 8"/>
          <p:cNvSpPr txBox="1"/>
          <p:nvPr/>
        </p:nvSpPr>
        <p:spPr>
          <a:xfrm>
            <a:off x="5943600" y="4069080"/>
            <a:ext cx="2560320" cy="320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capstone/ in the course repo</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SESSION GIVES YOU</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Not six ideas. One agent that stops.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457200" y="1417320"/>
            <a:ext cx="2606040" cy="1737360"/>
          </a:xfrm>
          <a:prstGeom prst="roundRect">
            <a:avLst>
              <a:gd name="adj" fmla="val 4211"/>
            </a:avLst>
          </a:prstGeom>
          <a:solidFill>
            <a:srgbClr val="F3F4F6"/>
          </a:solidFill>
          <a:ln w="12700">
            <a:solidFill>
              <a:srgbClr val="F3F4F6"/>
            </a:solidFill>
            <a:prstDash val="solid"/>
          </a:ln>
        </p:spPr>
      </p:sp>
      <p:sp>
        <p:nvSpPr>
          <p:cNvPr id="7" name="Shape 5"/>
          <p:cNvSpPr/>
          <p:nvPr/>
        </p:nvSpPr>
        <p:spPr>
          <a:xfrm>
            <a:off x="658368" y="1600200"/>
            <a:ext cx="384048" cy="384048"/>
          </a:xfrm>
          <a:prstGeom prst="ellipse">
            <a:avLst/>
          </a:prstGeom>
          <a:solidFill>
            <a:srgbClr val="1D4ED8"/>
          </a:solidFill>
          <a:ln w="12700">
            <a:solidFill>
              <a:srgbClr val="1D4ED8"/>
            </a:solidFill>
            <a:prstDash val="solid"/>
          </a:ln>
        </p:spPr>
      </p:sp>
      <p:pic>
        <p:nvPicPr>
          <p:cNvPr id="8" name="Image 0" descr="preencoded.png">    </p:cNvPr>
          <p:cNvPicPr>
            <a:picLocks noChangeAspect="1"/>
          </p:cNvPicPr>
          <p:nvPr/>
        </p:nvPicPr>
        <p:blipFill>
          <a:blip r:embed="rId1"/>
          <a:stretch>
            <a:fillRect/>
          </a:stretch>
        </p:blipFill>
        <p:spPr>
          <a:xfrm>
            <a:off x="742859" y="1684691"/>
            <a:ext cx="215067" cy="215067"/>
          </a:xfrm>
          <a:prstGeom prst="rect">
            <a:avLst/>
          </a:prstGeom>
        </p:spPr>
      </p:pic>
      <p:sp>
        <p:nvSpPr>
          <p:cNvPr id="9" name="Text 6"/>
          <p:cNvSpPr txBox="1"/>
          <p:nvPr/>
        </p:nvSpPr>
        <p:spPr>
          <a:xfrm>
            <a:off x="658368" y="2121408"/>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A repo you can run</a:t>
            </a:r>
            <a:endParaRPr lang="en-US" sz="1450" dirty="0"/>
          </a:p>
        </p:txBody>
      </p:sp>
      <p:sp>
        <p:nvSpPr>
          <p:cNvPr id="10" name="Text 7"/>
          <p:cNvSpPr txBox="1"/>
          <p:nvPr/>
        </p:nvSpPr>
        <p:spPr>
          <a:xfrm>
            <a:off x="658368" y="245059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Offline, free, deterministic; the model is simulated so nothing costs money.</a:t>
            </a:r>
            <a:endParaRPr lang="en-US" sz="1150" dirty="0"/>
          </a:p>
        </p:txBody>
      </p:sp>
      <p:sp>
        <p:nvSpPr>
          <p:cNvPr id="11" name="Shape 8"/>
          <p:cNvSpPr/>
          <p:nvPr/>
        </p:nvSpPr>
        <p:spPr>
          <a:xfrm>
            <a:off x="3246120" y="1417320"/>
            <a:ext cx="2606040" cy="1737360"/>
          </a:xfrm>
          <a:prstGeom prst="roundRect">
            <a:avLst>
              <a:gd name="adj" fmla="val 4211"/>
            </a:avLst>
          </a:prstGeom>
          <a:solidFill>
            <a:srgbClr val="F3F4F6"/>
          </a:solidFill>
          <a:ln w="12700">
            <a:solidFill>
              <a:srgbClr val="F3F4F6"/>
            </a:solidFill>
            <a:prstDash val="solid"/>
          </a:ln>
        </p:spPr>
      </p:sp>
      <p:sp>
        <p:nvSpPr>
          <p:cNvPr id="12" name="Shape 9"/>
          <p:cNvSpPr/>
          <p:nvPr/>
        </p:nvSpPr>
        <p:spPr>
          <a:xfrm>
            <a:off x="3447288" y="1600200"/>
            <a:ext cx="384048" cy="384048"/>
          </a:xfrm>
          <a:prstGeom prst="ellipse">
            <a:avLst/>
          </a:prstGeom>
          <a:solidFill>
            <a:srgbClr val="047857"/>
          </a:solidFill>
          <a:ln w="12700">
            <a:solidFill>
              <a:srgbClr val="047857"/>
            </a:solidFill>
            <a:prstDash val="solid"/>
          </a:ln>
        </p:spPr>
      </p:sp>
      <p:pic>
        <p:nvPicPr>
          <p:cNvPr id="13" name="Image 1" descr="preencoded.png">    </p:cNvPr>
          <p:cNvPicPr>
            <a:picLocks noChangeAspect="1"/>
          </p:cNvPicPr>
          <p:nvPr/>
        </p:nvPicPr>
        <p:blipFill>
          <a:blip r:embed="rId2"/>
          <a:stretch>
            <a:fillRect/>
          </a:stretch>
        </p:blipFill>
        <p:spPr>
          <a:xfrm>
            <a:off x="3531779" y="1684691"/>
            <a:ext cx="215067" cy="215067"/>
          </a:xfrm>
          <a:prstGeom prst="rect">
            <a:avLst/>
          </a:prstGeom>
        </p:spPr>
      </p:pic>
      <p:sp>
        <p:nvSpPr>
          <p:cNvPr id="14" name="Text 10"/>
          <p:cNvSpPr txBox="1"/>
          <p:nvPr/>
        </p:nvSpPr>
        <p:spPr>
          <a:xfrm>
            <a:off x="3447288" y="2121408"/>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A check that proves it</a:t>
            </a:r>
            <a:endParaRPr lang="en-US" sz="1450" dirty="0"/>
          </a:p>
        </p:txBody>
      </p:sp>
      <p:sp>
        <p:nvSpPr>
          <p:cNvPr id="15" name="Text 11"/>
          <p:cNvSpPr txBox="1"/>
          <p:nvPr/>
        </p:nvSpPr>
        <p:spPr>
          <a:xfrm>
            <a:off x="3447288" y="245059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verify.py: six steps, six proofs, each one turning a mechanism off.</a:t>
            </a:r>
            <a:endParaRPr lang="en-US" sz="1150" dirty="0"/>
          </a:p>
        </p:txBody>
      </p:sp>
      <p:sp>
        <p:nvSpPr>
          <p:cNvPr id="16" name="Shape 12"/>
          <p:cNvSpPr/>
          <p:nvPr/>
        </p:nvSpPr>
        <p:spPr>
          <a:xfrm>
            <a:off x="6035040" y="1417320"/>
            <a:ext cx="2606040" cy="1737360"/>
          </a:xfrm>
          <a:prstGeom prst="roundRect">
            <a:avLst>
              <a:gd name="adj" fmla="val 4211"/>
            </a:avLst>
          </a:prstGeom>
          <a:solidFill>
            <a:srgbClr val="F3F4F6"/>
          </a:solidFill>
          <a:ln w="12700">
            <a:solidFill>
              <a:srgbClr val="F3F4F6"/>
            </a:solidFill>
            <a:prstDash val="solid"/>
          </a:ln>
        </p:spPr>
      </p:sp>
      <p:sp>
        <p:nvSpPr>
          <p:cNvPr id="17" name="Shape 13"/>
          <p:cNvSpPr/>
          <p:nvPr/>
        </p:nvSpPr>
        <p:spPr>
          <a:xfrm>
            <a:off x="6236208" y="1600200"/>
            <a:ext cx="384048" cy="384048"/>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6320699" y="1684691"/>
            <a:ext cx="215067" cy="215067"/>
          </a:xfrm>
          <a:prstGeom prst="rect">
            <a:avLst/>
          </a:prstGeom>
        </p:spPr>
      </p:pic>
      <p:sp>
        <p:nvSpPr>
          <p:cNvPr id="19" name="Text 14"/>
          <p:cNvSpPr txBox="1"/>
          <p:nvPr/>
        </p:nvSpPr>
        <p:spPr>
          <a:xfrm>
            <a:off x="6236208" y="2121408"/>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Two numbers to show</a:t>
            </a:r>
            <a:endParaRPr lang="en-US" sz="1450" dirty="0"/>
          </a:p>
        </p:txBody>
      </p:sp>
      <p:sp>
        <p:nvSpPr>
          <p:cNvPr id="20" name="Text 15"/>
          <p:cNvSpPr txBox="1"/>
          <p:nvPr/>
        </p:nvSpPr>
        <p:spPr>
          <a:xfrm>
            <a:off x="6236208" y="2450592"/>
            <a:ext cx="224028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What the runaway would have cost; what it costs now.</a:t>
            </a:r>
            <a:endParaRPr lang="en-US" sz="1150" dirty="0"/>
          </a:p>
        </p:txBody>
      </p:sp>
      <p:sp>
        <p:nvSpPr>
          <p:cNvPr id="21" name="Shape 16"/>
          <p:cNvSpPr/>
          <p:nvPr/>
        </p:nvSpPr>
        <p:spPr>
          <a:xfrm>
            <a:off x="457200" y="3429000"/>
            <a:ext cx="8229600" cy="731520"/>
          </a:xfrm>
          <a:prstGeom prst="roundRect">
            <a:avLst>
              <a:gd name="adj" fmla="val 10000"/>
            </a:avLst>
          </a:prstGeom>
          <a:solidFill>
            <a:srgbClr val="111827"/>
          </a:solidFill>
          <a:ln w="12700">
            <a:solidFill>
              <a:srgbClr val="111827"/>
            </a:solidFill>
            <a:prstDash val="solid"/>
          </a:ln>
        </p:spPr>
      </p:sp>
      <p:sp>
        <p:nvSpPr>
          <p:cNvPr id="22" name="Text 17"/>
          <p:cNvSpPr txBox="1"/>
          <p:nvPr/>
        </p:nvSpPr>
        <p:spPr>
          <a:xfrm>
            <a:off x="731520" y="3429000"/>
            <a:ext cx="7680960" cy="7315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Every proof works by turning the mechanism off first. That is also how you argue for this work to whoever approves it.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agent at the end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371600"/>
            <a:ext cx="2606040" cy="1234440"/>
          </a:xfrm>
          <a:prstGeom prst="roundRect">
            <a:avLst>
              <a:gd name="adj" fmla="val 5926"/>
            </a:avLst>
          </a:prstGeom>
          <a:solidFill>
            <a:srgbClr val="F3F4F6"/>
          </a:solidFill>
          <a:ln w="12700">
            <a:solidFill>
              <a:srgbClr val="F3F4F6"/>
            </a:solidFill>
            <a:prstDash val="solid"/>
          </a:ln>
        </p:spPr>
      </p:sp>
      <p:sp>
        <p:nvSpPr>
          <p:cNvPr id="7" name="Text 5"/>
          <p:cNvSpPr txBox="1"/>
          <p:nvPr/>
        </p:nvSpPr>
        <p:spPr>
          <a:xfrm>
            <a:off x="658368" y="1499616"/>
            <a:ext cx="914400" cy="45720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01</a:t>
            </a:r>
            <a:endParaRPr lang="en-US" sz="2400" dirty="0"/>
          </a:p>
        </p:txBody>
      </p:sp>
      <p:sp>
        <p:nvSpPr>
          <p:cNvPr id="8" name="Text 6"/>
          <p:cNvSpPr txBox="1"/>
          <p:nvPr/>
        </p:nvSpPr>
        <p:spPr>
          <a:xfrm>
            <a:off x="1828800" y="1554480"/>
            <a:ext cx="105156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~6 min</a:t>
            </a:r>
            <a:endParaRPr lang="en-US" sz="1000" dirty="0"/>
          </a:p>
        </p:txBody>
      </p:sp>
      <p:sp>
        <p:nvSpPr>
          <p:cNvPr id="9" name="Text 7"/>
          <p:cNvSpPr txBox="1"/>
          <p:nvPr/>
        </p:nvSpPr>
        <p:spPr>
          <a:xfrm>
            <a:off x="658368" y="2057400"/>
            <a:ext cx="2286000" cy="36576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The Before Picture</a:t>
            </a:r>
            <a:endParaRPr lang="en-US" sz="1350" dirty="0"/>
          </a:p>
        </p:txBody>
      </p:sp>
      <p:sp>
        <p:nvSpPr>
          <p:cNvPr id="10" name="Shape 8"/>
          <p:cNvSpPr/>
          <p:nvPr/>
        </p:nvSpPr>
        <p:spPr>
          <a:xfrm>
            <a:off x="3246120" y="1371600"/>
            <a:ext cx="2606040" cy="1234440"/>
          </a:xfrm>
          <a:prstGeom prst="roundRect">
            <a:avLst>
              <a:gd name="adj" fmla="val 5926"/>
            </a:avLst>
          </a:prstGeom>
          <a:solidFill>
            <a:srgbClr val="F3F4F6"/>
          </a:solidFill>
          <a:ln w="12700">
            <a:solidFill>
              <a:srgbClr val="F3F4F6"/>
            </a:solidFill>
            <a:prstDash val="solid"/>
          </a:ln>
        </p:spPr>
      </p:sp>
      <p:sp>
        <p:nvSpPr>
          <p:cNvPr id="11" name="Text 9"/>
          <p:cNvSpPr txBox="1"/>
          <p:nvPr/>
        </p:nvSpPr>
        <p:spPr>
          <a:xfrm>
            <a:off x="3447288" y="1499616"/>
            <a:ext cx="914400" cy="45720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02</a:t>
            </a:r>
            <a:endParaRPr lang="en-US" sz="2400" dirty="0"/>
          </a:p>
        </p:txBody>
      </p:sp>
      <p:sp>
        <p:nvSpPr>
          <p:cNvPr id="12" name="Text 10"/>
          <p:cNvSpPr txBox="1"/>
          <p:nvPr/>
        </p:nvSpPr>
        <p:spPr>
          <a:xfrm>
            <a:off x="4617720" y="1554480"/>
            <a:ext cx="105156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 min</a:t>
            </a:r>
            <a:endParaRPr lang="en-US" sz="1000" dirty="0"/>
          </a:p>
        </p:txBody>
      </p:sp>
      <p:sp>
        <p:nvSpPr>
          <p:cNvPr id="13" name="Text 11"/>
          <p:cNvSpPr txBox="1"/>
          <p:nvPr/>
        </p:nvSpPr>
        <p:spPr>
          <a:xfrm>
            <a:off x="3447288" y="2057400"/>
            <a:ext cx="2286000" cy="36576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The Six Steps</a:t>
            </a:r>
            <a:endParaRPr lang="en-US" sz="1350" dirty="0"/>
          </a:p>
        </p:txBody>
      </p:sp>
      <p:sp>
        <p:nvSpPr>
          <p:cNvPr id="14" name="Shape 12"/>
          <p:cNvSpPr/>
          <p:nvPr/>
        </p:nvSpPr>
        <p:spPr>
          <a:xfrm>
            <a:off x="6035040" y="1371600"/>
            <a:ext cx="2606040" cy="1234440"/>
          </a:xfrm>
          <a:prstGeom prst="roundRect">
            <a:avLst>
              <a:gd name="adj" fmla="val 5926"/>
            </a:avLst>
          </a:prstGeom>
          <a:solidFill>
            <a:srgbClr val="F3F4F6"/>
          </a:solidFill>
          <a:ln w="12700">
            <a:solidFill>
              <a:srgbClr val="F3F4F6"/>
            </a:solidFill>
            <a:prstDash val="solid"/>
          </a:ln>
        </p:spPr>
      </p:sp>
      <p:sp>
        <p:nvSpPr>
          <p:cNvPr id="15" name="Text 13"/>
          <p:cNvSpPr txBox="1"/>
          <p:nvPr/>
        </p:nvSpPr>
        <p:spPr>
          <a:xfrm>
            <a:off x="6236208" y="1499616"/>
            <a:ext cx="914400" cy="45720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03</a:t>
            </a:r>
            <a:endParaRPr lang="en-US" sz="2400" dirty="0"/>
          </a:p>
        </p:txBody>
      </p:sp>
      <p:sp>
        <p:nvSpPr>
          <p:cNvPr id="16" name="Text 14"/>
          <p:cNvSpPr txBox="1"/>
          <p:nvPr/>
        </p:nvSpPr>
        <p:spPr>
          <a:xfrm>
            <a:off x="7406640" y="1554480"/>
            <a:ext cx="105156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 min</a:t>
            </a:r>
            <a:endParaRPr lang="en-US" sz="1000" dirty="0"/>
          </a:p>
        </p:txBody>
      </p:sp>
      <p:sp>
        <p:nvSpPr>
          <p:cNvPr id="17" name="Text 15"/>
          <p:cNvSpPr txBox="1"/>
          <p:nvPr/>
        </p:nvSpPr>
        <p:spPr>
          <a:xfrm>
            <a:off x="6236208" y="2057400"/>
            <a:ext cx="2286000" cy="36576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Order Matters</a:t>
            </a:r>
            <a:endParaRPr lang="en-US" sz="1350" dirty="0"/>
          </a:p>
        </p:txBody>
      </p:sp>
      <p:sp>
        <p:nvSpPr>
          <p:cNvPr id="18" name="Shape 16"/>
          <p:cNvSpPr/>
          <p:nvPr/>
        </p:nvSpPr>
        <p:spPr>
          <a:xfrm>
            <a:off x="457200" y="2788920"/>
            <a:ext cx="2606040" cy="1234440"/>
          </a:xfrm>
          <a:prstGeom prst="roundRect">
            <a:avLst>
              <a:gd name="adj" fmla="val 5926"/>
            </a:avLst>
          </a:prstGeom>
          <a:solidFill>
            <a:srgbClr val="F3F4F6"/>
          </a:solidFill>
          <a:ln w="12700">
            <a:solidFill>
              <a:srgbClr val="F3F4F6"/>
            </a:solidFill>
            <a:prstDash val="solid"/>
          </a:ln>
        </p:spPr>
      </p:sp>
      <p:sp>
        <p:nvSpPr>
          <p:cNvPr id="19" name="Text 17"/>
          <p:cNvSpPr txBox="1"/>
          <p:nvPr/>
        </p:nvSpPr>
        <p:spPr>
          <a:xfrm>
            <a:off x="658368" y="2916936"/>
            <a:ext cx="914400" cy="45720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04</a:t>
            </a:r>
            <a:endParaRPr lang="en-US" sz="2400" dirty="0"/>
          </a:p>
        </p:txBody>
      </p:sp>
      <p:sp>
        <p:nvSpPr>
          <p:cNvPr id="20" name="Text 18"/>
          <p:cNvSpPr txBox="1"/>
          <p:nvPr/>
        </p:nvSpPr>
        <p:spPr>
          <a:xfrm>
            <a:off x="1828800" y="2971800"/>
            <a:ext cx="105156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 min</a:t>
            </a:r>
            <a:endParaRPr lang="en-US" sz="1000" dirty="0"/>
          </a:p>
        </p:txBody>
      </p:sp>
      <p:sp>
        <p:nvSpPr>
          <p:cNvPr id="21" name="Text 19"/>
          <p:cNvSpPr txBox="1"/>
          <p:nvPr/>
        </p:nvSpPr>
        <p:spPr>
          <a:xfrm>
            <a:off x="658368" y="3474720"/>
            <a:ext cx="2286000" cy="36576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Proof by Turning It Off</a:t>
            </a:r>
            <a:endParaRPr lang="en-US" sz="1350" dirty="0"/>
          </a:p>
        </p:txBody>
      </p:sp>
      <p:sp>
        <p:nvSpPr>
          <p:cNvPr id="22" name="Shape 20"/>
          <p:cNvSpPr/>
          <p:nvPr/>
        </p:nvSpPr>
        <p:spPr>
          <a:xfrm>
            <a:off x="3246120" y="2788920"/>
            <a:ext cx="2606040" cy="1234440"/>
          </a:xfrm>
          <a:prstGeom prst="roundRect">
            <a:avLst>
              <a:gd name="adj" fmla="val 5926"/>
            </a:avLst>
          </a:prstGeom>
          <a:solidFill>
            <a:srgbClr val="F3F4F6"/>
          </a:solidFill>
          <a:ln w="12700">
            <a:solidFill>
              <a:srgbClr val="F3F4F6"/>
            </a:solidFill>
            <a:prstDash val="solid"/>
          </a:ln>
        </p:spPr>
      </p:sp>
      <p:sp>
        <p:nvSpPr>
          <p:cNvPr id="23" name="Text 21"/>
          <p:cNvSpPr txBox="1"/>
          <p:nvPr/>
        </p:nvSpPr>
        <p:spPr>
          <a:xfrm>
            <a:off x="3447288" y="2916936"/>
            <a:ext cx="914400" cy="45720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05</a:t>
            </a:r>
            <a:endParaRPr lang="en-US" sz="2400" dirty="0"/>
          </a:p>
        </p:txBody>
      </p:sp>
      <p:sp>
        <p:nvSpPr>
          <p:cNvPr id="24" name="Text 22"/>
          <p:cNvSpPr txBox="1"/>
          <p:nvPr/>
        </p:nvSpPr>
        <p:spPr>
          <a:xfrm>
            <a:off x="4617720" y="2971800"/>
            <a:ext cx="105156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~6 min</a:t>
            </a:r>
            <a:endParaRPr lang="en-US" sz="1000" dirty="0"/>
          </a:p>
        </p:txBody>
      </p:sp>
      <p:sp>
        <p:nvSpPr>
          <p:cNvPr id="25" name="Text 23"/>
          <p:cNvSpPr txBox="1"/>
          <p:nvPr/>
        </p:nvSpPr>
        <p:spPr>
          <a:xfrm>
            <a:off x="3447288" y="3474720"/>
            <a:ext cx="2286000" cy="36576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The Bill That Never Arrived</a:t>
            </a:r>
            <a:endParaRPr lang="en-US" sz="1350" dirty="0"/>
          </a:p>
        </p:txBody>
      </p:sp>
      <p:sp>
        <p:nvSpPr>
          <p:cNvPr id="26" name="Shape 24"/>
          <p:cNvSpPr/>
          <p:nvPr/>
        </p:nvSpPr>
        <p:spPr>
          <a:xfrm>
            <a:off x="6035040" y="2788920"/>
            <a:ext cx="2606040" cy="1234440"/>
          </a:xfrm>
          <a:prstGeom prst="roundRect">
            <a:avLst>
              <a:gd name="adj" fmla="val 5926"/>
            </a:avLst>
          </a:prstGeom>
          <a:solidFill>
            <a:srgbClr val="111827"/>
          </a:solidFill>
          <a:ln w="12700">
            <a:solidFill>
              <a:srgbClr val="111827"/>
            </a:solidFill>
            <a:prstDash val="solid"/>
          </a:ln>
        </p:spPr>
      </p:sp>
      <p:sp>
        <p:nvSpPr>
          <p:cNvPr id="27" name="Text 25"/>
          <p:cNvSpPr txBox="1"/>
          <p:nvPr/>
        </p:nvSpPr>
        <p:spPr>
          <a:xfrm>
            <a:off x="6236208" y="2916936"/>
            <a:ext cx="914400" cy="457200"/>
          </a:xfrm>
          <a:prstGeom prst="rect">
            <a:avLst/>
          </a:prstGeom>
          <a:noFill/>
          <a:ln/>
        </p:spPr>
        <p:txBody>
          <a:bodyPr wrap="square" lIns="0" tIns="0" rIns="0" bIns="0" rtlCol="0" anchor="t"/>
          <a:lstStyle/>
          <a:p>
            <a:pPr indent="0" marL="0">
              <a:buNone/>
            </a:pPr>
            <a:r>
              <a:rPr lang="en-US" sz="2400" b="1" dirty="0">
                <a:solidFill>
                  <a:srgbClr val="F59E0B"/>
                </a:solidFill>
                <a:latin typeface="Cambria" pitchFamily="34" charset="0"/>
                <a:ea typeface="Cambria" pitchFamily="34" charset="-122"/>
                <a:cs typeface="Cambria" pitchFamily="34" charset="-120"/>
              </a:rPr>
              <a:t>06</a:t>
            </a:r>
            <a:endParaRPr lang="en-US" sz="2400" dirty="0"/>
          </a:p>
        </p:txBody>
      </p:sp>
      <p:sp>
        <p:nvSpPr>
          <p:cNvPr id="28" name="Text 26"/>
          <p:cNvSpPr txBox="1"/>
          <p:nvPr/>
        </p:nvSpPr>
        <p:spPr>
          <a:xfrm>
            <a:off x="7406640" y="2971800"/>
            <a:ext cx="1051560" cy="274320"/>
          </a:xfrm>
          <a:prstGeom prst="rect">
            <a:avLst/>
          </a:prstGeom>
          <a:noFill/>
          <a:ln/>
        </p:spPr>
        <p:txBody>
          <a:bodyPr wrap="square" lIns="0" tIns="0" rIns="0" bIns="0" rtlCol="0" anchor="t"/>
          <a:lstStyle/>
          <a:p>
            <a:pPr algn="r" indent="0" marL="0">
              <a:buNone/>
            </a:pPr>
            <a:r>
              <a:rPr lang="en-US" sz="1000" dirty="0">
                <a:solidFill>
                  <a:srgbClr val="9CA3AF"/>
                </a:solidFill>
                <a:latin typeface="Calibri" pitchFamily="34" charset="0"/>
                <a:ea typeface="Calibri" pitchFamily="34" charset="-122"/>
                <a:cs typeface="Calibri" pitchFamily="34" charset="-120"/>
              </a:rPr>
              <a:t>~10 min</a:t>
            </a:r>
            <a:endParaRPr lang="en-US" sz="1000" dirty="0"/>
          </a:p>
        </p:txBody>
      </p:sp>
      <p:sp>
        <p:nvSpPr>
          <p:cNvPr id="29" name="Text 27"/>
          <p:cNvSpPr txBox="1"/>
          <p:nvPr/>
        </p:nvSpPr>
        <p:spPr>
          <a:xfrm>
            <a:off x="6236208" y="3474720"/>
            <a:ext cx="2286000" cy="36576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Build 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Ten minutes once, and every command in this session will run. Pick your side.</a:t>
            </a:r>
            <a:endParaRPr lang="en-US" sz="1300" dirty="0"/>
          </a:p>
        </p:txBody>
      </p:sp>
      <p:sp>
        <p:nvSpPr>
          <p:cNvPr id="7" name="Shape 5"/>
          <p:cNvSpPr/>
          <p:nvPr/>
        </p:nvSpPr>
        <p:spPr>
          <a:xfrm>
            <a:off x="457200" y="1554480"/>
            <a:ext cx="4023360" cy="1828800"/>
          </a:xfrm>
          <a:prstGeom prst="roundRect">
            <a:avLst>
              <a:gd name="adj" fmla="val 4000"/>
            </a:avLst>
          </a:prstGeom>
          <a:solidFill>
            <a:srgbClr val="F3F4F6"/>
          </a:solidFill>
          <a:ln w="12700">
            <a:solidFill>
              <a:srgbClr val="F3F4F6"/>
            </a:solidFill>
            <a:prstDash val="solid"/>
          </a:ln>
        </p:spPr>
      </p:sp>
      <p:sp>
        <p:nvSpPr>
          <p:cNvPr id="8" name="Text 6"/>
          <p:cNvSpPr txBox="1"/>
          <p:nvPr/>
        </p:nvSpPr>
        <p:spPr>
          <a:xfrm>
            <a:off x="685800" y="1691640"/>
            <a:ext cx="3566160" cy="274320"/>
          </a:xfrm>
          <a:prstGeom prst="rect">
            <a:avLst/>
          </a:prstGeom>
          <a:noFill/>
          <a:ln/>
        </p:spPr>
        <p:txBody>
          <a:bodyPr wrap="square" lIns="0" tIns="0" rIns="0" bIns="0" rtlCol="0" anchor="t"/>
          <a:lstStyle/>
          <a:p>
            <a:pPr indent="0" marL="0">
              <a:buNone/>
            </a:pPr>
            <a:r>
              <a:rPr lang="en-US" sz="1050" b="1" spc="150" kern="0" dirty="0">
                <a:solidFill>
                  <a:srgbClr val="1D4ED8"/>
                </a:solidFill>
                <a:latin typeface="Calibri" pitchFamily="34" charset="0"/>
                <a:ea typeface="Calibri" pitchFamily="34" charset="-122"/>
                <a:cs typeface="Calibri" pitchFamily="34" charset="-120"/>
              </a:rPr>
              <a:t>macOS  ·  TERMINAL</a:t>
            </a:r>
            <a:endParaRPr lang="en-US" sz="1050" dirty="0"/>
          </a:p>
        </p:txBody>
      </p:sp>
      <p:sp>
        <p:nvSpPr>
          <p:cNvPr id="9" name="Shape 7"/>
          <p:cNvSpPr/>
          <p:nvPr/>
        </p:nvSpPr>
        <p:spPr>
          <a:xfrm>
            <a:off x="685800" y="1993392"/>
            <a:ext cx="3566160" cy="1325880"/>
          </a:xfrm>
          <a:prstGeom prst="roundRect">
            <a:avLst>
              <a:gd name="adj" fmla="val 5517"/>
            </a:avLst>
          </a:prstGeom>
          <a:solidFill>
            <a:srgbClr val="0F172A"/>
          </a:solidFill>
          <a:ln w="12700">
            <a:solidFill>
              <a:srgbClr val="0F172A"/>
            </a:solidFill>
            <a:prstDash val="solid"/>
          </a:ln>
        </p:spPr>
      </p:sp>
      <p:sp>
        <p:nvSpPr>
          <p:cNvPr id="10" name="Text 8"/>
          <p:cNvSpPr txBox="1"/>
          <p:nvPr/>
        </p:nvSpPr>
        <p:spPr>
          <a:xfrm>
            <a:off x="886968" y="2157984"/>
            <a:ext cx="3200400" cy="10515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docker</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docker --version &amp;&amp; python3 --version</a:t>
            </a:r>
            <a:endParaRPr lang="en-US" sz="950" dirty="0"/>
          </a:p>
        </p:txBody>
      </p:sp>
      <p:sp>
        <p:nvSpPr>
          <p:cNvPr id="11" name="Shape 9"/>
          <p:cNvSpPr/>
          <p:nvPr/>
        </p:nvSpPr>
        <p:spPr>
          <a:xfrm>
            <a:off x="4663440" y="1554480"/>
            <a:ext cx="4023360" cy="1828800"/>
          </a:xfrm>
          <a:prstGeom prst="roundRect">
            <a:avLst>
              <a:gd name="adj" fmla="val 4000"/>
            </a:avLst>
          </a:prstGeom>
          <a:solidFill>
            <a:srgbClr val="F3F4F6"/>
          </a:solidFill>
          <a:ln w="12700">
            <a:solidFill>
              <a:srgbClr val="F3F4F6"/>
            </a:solidFill>
            <a:prstDash val="solid"/>
          </a:ln>
        </p:spPr>
      </p:sp>
      <p:sp>
        <p:nvSpPr>
          <p:cNvPr id="12" name="Text 10"/>
          <p:cNvSpPr txBox="1"/>
          <p:nvPr/>
        </p:nvSpPr>
        <p:spPr>
          <a:xfrm>
            <a:off x="4892040" y="1691640"/>
            <a:ext cx="356616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Calibri" pitchFamily="34" charset="0"/>
                <a:ea typeface="Calibri" pitchFamily="34" charset="-122"/>
                <a:cs typeface="Calibri" pitchFamily="34" charset="-120"/>
              </a:rPr>
              <a:t>WINDOWS  ·  POWERSHELL</a:t>
            </a:r>
            <a:endParaRPr lang="en-US" sz="1050" dirty="0"/>
          </a:p>
        </p:txBody>
      </p:sp>
      <p:sp>
        <p:nvSpPr>
          <p:cNvPr id="13" name="Shape 11"/>
          <p:cNvSpPr/>
          <p:nvPr/>
        </p:nvSpPr>
        <p:spPr>
          <a:xfrm>
            <a:off x="4892040" y="1993392"/>
            <a:ext cx="3566160" cy="1325880"/>
          </a:xfrm>
          <a:prstGeom prst="roundRect">
            <a:avLst>
              <a:gd name="adj" fmla="val 5517"/>
            </a:avLst>
          </a:prstGeom>
          <a:solidFill>
            <a:srgbClr val="0F172A"/>
          </a:solidFill>
          <a:ln w="12700">
            <a:solidFill>
              <a:srgbClr val="0F172A"/>
            </a:solidFill>
            <a:prstDash val="solid"/>
          </a:ln>
        </p:spPr>
      </p:sp>
      <p:sp>
        <p:nvSpPr>
          <p:cNvPr id="14" name="Text 12"/>
          <p:cNvSpPr txBox="1"/>
          <p:nvPr/>
        </p:nvSpPr>
        <p:spPr>
          <a:xfrm>
            <a:off x="5093208" y="2157984"/>
            <a:ext cx="3200400" cy="10515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Docker.DockerDesktop</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Microsoft.VisualStudioCode</a:t>
            </a:r>
            <a:endParaRPr lang="en-US" sz="950" dirty="0"/>
          </a:p>
        </p:txBody>
      </p:sp>
      <p:sp>
        <p:nvSpPr>
          <p:cNvPr id="15" name="Text 13"/>
          <p:cNvSpPr txBox="1"/>
          <p:nvPr/>
        </p:nvSpPr>
        <p:spPr>
          <a:xfrm>
            <a:off x="457200" y="352044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AND THEN THE REPO</a:t>
            </a:r>
            <a:endParaRPr lang="en-US" sz="950" dirty="0"/>
          </a:p>
        </p:txBody>
      </p:sp>
      <p:sp>
        <p:nvSpPr>
          <p:cNvPr id="16" name="Shape 14"/>
          <p:cNvSpPr/>
          <p:nvPr/>
        </p:nvSpPr>
        <p:spPr>
          <a:xfrm>
            <a:off x="365760" y="3840480"/>
            <a:ext cx="8412480" cy="868680"/>
          </a:xfrm>
          <a:prstGeom prst="roundRect">
            <a:avLst>
              <a:gd name="adj" fmla="val 8421"/>
            </a:avLst>
          </a:prstGeom>
          <a:solidFill>
            <a:srgbClr val="0F172A"/>
          </a:solidFill>
          <a:ln w="12700">
            <a:solidFill>
              <a:srgbClr val="0F172A"/>
            </a:solidFill>
            <a:prstDash val="solid"/>
          </a:ln>
        </p:spPr>
      </p:sp>
      <p:sp>
        <p:nvSpPr>
          <p:cNvPr id="17" name="Text 15"/>
          <p:cNvSpPr txBox="1"/>
          <p:nvPr/>
        </p:nvSpPr>
        <p:spPr>
          <a:xfrm>
            <a:off x="594360" y="3840480"/>
            <a:ext cx="8092440" cy="868680"/>
          </a:xfrm>
          <a:prstGeom prst="rect">
            <a:avLst/>
          </a:prstGeom>
          <a:noFill/>
          <a:ln/>
        </p:spPr>
        <p:txBody>
          <a:bodyPr wrap="square" lIns="0" tIns="0" rIns="0" bIns="0" rtlCol="0" anchor="ctr"/>
          <a:lstStyle/>
          <a:p>
            <a:pPr indent="0" marL="0">
              <a:buNone/>
            </a:pPr>
            <a:r>
              <a:rPr lang="en-US" sz="1088" b="1" dirty="0">
                <a:solidFill>
                  <a:srgbClr val="F59E0B"/>
                </a:solidFill>
                <a:latin typeface="Courier New" pitchFamily="34" charset="0"/>
                <a:ea typeface="Courier New" pitchFamily="34" charset="-122"/>
                <a:cs typeface="Courier New" pitchFamily="34" charset="-120"/>
              </a:rPr>
              <a:t>$ </a:t>
            </a:r>
            <a:pPr indent="0" marL="0">
              <a:buNone/>
            </a:pPr>
            <a:r>
              <a:rPr lang="en-US" sz="1088" dirty="0">
                <a:solidFill>
                  <a:srgbClr val="E8EAED"/>
                </a:solidFill>
                <a:latin typeface="Courier New" pitchFamily="34" charset="0"/>
                <a:ea typeface="Courier New" pitchFamily="34" charset="-122"/>
                <a:cs typeface="Courier New" pitchFamily="34" charset="-120"/>
              </a:rPr>
              <a:t>git clone https://github.com/Here2ServeU/agent-cost-control &amp;&amp; cd agent-cost-control/capstone</a:t>
            </a:r>
            <a:endParaRPr lang="en-US" sz="108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097280"/>
            <a:ext cx="8229600" cy="27432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THREE COMMANDS AND YOU ARE RUNNING</a:t>
            </a:r>
            <a:endParaRPr lang="en-US" sz="950" dirty="0"/>
          </a:p>
        </p:txBody>
      </p:sp>
      <p:sp>
        <p:nvSpPr>
          <p:cNvPr id="18" name="Shape 16"/>
          <p:cNvSpPr/>
          <p:nvPr/>
        </p:nvSpPr>
        <p:spPr>
          <a:xfrm>
            <a:off x="457200" y="3429000"/>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640080" y="3429000"/>
            <a:ext cx="3840480" cy="384048"/>
          </a:xfrm>
          <a:prstGeom prst="rect">
            <a:avLst/>
          </a:prstGeom>
          <a:noFill/>
          <a:ln/>
        </p:spPr>
        <p:txBody>
          <a:bodyPr wrap="square" lIns="0" tIns="0" rIns="0" bIns="0" rtlCol="0" anchor="ctr"/>
          <a:lstStyle/>
          <a:p>
            <a:pPr indent="0" marL="0">
              <a:buNone/>
            </a:pPr>
            <a:r>
              <a:rPr lang="en-US" sz="1050" dirty="0">
                <a:solidFill>
                  <a:srgbClr val="6D28D9"/>
                </a:solidFill>
                <a:latin typeface="Courier New" pitchFamily="34" charset="0"/>
                <a:ea typeface="Courier New" pitchFamily="34" charset="-122"/>
                <a:cs typeface="Courier New" pitchFamily="34" charset="-120"/>
              </a:rPr>
              <a:t>pip install -r requirements.txt</a:t>
            </a:r>
            <a:endParaRPr lang="en-US" sz="1050" dirty="0"/>
          </a:p>
        </p:txBody>
      </p:sp>
      <p:sp>
        <p:nvSpPr>
          <p:cNvPr id="20" name="Text 18"/>
          <p:cNvSpPr txBox="1"/>
          <p:nvPr/>
        </p:nvSpPr>
        <p:spPr>
          <a:xfrm>
            <a:off x="4572000" y="3429000"/>
            <a:ext cx="3931920" cy="38404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only dependency is prometheus_client</a:t>
            </a:r>
            <a:endParaRPr lang="en-US" sz="1050" dirty="0"/>
          </a:p>
        </p:txBody>
      </p:sp>
      <p:sp>
        <p:nvSpPr>
          <p:cNvPr id="21" name="Shape 19"/>
          <p:cNvSpPr/>
          <p:nvPr/>
        </p:nvSpPr>
        <p:spPr>
          <a:xfrm>
            <a:off x="457200" y="3886200"/>
            <a:ext cx="8229600" cy="384048"/>
          </a:xfrm>
          <a:prstGeom prst="roundRect">
            <a:avLst>
              <a:gd name="adj" fmla="val 19048"/>
            </a:avLst>
          </a:prstGeom>
          <a:solidFill>
            <a:srgbClr val="F3F4F6"/>
          </a:solidFill>
          <a:ln w="12700">
            <a:solidFill>
              <a:srgbClr val="F3F4F6"/>
            </a:solidFill>
            <a:prstDash val="solid"/>
          </a:ln>
        </p:spPr>
      </p:sp>
      <p:sp>
        <p:nvSpPr>
          <p:cNvPr id="22" name="Text 20"/>
          <p:cNvSpPr txBox="1"/>
          <p:nvPr/>
        </p:nvSpPr>
        <p:spPr>
          <a:xfrm>
            <a:off x="640080" y="3886200"/>
            <a:ext cx="3840480" cy="384048"/>
          </a:xfrm>
          <a:prstGeom prst="rect">
            <a:avLst/>
          </a:prstGeom>
          <a:noFill/>
          <a:ln/>
        </p:spPr>
        <p:txBody>
          <a:bodyPr wrap="square" lIns="0" tIns="0" rIns="0" bIns="0" rtlCol="0" anchor="ctr"/>
          <a:lstStyle/>
          <a:p>
            <a:pPr indent="0" marL="0">
              <a:buNone/>
            </a:pPr>
            <a:r>
              <a:rPr lang="en-US" sz="1050" dirty="0">
                <a:solidFill>
                  <a:srgbClr val="6D28D9"/>
                </a:solidFill>
                <a:latin typeface="Courier New" pitchFamily="34" charset="0"/>
                <a:ea typeface="Courier New" pitchFamily="34" charset="-122"/>
                <a:cs typeface="Courier New" pitchFamily="34" charset="-120"/>
              </a:rPr>
              <a:t>python3 verify.py</a:t>
            </a:r>
            <a:endParaRPr lang="en-US" sz="1050" dirty="0"/>
          </a:p>
        </p:txBody>
      </p:sp>
      <p:sp>
        <p:nvSpPr>
          <p:cNvPr id="23" name="Text 21"/>
          <p:cNvSpPr txBox="1"/>
          <p:nvPr/>
        </p:nvSpPr>
        <p:spPr>
          <a:xfrm>
            <a:off x="4572000" y="3886200"/>
            <a:ext cx="3931920" cy="38404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the capstone check; six proofs</a:t>
            </a:r>
            <a:endParaRPr lang="en-US" sz="1050" dirty="0"/>
          </a:p>
        </p:txBody>
      </p:sp>
      <p:sp>
        <p:nvSpPr>
          <p:cNvPr id="24" name="Shape 22"/>
          <p:cNvSpPr/>
          <p:nvPr/>
        </p:nvSpPr>
        <p:spPr>
          <a:xfrm>
            <a:off x="457200" y="4343400"/>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640080" y="4343400"/>
            <a:ext cx="3840480" cy="384048"/>
          </a:xfrm>
          <a:prstGeom prst="rect">
            <a:avLst/>
          </a:prstGeom>
          <a:noFill/>
          <a:ln/>
        </p:spPr>
        <p:txBody>
          <a:bodyPr wrap="square" lIns="0" tIns="0" rIns="0" bIns="0" rtlCol="0" anchor="ctr"/>
          <a:lstStyle/>
          <a:p>
            <a:pPr indent="0" marL="0">
              <a:buNone/>
            </a:pPr>
            <a:r>
              <a:rPr lang="en-US" sz="1050" dirty="0">
                <a:solidFill>
                  <a:srgbClr val="6D28D9"/>
                </a:solidFill>
                <a:latin typeface="Courier New" pitchFamily="34" charset="0"/>
                <a:ea typeface="Courier New" pitchFamily="34" charset="-122"/>
                <a:cs typeface="Courier New" pitchFamily="34" charset="-120"/>
              </a:rPr>
              <a:t>docker compose up -d</a:t>
            </a:r>
            <a:endParaRPr lang="en-US" sz="1050" dirty="0"/>
          </a:p>
        </p:txBody>
      </p:sp>
      <p:sp>
        <p:nvSpPr>
          <p:cNvPr id="26" name="Text 24"/>
          <p:cNvSpPr txBox="1"/>
          <p:nvPr/>
        </p:nvSpPr>
        <p:spPr>
          <a:xfrm>
            <a:off x="4572000" y="4343400"/>
            <a:ext cx="3931920" cy="384048"/>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Prometheus, Grafana, pushgateway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Before Picture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~6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THE BEFORE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Nothing in it can stop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457200" y="1097280"/>
            <a:ext cx="8229600" cy="2743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This is the agent you start with. It is honest about nothing.</a:t>
            </a:r>
            <a:endParaRPr lang="en-US" sz="1400" dirty="0"/>
          </a:p>
        </p:txBody>
      </p:sp>
      <p:sp>
        <p:nvSpPr>
          <p:cNvPr id="7" name="Shape 5"/>
          <p:cNvSpPr/>
          <p:nvPr/>
        </p:nvSpPr>
        <p:spPr>
          <a:xfrm>
            <a:off x="365760" y="15087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08760"/>
            <a:ext cx="8092440" cy="868680"/>
          </a:xfrm>
          <a:prstGeom prst="rect">
            <a:avLst/>
          </a:prstGeom>
          <a:noFill/>
          <a:ln/>
        </p:spPr>
        <p:txBody>
          <a:bodyPr wrap="square" lIns="0" tIns="0" rIns="0" bIns="0" rtlCol="0" anchor="ctr"/>
          <a:lstStyle/>
          <a:p>
            <a:pPr indent="0" marL="0">
              <a:buNone/>
            </a:pPr>
            <a:r>
              <a:rPr lang="en-US" sz="1566" b="1" dirty="0">
                <a:solidFill>
                  <a:srgbClr val="F59E0B"/>
                </a:solidFill>
                <a:latin typeface="Courier New" pitchFamily="34" charset="0"/>
                <a:ea typeface="Courier New" pitchFamily="34" charset="-122"/>
                <a:cs typeface="Courier New" pitchFamily="34" charset="-120"/>
              </a:rPr>
              <a:t>$ </a:t>
            </a:r>
            <a:pPr indent="0" marL="0">
              <a:buNone/>
            </a:pPr>
            <a:r>
              <a:rPr lang="en-US" sz="1566" dirty="0">
                <a:solidFill>
                  <a:srgbClr val="E8EAED"/>
                </a:solidFill>
                <a:latin typeface="Courier New" pitchFamily="34" charset="0"/>
                <a:ea typeface="Courier New" pitchFamily="34" charset="-122"/>
                <a:cs typeface="Courier New" pitchFamily="34" charset="-120"/>
              </a:rPr>
              <a:t>timeout 20 python3 naive_agent.py --input samples/malformed.json</a:t>
            </a:r>
            <a:endParaRPr lang="en-US" sz="1566" dirty="0"/>
          </a:p>
        </p:txBody>
      </p:sp>
      <p:sp>
        <p:nvSpPr>
          <p:cNvPr id="9" name="Shape 7"/>
          <p:cNvSpPr/>
          <p:nvPr/>
        </p:nvSpPr>
        <p:spPr>
          <a:xfrm>
            <a:off x="457200" y="2560320"/>
            <a:ext cx="4023360" cy="1371600"/>
          </a:xfrm>
          <a:prstGeom prst="roundRect">
            <a:avLst>
              <a:gd name="adj" fmla="val 5333"/>
            </a:avLst>
          </a:prstGeom>
          <a:solidFill>
            <a:srgbClr val="FEF2F2"/>
          </a:solidFill>
          <a:ln w="12700">
            <a:solidFill>
              <a:srgbClr val="FEF2F2"/>
            </a:solidFill>
            <a:prstDash val="solid"/>
          </a:ln>
        </p:spPr>
      </p:sp>
      <p:sp>
        <p:nvSpPr>
          <p:cNvPr id="10" name="Text 8"/>
          <p:cNvSpPr txBox="1"/>
          <p:nvPr/>
        </p:nvSpPr>
        <p:spPr>
          <a:xfrm>
            <a:off x="685800" y="269748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WHAT YOU SEE</a:t>
            </a:r>
            <a:endParaRPr lang="en-US" sz="1000" dirty="0"/>
          </a:p>
        </p:txBody>
      </p:sp>
      <p:sp>
        <p:nvSpPr>
          <p:cNvPr id="11" name="Text 9"/>
          <p:cNvSpPr txBox="1"/>
          <p:nvPr/>
        </p:nvSpPr>
        <p:spPr>
          <a:xfrm>
            <a:off x="685800" y="3017520"/>
            <a:ext cx="356616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Steps scrolling past. Then more steps. It ends because you killed it, not because it finished.</a:t>
            </a:r>
            <a:endParaRPr lang="en-US" sz="1350" dirty="0"/>
          </a:p>
        </p:txBody>
      </p:sp>
      <p:sp>
        <p:nvSpPr>
          <p:cNvPr id="12" name="Shape 10"/>
          <p:cNvSpPr/>
          <p:nvPr/>
        </p:nvSpPr>
        <p:spPr>
          <a:xfrm>
            <a:off x="4663440" y="2560320"/>
            <a:ext cx="4023360" cy="1371600"/>
          </a:xfrm>
          <a:prstGeom prst="roundRect">
            <a:avLst>
              <a:gd name="adj" fmla="val 5333"/>
            </a:avLst>
          </a:prstGeom>
          <a:solidFill>
            <a:srgbClr val="F3F4F6"/>
          </a:solidFill>
          <a:ln w="12700">
            <a:solidFill>
              <a:srgbClr val="F3F4F6"/>
            </a:solidFill>
            <a:prstDash val="solid"/>
          </a:ln>
        </p:spPr>
      </p:sp>
      <p:sp>
        <p:nvSpPr>
          <p:cNvPr id="13" name="Text 11"/>
          <p:cNvSpPr txBox="1"/>
          <p:nvPr/>
        </p:nvSpPr>
        <p:spPr>
          <a:xfrm>
            <a:off x="4892040" y="2697480"/>
            <a:ext cx="3566160" cy="274320"/>
          </a:xfrm>
          <a:prstGeom prst="rect">
            <a:avLst/>
          </a:prstGeom>
          <a:noFill/>
          <a:ln/>
        </p:spPr>
        <p:txBody>
          <a:bodyPr wrap="square" lIns="0" tIns="0" rIns="0" bIns="0" rtlCol="0" anchor="t"/>
          <a:lstStyle/>
          <a:p>
            <a:pPr indent="0" marL="0">
              <a:buNone/>
            </a:pPr>
            <a:r>
              <a:rPr lang="en-US" sz="1000" b="1" spc="150" kern="0" dirty="0">
                <a:solidFill>
                  <a:srgbClr val="6B7280"/>
                </a:solidFill>
                <a:latin typeface="Calibri" pitchFamily="34" charset="0"/>
                <a:ea typeface="Calibri" pitchFamily="34" charset="-122"/>
                <a:cs typeface="Calibri" pitchFamily="34" charset="-120"/>
              </a:rPr>
              <a:t>WHAT YOU DO NOT SEE</a:t>
            </a:r>
            <a:endParaRPr lang="en-US" sz="1000" dirty="0"/>
          </a:p>
        </p:txBody>
      </p:sp>
      <p:sp>
        <p:nvSpPr>
          <p:cNvPr id="14" name="Text 12"/>
          <p:cNvSpPr txBox="1"/>
          <p:nvPr/>
        </p:nvSpPr>
        <p:spPr>
          <a:xfrm>
            <a:off x="4892040" y="3017520"/>
            <a:ext cx="356616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 single number telling you what those steps cost. Not one. That is the whole problem.</a:t>
            </a:r>
            <a:endParaRPr lang="en-US" sz="1350" dirty="0"/>
          </a:p>
        </p:txBody>
      </p:sp>
      <p:sp>
        <p:nvSpPr>
          <p:cNvPr id="15" name="Shape 13"/>
          <p:cNvSpPr/>
          <p:nvPr/>
        </p:nvSpPr>
        <p:spPr>
          <a:xfrm>
            <a:off x="457200" y="4069080"/>
            <a:ext cx="8229600" cy="640080"/>
          </a:xfrm>
          <a:prstGeom prst="roundRect">
            <a:avLst>
              <a:gd name="adj" fmla="val 11429"/>
            </a:avLst>
          </a:prstGeom>
          <a:solidFill>
            <a:srgbClr val="111827"/>
          </a:solidFill>
          <a:ln w="12700">
            <a:solidFill>
              <a:srgbClr val="111827"/>
            </a:solidFill>
            <a:prstDash val="solid"/>
          </a:ln>
        </p:spPr>
      </p:sp>
      <p:sp>
        <p:nvSpPr>
          <p:cNvPr id="16" name="Text 14"/>
          <p:cNvSpPr txBox="1"/>
          <p:nvPr/>
        </p:nvSpPr>
        <p:spPr>
          <a:xfrm>
            <a:off x="731520" y="4069080"/>
            <a:ext cx="768096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 runs until somebody notices. On a Tuesday night, that means until the morning.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THE BEFORE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inputs, three ways to lose money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80160"/>
            <a:ext cx="8229600" cy="914400"/>
          </a:xfrm>
          <a:prstGeom prst="roundRect">
            <a:avLst>
              <a:gd name="adj" fmla="val 8000"/>
            </a:avLst>
          </a:prstGeom>
          <a:solidFill>
            <a:srgbClr val="F3F4F6"/>
          </a:solidFill>
          <a:ln w="12700">
            <a:solidFill>
              <a:srgbClr val="F3F4F6"/>
            </a:solidFill>
            <a:prstDash val="solid"/>
          </a:ln>
        </p:spPr>
      </p:sp>
      <p:sp>
        <p:nvSpPr>
          <p:cNvPr id="7" name="Text 5"/>
          <p:cNvSpPr txBox="1"/>
          <p:nvPr/>
        </p:nvSpPr>
        <p:spPr>
          <a:xfrm>
            <a:off x="685800" y="1389888"/>
            <a:ext cx="2194560" cy="320040"/>
          </a:xfrm>
          <a:prstGeom prst="rect">
            <a:avLst/>
          </a:prstGeom>
          <a:noFill/>
          <a:ln/>
        </p:spPr>
        <p:txBody>
          <a:bodyPr wrap="square" lIns="0" tIns="0" rIns="0" bIns="0" rtlCol="0" anchor="t"/>
          <a:lstStyle/>
          <a:p>
            <a:pPr indent="0" marL="0">
              <a:buNone/>
            </a:pPr>
            <a:r>
              <a:rPr lang="en-US" sz="1300" b="1" dirty="0">
                <a:solidFill>
                  <a:srgbClr val="047857"/>
                </a:solidFill>
                <a:latin typeface="Courier New" pitchFamily="34" charset="0"/>
                <a:ea typeface="Courier New" pitchFamily="34" charset="-122"/>
                <a:cs typeface="Courier New" pitchFamily="34" charset="-120"/>
              </a:rPr>
              <a:t>good.json</a:t>
            </a:r>
            <a:endParaRPr lang="en-US" sz="1300" dirty="0"/>
          </a:p>
        </p:txBody>
      </p:sp>
      <p:sp>
        <p:nvSpPr>
          <p:cNvPr id="8" name="Text 6"/>
          <p:cNvSpPr txBox="1"/>
          <p:nvPr/>
        </p:nvSpPr>
        <p:spPr>
          <a:xfrm>
            <a:off x="685800" y="1737360"/>
            <a:ext cx="219456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converging</a:t>
            </a:r>
            <a:endParaRPr lang="en-US" sz="1100" dirty="0"/>
          </a:p>
        </p:txBody>
      </p:sp>
      <p:sp>
        <p:nvSpPr>
          <p:cNvPr id="9" name="Text 7"/>
          <p:cNvSpPr txBox="1"/>
          <p:nvPr/>
        </p:nvSpPr>
        <p:spPr>
          <a:xfrm>
            <a:off x="3108960" y="1463040"/>
            <a:ext cx="534924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Finishes in five steps. This is the control; you need one.</a:t>
            </a:r>
            <a:endParaRPr lang="en-US" sz="1350" dirty="0"/>
          </a:p>
        </p:txBody>
      </p:sp>
      <p:sp>
        <p:nvSpPr>
          <p:cNvPr id="10" name="Shape 8"/>
          <p:cNvSpPr/>
          <p:nvPr/>
        </p:nvSpPr>
        <p:spPr>
          <a:xfrm>
            <a:off x="457200" y="2331720"/>
            <a:ext cx="8229600" cy="914400"/>
          </a:xfrm>
          <a:prstGeom prst="roundRect">
            <a:avLst>
              <a:gd name="adj" fmla="val 8000"/>
            </a:avLst>
          </a:prstGeom>
          <a:solidFill>
            <a:srgbClr val="F3F4F6"/>
          </a:solidFill>
          <a:ln w="12700">
            <a:solidFill>
              <a:srgbClr val="F3F4F6"/>
            </a:solidFill>
            <a:prstDash val="solid"/>
          </a:ln>
        </p:spPr>
      </p:sp>
      <p:sp>
        <p:nvSpPr>
          <p:cNvPr id="11" name="Text 9"/>
          <p:cNvSpPr txBox="1"/>
          <p:nvPr/>
        </p:nvSpPr>
        <p:spPr>
          <a:xfrm>
            <a:off x="685800" y="2441448"/>
            <a:ext cx="2194560" cy="320040"/>
          </a:xfrm>
          <a:prstGeom prst="rect">
            <a:avLst/>
          </a:prstGeom>
          <a:noFill/>
          <a:ln/>
        </p:spPr>
        <p:txBody>
          <a:bodyPr wrap="square" lIns="0" tIns="0" rIns="0" bIns="0" rtlCol="0" anchor="t"/>
          <a:lstStyle/>
          <a:p>
            <a:pPr indent="0" marL="0">
              <a:buNone/>
            </a:pPr>
            <a:r>
              <a:rPr lang="en-US" sz="1300" b="1" dirty="0">
                <a:solidFill>
                  <a:srgbClr val="B91C1C"/>
                </a:solidFill>
                <a:latin typeface="Courier New" pitchFamily="34" charset="0"/>
                <a:ea typeface="Courier New" pitchFamily="34" charset="-122"/>
                <a:cs typeface="Courier New" pitchFamily="34" charset="-120"/>
              </a:rPr>
              <a:t>malformed.json</a:t>
            </a:r>
            <a:endParaRPr lang="en-US" sz="1300" dirty="0"/>
          </a:p>
        </p:txBody>
      </p:sp>
      <p:sp>
        <p:nvSpPr>
          <p:cNvPr id="12" name="Text 10"/>
          <p:cNvSpPr txBox="1"/>
          <p:nvPr/>
        </p:nvSpPr>
        <p:spPr>
          <a:xfrm>
            <a:off x="685800" y="2788920"/>
            <a:ext cx="219456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bouncing</a:t>
            </a:r>
            <a:endParaRPr lang="en-US" sz="1100" dirty="0"/>
          </a:p>
        </p:txBody>
      </p:sp>
      <p:sp>
        <p:nvSpPr>
          <p:cNvPr id="13" name="Text 11"/>
          <p:cNvSpPr txBox="1"/>
          <p:nvPr/>
        </p:nvSpPr>
        <p:spPr>
          <a:xfrm>
            <a:off x="3108960" y="2514600"/>
            <a:ext cx="534924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Parse, validate, parse, validate. The input that started the course.</a:t>
            </a:r>
            <a:endParaRPr lang="en-US" sz="1350" dirty="0"/>
          </a:p>
        </p:txBody>
      </p:sp>
      <p:sp>
        <p:nvSpPr>
          <p:cNvPr id="14" name="Shape 12"/>
          <p:cNvSpPr/>
          <p:nvPr/>
        </p:nvSpPr>
        <p:spPr>
          <a:xfrm>
            <a:off x="457200" y="3383280"/>
            <a:ext cx="8229600" cy="914400"/>
          </a:xfrm>
          <a:prstGeom prst="roundRect">
            <a:avLst>
              <a:gd name="adj" fmla="val 8000"/>
            </a:avLst>
          </a:prstGeom>
          <a:solidFill>
            <a:srgbClr val="FEF3C7"/>
          </a:solidFill>
          <a:ln w="12700">
            <a:solidFill>
              <a:srgbClr val="FEF3C7"/>
            </a:solidFill>
            <a:prstDash val="solid"/>
          </a:ln>
        </p:spPr>
      </p:sp>
      <p:sp>
        <p:nvSpPr>
          <p:cNvPr id="15" name="Text 13"/>
          <p:cNvSpPr txBox="1"/>
          <p:nvPr/>
        </p:nvSpPr>
        <p:spPr>
          <a:xfrm>
            <a:off x="685800" y="3493008"/>
            <a:ext cx="2194560" cy="320040"/>
          </a:xfrm>
          <a:prstGeom prst="rect">
            <a:avLst/>
          </a:prstGeom>
          <a:noFill/>
          <a:ln/>
        </p:spPr>
        <p:txBody>
          <a:bodyPr wrap="square" lIns="0" tIns="0" rIns="0" bIns="0" rtlCol="0" anchor="t"/>
          <a:lstStyle/>
          <a:p>
            <a:pPr indent="0" marL="0">
              <a:buNone/>
            </a:pPr>
            <a:r>
              <a:rPr lang="en-US" sz="1300" b="1" dirty="0">
                <a:solidFill>
                  <a:srgbClr val="B45309"/>
                </a:solidFill>
                <a:latin typeface="Courier New" pitchFamily="34" charset="0"/>
                <a:ea typeface="Courier New" pitchFamily="34" charset="-122"/>
                <a:cs typeface="Courier New" pitchFamily="34" charset="-120"/>
              </a:rPr>
              <a:t>drifting.json</a:t>
            </a:r>
            <a:endParaRPr lang="en-US" sz="1300" dirty="0"/>
          </a:p>
        </p:txBody>
      </p:sp>
      <p:sp>
        <p:nvSpPr>
          <p:cNvPr id="16" name="Text 14"/>
          <p:cNvSpPr txBox="1"/>
          <p:nvPr/>
        </p:nvSpPr>
        <p:spPr>
          <a:xfrm>
            <a:off x="685800" y="3840480"/>
            <a:ext cx="2194560" cy="27432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drifting</a:t>
            </a:r>
            <a:endParaRPr lang="en-US" sz="1100" dirty="0"/>
          </a:p>
        </p:txBody>
      </p:sp>
      <p:sp>
        <p:nvSpPr>
          <p:cNvPr id="17" name="Text 15"/>
          <p:cNvSpPr txBox="1"/>
          <p:nvPr/>
        </p:nvSpPr>
        <p:spPr>
          <a:xfrm>
            <a:off x="3108960" y="3566160"/>
            <a:ext cx="5349240" cy="5486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Never repeats, never finishes. The expensive one, because nothing looks wrong.</a:t>
            </a:r>
            <a:endParaRPr lang="en-US" sz="1350" dirty="0"/>
          </a:p>
        </p:txBody>
      </p:sp>
      <p:sp>
        <p:nvSpPr>
          <p:cNvPr id="18" name="Text 16"/>
          <p:cNvSpPr txBox="1"/>
          <p:nvPr/>
        </p:nvSpPr>
        <p:spPr>
          <a:xfrm>
            <a:off x="457200" y="4480560"/>
            <a:ext cx="82296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Stuck and bouncing are loud. Drifting is the one that empties an account quietly, because every step looks like progress.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The Before Picture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two loops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The naive loop on the left, the safe loop on the right, then the line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boxes side by side, the left one red, the right one green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titled BEFORE, naive_agent.py. Write the three lines: while True, step equals model dot next, print step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in red: no ceiling, no cost, no exit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fat arrow between the two boxes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titled AFTER, run_agent.py. Four lines stacked: record the step, save the checkpoint, check for a loop, check the cap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in green: four lines, in that order. Stops on its own, with a reason attached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dark bar across the bottom: same input, same model, seven cents and six steps instead of an open tab</a:t>
            </a:r>
            <a:endParaRPr lang="en-US" sz="950" dirty="0"/>
          </a:p>
        </p:txBody>
      </p:sp>
      <p:sp>
        <p:nvSpPr>
          <p:cNvPr id="12" name="Shape 8"/>
          <p:cNvSpPr/>
          <p:nvPr/>
        </p:nvSpPr>
        <p:spPr>
          <a:xfrm>
            <a:off x="3886200" y="1536192"/>
            <a:ext cx="4800600" cy="1903164"/>
          </a:xfrm>
          <a:prstGeom prst="roundRect">
            <a:avLst>
              <a:gd name="adj" fmla="val 38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445964"/>
          </a:xfrm>
          <a:prstGeom prst="rect">
            <a:avLst/>
          </a:prstGeom>
        </p:spPr>
      </p:pic>
      <p:sp>
        <p:nvSpPr>
          <p:cNvPr id="15" name="Shape 10"/>
          <p:cNvSpPr/>
          <p:nvPr/>
        </p:nvSpPr>
        <p:spPr>
          <a:xfrm>
            <a:off x="3886200" y="3594804"/>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594804"/>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difference between these two is four lines, in the right order.”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Six Steps</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SIX STEPS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Each one buys exactly one 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280160"/>
            <a:ext cx="2606040" cy="1188720"/>
          </a:xfrm>
          <a:prstGeom prst="roundRect">
            <a:avLst>
              <a:gd name="adj" fmla="val 6154"/>
            </a:avLst>
          </a:prstGeom>
          <a:solidFill>
            <a:srgbClr val="F3F4F6"/>
          </a:solidFill>
          <a:ln w="12700">
            <a:solidFill>
              <a:srgbClr val="F3F4F6"/>
            </a:solidFill>
            <a:prstDash val="solid"/>
          </a:ln>
        </p:spPr>
      </p:sp>
      <p:sp>
        <p:nvSpPr>
          <p:cNvPr id="7" name="Text 5"/>
          <p:cNvSpPr txBox="1"/>
          <p:nvPr/>
        </p:nvSpPr>
        <p:spPr>
          <a:xfrm>
            <a:off x="658368" y="1389888"/>
            <a:ext cx="457200" cy="365760"/>
          </a:xfrm>
          <a:prstGeom prst="rect">
            <a:avLst/>
          </a:prstGeom>
          <a:noFill/>
          <a:ln/>
        </p:spPr>
        <p:txBody>
          <a:bodyPr wrap="square" lIns="0" tIns="0" rIns="0" bIns="0" rtlCol="0" anchor="t"/>
          <a:lstStyle/>
          <a:p>
            <a:pPr indent="0" marL="0">
              <a:buNone/>
            </a:pPr>
            <a:r>
              <a:rPr lang="en-US" sz="2000" b="1" dirty="0">
                <a:solidFill>
                  <a:srgbClr val="1D4ED8"/>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15568" y="14447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Instrument it</a:t>
            </a:r>
            <a:endParaRPr lang="en-US" sz="1350" dirty="0"/>
          </a:p>
        </p:txBody>
      </p:sp>
      <p:sp>
        <p:nvSpPr>
          <p:cNvPr id="9" name="Text 7"/>
          <p:cNvSpPr txBox="1"/>
          <p:nvPr/>
        </p:nvSpPr>
        <p:spPr>
          <a:xfrm>
            <a:off x="658368" y="18470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10" name="Text 8"/>
          <p:cNvSpPr txBox="1"/>
          <p:nvPr/>
        </p:nvSpPr>
        <p:spPr>
          <a:xfrm>
            <a:off x="658368" y="2057400"/>
            <a:ext cx="2286000" cy="320040"/>
          </a:xfrm>
          <a:prstGeom prst="rect">
            <a:avLst/>
          </a:prstGeom>
          <a:noFill/>
          <a:ln/>
        </p:spPr>
        <p:txBody>
          <a:bodyPr wrap="square" lIns="0" tIns="0" rIns="0" bIns="0" rtlCol="0" anchor="t"/>
          <a:lstStyle/>
          <a:p>
            <a:pPr indent="0" marL="0">
              <a:buNone/>
            </a:pPr>
            <a:r>
              <a:rPr lang="en-US" sz="1300" b="1" dirty="0">
                <a:solidFill>
                  <a:srgbClr val="1D4ED8"/>
                </a:solidFill>
                <a:latin typeface="Calibri" pitchFamily="34" charset="0"/>
                <a:ea typeface="Calibri" pitchFamily="34" charset="-122"/>
                <a:cs typeface="Calibri" pitchFamily="34" charset="-120"/>
              </a:rPr>
              <a:t>you can see it</a:t>
            </a:r>
            <a:endParaRPr lang="en-US" sz="1300" dirty="0"/>
          </a:p>
        </p:txBody>
      </p:sp>
      <p:sp>
        <p:nvSpPr>
          <p:cNvPr id="11" name="Shape 9"/>
          <p:cNvSpPr/>
          <p:nvPr/>
        </p:nvSpPr>
        <p:spPr>
          <a:xfrm>
            <a:off x="3246120" y="1280160"/>
            <a:ext cx="2606040" cy="1188720"/>
          </a:xfrm>
          <a:prstGeom prst="roundRect">
            <a:avLst>
              <a:gd name="adj" fmla="val 6154"/>
            </a:avLst>
          </a:prstGeom>
          <a:solidFill>
            <a:srgbClr val="F3F4F6"/>
          </a:solidFill>
          <a:ln w="12700">
            <a:solidFill>
              <a:srgbClr val="F3F4F6"/>
            </a:solidFill>
            <a:prstDash val="solid"/>
          </a:ln>
        </p:spPr>
      </p:sp>
      <p:sp>
        <p:nvSpPr>
          <p:cNvPr id="12" name="Text 10"/>
          <p:cNvSpPr txBox="1"/>
          <p:nvPr/>
        </p:nvSpPr>
        <p:spPr>
          <a:xfrm>
            <a:off x="3447288" y="1389888"/>
            <a:ext cx="457200" cy="365760"/>
          </a:xfrm>
          <a:prstGeom prst="rect">
            <a:avLst/>
          </a:prstGeom>
          <a:noFill/>
          <a:ln/>
        </p:spPr>
        <p:txBody>
          <a:bodyPr wrap="square" lIns="0" tIns="0" rIns="0" bIns="0" rtlCol="0" anchor="t"/>
          <a:lstStyle/>
          <a:p>
            <a:pPr indent="0" marL="0">
              <a:buNone/>
            </a:pPr>
            <a:r>
              <a:rPr lang="en-US" sz="2000" b="1" dirty="0">
                <a:solidFill>
                  <a:srgbClr val="6D28D9"/>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904488" y="14447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Cap it</a:t>
            </a:r>
            <a:endParaRPr lang="en-US" sz="1350" dirty="0"/>
          </a:p>
        </p:txBody>
      </p:sp>
      <p:sp>
        <p:nvSpPr>
          <p:cNvPr id="14" name="Text 12"/>
          <p:cNvSpPr txBox="1"/>
          <p:nvPr/>
        </p:nvSpPr>
        <p:spPr>
          <a:xfrm>
            <a:off x="3447288" y="18470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15" name="Text 13"/>
          <p:cNvSpPr txBox="1"/>
          <p:nvPr/>
        </p:nvSpPr>
        <p:spPr>
          <a:xfrm>
            <a:off x="3447288" y="2057400"/>
            <a:ext cx="2286000" cy="320040"/>
          </a:xfrm>
          <a:prstGeom prst="rect">
            <a:avLst/>
          </a:prstGeom>
          <a:noFill/>
          <a:ln/>
        </p:spPr>
        <p:txBody>
          <a:bodyPr wrap="square" lIns="0" tIns="0" rIns="0" bIns="0" rtlCol="0" anchor="t"/>
          <a:lstStyle/>
          <a:p>
            <a:pPr indent="0" marL="0">
              <a:buNone/>
            </a:pPr>
            <a:r>
              <a:rPr lang="en-US" sz="1300" b="1" dirty="0">
                <a:solidFill>
                  <a:srgbClr val="6D28D9"/>
                </a:solidFill>
                <a:latin typeface="Calibri" pitchFamily="34" charset="0"/>
                <a:ea typeface="Calibri" pitchFamily="34" charset="-122"/>
                <a:cs typeface="Calibri" pitchFamily="34" charset="-120"/>
              </a:rPr>
              <a:t>it is bounded</a:t>
            </a:r>
            <a:endParaRPr lang="en-US" sz="1300" dirty="0"/>
          </a:p>
        </p:txBody>
      </p:sp>
      <p:sp>
        <p:nvSpPr>
          <p:cNvPr id="16" name="Shape 14"/>
          <p:cNvSpPr/>
          <p:nvPr/>
        </p:nvSpPr>
        <p:spPr>
          <a:xfrm>
            <a:off x="6035040" y="1280160"/>
            <a:ext cx="2606040" cy="1188720"/>
          </a:xfrm>
          <a:prstGeom prst="roundRect">
            <a:avLst>
              <a:gd name="adj" fmla="val 6154"/>
            </a:avLst>
          </a:prstGeom>
          <a:solidFill>
            <a:srgbClr val="F3F4F6"/>
          </a:solidFill>
          <a:ln w="12700">
            <a:solidFill>
              <a:srgbClr val="F3F4F6"/>
            </a:solidFill>
            <a:prstDash val="solid"/>
          </a:ln>
        </p:spPr>
      </p:sp>
      <p:sp>
        <p:nvSpPr>
          <p:cNvPr id="17" name="Text 15"/>
          <p:cNvSpPr txBox="1"/>
          <p:nvPr/>
        </p:nvSpPr>
        <p:spPr>
          <a:xfrm>
            <a:off x="6236208" y="1389888"/>
            <a:ext cx="45720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6693408" y="14447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Detect the loop</a:t>
            </a:r>
            <a:endParaRPr lang="en-US" sz="1350" dirty="0"/>
          </a:p>
        </p:txBody>
      </p:sp>
      <p:sp>
        <p:nvSpPr>
          <p:cNvPr id="19" name="Text 17"/>
          <p:cNvSpPr txBox="1"/>
          <p:nvPr/>
        </p:nvSpPr>
        <p:spPr>
          <a:xfrm>
            <a:off x="6236208" y="18470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20" name="Text 18"/>
          <p:cNvSpPr txBox="1"/>
          <p:nvPr/>
        </p:nvSpPr>
        <p:spPr>
          <a:xfrm>
            <a:off x="6236208" y="2057400"/>
            <a:ext cx="2286000" cy="320040"/>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6 steps, not 14</a:t>
            </a:r>
            <a:endParaRPr lang="en-US" sz="1300" dirty="0"/>
          </a:p>
        </p:txBody>
      </p:sp>
      <p:sp>
        <p:nvSpPr>
          <p:cNvPr id="21" name="Shape 19"/>
          <p:cNvSpPr/>
          <p:nvPr/>
        </p:nvSpPr>
        <p:spPr>
          <a:xfrm>
            <a:off x="457200" y="2651760"/>
            <a:ext cx="2606040" cy="1188720"/>
          </a:xfrm>
          <a:prstGeom prst="roundRect">
            <a:avLst>
              <a:gd name="adj" fmla="val 6154"/>
            </a:avLst>
          </a:prstGeom>
          <a:solidFill>
            <a:srgbClr val="F3F4F6"/>
          </a:solidFill>
          <a:ln w="12700">
            <a:solidFill>
              <a:srgbClr val="F3F4F6"/>
            </a:solidFill>
            <a:prstDash val="solid"/>
          </a:ln>
        </p:spPr>
      </p:sp>
      <p:sp>
        <p:nvSpPr>
          <p:cNvPr id="22" name="Text 20"/>
          <p:cNvSpPr txBox="1"/>
          <p:nvPr/>
        </p:nvSpPr>
        <p:spPr>
          <a:xfrm>
            <a:off x="658368" y="2761488"/>
            <a:ext cx="457200" cy="365760"/>
          </a:xfrm>
          <a:prstGeom prst="rect">
            <a:avLst/>
          </a:prstGeom>
          <a:noFill/>
          <a:ln/>
        </p:spPr>
        <p:txBody>
          <a:bodyPr wrap="square" lIns="0" tIns="0" rIns="0" bIns="0" rtlCol="0" anchor="t"/>
          <a:lstStyle/>
          <a:p>
            <a:pPr indent="0" marL="0">
              <a:buNone/>
            </a:pPr>
            <a:r>
              <a:rPr lang="en-US" sz="2000" b="1" dirty="0">
                <a:solidFill>
                  <a:srgbClr val="047857"/>
                </a:solidFill>
                <a:latin typeface="Cambria" pitchFamily="34" charset="0"/>
                <a:ea typeface="Cambria" pitchFamily="34" charset="-122"/>
                <a:cs typeface="Cambria" pitchFamily="34" charset="-120"/>
              </a:rPr>
              <a:t>4</a:t>
            </a:r>
            <a:endParaRPr lang="en-US" sz="2000" dirty="0"/>
          </a:p>
        </p:txBody>
      </p:sp>
      <p:sp>
        <p:nvSpPr>
          <p:cNvPr id="23" name="Text 21"/>
          <p:cNvSpPr txBox="1"/>
          <p:nvPr/>
        </p:nvSpPr>
        <p:spPr>
          <a:xfrm>
            <a:off x="1115568" y="28163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Checkpoint</a:t>
            </a:r>
            <a:endParaRPr lang="en-US" sz="1350" dirty="0"/>
          </a:p>
        </p:txBody>
      </p:sp>
      <p:sp>
        <p:nvSpPr>
          <p:cNvPr id="24" name="Text 22"/>
          <p:cNvSpPr txBox="1"/>
          <p:nvPr/>
        </p:nvSpPr>
        <p:spPr>
          <a:xfrm>
            <a:off x="658368" y="32186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25" name="Text 23"/>
          <p:cNvSpPr txBox="1"/>
          <p:nvPr/>
        </p:nvSpPr>
        <p:spPr>
          <a:xfrm>
            <a:off x="658368" y="3429000"/>
            <a:ext cx="2286000" cy="320040"/>
          </a:xfrm>
          <a:prstGeom prst="rect">
            <a:avLst/>
          </a:prstGeom>
          <a:noFill/>
          <a:ln/>
        </p:spPr>
        <p:txBody>
          <a:bodyPr wrap="square" lIns="0" tIns="0" rIns="0" bIns="0" rtlCol="0" anchor="t"/>
          <a:lstStyle/>
          <a:p>
            <a:pPr indent="0" marL="0">
              <a:buNone/>
            </a:pPr>
            <a:r>
              <a:rPr lang="en-US" sz="1300" b="1" dirty="0">
                <a:solidFill>
                  <a:srgbClr val="047857"/>
                </a:solidFill>
                <a:latin typeface="Calibri" pitchFamily="34" charset="0"/>
                <a:ea typeface="Calibri" pitchFamily="34" charset="-122"/>
                <a:cs typeface="Calibri" pitchFamily="34" charset="-120"/>
              </a:rPr>
              <a:t>stopping is cheap</a:t>
            </a:r>
            <a:endParaRPr lang="en-US" sz="1300" dirty="0"/>
          </a:p>
        </p:txBody>
      </p:sp>
      <p:sp>
        <p:nvSpPr>
          <p:cNvPr id="26" name="Shape 24"/>
          <p:cNvSpPr/>
          <p:nvPr/>
        </p:nvSpPr>
        <p:spPr>
          <a:xfrm>
            <a:off x="3246120" y="2651760"/>
            <a:ext cx="2606040" cy="1188720"/>
          </a:xfrm>
          <a:prstGeom prst="roundRect">
            <a:avLst>
              <a:gd name="adj" fmla="val 6154"/>
            </a:avLst>
          </a:prstGeom>
          <a:solidFill>
            <a:srgbClr val="F3F4F6"/>
          </a:solidFill>
          <a:ln w="12700">
            <a:solidFill>
              <a:srgbClr val="F3F4F6"/>
            </a:solidFill>
            <a:prstDash val="solid"/>
          </a:ln>
        </p:spPr>
      </p:sp>
      <p:sp>
        <p:nvSpPr>
          <p:cNvPr id="27" name="Text 25"/>
          <p:cNvSpPr txBox="1"/>
          <p:nvPr/>
        </p:nvSpPr>
        <p:spPr>
          <a:xfrm>
            <a:off x="3447288" y="2761488"/>
            <a:ext cx="457200" cy="365760"/>
          </a:xfrm>
          <a:prstGeom prst="rect">
            <a:avLst/>
          </a:prstGeom>
          <a:noFill/>
          <a:ln/>
        </p:spPr>
        <p:txBody>
          <a:bodyPr wrap="square" lIns="0" tIns="0" rIns="0" bIns="0" rtlCol="0" anchor="t"/>
          <a:lstStyle/>
          <a:p>
            <a:pPr indent="0" marL="0">
              <a:buNone/>
            </a:pPr>
            <a:r>
              <a:rPr lang="en-US" sz="2000" b="1" dirty="0">
                <a:solidFill>
                  <a:srgbClr val="1D4ED8"/>
                </a:solidFill>
                <a:latin typeface="Cambria" pitchFamily="34" charset="0"/>
                <a:ea typeface="Cambria" pitchFamily="34" charset="-122"/>
                <a:cs typeface="Cambria" pitchFamily="34" charset="-120"/>
              </a:rPr>
              <a:t>5</a:t>
            </a:r>
            <a:endParaRPr lang="en-US" sz="2000" dirty="0"/>
          </a:p>
        </p:txBody>
      </p:sp>
      <p:sp>
        <p:nvSpPr>
          <p:cNvPr id="28" name="Text 26"/>
          <p:cNvSpPr txBox="1"/>
          <p:nvPr/>
        </p:nvSpPr>
        <p:spPr>
          <a:xfrm>
            <a:off x="3904488" y="28163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Cost per success</a:t>
            </a:r>
            <a:endParaRPr lang="en-US" sz="1350" dirty="0"/>
          </a:p>
        </p:txBody>
      </p:sp>
      <p:sp>
        <p:nvSpPr>
          <p:cNvPr id="29" name="Text 27"/>
          <p:cNvSpPr txBox="1"/>
          <p:nvPr/>
        </p:nvSpPr>
        <p:spPr>
          <a:xfrm>
            <a:off x="3447288" y="32186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30" name="Text 28"/>
          <p:cNvSpPr txBox="1"/>
          <p:nvPr/>
        </p:nvSpPr>
        <p:spPr>
          <a:xfrm>
            <a:off x="3447288" y="3429000"/>
            <a:ext cx="2286000" cy="320040"/>
          </a:xfrm>
          <a:prstGeom prst="rect">
            <a:avLst/>
          </a:prstGeom>
          <a:noFill/>
          <a:ln/>
        </p:spPr>
        <p:txBody>
          <a:bodyPr wrap="square" lIns="0" tIns="0" rIns="0" bIns="0" rtlCol="0" anchor="t"/>
          <a:lstStyle/>
          <a:p>
            <a:pPr indent="0" marL="0">
              <a:buNone/>
            </a:pPr>
            <a:r>
              <a:rPr lang="en-US" sz="1300" b="1" dirty="0">
                <a:solidFill>
                  <a:srgbClr val="1D4ED8"/>
                </a:solidFill>
                <a:latin typeface="Calibri" pitchFamily="34" charset="0"/>
                <a:ea typeface="Calibri" pitchFamily="34" charset="-122"/>
                <a:cs typeface="Calibri" pitchFamily="34" charset="-120"/>
              </a:rPr>
              <a:t>the true number</a:t>
            </a:r>
            <a:endParaRPr lang="en-US" sz="1300" dirty="0"/>
          </a:p>
        </p:txBody>
      </p:sp>
      <p:sp>
        <p:nvSpPr>
          <p:cNvPr id="31" name="Shape 29"/>
          <p:cNvSpPr/>
          <p:nvPr/>
        </p:nvSpPr>
        <p:spPr>
          <a:xfrm>
            <a:off x="6035040" y="2651760"/>
            <a:ext cx="2606040" cy="1188720"/>
          </a:xfrm>
          <a:prstGeom prst="roundRect">
            <a:avLst>
              <a:gd name="adj" fmla="val 6154"/>
            </a:avLst>
          </a:prstGeom>
          <a:solidFill>
            <a:srgbClr val="F3F4F6"/>
          </a:solidFill>
          <a:ln w="12700">
            <a:solidFill>
              <a:srgbClr val="F3F4F6"/>
            </a:solidFill>
            <a:prstDash val="solid"/>
          </a:ln>
        </p:spPr>
      </p:sp>
      <p:sp>
        <p:nvSpPr>
          <p:cNvPr id="32" name="Text 30"/>
          <p:cNvSpPr txBox="1"/>
          <p:nvPr/>
        </p:nvSpPr>
        <p:spPr>
          <a:xfrm>
            <a:off x="6236208" y="2761488"/>
            <a:ext cx="457200" cy="365760"/>
          </a:xfrm>
          <a:prstGeom prst="rect">
            <a:avLst/>
          </a:prstGeom>
          <a:noFill/>
          <a:ln/>
        </p:spPr>
        <p:txBody>
          <a:bodyPr wrap="square" lIns="0" tIns="0" rIns="0" bIns="0" rtlCol="0" anchor="t"/>
          <a:lstStyle/>
          <a:p>
            <a:pPr indent="0" marL="0">
              <a:buNone/>
            </a:pPr>
            <a:r>
              <a:rPr lang="en-US" sz="2000" b="1" dirty="0">
                <a:solidFill>
                  <a:srgbClr val="B91C1C"/>
                </a:solidFill>
                <a:latin typeface="Cambria" pitchFamily="34" charset="0"/>
                <a:ea typeface="Cambria" pitchFamily="34" charset="-122"/>
                <a:cs typeface="Cambria" pitchFamily="34" charset="-120"/>
              </a:rPr>
              <a:t>6</a:t>
            </a:r>
            <a:endParaRPr lang="en-US" sz="2000" dirty="0"/>
          </a:p>
        </p:txBody>
      </p:sp>
      <p:sp>
        <p:nvSpPr>
          <p:cNvPr id="33" name="Text 31"/>
          <p:cNvSpPr txBox="1"/>
          <p:nvPr/>
        </p:nvSpPr>
        <p:spPr>
          <a:xfrm>
            <a:off x="6693408" y="2816352"/>
            <a:ext cx="182880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Alert on the rate</a:t>
            </a:r>
            <a:endParaRPr lang="en-US" sz="1350" dirty="0"/>
          </a:p>
        </p:txBody>
      </p:sp>
      <p:sp>
        <p:nvSpPr>
          <p:cNvPr id="34" name="Text 32"/>
          <p:cNvSpPr txBox="1"/>
          <p:nvPr/>
        </p:nvSpPr>
        <p:spPr>
          <a:xfrm>
            <a:off x="6236208" y="3218688"/>
            <a:ext cx="2194560" cy="228600"/>
          </a:xfrm>
          <a:prstGeom prst="rect">
            <a:avLst/>
          </a:prstGeom>
          <a:noFill/>
          <a:ln/>
        </p:spPr>
        <p:txBody>
          <a:bodyPr wrap="square" lIns="0" tIns="0" rIns="0" bIns="0" rtlCol="0" anchor="t"/>
          <a:lstStyle/>
          <a:p>
            <a:pPr indent="0" marL="0">
              <a:buNone/>
            </a:pPr>
            <a:r>
              <a:rPr lang="en-US" sz="900" spc="100" kern="0" dirty="0">
                <a:solidFill>
                  <a:srgbClr val="6B7280"/>
                </a:solidFill>
                <a:latin typeface="Calibri" pitchFamily="34" charset="0"/>
                <a:ea typeface="Calibri" pitchFamily="34" charset="-122"/>
                <a:cs typeface="Calibri" pitchFamily="34" charset="-120"/>
              </a:rPr>
              <a:t>buys you</a:t>
            </a:r>
            <a:endParaRPr lang="en-US" sz="900" dirty="0"/>
          </a:p>
        </p:txBody>
      </p:sp>
      <p:sp>
        <p:nvSpPr>
          <p:cNvPr id="35" name="Text 33"/>
          <p:cNvSpPr txBox="1"/>
          <p:nvPr/>
        </p:nvSpPr>
        <p:spPr>
          <a:xfrm>
            <a:off x="6236208" y="3429000"/>
            <a:ext cx="2286000" cy="320040"/>
          </a:xfrm>
          <a:prstGeom prst="rect">
            <a:avLst/>
          </a:prstGeom>
          <a:noFill/>
          <a:ln/>
        </p:spPr>
        <p:txBody>
          <a:bodyPr wrap="square" lIns="0" tIns="0" rIns="0" bIns="0" rtlCol="0" anchor="t"/>
          <a:lstStyle/>
          <a:p>
            <a:pPr indent="0" marL="0">
              <a:buNone/>
            </a:pPr>
            <a:r>
              <a:rPr lang="en-US" sz="1300" b="1" dirty="0">
                <a:solidFill>
                  <a:srgbClr val="B91C1C"/>
                </a:solidFill>
                <a:latin typeface="Calibri" pitchFamily="34" charset="0"/>
                <a:ea typeface="Calibri" pitchFamily="34" charset="-122"/>
                <a:cs typeface="Calibri" pitchFamily="34" charset="-120"/>
              </a:rPr>
              <a:t>you find out</a:t>
            </a:r>
            <a:endParaRPr lang="en-US" sz="1300" dirty="0"/>
          </a:p>
        </p:txBody>
      </p:sp>
      <p:sp>
        <p:nvSpPr>
          <p:cNvPr id="36" name="Shape 34"/>
          <p:cNvSpPr/>
          <p:nvPr/>
        </p:nvSpPr>
        <p:spPr>
          <a:xfrm>
            <a:off x="457200" y="4114800"/>
            <a:ext cx="8229600" cy="640080"/>
          </a:xfrm>
          <a:prstGeom prst="roundRect">
            <a:avLst>
              <a:gd name="adj" fmla="val 11429"/>
            </a:avLst>
          </a:prstGeom>
          <a:solidFill>
            <a:srgbClr val="FEF3C7"/>
          </a:solidFill>
          <a:ln w="12700">
            <a:solidFill>
              <a:srgbClr val="FEF3C7"/>
            </a:solidFill>
            <a:prstDash val="solid"/>
          </a:ln>
        </p:spPr>
      </p:sp>
      <p:sp>
        <p:nvSpPr>
          <p:cNvPr id="37" name="Text 35"/>
          <p:cNvSpPr txBox="1"/>
          <p:nvPr/>
        </p:nvSpPr>
        <p:spPr>
          <a:xfrm>
            <a:off x="731520" y="4114800"/>
            <a:ext cx="7680960" cy="640080"/>
          </a:xfrm>
          <a:prstGeom prst="rect">
            <a:avLst/>
          </a:prstGeom>
          <a:noFill/>
          <a:ln/>
        </p:spPr>
        <p:txBody>
          <a:bodyPr wrap="square" lIns="0" tIns="0" rIns="0" bIns="0" rtlCol="0" anchor="ctr"/>
          <a:lstStyle/>
          <a:p>
            <a:pPr indent="0" marL="0">
              <a:buNone/>
            </a:pPr>
            <a:r>
              <a:rPr lang="en-US" sz="1300" b="1" dirty="0">
                <a:solidFill>
                  <a:srgbClr val="B45309"/>
                </a:solidFill>
                <a:latin typeface="Calibri" pitchFamily="34" charset="0"/>
                <a:ea typeface="Calibri" pitchFamily="34" charset="-122"/>
                <a:cs typeface="Calibri" pitchFamily="34" charset="-120"/>
              </a:rPr>
              <a:t>Each one is useless alone and boring together. </a:t>
            </a:r>
            <a:pPr indent="0" marL="0">
              <a:buNone/>
            </a:pPr>
            <a:r>
              <a:rPr lang="en-US" sz="1300" dirty="0">
                <a:solidFill>
                  <a:srgbClr val="1F2937"/>
                </a:solidFill>
                <a:latin typeface="Calibri" pitchFamily="34" charset="0"/>
                <a:ea typeface="Calibri" pitchFamily="34" charset="-122"/>
                <a:cs typeface="Calibri" pitchFamily="34" charset="-120"/>
              </a:rPr>
              <a:t>Boring is the goal; an agent nobody has to watch is the deliverable.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SIX STEPS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file each, and none of them are long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234440"/>
            <a:ext cx="8229600" cy="493776"/>
          </a:xfrm>
          <a:prstGeom prst="roundRect">
            <a:avLst>
              <a:gd name="adj" fmla="val 14815"/>
            </a:avLst>
          </a:prstGeom>
          <a:solidFill>
            <a:srgbClr val="F3F4F6"/>
          </a:solidFill>
          <a:ln w="12700">
            <a:solidFill>
              <a:srgbClr val="F3F4F6"/>
            </a:solidFill>
            <a:prstDash val="solid"/>
          </a:ln>
        </p:spPr>
      </p:sp>
      <p:sp>
        <p:nvSpPr>
          <p:cNvPr id="7" name="Text 5"/>
          <p:cNvSpPr txBox="1"/>
          <p:nvPr/>
        </p:nvSpPr>
        <p:spPr>
          <a:xfrm>
            <a:off x="640080" y="1234440"/>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agent/metrics.py</a:t>
            </a:r>
            <a:endParaRPr lang="en-US" sz="1150" dirty="0"/>
          </a:p>
        </p:txBody>
      </p:sp>
      <p:sp>
        <p:nvSpPr>
          <p:cNvPr id="8" name="Text 6"/>
          <p:cNvSpPr txBox="1"/>
          <p:nvPr/>
        </p:nvSpPr>
        <p:spPr>
          <a:xfrm>
            <a:off x="3017520" y="1234440"/>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1</a:t>
            </a:r>
            <a:endParaRPr lang="en-US" sz="1050" dirty="0"/>
          </a:p>
        </p:txBody>
      </p:sp>
      <p:sp>
        <p:nvSpPr>
          <p:cNvPr id="9" name="Text 7"/>
          <p:cNvSpPr txBox="1"/>
          <p:nvPr/>
        </p:nvSpPr>
        <p:spPr>
          <a:xfrm>
            <a:off x="3931920" y="1234440"/>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what it cost, and who pays</a:t>
            </a:r>
            <a:endParaRPr lang="en-US" sz="1250" dirty="0"/>
          </a:p>
        </p:txBody>
      </p:sp>
      <p:sp>
        <p:nvSpPr>
          <p:cNvPr id="10" name="Text 8"/>
          <p:cNvSpPr txBox="1"/>
          <p:nvPr/>
        </p:nvSpPr>
        <p:spPr>
          <a:xfrm>
            <a:off x="7498080" y="1234440"/>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~60 lines</a:t>
            </a:r>
            <a:endParaRPr lang="en-US" sz="1050" dirty="0"/>
          </a:p>
        </p:txBody>
      </p:sp>
      <p:sp>
        <p:nvSpPr>
          <p:cNvPr id="11" name="Shape 9"/>
          <p:cNvSpPr/>
          <p:nvPr/>
        </p:nvSpPr>
        <p:spPr>
          <a:xfrm>
            <a:off x="457200" y="1801368"/>
            <a:ext cx="8229600" cy="493776"/>
          </a:xfrm>
          <a:prstGeom prst="roundRect">
            <a:avLst>
              <a:gd name="adj" fmla="val 14815"/>
            </a:avLst>
          </a:prstGeom>
          <a:solidFill>
            <a:srgbClr val="FFFFFF"/>
          </a:solidFill>
          <a:ln w="12700">
            <a:solidFill>
              <a:srgbClr val="FFFFFF"/>
            </a:solidFill>
            <a:prstDash val="solid"/>
          </a:ln>
        </p:spPr>
      </p:sp>
      <p:sp>
        <p:nvSpPr>
          <p:cNvPr id="12" name="Text 10"/>
          <p:cNvSpPr txBox="1"/>
          <p:nvPr/>
        </p:nvSpPr>
        <p:spPr>
          <a:xfrm>
            <a:off x="640080" y="1801368"/>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agent/budget.py</a:t>
            </a:r>
            <a:endParaRPr lang="en-US" sz="1150" dirty="0"/>
          </a:p>
        </p:txBody>
      </p:sp>
      <p:sp>
        <p:nvSpPr>
          <p:cNvPr id="13" name="Text 11"/>
          <p:cNvSpPr txBox="1"/>
          <p:nvPr/>
        </p:nvSpPr>
        <p:spPr>
          <a:xfrm>
            <a:off x="3017520" y="1801368"/>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2</a:t>
            </a:r>
            <a:endParaRPr lang="en-US" sz="1050" dirty="0"/>
          </a:p>
        </p:txBody>
      </p:sp>
      <p:sp>
        <p:nvSpPr>
          <p:cNvPr id="14" name="Text 12"/>
          <p:cNvSpPr txBox="1"/>
          <p:nvPr/>
        </p:nvSpPr>
        <p:spPr>
          <a:xfrm>
            <a:off x="3931920" y="1801368"/>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per run, per day, behaviour chosen</a:t>
            </a:r>
            <a:endParaRPr lang="en-US" sz="1250" dirty="0"/>
          </a:p>
        </p:txBody>
      </p:sp>
      <p:sp>
        <p:nvSpPr>
          <p:cNvPr id="15" name="Text 13"/>
          <p:cNvSpPr txBox="1"/>
          <p:nvPr/>
        </p:nvSpPr>
        <p:spPr>
          <a:xfrm>
            <a:off x="7498080" y="1801368"/>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~70 lines</a:t>
            </a:r>
            <a:endParaRPr lang="en-US" sz="1050" dirty="0"/>
          </a:p>
        </p:txBody>
      </p:sp>
      <p:sp>
        <p:nvSpPr>
          <p:cNvPr id="16" name="Shape 14"/>
          <p:cNvSpPr/>
          <p:nvPr/>
        </p:nvSpPr>
        <p:spPr>
          <a:xfrm>
            <a:off x="457200" y="2368296"/>
            <a:ext cx="8229600" cy="493776"/>
          </a:xfrm>
          <a:prstGeom prst="roundRect">
            <a:avLst>
              <a:gd name="adj" fmla="val 14815"/>
            </a:avLst>
          </a:prstGeom>
          <a:solidFill>
            <a:srgbClr val="F3F4F6"/>
          </a:solidFill>
          <a:ln w="12700">
            <a:solidFill>
              <a:srgbClr val="F3F4F6"/>
            </a:solidFill>
            <a:prstDash val="solid"/>
          </a:ln>
        </p:spPr>
      </p:sp>
      <p:sp>
        <p:nvSpPr>
          <p:cNvPr id="17" name="Text 15"/>
          <p:cNvSpPr txBox="1"/>
          <p:nvPr/>
        </p:nvSpPr>
        <p:spPr>
          <a:xfrm>
            <a:off x="640080" y="2368296"/>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agent/loops.py</a:t>
            </a:r>
            <a:endParaRPr lang="en-US" sz="1150" dirty="0"/>
          </a:p>
        </p:txBody>
      </p:sp>
      <p:sp>
        <p:nvSpPr>
          <p:cNvPr id="18" name="Text 16"/>
          <p:cNvSpPr txBox="1"/>
          <p:nvPr/>
        </p:nvSpPr>
        <p:spPr>
          <a:xfrm>
            <a:off x="3017520" y="2368296"/>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3</a:t>
            </a:r>
            <a:endParaRPr lang="en-US" sz="1050" dirty="0"/>
          </a:p>
        </p:txBody>
      </p:sp>
      <p:sp>
        <p:nvSpPr>
          <p:cNvPr id="19" name="Text 17"/>
          <p:cNvSpPr txBox="1"/>
          <p:nvPr/>
        </p:nvSpPr>
        <p:spPr>
          <a:xfrm>
            <a:off x="3931920" y="2368296"/>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stuck, bouncing, drifting</a:t>
            </a:r>
            <a:endParaRPr lang="en-US" sz="1250" dirty="0"/>
          </a:p>
        </p:txBody>
      </p:sp>
      <p:sp>
        <p:nvSpPr>
          <p:cNvPr id="20" name="Text 18"/>
          <p:cNvSpPr txBox="1"/>
          <p:nvPr/>
        </p:nvSpPr>
        <p:spPr>
          <a:xfrm>
            <a:off x="7498080" y="2368296"/>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~60 lines</a:t>
            </a:r>
            <a:endParaRPr lang="en-US" sz="1050" dirty="0"/>
          </a:p>
        </p:txBody>
      </p:sp>
      <p:sp>
        <p:nvSpPr>
          <p:cNvPr id="21" name="Shape 19"/>
          <p:cNvSpPr/>
          <p:nvPr/>
        </p:nvSpPr>
        <p:spPr>
          <a:xfrm>
            <a:off x="457200" y="2935224"/>
            <a:ext cx="8229600" cy="493776"/>
          </a:xfrm>
          <a:prstGeom prst="roundRect">
            <a:avLst>
              <a:gd name="adj" fmla="val 14815"/>
            </a:avLst>
          </a:prstGeom>
          <a:solidFill>
            <a:srgbClr val="FFFFFF"/>
          </a:solidFill>
          <a:ln w="12700">
            <a:solidFill>
              <a:srgbClr val="FFFFFF"/>
            </a:solidFill>
            <a:prstDash val="solid"/>
          </a:ln>
        </p:spPr>
      </p:sp>
      <p:sp>
        <p:nvSpPr>
          <p:cNvPr id="22" name="Text 20"/>
          <p:cNvSpPr txBox="1"/>
          <p:nvPr/>
        </p:nvSpPr>
        <p:spPr>
          <a:xfrm>
            <a:off x="640080" y="2935224"/>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agent/checkpoint.py</a:t>
            </a:r>
            <a:endParaRPr lang="en-US" sz="1150" dirty="0"/>
          </a:p>
        </p:txBody>
      </p:sp>
      <p:sp>
        <p:nvSpPr>
          <p:cNvPr id="23" name="Text 21"/>
          <p:cNvSpPr txBox="1"/>
          <p:nvPr/>
        </p:nvSpPr>
        <p:spPr>
          <a:xfrm>
            <a:off x="3017520" y="2935224"/>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4</a:t>
            </a:r>
            <a:endParaRPr lang="en-US" sz="1050" dirty="0"/>
          </a:p>
        </p:txBody>
      </p:sp>
      <p:sp>
        <p:nvSpPr>
          <p:cNvPr id="24" name="Text 22"/>
          <p:cNvSpPr txBox="1"/>
          <p:nvPr/>
        </p:nvSpPr>
        <p:spPr>
          <a:xfrm>
            <a:off x="3931920" y="2935224"/>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save after every completed step</a:t>
            </a:r>
            <a:endParaRPr lang="en-US" sz="1250" dirty="0"/>
          </a:p>
        </p:txBody>
      </p:sp>
      <p:sp>
        <p:nvSpPr>
          <p:cNvPr id="25" name="Text 23"/>
          <p:cNvSpPr txBox="1"/>
          <p:nvPr/>
        </p:nvSpPr>
        <p:spPr>
          <a:xfrm>
            <a:off x="7498080" y="2935224"/>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~45 lines</a:t>
            </a:r>
            <a:endParaRPr lang="en-US" sz="1050" dirty="0"/>
          </a:p>
        </p:txBody>
      </p:sp>
      <p:sp>
        <p:nvSpPr>
          <p:cNvPr id="26" name="Shape 24"/>
          <p:cNvSpPr/>
          <p:nvPr/>
        </p:nvSpPr>
        <p:spPr>
          <a:xfrm>
            <a:off x="457200" y="3502152"/>
            <a:ext cx="8229600" cy="493776"/>
          </a:xfrm>
          <a:prstGeom prst="roundRect">
            <a:avLst>
              <a:gd name="adj" fmla="val 14815"/>
            </a:avLst>
          </a:prstGeom>
          <a:solidFill>
            <a:srgbClr val="F3F4F6"/>
          </a:solidFill>
          <a:ln w="12700">
            <a:solidFill>
              <a:srgbClr val="F3F4F6"/>
            </a:solidFill>
            <a:prstDash val="solid"/>
          </a:ln>
        </p:spPr>
      </p:sp>
      <p:sp>
        <p:nvSpPr>
          <p:cNvPr id="27" name="Text 25"/>
          <p:cNvSpPr txBox="1"/>
          <p:nvPr/>
        </p:nvSpPr>
        <p:spPr>
          <a:xfrm>
            <a:off x="640080" y="3502152"/>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report.py</a:t>
            </a:r>
            <a:endParaRPr lang="en-US" sz="1150" dirty="0"/>
          </a:p>
        </p:txBody>
      </p:sp>
      <p:sp>
        <p:nvSpPr>
          <p:cNvPr id="28" name="Text 26"/>
          <p:cNvSpPr txBox="1"/>
          <p:nvPr/>
        </p:nvSpPr>
        <p:spPr>
          <a:xfrm>
            <a:off x="3017520" y="3502152"/>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5</a:t>
            </a:r>
            <a:endParaRPr lang="en-US" sz="1050" dirty="0"/>
          </a:p>
        </p:txBody>
      </p:sp>
      <p:sp>
        <p:nvSpPr>
          <p:cNvPr id="29" name="Text 27"/>
          <p:cNvSpPr txBox="1"/>
          <p:nvPr/>
        </p:nvSpPr>
        <p:spPr>
          <a:xfrm>
            <a:off x="3931920" y="3502152"/>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arithmetic, with its definition</a:t>
            </a:r>
            <a:endParaRPr lang="en-US" sz="1250" dirty="0"/>
          </a:p>
        </p:txBody>
      </p:sp>
      <p:sp>
        <p:nvSpPr>
          <p:cNvPr id="30" name="Text 28"/>
          <p:cNvSpPr txBox="1"/>
          <p:nvPr/>
        </p:nvSpPr>
        <p:spPr>
          <a:xfrm>
            <a:off x="7498080" y="3502152"/>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~60 lines</a:t>
            </a:r>
            <a:endParaRPr lang="en-US" sz="1050" dirty="0"/>
          </a:p>
        </p:txBody>
      </p:sp>
      <p:sp>
        <p:nvSpPr>
          <p:cNvPr id="31" name="Shape 29"/>
          <p:cNvSpPr/>
          <p:nvPr/>
        </p:nvSpPr>
        <p:spPr>
          <a:xfrm>
            <a:off x="457200" y="4069080"/>
            <a:ext cx="8229600" cy="493776"/>
          </a:xfrm>
          <a:prstGeom prst="roundRect">
            <a:avLst>
              <a:gd name="adj" fmla="val 14815"/>
            </a:avLst>
          </a:prstGeom>
          <a:solidFill>
            <a:srgbClr val="FFFFFF"/>
          </a:solidFill>
          <a:ln w="12700">
            <a:solidFill>
              <a:srgbClr val="FFFFFF"/>
            </a:solidFill>
            <a:prstDash val="solid"/>
          </a:ln>
        </p:spPr>
      </p:sp>
      <p:sp>
        <p:nvSpPr>
          <p:cNvPr id="32" name="Text 30"/>
          <p:cNvSpPr txBox="1"/>
          <p:nvPr/>
        </p:nvSpPr>
        <p:spPr>
          <a:xfrm>
            <a:off x="640080" y="4069080"/>
            <a:ext cx="2286000" cy="493776"/>
          </a:xfrm>
          <a:prstGeom prst="rect">
            <a:avLst/>
          </a:prstGeom>
          <a:noFill/>
          <a:ln/>
        </p:spPr>
        <p:txBody>
          <a:bodyPr wrap="square" lIns="0" tIns="0" rIns="0" bIns="0" rtlCol="0" anchor="ctr"/>
          <a:lstStyle/>
          <a:p>
            <a:pPr indent="0" marL="0">
              <a:buNone/>
            </a:pPr>
            <a:r>
              <a:rPr lang="en-US" sz="1150" dirty="0">
                <a:solidFill>
                  <a:srgbClr val="6D28D9"/>
                </a:solidFill>
                <a:latin typeface="Courier New" pitchFamily="34" charset="0"/>
                <a:ea typeface="Courier New" pitchFamily="34" charset="-122"/>
                <a:cs typeface="Courier New" pitchFamily="34" charset="-120"/>
              </a:rPr>
              <a:t>prometheus/rules/</a:t>
            </a:r>
            <a:endParaRPr lang="en-US" sz="1150" dirty="0"/>
          </a:p>
        </p:txBody>
      </p:sp>
      <p:sp>
        <p:nvSpPr>
          <p:cNvPr id="33" name="Text 31"/>
          <p:cNvSpPr txBox="1"/>
          <p:nvPr/>
        </p:nvSpPr>
        <p:spPr>
          <a:xfrm>
            <a:off x="3017520" y="4069080"/>
            <a:ext cx="822960" cy="493776"/>
          </a:xfrm>
          <a:prstGeom prst="rect">
            <a:avLst/>
          </a:prstGeom>
          <a:noFill/>
          <a:ln/>
        </p:spPr>
        <p:txBody>
          <a:bodyPr wrap="square" lIns="0" tIns="0" rIns="0" bIns="0" rtlCol="0" anchor="ctr"/>
          <a:lstStyle/>
          <a:p>
            <a:pPr indent="0" marL="0">
              <a:buNone/>
            </a:pPr>
            <a:r>
              <a:rPr lang="en-US" sz="1050" b="1" dirty="0">
                <a:solidFill>
                  <a:srgbClr val="B45309"/>
                </a:solidFill>
                <a:latin typeface="Calibri" pitchFamily="34" charset="0"/>
                <a:ea typeface="Calibri" pitchFamily="34" charset="-122"/>
                <a:cs typeface="Calibri" pitchFamily="34" charset="-120"/>
              </a:rPr>
              <a:t>step 6</a:t>
            </a:r>
            <a:endParaRPr lang="en-US" sz="1050" dirty="0"/>
          </a:p>
        </p:txBody>
      </p:sp>
      <p:sp>
        <p:nvSpPr>
          <p:cNvPr id="34" name="Text 32"/>
          <p:cNvSpPr txBox="1"/>
          <p:nvPr/>
        </p:nvSpPr>
        <p:spPr>
          <a:xfrm>
            <a:off x="3931920" y="4069080"/>
            <a:ext cx="3566160" cy="493776"/>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fast window and slow window</a:t>
            </a:r>
            <a:endParaRPr lang="en-US" sz="1250" dirty="0"/>
          </a:p>
        </p:txBody>
      </p:sp>
      <p:sp>
        <p:nvSpPr>
          <p:cNvPr id="35" name="Text 33"/>
          <p:cNvSpPr txBox="1"/>
          <p:nvPr/>
        </p:nvSpPr>
        <p:spPr>
          <a:xfrm>
            <a:off x="7498080" y="4069080"/>
            <a:ext cx="1005840" cy="493776"/>
          </a:xfrm>
          <a:prstGeom prst="rect">
            <a:avLst/>
          </a:prstGeom>
          <a:noFill/>
          <a:ln/>
        </p:spPr>
        <p:txBody>
          <a:bodyPr wrap="square" lIns="0" tIns="0" rIns="0" bIns="0" rtlCol="0" anchor="ctr"/>
          <a:lstStyle/>
          <a:p>
            <a:pPr algn="r" indent="0" marL="0">
              <a:buNone/>
            </a:pPr>
            <a:r>
              <a:rPr lang="en-US" sz="1050" dirty="0">
                <a:solidFill>
                  <a:srgbClr val="6B7280"/>
                </a:solidFill>
                <a:latin typeface="Courier New" pitchFamily="34" charset="0"/>
                <a:ea typeface="Courier New" pitchFamily="34" charset="-122"/>
                <a:cs typeface="Courier New" pitchFamily="34" charset="-120"/>
              </a:rPr>
              <a:t>~50 lines</a:t>
            </a:r>
            <a:endParaRPr lang="en-US" sz="1050" dirty="0"/>
          </a:p>
        </p:txBody>
      </p:sp>
      <p:sp>
        <p:nvSpPr>
          <p:cNvPr id="36" name="Text 34"/>
          <p:cNvSpPr txBox="1"/>
          <p:nvPr/>
        </p:nvSpPr>
        <p:spPr>
          <a:xfrm>
            <a:off x="457200" y="4617720"/>
            <a:ext cx="8229600" cy="32004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The whole safety layer is under four hundred lines. It is not hard; it is just never the thing anybody does first.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The Six Steps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ladder</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Six rungs, each with what it buys on the right.</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Six wide rows down the page, numbered one to six on the left in orange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INSTRUMENT IT. Middle: cost, tokens, four labels. Right: you can see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two: CAP IT. Middle: per run and per day, behaviour chosen on purpose. Right: bounded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three: DETECT THE LOOP. Middle: stuck, bouncing, drifting, before the cap. Right: six steps, not fourteen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four: CHECKPOINT. Middle: save after every completed step. Right: stopping is cheap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five: COST PER SUCCESSFUL TASK. Middle: all spend on top, only successes on the bottom. Right: the true number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six, boxed in amber: ALERT ON BURN RATE. Middle: fast window and slow window. Right: you find out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dark bar at the bottom: each one is useless alone and boring together. Boring is the goal</a:t>
            </a:r>
            <a:endParaRPr lang="en-US" sz="950" dirty="0"/>
          </a:p>
        </p:txBody>
      </p:sp>
      <p:sp>
        <p:nvSpPr>
          <p:cNvPr id="12" name="Shape 8"/>
          <p:cNvSpPr/>
          <p:nvPr/>
        </p:nvSpPr>
        <p:spPr>
          <a:xfrm>
            <a:off x="3886200" y="1536192"/>
            <a:ext cx="4800600" cy="237744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920240"/>
          </a:xfrm>
          <a:prstGeom prst="rect">
            <a:avLst/>
          </a:prstGeom>
        </p:spPr>
      </p:pic>
      <p:sp>
        <p:nvSpPr>
          <p:cNvPr id="15" name="Shape 10"/>
          <p:cNvSpPr/>
          <p:nvPr/>
        </p:nvSpPr>
        <p:spPr>
          <a:xfrm>
            <a:off x="3886200" y="406908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6908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“Six rungs. Each one buys exactly one thing, and none of them work alone.”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Order Matters</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ORDER MATTERS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Record, checkpoint, loop, cap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457200" y="1371600"/>
            <a:ext cx="1920240" cy="1371600"/>
          </a:xfrm>
          <a:prstGeom prst="roundRect">
            <a:avLst>
              <a:gd name="adj" fmla="val 5333"/>
            </a:avLst>
          </a:prstGeom>
          <a:solidFill>
            <a:srgbClr val="F3F4F6"/>
          </a:solidFill>
          <a:ln w="12700">
            <a:solidFill>
              <a:srgbClr val="F3F4F6"/>
            </a:solidFill>
            <a:prstDash val="solid"/>
          </a:ln>
        </p:spPr>
      </p:sp>
      <p:sp>
        <p:nvSpPr>
          <p:cNvPr id="7" name="Shape 5"/>
          <p:cNvSpPr/>
          <p:nvPr/>
        </p:nvSpPr>
        <p:spPr>
          <a:xfrm>
            <a:off x="621792" y="1536192"/>
            <a:ext cx="384048" cy="384048"/>
          </a:xfrm>
          <a:prstGeom prst="roundRect">
            <a:avLst>
              <a:gd name="adj" fmla="val 50000"/>
            </a:avLst>
          </a:prstGeom>
          <a:solidFill>
            <a:srgbClr val="1D4ED8"/>
          </a:solidFill>
          <a:ln w="12700">
            <a:solidFill>
              <a:srgbClr val="1D4ED8"/>
            </a:solidFill>
            <a:prstDash val="solid"/>
          </a:ln>
        </p:spPr>
      </p:sp>
      <p:sp>
        <p:nvSpPr>
          <p:cNvPr id="8" name="Text 6"/>
          <p:cNvSpPr txBox="1"/>
          <p:nvPr/>
        </p:nvSpPr>
        <p:spPr>
          <a:xfrm>
            <a:off x="62179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21792" y="2011680"/>
            <a:ext cx="1645920" cy="45720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Record the step</a:t>
            </a:r>
            <a:endParaRPr lang="en-US" sz="1250" dirty="0"/>
          </a:p>
        </p:txBody>
      </p:sp>
      <p:sp>
        <p:nvSpPr>
          <p:cNvPr id="10" name="Text 8"/>
          <p:cNvSpPr txBox="1"/>
          <p:nvPr/>
        </p:nvSpPr>
        <p:spPr>
          <a:xfrm>
            <a:off x="621792" y="2395728"/>
            <a:ext cx="1645920" cy="3200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before anything can go wrong</a:t>
            </a:r>
            <a:endParaRPr lang="en-US" sz="1050" dirty="0"/>
          </a:p>
        </p:txBody>
      </p:sp>
      <p:sp>
        <p:nvSpPr>
          <p:cNvPr id="11" name="Text 9"/>
          <p:cNvSpPr txBox="1"/>
          <p:nvPr/>
        </p:nvSpPr>
        <p:spPr>
          <a:xfrm>
            <a:off x="2377440" y="1371600"/>
            <a:ext cx="182880" cy="13716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560320" y="1371600"/>
            <a:ext cx="192024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2724912" y="1536192"/>
            <a:ext cx="384048" cy="38404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272491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2724912" y="2011680"/>
            <a:ext cx="1645920" cy="45720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Save the checkpoint</a:t>
            </a:r>
            <a:endParaRPr lang="en-US" sz="1250" dirty="0"/>
          </a:p>
        </p:txBody>
      </p:sp>
      <p:sp>
        <p:nvSpPr>
          <p:cNvPr id="16" name="Text 14"/>
          <p:cNvSpPr txBox="1"/>
          <p:nvPr/>
        </p:nvSpPr>
        <p:spPr>
          <a:xfrm>
            <a:off x="2724912" y="2395728"/>
            <a:ext cx="1645920" cy="3200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work that just finished</a:t>
            </a:r>
            <a:endParaRPr lang="en-US" sz="1050" dirty="0"/>
          </a:p>
        </p:txBody>
      </p:sp>
      <p:sp>
        <p:nvSpPr>
          <p:cNvPr id="17" name="Text 15"/>
          <p:cNvSpPr txBox="1"/>
          <p:nvPr/>
        </p:nvSpPr>
        <p:spPr>
          <a:xfrm>
            <a:off x="4480560" y="1371600"/>
            <a:ext cx="182880" cy="13716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663440" y="1371600"/>
            <a:ext cx="1920240" cy="1371600"/>
          </a:xfrm>
          <a:prstGeom prst="roundRect">
            <a:avLst>
              <a:gd name="adj" fmla="val 5333"/>
            </a:avLst>
          </a:prstGeom>
          <a:solidFill>
            <a:srgbClr val="F3F4F6"/>
          </a:solidFill>
          <a:ln w="12700">
            <a:solidFill>
              <a:srgbClr val="F3F4F6"/>
            </a:solidFill>
            <a:prstDash val="solid"/>
          </a:ln>
        </p:spPr>
      </p:sp>
      <p:sp>
        <p:nvSpPr>
          <p:cNvPr id="19" name="Shape 17"/>
          <p:cNvSpPr/>
          <p:nvPr/>
        </p:nvSpPr>
        <p:spPr>
          <a:xfrm>
            <a:off x="4828032" y="1536192"/>
            <a:ext cx="384048" cy="384048"/>
          </a:xfrm>
          <a:prstGeom prst="roundRect">
            <a:avLst>
              <a:gd name="adj" fmla="val 50000"/>
            </a:avLst>
          </a:prstGeom>
          <a:solidFill>
            <a:srgbClr val="B45309"/>
          </a:solidFill>
          <a:ln w="12700">
            <a:solidFill>
              <a:srgbClr val="B45309"/>
            </a:solidFill>
            <a:prstDash val="solid"/>
          </a:ln>
        </p:spPr>
      </p:sp>
      <p:sp>
        <p:nvSpPr>
          <p:cNvPr id="20" name="Text 18"/>
          <p:cNvSpPr txBox="1"/>
          <p:nvPr/>
        </p:nvSpPr>
        <p:spPr>
          <a:xfrm>
            <a:off x="482803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4828032" y="2011680"/>
            <a:ext cx="1645920" cy="45720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Check for a loop</a:t>
            </a:r>
            <a:endParaRPr lang="en-US" sz="1250" dirty="0"/>
          </a:p>
        </p:txBody>
      </p:sp>
      <p:sp>
        <p:nvSpPr>
          <p:cNvPr id="22" name="Text 20"/>
          <p:cNvSpPr txBox="1"/>
          <p:nvPr/>
        </p:nvSpPr>
        <p:spPr>
          <a:xfrm>
            <a:off x="4828032" y="2395728"/>
            <a:ext cx="1645920" cy="3200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cheap stop</a:t>
            </a:r>
            <a:endParaRPr lang="en-US" sz="1050" dirty="0"/>
          </a:p>
        </p:txBody>
      </p:sp>
      <p:sp>
        <p:nvSpPr>
          <p:cNvPr id="23" name="Text 21"/>
          <p:cNvSpPr txBox="1"/>
          <p:nvPr/>
        </p:nvSpPr>
        <p:spPr>
          <a:xfrm>
            <a:off x="6583680" y="1371600"/>
            <a:ext cx="182880" cy="1371600"/>
          </a:xfrm>
          <a:prstGeom prst="rect">
            <a:avLst/>
          </a:prstGeom>
          <a:noFill/>
          <a:ln/>
        </p:spPr>
        <p:txBody>
          <a:bodyPr wrap="square" lIns="0" tIns="0" rIns="0" bIns="0"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766560" y="1371600"/>
            <a:ext cx="1920240" cy="1371600"/>
          </a:xfrm>
          <a:prstGeom prst="roundRect">
            <a:avLst>
              <a:gd name="adj" fmla="val 5333"/>
            </a:avLst>
          </a:prstGeom>
          <a:solidFill>
            <a:srgbClr val="F3F4F6"/>
          </a:solidFill>
          <a:ln w="12700">
            <a:solidFill>
              <a:srgbClr val="F3F4F6"/>
            </a:solidFill>
            <a:prstDash val="solid"/>
          </a:ln>
        </p:spPr>
      </p:sp>
      <p:sp>
        <p:nvSpPr>
          <p:cNvPr id="25" name="Shape 23"/>
          <p:cNvSpPr/>
          <p:nvPr/>
        </p:nvSpPr>
        <p:spPr>
          <a:xfrm>
            <a:off x="6931152" y="1536192"/>
            <a:ext cx="384048" cy="384048"/>
          </a:xfrm>
          <a:prstGeom prst="roundRect">
            <a:avLst>
              <a:gd name="adj" fmla="val 50000"/>
            </a:avLst>
          </a:prstGeom>
          <a:solidFill>
            <a:srgbClr val="B91C1C"/>
          </a:solidFill>
          <a:ln w="12700">
            <a:solidFill>
              <a:srgbClr val="B91C1C"/>
            </a:solidFill>
            <a:prstDash val="solid"/>
          </a:ln>
        </p:spPr>
      </p:sp>
      <p:sp>
        <p:nvSpPr>
          <p:cNvPr id="26" name="Text 24"/>
          <p:cNvSpPr txBox="1"/>
          <p:nvPr/>
        </p:nvSpPr>
        <p:spPr>
          <a:xfrm>
            <a:off x="6931152" y="1536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6931152" y="2011680"/>
            <a:ext cx="1645920" cy="45720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Check the cap</a:t>
            </a:r>
            <a:endParaRPr lang="en-US" sz="1250" dirty="0"/>
          </a:p>
        </p:txBody>
      </p:sp>
      <p:sp>
        <p:nvSpPr>
          <p:cNvPr id="28" name="Text 26"/>
          <p:cNvSpPr txBox="1"/>
          <p:nvPr/>
        </p:nvSpPr>
        <p:spPr>
          <a:xfrm>
            <a:off x="6931152" y="2395728"/>
            <a:ext cx="1645920" cy="32004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the expensive stop</a:t>
            </a:r>
            <a:endParaRPr lang="en-US" sz="1050" dirty="0"/>
          </a:p>
        </p:txBody>
      </p:sp>
      <p:sp>
        <p:nvSpPr>
          <p:cNvPr id="29" name="Shape 27"/>
          <p:cNvSpPr/>
          <p:nvPr/>
        </p:nvSpPr>
        <p:spPr>
          <a:xfrm>
            <a:off x="457200" y="2971800"/>
            <a:ext cx="4023360" cy="1051560"/>
          </a:xfrm>
          <a:prstGeom prst="roundRect">
            <a:avLst>
              <a:gd name="adj" fmla="val 6957"/>
            </a:avLst>
          </a:prstGeom>
          <a:solidFill>
            <a:srgbClr val="EFF6FF"/>
          </a:solidFill>
          <a:ln w="12700">
            <a:solidFill>
              <a:srgbClr val="EFF6FF"/>
            </a:solidFill>
            <a:prstDash val="solid"/>
          </a:ln>
        </p:spPr>
      </p:sp>
      <p:sp>
        <p:nvSpPr>
          <p:cNvPr id="30" name="Text 28"/>
          <p:cNvSpPr txBox="1"/>
          <p:nvPr/>
        </p:nvSpPr>
        <p:spPr>
          <a:xfrm>
            <a:off x="685800" y="3108960"/>
            <a:ext cx="3566160" cy="274320"/>
          </a:xfrm>
          <a:prstGeom prst="rect">
            <a:avLst/>
          </a:prstGeom>
          <a:noFill/>
          <a:ln/>
        </p:spPr>
        <p:txBody>
          <a:bodyPr wrap="square" lIns="0" tIns="0" rIns="0" bIns="0" rtlCol="0" anchor="t"/>
          <a:lstStyle/>
          <a:p>
            <a:pPr indent="0" marL="0">
              <a:buNone/>
            </a:pPr>
            <a:r>
              <a:rPr lang="en-US" sz="1000" b="1" spc="150" kern="0" dirty="0">
                <a:solidFill>
                  <a:srgbClr val="1D4ED8"/>
                </a:solidFill>
                <a:latin typeface="Calibri" pitchFamily="34" charset="0"/>
                <a:ea typeface="Calibri" pitchFamily="34" charset="-122"/>
                <a:cs typeface="Calibri" pitchFamily="34" charset="-120"/>
              </a:rPr>
              <a:t>WHY RECORD FIRST</a:t>
            </a:r>
            <a:endParaRPr lang="en-US" sz="1000" dirty="0"/>
          </a:p>
        </p:txBody>
      </p:sp>
      <p:sp>
        <p:nvSpPr>
          <p:cNvPr id="31" name="Text 29"/>
          <p:cNvSpPr txBox="1"/>
          <p:nvPr/>
        </p:nvSpPr>
        <p:spPr>
          <a:xfrm>
            <a:off x="685800" y="3401568"/>
            <a:ext cx="3566160" cy="5486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You want the cost of the step that killed you. A step recorded after the check is money you spent and cannot see.</a:t>
            </a:r>
            <a:endParaRPr lang="en-US" sz="1250" dirty="0"/>
          </a:p>
        </p:txBody>
      </p:sp>
      <p:sp>
        <p:nvSpPr>
          <p:cNvPr id="32" name="Shape 30"/>
          <p:cNvSpPr/>
          <p:nvPr/>
        </p:nvSpPr>
        <p:spPr>
          <a:xfrm>
            <a:off x="4663440" y="2971800"/>
            <a:ext cx="4023360" cy="1051560"/>
          </a:xfrm>
          <a:prstGeom prst="roundRect">
            <a:avLst>
              <a:gd name="adj" fmla="val 6957"/>
            </a:avLst>
          </a:prstGeom>
          <a:solidFill>
            <a:srgbClr val="FEF3C7"/>
          </a:solidFill>
          <a:ln w="12700">
            <a:solidFill>
              <a:srgbClr val="FEF3C7"/>
            </a:solidFill>
            <a:prstDash val="solid"/>
          </a:ln>
        </p:spPr>
      </p:sp>
      <p:sp>
        <p:nvSpPr>
          <p:cNvPr id="33" name="Text 31"/>
          <p:cNvSpPr txBox="1"/>
          <p:nvPr/>
        </p:nvSpPr>
        <p:spPr>
          <a:xfrm>
            <a:off x="4892040" y="3108960"/>
            <a:ext cx="3566160" cy="274320"/>
          </a:xfrm>
          <a:prstGeom prst="rect">
            <a:avLst/>
          </a:prstGeom>
          <a:noFill/>
          <a:ln/>
        </p:spPr>
        <p:txBody>
          <a:bodyPr wrap="square" lIns="0" tIns="0" rIns="0" bIns="0" rtlCol="0" anchor="t"/>
          <a:lstStyle/>
          <a:p>
            <a:pPr indent="0" marL="0">
              <a:buNone/>
            </a:pPr>
            <a:r>
              <a:rPr lang="en-US" sz="1000" b="1" spc="150" kern="0" dirty="0">
                <a:solidFill>
                  <a:srgbClr val="B45309"/>
                </a:solidFill>
                <a:latin typeface="Calibri" pitchFamily="34" charset="0"/>
                <a:ea typeface="Calibri" pitchFamily="34" charset="-122"/>
                <a:cs typeface="Calibri" pitchFamily="34" charset="-120"/>
              </a:rPr>
              <a:t>WHY LOOP BEFORE CAP</a:t>
            </a:r>
            <a:endParaRPr lang="en-US" sz="1000" dirty="0"/>
          </a:p>
        </p:txBody>
      </p:sp>
      <p:sp>
        <p:nvSpPr>
          <p:cNvPr id="34" name="Text 32"/>
          <p:cNvSpPr txBox="1"/>
          <p:nvPr/>
        </p:nvSpPr>
        <p:spPr>
          <a:xfrm>
            <a:off x="4892040" y="3401568"/>
            <a:ext cx="3566160" cy="5486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The cap costs the whole budget to use. Detection costs three or four steps. Fire the cheap one first, every time.</a:t>
            </a:r>
            <a:endParaRPr lang="en-US" sz="1250" dirty="0"/>
          </a:p>
        </p:txBody>
      </p:sp>
      <p:sp>
        <p:nvSpPr>
          <p:cNvPr id="35" name="Shape 33"/>
          <p:cNvSpPr/>
          <p:nvPr/>
        </p:nvSpPr>
        <p:spPr>
          <a:xfrm>
            <a:off x="457200" y="4160520"/>
            <a:ext cx="8229600" cy="594360"/>
          </a:xfrm>
          <a:prstGeom prst="roundRect">
            <a:avLst>
              <a:gd name="adj" fmla="val 12308"/>
            </a:avLst>
          </a:prstGeom>
          <a:solidFill>
            <a:srgbClr val="111827"/>
          </a:solidFill>
          <a:ln w="12700">
            <a:solidFill>
              <a:srgbClr val="111827"/>
            </a:solidFill>
            <a:prstDash val="solid"/>
          </a:ln>
        </p:spPr>
      </p:sp>
      <p:sp>
        <p:nvSpPr>
          <p:cNvPr id="36" name="Text 34"/>
          <p:cNvSpPr txBox="1"/>
          <p:nvPr/>
        </p:nvSpPr>
        <p:spPr>
          <a:xfrm>
            <a:off x="731520" y="4160520"/>
            <a:ext cx="768096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agent/runner.py top to bottom. Every mechanism in this course appears exactly once.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ORDER MATTERS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more check, before the step runs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Charging after the fact is honest but late. A cheap estimate before the step stops you overshooting the cap on the last one.</a:t>
            </a:r>
            <a:endParaRPr lang="en-US" sz="1400" dirty="0"/>
          </a:p>
        </p:txBody>
      </p:sp>
      <p:sp>
        <p:nvSpPr>
          <p:cNvPr id="7" name="Shape 5"/>
          <p:cNvSpPr/>
          <p:nvPr/>
        </p:nvSpPr>
        <p:spPr>
          <a:xfrm>
            <a:off x="457200" y="1691640"/>
            <a:ext cx="822960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658368" y="1856232"/>
            <a:ext cx="7863840" cy="594360"/>
          </a:xfrm>
          <a:prstGeom prst="rect">
            <a:avLst/>
          </a:prstGeom>
          <a:noFill/>
          <a:ln/>
        </p:spPr>
        <p:txBody>
          <a:bodyPr wrap="square" lIns="0" tIns="0" rIns="0" bIns="0" rtlCol="0" anchor="t"/>
          <a:lstStyle/>
          <a:p>
            <a:pPr indent="0" marL="0">
              <a:buNone/>
            </a:pPr>
            <a:r>
              <a:rPr lang="en-US" sz="1150" dirty="0">
                <a:solidFill>
                  <a:srgbClr val="E8EAED"/>
                </a:solidFill>
                <a:latin typeface="Courier New" pitchFamily="34" charset="0"/>
                <a:ea typeface="Courier New" pitchFamily="34" charset="-122"/>
                <a:cs typeface="Courier New" pitchFamily="34" charset="-120"/>
              </a:rPr>
              <a:t>if budget.would_exceed(0.01):</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stop("pre-flight: next step would cross the per-run cap")</a:t>
            </a:r>
            <a:endParaRPr lang="en-US" sz="1150" dirty="0"/>
          </a:p>
        </p:txBody>
      </p:sp>
      <p:sp>
        <p:nvSpPr>
          <p:cNvPr id="9" name="Shape 7"/>
          <p:cNvSpPr/>
          <p:nvPr/>
        </p:nvSpPr>
        <p:spPr>
          <a:xfrm>
            <a:off x="457200" y="2743200"/>
            <a:ext cx="4023360" cy="1371600"/>
          </a:xfrm>
          <a:prstGeom prst="roundRect">
            <a:avLst>
              <a:gd name="adj" fmla="val 5333"/>
            </a:avLst>
          </a:prstGeom>
          <a:solidFill>
            <a:srgbClr val="FEF2F2"/>
          </a:solidFill>
          <a:ln w="12700">
            <a:solidFill>
              <a:srgbClr val="FEF2F2"/>
            </a:solidFill>
            <a:prstDash val="solid"/>
          </a:ln>
        </p:spPr>
      </p:sp>
      <p:sp>
        <p:nvSpPr>
          <p:cNvPr id="10" name="Text 8"/>
          <p:cNvSpPr txBox="1"/>
          <p:nvPr/>
        </p:nvSpPr>
        <p:spPr>
          <a:xfrm>
            <a:off x="685800" y="2880360"/>
            <a:ext cx="3566160" cy="274320"/>
          </a:xfrm>
          <a:prstGeom prst="rect">
            <a:avLst/>
          </a:prstGeom>
          <a:noFill/>
          <a:ln/>
        </p:spPr>
        <p:txBody>
          <a:bodyPr wrap="square" lIns="0" tIns="0" rIns="0" bIns="0" rtlCol="0" anchor="t"/>
          <a:lstStyle/>
          <a:p>
            <a:pPr indent="0" marL="0">
              <a:buNone/>
            </a:pPr>
            <a:r>
              <a:rPr lang="en-US" sz="1100" b="1" spc="100" kern="0" dirty="0">
                <a:solidFill>
                  <a:srgbClr val="B91C1C"/>
                </a:solidFill>
                <a:latin typeface="Calibri" pitchFamily="34" charset="0"/>
                <a:ea typeface="Calibri" pitchFamily="34" charset="-122"/>
                <a:cs typeface="Calibri" pitchFamily="34" charset="-120"/>
              </a:rPr>
              <a:t>Without it</a:t>
            </a:r>
            <a:endParaRPr lang="en-US" sz="1100" dirty="0"/>
          </a:p>
        </p:txBody>
      </p:sp>
      <p:sp>
        <p:nvSpPr>
          <p:cNvPr id="11" name="Text 9"/>
          <p:cNvSpPr txBox="1"/>
          <p:nvPr/>
        </p:nvSpPr>
        <p:spPr>
          <a:xfrm>
            <a:off x="685800" y="3200400"/>
            <a:ext cx="3566160" cy="8229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You cross the cap by whatever the last step happened to cost. On an expensive model, that overshoot is the whole point of having a cap.</a:t>
            </a:r>
            <a:endParaRPr lang="en-US" sz="1250" dirty="0"/>
          </a:p>
        </p:txBody>
      </p:sp>
      <p:sp>
        <p:nvSpPr>
          <p:cNvPr id="12" name="Shape 10"/>
          <p:cNvSpPr/>
          <p:nvPr/>
        </p:nvSpPr>
        <p:spPr>
          <a:xfrm>
            <a:off x="4663440" y="2743200"/>
            <a:ext cx="4023360" cy="1371600"/>
          </a:xfrm>
          <a:prstGeom prst="roundRect">
            <a:avLst>
              <a:gd name="adj" fmla="val 5333"/>
            </a:avLst>
          </a:prstGeom>
          <a:solidFill>
            <a:srgbClr val="ECFDF5"/>
          </a:solidFill>
          <a:ln w="12700">
            <a:solidFill>
              <a:srgbClr val="ECFDF5"/>
            </a:solidFill>
            <a:prstDash val="solid"/>
          </a:ln>
        </p:spPr>
      </p:sp>
      <p:sp>
        <p:nvSpPr>
          <p:cNvPr id="13" name="Text 11"/>
          <p:cNvSpPr txBox="1"/>
          <p:nvPr/>
        </p:nvSpPr>
        <p:spPr>
          <a:xfrm>
            <a:off x="4892040" y="2880360"/>
            <a:ext cx="3566160" cy="274320"/>
          </a:xfrm>
          <a:prstGeom prst="rect">
            <a:avLst/>
          </a:prstGeom>
          <a:noFill/>
          <a:ln/>
        </p:spPr>
        <p:txBody>
          <a:bodyPr wrap="square" lIns="0" tIns="0" rIns="0" bIns="0" rtlCol="0" anchor="t"/>
          <a:lstStyle/>
          <a:p>
            <a:pPr indent="0" marL="0">
              <a:buNone/>
            </a:pPr>
            <a:r>
              <a:rPr lang="en-US" sz="1100" b="1" spc="100" kern="0" dirty="0">
                <a:solidFill>
                  <a:srgbClr val="047857"/>
                </a:solidFill>
                <a:latin typeface="Calibri" pitchFamily="34" charset="0"/>
                <a:ea typeface="Calibri" pitchFamily="34" charset="-122"/>
                <a:cs typeface="Calibri" pitchFamily="34" charset="-120"/>
              </a:rPr>
              <a:t>With it</a:t>
            </a:r>
            <a:endParaRPr lang="en-US" sz="1100" dirty="0"/>
          </a:p>
        </p:txBody>
      </p:sp>
      <p:sp>
        <p:nvSpPr>
          <p:cNvPr id="14" name="Text 12"/>
          <p:cNvSpPr txBox="1"/>
          <p:nvPr/>
        </p:nvSpPr>
        <p:spPr>
          <a:xfrm>
            <a:off x="4892040" y="3200400"/>
            <a:ext cx="3566160" cy="8229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The run stops just under the line, every time, and the reason says so in words a person can read.</a:t>
            </a:r>
            <a:endParaRPr lang="en-US" sz="1250" dirty="0"/>
          </a:p>
        </p:txBody>
      </p:sp>
      <p:sp>
        <p:nvSpPr>
          <p:cNvPr id="15" name="Text 13"/>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The run that stops at $0.0446 against a $0.05 cap did not get lucky; it declined to start a step it could not afford to finish.</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Order Matters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chain</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Four links left to right, then the two reasons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Four boxes in a row across the page, arrows between them</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one, blue: RECORD. Underneath: the step, before anything can go wrong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two, violet: CHECKPOINT. Underneath: save what just finished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three, amber: LOOP CHECK. Underneath: the cheap stop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four, red: CAP CHECK. Underneath: the expensive stop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wide boxes below. Left, WHY RECORD FIRST: you want the cost of the step that killed you</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WHY LOOP BEFORE CAP: the cap costs the whole budget; detection costs four steps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Green bar at the bottom: read runner.py top to bottom, every mechanism appears exactly once</a:t>
            </a:r>
            <a:endParaRPr lang="en-US" sz="950" dirty="0"/>
          </a:p>
        </p:txBody>
      </p:sp>
      <p:sp>
        <p:nvSpPr>
          <p:cNvPr id="12" name="Shape 8"/>
          <p:cNvSpPr/>
          <p:nvPr/>
        </p:nvSpPr>
        <p:spPr>
          <a:xfrm>
            <a:off x="3886200" y="1536192"/>
            <a:ext cx="4800600" cy="1776046"/>
          </a:xfrm>
          <a:prstGeom prst="roundRect">
            <a:avLst>
              <a:gd name="adj" fmla="val 411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318846"/>
          </a:xfrm>
          <a:prstGeom prst="rect">
            <a:avLst/>
          </a:prstGeom>
        </p:spPr>
      </p:pic>
      <p:sp>
        <p:nvSpPr>
          <p:cNvPr id="15" name="Shape 10"/>
          <p:cNvSpPr/>
          <p:nvPr/>
        </p:nvSpPr>
        <p:spPr>
          <a:xfrm>
            <a:off x="3886200" y="3467686"/>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467686"/>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cheap stop fires before the expensive one. That is the whole ordering rule.”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Proof by Turning It Off</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PROOF BY TURNING IT OFF</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A comment is not evidence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Text 4"/>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mechanism in this repo can be disabled by a flag. That is not a convenience; it is how each one is proved.</a:t>
            </a:r>
            <a:endParaRPr lang="en-US" sz="1400" dirty="0"/>
          </a:p>
        </p:txBody>
      </p:sp>
      <p:sp>
        <p:nvSpPr>
          <p:cNvPr id="7" name="Shape 5"/>
          <p:cNvSpPr/>
          <p:nvPr/>
        </p:nvSpPr>
        <p:spPr>
          <a:xfrm>
            <a:off x="457200" y="1737360"/>
            <a:ext cx="8229600" cy="658368"/>
          </a:xfrm>
          <a:prstGeom prst="roundRect">
            <a:avLst>
              <a:gd name="adj" fmla="val 11111"/>
            </a:avLst>
          </a:prstGeom>
          <a:solidFill>
            <a:srgbClr val="F3F4F6"/>
          </a:solidFill>
          <a:ln w="12700">
            <a:solidFill>
              <a:srgbClr val="F3F4F6"/>
            </a:solidFill>
            <a:prstDash val="solid"/>
          </a:ln>
        </p:spPr>
      </p:sp>
      <p:sp>
        <p:nvSpPr>
          <p:cNvPr id="8" name="Text 6"/>
          <p:cNvSpPr txBox="1"/>
          <p:nvPr/>
        </p:nvSpPr>
        <p:spPr>
          <a:xfrm>
            <a:off x="685800" y="1737360"/>
            <a:ext cx="2011680" cy="658368"/>
          </a:xfrm>
          <a:prstGeom prst="rect">
            <a:avLst/>
          </a:prstGeom>
          <a:noFill/>
          <a:ln/>
        </p:spPr>
        <p:txBody>
          <a:bodyPr wrap="square" lIns="0" tIns="0" rIns="0" bIns="0" rtlCol="0" anchor="ctr"/>
          <a:lstStyle/>
          <a:p>
            <a:pPr indent="0" marL="0">
              <a:buNone/>
            </a:pPr>
            <a:r>
              <a:rPr lang="en-US" sz="1200" b="1" dirty="0">
                <a:solidFill>
                  <a:srgbClr val="6D28D9"/>
                </a:solidFill>
                <a:latin typeface="Courier New" pitchFamily="34" charset="0"/>
                <a:ea typeface="Courier New" pitchFamily="34" charset="-122"/>
                <a:cs typeface="Courier New" pitchFamily="34" charset="-120"/>
              </a:rPr>
              <a:t>--no-caps</a:t>
            </a:r>
            <a:endParaRPr lang="en-US" sz="1200" dirty="0"/>
          </a:p>
        </p:txBody>
      </p:sp>
      <p:sp>
        <p:nvSpPr>
          <p:cNvPr id="9" name="Text 7"/>
          <p:cNvSpPr txBox="1"/>
          <p:nvPr/>
        </p:nvSpPr>
        <p:spPr>
          <a:xfrm>
            <a:off x="2743200" y="1737360"/>
            <a:ext cx="1188720" cy="658368"/>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step 2 off</a:t>
            </a:r>
            <a:endParaRPr lang="en-US" sz="1100" dirty="0"/>
          </a:p>
        </p:txBody>
      </p:sp>
      <p:sp>
        <p:nvSpPr>
          <p:cNvPr id="10" name="Text 8"/>
          <p:cNvSpPr txBox="1"/>
          <p:nvPr/>
        </p:nvSpPr>
        <p:spPr>
          <a:xfrm>
            <a:off x="4023360" y="1737360"/>
            <a:ext cx="44348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run the runaway and watch the projection climb</a:t>
            </a:r>
            <a:endParaRPr lang="en-US" sz="1250" dirty="0"/>
          </a:p>
        </p:txBody>
      </p:sp>
      <p:sp>
        <p:nvSpPr>
          <p:cNvPr id="11" name="Shape 9"/>
          <p:cNvSpPr/>
          <p:nvPr/>
        </p:nvSpPr>
        <p:spPr>
          <a:xfrm>
            <a:off x="457200" y="2514600"/>
            <a:ext cx="8229600" cy="658368"/>
          </a:xfrm>
          <a:prstGeom prst="roundRect">
            <a:avLst>
              <a:gd name="adj" fmla="val 11111"/>
            </a:avLst>
          </a:prstGeom>
          <a:solidFill>
            <a:srgbClr val="F3F4F6"/>
          </a:solidFill>
          <a:ln w="12700">
            <a:solidFill>
              <a:srgbClr val="F3F4F6"/>
            </a:solidFill>
            <a:prstDash val="solid"/>
          </a:ln>
        </p:spPr>
      </p:sp>
      <p:sp>
        <p:nvSpPr>
          <p:cNvPr id="12" name="Text 10"/>
          <p:cNvSpPr txBox="1"/>
          <p:nvPr/>
        </p:nvSpPr>
        <p:spPr>
          <a:xfrm>
            <a:off x="685800" y="2514600"/>
            <a:ext cx="2011680" cy="658368"/>
          </a:xfrm>
          <a:prstGeom prst="rect">
            <a:avLst/>
          </a:prstGeom>
          <a:noFill/>
          <a:ln/>
        </p:spPr>
        <p:txBody>
          <a:bodyPr wrap="square" lIns="0" tIns="0" rIns="0" bIns="0" rtlCol="0" anchor="ctr"/>
          <a:lstStyle/>
          <a:p>
            <a:pPr indent="0" marL="0">
              <a:buNone/>
            </a:pPr>
            <a:r>
              <a:rPr lang="en-US" sz="1200" b="1" dirty="0">
                <a:solidFill>
                  <a:srgbClr val="6D28D9"/>
                </a:solidFill>
                <a:latin typeface="Courier New" pitchFamily="34" charset="0"/>
                <a:ea typeface="Courier New" pitchFamily="34" charset="-122"/>
                <a:cs typeface="Courier New" pitchFamily="34" charset="-120"/>
              </a:rPr>
              <a:t>--no-loop-detect</a:t>
            </a:r>
            <a:endParaRPr lang="en-US" sz="1200" dirty="0"/>
          </a:p>
        </p:txBody>
      </p:sp>
      <p:sp>
        <p:nvSpPr>
          <p:cNvPr id="13" name="Text 11"/>
          <p:cNvSpPr txBox="1"/>
          <p:nvPr/>
        </p:nvSpPr>
        <p:spPr>
          <a:xfrm>
            <a:off x="2743200" y="2514600"/>
            <a:ext cx="1188720" cy="658368"/>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step 3 off</a:t>
            </a:r>
            <a:endParaRPr lang="en-US" sz="1100" dirty="0"/>
          </a:p>
        </p:txBody>
      </p:sp>
      <p:sp>
        <p:nvSpPr>
          <p:cNvPr id="14" name="Text 12"/>
          <p:cNvSpPr txBox="1"/>
          <p:nvPr/>
        </p:nvSpPr>
        <p:spPr>
          <a:xfrm>
            <a:off x="4023360" y="2514600"/>
            <a:ext cx="44348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same input, stopped by the cap instead, at twice the cost</a:t>
            </a:r>
            <a:endParaRPr lang="en-US" sz="1250" dirty="0"/>
          </a:p>
        </p:txBody>
      </p:sp>
      <p:sp>
        <p:nvSpPr>
          <p:cNvPr id="15" name="Shape 13"/>
          <p:cNvSpPr/>
          <p:nvPr/>
        </p:nvSpPr>
        <p:spPr>
          <a:xfrm>
            <a:off x="457200" y="3291840"/>
            <a:ext cx="8229600" cy="658368"/>
          </a:xfrm>
          <a:prstGeom prst="roundRect">
            <a:avLst>
              <a:gd name="adj" fmla="val 11111"/>
            </a:avLst>
          </a:prstGeom>
          <a:solidFill>
            <a:srgbClr val="F3F4F6"/>
          </a:solidFill>
          <a:ln w="12700">
            <a:solidFill>
              <a:srgbClr val="F3F4F6"/>
            </a:solidFill>
            <a:prstDash val="solid"/>
          </a:ln>
        </p:spPr>
      </p:sp>
      <p:sp>
        <p:nvSpPr>
          <p:cNvPr id="16" name="Text 14"/>
          <p:cNvSpPr txBox="1"/>
          <p:nvPr/>
        </p:nvSpPr>
        <p:spPr>
          <a:xfrm>
            <a:off x="685800" y="3291840"/>
            <a:ext cx="2011680" cy="658368"/>
          </a:xfrm>
          <a:prstGeom prst="rect">
            <a:avLst/>
          </a:prstGeom>
          <a:noFill/>
          <a:ln/>
        </p:spPr>
        <p:txBody>
          <a:bodyPr wrap="square" lIns="0" tIns="0" rIns="0" bIns="0" rtlCol="0" anchor="ctr"/>
          <a:lstStyle/>
          <a:p>
            <a:pPr indent="0" marL="0">
              <a:buNone/>
            </a:pPr>
            <a:r>
              <a:rPr lang="en-US" sz="1200" b="1" dirty="0">
                <a:solidFill>
                  <a:srgbClr val="6D28D9"/>
                </a:solidFill>
                <a:latin typeface="Courier New" pitchFamily="34" charset="0"/>
                <a:ea typeface="Courier New" pitchFamily="34" charset="-122"/>
                <a:cs typeface="Courier New" pitchFamily="34" charset="-120"/>
              </a:rPr>
              <a:t>--no-checkpoint</a:t>
            </a:r>
            <a:endParaRPr lang="en-US" sz="1200" dirty="0"/>
          </a:p>
        </p:txBody>
      </p:sp>
      <p:sp>
        <p:nvSpPr>
          <p:cNvPr id="17" name="Text 15"/>
          <p:cNvSpPr txBox="1"/>
          <p:nvPr/>
        </p:nvSpPr>
        <p:spPr>
          <a:xfrm>
            <a:off x="2743200" y="3291840"/>
            <a:ext cx="1188720" cy="658368"/>
          </a:xfrm>
          <a:prstGeom prst="rect">
            <a:avLst/>
          </a:prstGeom>
          <a:noFill/>
          <a:ln/>
        </p:spPr>
        <p:txBody>
          <a:bodyPr wrap="square" lIns="0" tIns="0" rIns="0" bIns="0"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step 4 off</a:t>
            </a:r>
            <a:endParaRPr lang="en-US" sz="1100" dirty="0"/>
          </a:p>
        </p:txBody>
      </p:sp>
      <p:sp>
        <p:nvSpPr>
          <p:cNvPr id="18" name="Text 16"/>
          <p:cNvSpPr txBox="1"/>
          <p:nvPr/>
        </p:nvSpPr>
        <p:spPr>
          <a:xfrm>
            <a:off x="4023360" y="3291840"/>
            <a:ext cx="44348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kill it and measure what you just threw away</a:t>
            </a:r>
            <a:endParaRPr lang="en-US" sz="1250" dirty="0"/>
          </a:p>
        </p:txBody>
      </p:sp>
      <p:sp>
        <p:nvSpPr>
          <p:cNvPr id="19" name="Shape 17"/>
          <p:cNvSpPr/>
          <p:nvPr/>
        </p:nvSpPr>
        <p:spPr>
          <a:xfrm>
            <a:off x="457200" y="4114800"/>
            <a:ext cx="8229600" cy="658368"/>
          </a:xfrm>
          <a:prstGeom prst="roundRect">
            <a:avLst>
              <a:gd name="adj" fmla="val 11111"/>
            </a:avLst>
          </a:prstGeom>
          <a:solidFill>
            <a:srgbClr val="111827"/>
          </a:solidFill>
          <a:ln w="12700">
            <a:solidFill>
              <a:srgbClr val="111827"/>
            </a:solidFill>
            <a:prstDash val="solid"/>
          </a:ln>
        </p:spPr>
      </p:sp>
      <p:sp>
        <p:nvSpPr>
          <p:cNvPr id="20" name="Text 18"/>
          <p:cNvSpPr txBox="1"/>
          <p:nvPr/>
        </p:nvSpPr>
        <p:spPr>
          <a:xfrm>
            <a:off x="731520" y="4114800"/>
            <a:ext cx="7680960" cy="658368"/>
          </a:xfrm>
          <a:prstGeom prst="rect">
            <a:avLst/>
          </a:prstGeom>
          <a:noFill/>
          <a:ln/>
        </p:spPr>
        <p:txBody>
          <a:bodyPr wrap="square" lIns="0" tIns="0" rIns="0" bIns="0" rtlCol="0" anchor="ctr"/>
          <a:lstStyle/>
          <a:p>
            <a:pPr indent="0" marL="0">
              <a:buNone/>
            </a:pPr>
            <a:r>
              <a:rPr lang="en-US" sz="1350" b="1" dirty="0">
                <a:solidFill>
                  <a:srgbClr val="F59E0B"/>
                </a:solidFill>
                <a:latin typeface="Calibri" pitchFamily="34" charset="0"/>
                <a:ea typeface="Calibri" pitchFamily="34" charset="-122"/>
                <a:cs typeface="Calibri" pitchFamily="34" charset="-120"/>
              </a:rPr>
              <a:t>This is also how you get it approved. </a:t>
            </a:r>
            <a:pPr indent="0" marL="0">
              <a:buNone/>
            </a:pPr>
            <a:r>
              <a:rPr lang="en-US" sz="1350" dirty="0">
                <a:solidFill>
                  <a:srgbClr val="FFFFFF"/>
                </a:solidFill>
                <a:latin typeface="Calibri" pitchFamily="34" charset="0"/>
                <a:ea typeface="Calibri" pitchFamily="34" charset="-122"/>
                <a:cs typeface="Calibri" pitchFamily="34" charset="-120"/>
              </a:rPr>
              <a:t>"Trust me" gets no budget. "Here is the same run with the cap off" does.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PROOF BY TURNING IT OFF</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claims, six proofs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188720"/>
            <a:ext cx="8229600" cy="457200"/>
          </a:xfrm>
          <a:prstGeom prst="roundRect">
            <a:avLst>
              <a:gd name="adj" fmla="val 16000"/>
            </a:avLst>
          </a:prstGeom>
          <a:solidFill>
            <a:srgbClr val="F3F4F6"/>
          </a:solidFill>
          <a:ln w="12700">
            <a:solidFill>
              <a:srgbClr val="F3F4F6"/>
            </a:solidFill>
            <a:prstDash val="solid"/>
          </a:ln>
        </p:spPr>
      </p:sp>
      <p:sp>
        <p:nvSpPr>
          <p:cNvPr id="7" name="Text 5"/>
          <p:cNvSpPr txBox="1"/>
          <p:nvPr/>
        </p:nvSpPr>
        <p:spPr>
          <a:xfrm>
            <a:off x="640080" y="1188720"/>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1 Instrumented</a:t>
            </a:r>
            <a:endParaRPr lang="en-US" sz="1250" dirty="0"/>
          </a:p>
        </p:txBody>
      </p:sp>
      <p:sp>
        <p:nvSpPr>
          <p:cNvPr id="8" name="Text 6"/>
          <p:cNvSpPr txBox="1"/>
          <p:nvPr/>
        </p:nvSpPr>
        <p:spPr>
          <a:xfrm>
            <a:off x="2834640" y="1188720"/>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run it, assert the counters moved</a:t>
            </a:r>
            <a:endParaRPr lang="en-US" sz="1150" dirty="0"/>
          </a:p>
        </p:txBody>
      </p:sp>
      <p:sp>
        <p:nvSpPr>
          <p:cNvPr id="9" name="Text 7"/>
          <p:cNvSpPr txBox="1"/>
          <p:nvPr/>
        </p:nvSpPr>
        <p:spPr>
          <a:xfrm>
            <a:off x="6126480" y="1188720"/>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$0.0671 / 6 steps</a:t>
            </a:r>
            <a:endParaRPr lang="en-US" sz="1150" dirty="0"/>
          </a:p>
        </p:txBody>
      </p:sp>
      <p:sp>
        <p:nvSpPr>
          <p:cNvPr id="10" name="Shape 8"/>
          <p:cNvSpPr/>
          <p:nvPr/>
        </p:nvSpPr>
        <p:spPr>
          <a:xfrm>
            <a:off x="457200" y="1719072"/>
            <a:ext cx="8229600" cy="457200"/>
          </a:xfrm>
          <a:prstGeom prst="roundRect">
            <a:avLst>
              <a:gd name="adj" fmla="val 16000"/>
            </a:avLst>
          </a:prstGeom>
          <a:solidFill>
            <a:srgbClr val="FFFFFF"/>
          </a:solidFill>
          <a:ln w="12700">
            <a:solidFill>
              <a:srgbClr val="FFFFFF"/>
            </a:solidFill>
            <a:prstDash val="solid"/>
          </a:ln>
        </p:spPr>
      </p:sp>
      <p:sp>
        <p:nvSpPr>
          <p:cNvPr id="11" name="Text 9"/>
          <p:cNvSpPr txBox="1"/>
          <p:nvPr/>
        </p:nvSpPr>
        <p:spPr>
          <a:xfrm>
            <a:off x="640080" y="1719072"/>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2 Capped</a:t>
            </a:r>
            <a:endParaRPr lang="en-US" sz="1250" dirty="0"/>
          </a:p>
        </p:txBody>
      </p:sp>
      <p:sp>
        <p:nvSpPr>
          <p:cNvPr id="12" name="Text 10"/>
          <p:cNvSpPr txBox="1"/>
          <p:nvPr/>
        </p:nvSpPr>
        <p:spPr>
          <a:xfrm>
            <a:off x="2834640" y="1719072"/>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loop detection off, $0.05 cap</a:t>
            </a:r>
            <a:endParaRPr lang="en-US" sz="1150" dirty="0"/>
          </a:p>
        </p:txBody>
      </p:sp>
      <p:sp>
        <p:nvSpPr>
          <p:cNvPr id="13" name="Text 11"/>
          <p:cNvSpPr txBox="1"/>
          <p:nvPr/>
        </p:nvSpPr>
        <p:spPr>
          <a:xfrm>
            <a:off x="6126480" y="1719072"/>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capped at $0.0446</a:t>
            </a:r>
            <a:endParaRPr lang="en-US" sz="1150" dirty="0"/>
          </a:p>
        </p:txBody>
      </p:sp>
      <p:sp>
        <p:nvSpPr>
          <p:cNvPr id="14" name="Shape 12"/>
          <p:cNvSpPr/>
          <p:nvPr/>
        </p:nvSpPr>
        <p:spPr>
          <a:xfrm>
            <a:off x="457200" y="2249424"/>
            <a:ext cx="8229600" cy="457200"/>
          </a:xfrm>
          <a:prstGeom prst="roundRect">
            <a:avLst>
              <a:gd name="adj" fmla="val 16000"/>
            </a:avLst>
          </a:prstGeom>
          <a:solidFill>
            <a:srgbClr val="F3F4F6"/>
          </a:solidFill>
          <a:ln w="12700">
            <a:solidFill>
              <a:srgbClr val="F3F4F6"/>
            </a:solidFill>
            <a:prstDash val="solid"/>
          </a:ln>
        </p:spPr>
      </p:sp>
      <p:sp>
        <p:nvSpPr>
          <p:cNvPr id="15" name="Text 13"/>
          <p:cNvSpPr txBox="1"/>
          <p:nvPr/>
        </p:nvSpPr>
        <p:spPr>
          <a:xfrm>
            <a:off x="640080" y="2249424"/>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3 Loop caught first</a:t>
            </a:r>
            <a:endParaRPr lang="en-US" sz="1250" dirty="0"/>
          </a:p>
        </p:txBody>
      </p:sp>
      <p:sp>
        <p:nvSpPr>
          <p:cNvPr id="16" name="Text 14"/>
          <p:cNvSpPr txBox="1"/>
          <p:nvPr/>
        </p:nvSpPr>
        <p:spPr>
          <a:xfrm>
            <a:off x="2834640" y="2249424"/>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detector on vs off, same input</a:t>
            </a:r>
            <a:endParaRPr lang="en-US" sz="1150" dirty="0"/>
          </a:p>
        </p:txBody>
      </p:sp>
      <p:sp>
        <p:nvSpPr>
          <p:cNvPr id="17" name="Text 15"/>
          <p:cNvSpPr txBox="1"/>
          <p:nvPr/>
        </p:nvSpPr>
        <p:spPr>
          <a:xfrm>
            <a:off x="6126480" y="2249424"/>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6 steps vs 14</a:t>
            </a:r>
            <a:endParaRPr lang="en-US" sz="1150" dirty="0"/>
          </a:p>
        </p:txBody>
      </p:sp>
      <p:sp>
        <p:nvSpPr>
          <p:cNvPr id="18" name="Shape 16"/>
          <p:cNvSpPr/>
          <p:nvPr/>
        </p:nvSpPr>
        <p:spPr>
          <a:xfrm>
            <a:off x="457200" y="2779776"/>
            <a:ext cx="8229600" cy="457200"/>
          </a:xfrm>
          <a:prstGeom prst="roundRect">
            <a:avLst>
              <a:gd name="adj" fmla="val 16000"/>
            </a:avLst>
          </a:prstGeom>
          <a:solidFill>
            <a:srgbClr val="FFFFFF"/>
          </a:solidFill>
          <a:ln w="12700">
            <a:solidFill>
              <a:srgbClr val="FFFFFF"/>
            </a:solidFill>
            <a:prstDash val="solid"/>
          </a:ln>
        </p:spPr>
      </p:sp>
      <p:sp>
        <p:nvSpPr>
          <p:cNvPr id="19" name="Text 17"/>
          <p:cNvSpPr txBox="1"/>
          <p:nvPr/>
        </p:nvSpPr>
        <p:spPr>
          <a:xfrm>
            <a:off x="640080" y="2779776"/>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4 Checkpointed</a:t>
            </a:r>
            <a:endParaRPr lang="en-US" sz="1250" dirty="0"/>
          </a:p>
        </p:txBody>
      </p:sp>
      <p:sp>
        <p:nvSpPr>
          <p:cNvPr id="20" name="Text 18"/>
          <p:cNvSpPr txBox="1"/>
          <p:nvPr/>
        </p:nvSpPr>
        <p:spPr>
          <a:xfrm>
            <a:off x="2834640" y="2779776"/>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kill partway, resume, compare</a:t>
            </a:r>
            <a:endParaRPr lang="en-US" sz="1150" dirty="0"/>
          </a:p>
        </p:txBody>
      </p:sp>
      <p:sp>
        <p:nvSpPr>
          <p:cNvPr id="21" name="Text 19"/>
          <p:cNvSpPr txBox="1"/>
          <p:nvPr/>
        </p:nvSpPr>
        <p:spPr>
          <a:xfrm>
            <a:off x="6126480" y="2779776"/>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$0.0291 not re-paid</a:t>
            </a:r>
            <a:endParaRPr lang="en-US" sz="1150" dirty="0"/>
          </a:p>
        </p:txBody>
      </p:sp>
      <p:sp>
        <p:nvSpPr>
          <p:cNvPr id="22" name="Shape 20"/>
          <p:cNvSpPr/>
          <p:nvPr/>
        </p:nvSpPr>
        <p:spPr>
          <a:xfrm>
            <a:off x="457200" y="3310128"/>
            <a:ext cx="8229600" cy="457200"/>
          </a:xfrm>
          <a:prstGeom prst="roundRect">
            <a:avLst>
              <a:gd name="adj" fmla="val 16000"/>
            </a:avLst>
          </a:prstGeom>
          <a:solidFill>
            <a:srgbClr val="F3F4F6"/>
          </a:solidFill>
          <a:ln w="12700">
            <a:solidFill>
              <a:srgbClr val="F3F4F6"/>
            </a:solidFill>
            <a:prstDash val="solid"/>
          </a:ln>
        </p:spPr>
      </p:sp>
      <p:sp>
        <p:nvSpPr>
          <p:cNvPr id="23" name="Text 21"/>
          <p:cNvSpPr txBox="1"/>
          <p:nvPr/>
        </p:nvSpPr>
        <p:spPr>
          <a:xfrm>
            <a:off x="640080" y="3310128"/>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5 Cost per success</a:t>
            </a:r>
            <a:endParaRPr lang="en-US" sz="1250" dirty="0"/>
          </a:p>
        </p:txBody>
      </p:sp>
      <p:sp>
        <p:nvSpPr>
          <p:cNvPr id="24" name="Text 22"/>
          <p:cNvSpPr txBox="1"/>
          <p:nvPr/>
        </p:nvSpPr>
        <p:spPr>
          <a:xfrm>
            <a:off x="2834640" y="3310128"/>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ten runs; six good, four looping</a:t>
            </a:r>
            <a:endParaRPr lang="en-US" sz="1150" dirty="0"/>
          </a:p>
        </p:txBody>
      </p:sp>
      <p:sp>
        <p:nvSpPr>
          <p:cNvPr id="25" name="Text 23"/>
          <p:cNvSpPr txBox="1"/>
          <p:nvPr/>
        </p:nvSpPr>
        <p:spPr>
          <a:xfrm>
            <a:off x="6126480" y="3310128"/>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129% above per-request</a:t>
            </a:r>
            <a:endParaRPr lang="en-US" sz="1150" dirty="0"/>
          </a:p>
        </p:txBody>
      </p:sp>
      <p:sp>
        <p:nvSpPr>
          <p:cNvPr id="26" name="Shape 24"/>
          <p:cNvSpPr/>
          <p:nvPr/>
        </p:nvSpPr>
        <p:spPr>
          <a:xfrm>
            <a:off x="457200" y="3840480"/>
            <a:ext cx="8229600" cy="457200"/>
          </a:xfrm>
          <a:prstGeom prst="roundRect">
            <a:avLst>
              <a:gd name="adj" fmla="val 16000"/>
            </a:avLst>
          </a:prstGeom>
          <a:solidFill>
            <a:srgbClr val="FEF3C7"/>
          </a:solidFill>
          <a:ln w="12700">
            <a:solidFill>
              <a:srgbClr val="FEF3C7"/>
            </a:solidFill>
            <a:prstDash val="solid"/>
          </a:ln>
        </p:spPr>
      </p:sp>
      <p:sp>
        <p:nvSpPr>
          <p:cNvPr id="27" name="Text 25"/>
          <p:cNvSpPr txBox="1"/>
          <p:nvPr/>
        </p:nvSpPr>
        <p:spPr>
          <a:xfrm>
            <a:off x="640080" y="3840480"/>
            <a:ext cx="2103120" cy="502920"/>
          </a:xfrm>
          <a:prstGeom prst="rect">
            <a:avLst/>
          </a:prstGeom>
          <a:noFill/>
          <a:ln/>
        </p:spPr>
        <p:txBody>
          <a:bodyPr wrap="square" lIns="0" tIns="0" rIns="0" bIns="0" rtlCol="0" anchor="ctr"/>
          <a:lstStyle/>
          <a:p>
            <a:pPr indent="0" marL="0">
              <a:buNone/>
            </a:pPr>
            <a:r>
              <a:rPr lang="en-US" sz="1250" b="1" dirty="0">
                <a:solidFill>
                  <a:srgbClr val="111827"/>
                </a:solidFill>
                <a:latin typeface="Calibri" pitchFamily="34" charset="0"/>
                <a:ea typeface="Calibri" pitchFamily="34" charset="-122"/>
                <a:cs typeface="Calibri" pitchFamily="34" charset="-120"/>
              </a:rPr>
              <a:t>6 Alerted</a:t>
            </a:r>
            <a:endParaRPr lang="en-US" sz="1250" dirty="0"/>
          </a:p>
        </p:txBody>
      </p:sp>
      <p:sp>
        <p:nvSpPr>
          <p:cNvPr id="28" name="Text 26"/>
          <p:cNvSpPr txBox="1"/>
          <p:nvPr/>
        </p:nvSpPr>
        <p:spPr>
          <a:xfrm>
            <a:off x="2834640" y="3840480"/>
            <a:ext cx="320040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runaway with caps off</a:t>
            </a:r>
            <a:endParaRPr lang="en-US" sz="1150" dirty="0"/>
          </a:p>
        </p:txBody>
      </p:sp>
      <p:sp>
        <p:nvSpPr>
          <p:cNvPr id="29" name="Text 27"/>
          <p:cNvSpPr txBox="1"/>
          <p:nvPr/>
        </p:nvSpPr>
        <p:spPr>
          <a:xfrm>
            <a:off x="6126480" y="3840480"/>
            <a:ext cx="2377440" cy="502920"/>
          </a:xfrm>
          <a:prstGeom prst="rect">
            <a:avLst/>
          </a:prstGeom>
          <a:noFill/>
          <a:ln/>
        </p:spPr>
        <p:txBody>
          <a:bodyPr wrap="square" lIns="0" tIns="0" rIns="0" bIns="0" rtlCol="0" anchor="ctr"/>
          <a:lstStyle/>
          <a:p>
            <a:pPr algn="r" indent="0" marL="0">
              <a:buNone/>
            </a:pPr>
            <a:r>
              <a:rPr lang="en-US" sz="1150" b="1" dirty="0">
                <a:solidFill>
                  <a:srgbClr val="047857"/>
                </a:solidFill>
                <a:latin typeface="Courier New" pitchFamily="34" charset="0"/>
                <a:ea typeface="Courier New" pitchFamily="34" charset="-122"/>
                <a:cs typeface="Courier New" pitchFamily="34" charset="-120"/>
              </a:rPr>
              <a:t>$9,145/mo vs $300</a:t>
            </a:r>
            <a:endParaRPr lang="en-US" sz="1150" dirty="0"/>
          </a:p>
        </p:txBody>
      </p:sp>
      <p:sp>
        <p:nvSpPr>
          <p:cNvPr id="30" name="Text 28"/>
          <p:cNvSpPr txBox="1"/>
          <p:nvPr/>
        </p:nvSpPr>
        <p:spPr>
          <a:xfrm>
            <a:off x="457200" y="4407408"/>
            <a:ext cx="8229600" cy="320040"/>
          </a:xfrm>
          <a:prstGeom prst="rect">
            <a:avLst/>
          </a:prstGeom>
          <a:noFill/>
          <a:ln/>
        </p:spPr>
        <p:txBody>
          <a:bodyPr wrap="square" lIns="0" tIns="0" rIns="0" bIns="0" rtlCol="0" anchor="t"/>
          <a:lstStyle/>
          <a:p>
            <a:pPr indent="0" marL="0">
              <a:buNone/>
            </a:pPr>
            <a:r>
              <a:rPr lang="en-US" sz="1050" dirty="0">
                <a:solidFill>
                  <a:srgbClr val="6B7280"/>
                </a:solidFill>
                <a:latin typeface="Courier New" pitchFamily="34" charset="0"/>
                <a:ea typeface="Courier New" pitchFamily="34" charset="-122"/>
                <a:cs typeface="Courier New" pitchFamily="34" charset="-120"/>
              </a:rPr>
              <a:t>python3 verify.py; and it exits non-zero if any of the six stops being true.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Proof by Turning It Off</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proof table</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columns; the right-hand one is the takeaway.</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column headings: WHAT IT CLAIMS, HOW IT IS PROVEN, WHAT CAME BACK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Six rows, numbered. Keep the right column in green and monospaced; those are real numbers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instrumented; run it and assert the counters moved; $0.0671 over six steps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two: capped; turn loop detection OFF and set a five cent cap; capped at $0.0446</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three: loop caught first; detector on versus off; six steps against fourteen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four: checkpointed; kill partway, resume, compare; $0.0291 not re-paid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five: cost per success; ten runs, six good and four looping; 129 percent above per-request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six, highlighted: alerted; runaway with caps off; $9,145 a month against a $300 budget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dark bar at the bottom: every proof works by turning the mechanism off</a:t>
            </a:r>
            <a:endParaRPr lang="en-US" sz="950" dirty="0"/>
          </a:p>
        </p:txBody>
      </p:sp>
      <p:sp>
        <p:nvSpPr>
          <p:cNvPr id="12" name="Shape 8"/>
          <p:cNvSpPr/>
          <p:nvPr/>
        </p:nvSpPr>
        <p:spPr>
          <a:xfrm>
            <a:off x="3886200" y="1536192"/>
            <a:ext cx="4800600" cy="1986054"/>
          </a:xfrm>
          <a:prstGeom prst="roundRect">
            <a:avLst>
              <a:gd name="adj" fmla="val 368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528854"/>
          </a:xfrm>
          <a:prstGeom prst="rect">
            <a:avLst/>
          </a:prstGeom>
        </p:spPr>
      </p:pic>
      <p:sp>
        <p:nvSpPr>
          <p:cNvPr id="15" name="Shape 10"/>
          <p:cNvSpPr/>
          <p:nvPr/>
        </p:nvSpPr>
        <p:spPr>
          <a:xfrm>
            <a:off x="3886200" y="3677694"/>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677694"/>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“Every proof works by turning the mechanism off. That is also the budget conversation.”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Bill That Never Arrived</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~6 min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THE BILL THAT NEVER ARRIVED</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number nobody will thank you for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280160"/>
            <a:ext cx="4023360" cy="2286000"/>
          </a:xfrm>
          <a:prstGeom prst="roundRect">
            <a:avLst>
              <a:gd name="adj" fmla="val 3200"/>
            </a:avLst>
          </a:prstGeom>
          <a:solidFill>
            <a:srgbClr val="FEF2F2"/>
          </a:solidFill>
          <a:ln w="12700">
            <a:solidFill>
              <a:srgbClr val="FEF2F2"/>
            </a:solidFill>
            <a:prstDash val="solid"/>
          </a:ln>
        </p:spPr>
      </p:sp>
      <p:sp>
        <p:nvSpPr>
          <p:cNvPr id="7" name="Text 5"/>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MODULE 1</a:t>
            </a:r>
            <a:endParaRPr lang="en-US" sz="1000" dirty="0"/>
          </a:p>
        </p:txBody>
      </p:sp>
      <p:sp>
        <p:nvSpPr>
          <p:cNvPr id="8" name="Text 6"/>
          <p:cNvSpPr txBox="1"/>
          <p:nvPr/>
        </p:nvSpPr>
        <p:spPr>
          <a:xfrm>
            <a:off x="685800" y="169164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what it would have cost</a:t>
            </a:r>
            <a:endParaRPr lang="en-US" sz="1200" dirty="0"/>
          </a:p>
        </p:txBody>
      </p:sp>
      <p:sp>
        <p:nvSpPr>
          <p:cNvPr id="9" name="Text 7"/>
          <p:cNvSpPr txBox="1"/>
          <p:nvPr/>
        </p:nvSpPr>
        <p:spPr>
          <a:xfrm>
            <a:off x="685800" y="2057400"/>
            <a:ext cx="3566160" cy="685800"/>
          </a:xfrm>
          <a:prstGeom prst="rect">
            <a:avLst/>
          </a:prstGeom>
          <a:noFill/>
          <a:ln/>
        </p:spPr>
        <p:txBody>
          <a:bodyPr wrap="square" lIns="0" tIns="0" rIns="0" bIns="0" rtlCol="0" anchor="t"/>
          <a:lstStyle/>
          <a:p>
            <a:pPr indent="0" marL="0">
              <a:buNone/>
            </a:pPr>
            <a:r>
              <a:rPr lang="en-US" sz="4000" b="1" dirty="0">
                <a:solidFill>
                  <a:srgbClr val="B91C1C"/>
                </a:solidFill>
                <a:latin typeface="Courier New" pitchFamily="34" charset="0"/>
                <a:ea typeface="Courier New" pitchFamily="34" charset="-122"/>
                <a:cs typeface="Courier New" pitchFamily="34" charset="-120"/>
              </a:rPr>
              <a:t>$1,400+</a:t>
            </a:r>
            <a:endParaRPr lang="en-US" sz="4000" dirty="0"/>
          </a:p>
        </p:txBody>
      </p:sp>
      <p:sp>
        <p:nvSpPr>
          <p:cNvPr id="10" name="Text 8"/>
          <p:cNvSpPr txBox="1"/>
          <p:nvPr/>
        </p:nvSpPr>
        <p:spPr>
          <a:xfrm>
            <a:off x="685800" y="2834640"/>
            <a:ext cx="356616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Same agent, same input, nothing in the way. Found in the morning, by somebody else.</a:t>
            </a:r>
            <a:endParaRPr lang="en-US" sz="1250" dirty="0"/>
          </a:p>
        </p:txBody>
      </p:sp>
      <p:sp>
        <p:nvSpPr>
          <p:cNvPr id="11" name="Shape 9"/>
          <p:cNvSpPr/>
          <p:nvPr/>
        </p:nvSpPr>
        <p:spPr>
          <a:xfrm>
            <a:off x="4663440" y="1280160"/>
            <a:ext cx="4023360" cy="2286000"/>
          </a:xfrm>
          <a:prstGeom prst="roundRect">
            <a:avLst>
              <a:gd name="adj" fmla="val 3200"/>
            </a:avLst>
          </a:prstGeom>
          <a:solidFill>
            <a:srgbClr val="ECFDF5"/>
          </a:solidFill>
          <a:ln w="12700">
            <a:solidFill>
              <a:srgbClr val="ECFDF5"/>
            </a:solidFill>
            <a:prstDash val="solid"/>
          </a:ln>
        </p:spPr>
      </p:sp>
      <p:sp>
        <p:nvSpPr>
          <p:cNvPr id="12" name="Text 10"/>
          <p:cNvSpPr txBox="1"/>
          <p:nvPr/>
        </p:nvSpPr>
        <p:spPr>
          <a:xfrm>
            <a:off x="4892040" y="141732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NOW</a:t>
            </a:r>
            <a:endParaRPr lang="en-US" sz="1000" dirty="0"/>
          </a:p>
        </p:txBody>
      </p:sp>
      <p:sp>
        <p:nvSpPr>
          <p:cNvPr id="13" name="Text 11"/>
          <p:cNvSpPr txBox="1"/>
          <p:nvPr/>
        </p:nvSpPr>
        <p:spPr>
          <a:xfrm>
            <a:off x="4892040" y="1691640"/>
            <a:ext cx="3566160" cy="27432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what it actually costs</a:t>
            </a:r>
            <a:endParaRPr lang="en-US" sz="1200" dirty="0"/>
          </a:p>
        </p:txBody>
      </p:sp>
      <p:sp>
        <p:nvSpPr>
          <p:cNvPr id="14" name="Text 12"/>
          <p:cNvSpPr txBox="1"/>
          <p:nvPr/>
        </p:nvSpPr>
        <p:spPr>
          <a:xfrm>
            <a:off x="4892040" y="2057400"/>
            <a:ext cx="3566160" cy="685800"/>
          </a:xfrm>
          <a:prstGeom prst="rect">
            <a:avLst/>
          </a:prstGeom>
          <a:noFill/>
          <a:ln/>
        </p:spPr>
        <p:txBody>
          <a:bodyPr wrap="square" lIns="0" tIns="0" rIns="0" bIns="0" rtlCol="0" anchor="t"/>
          <a:lstStyle/>
          <a:p>
            <a:pPr indent="0" marL="0">
              <a:buNone/>
            </a:pPr>
            <a:r>
              <a:rPr lang="en-US" sz="4000" b="1" dirty="0">
                <a:solidFill>
                  <a:srgbClr val="047857"/>
                </a:solidFill>
                <a:latin typeface="Courier New" pitchFamily="34" charset="0"/>
                <a:ea typeface="Courier New" pitchFamily="34" charset="-122"/>
                <a:cs typeface="Courier New" pitchFamily="34" charset="-120"/>
              </a:rPr>
              <a:t>$0.07</a:t>
            </a:r>
            <a:endParaRPr lang="en-US" sz="4000" dirty="0"/>
          </a:p>
        </p:txBody>
      </p:sp>
      <p:sp>
        <p:nvSpPr>
          <p:cNvPr id="15" name="Text 13"/>
          <p:cNvSpPr txBox="1"/>
          <p:nvPr/>
        </p:nvSpPr>
        <p:spPr>
          <a:xfrm>
            <a:off x="4892040" y="2834640"/>
            <a:ext cx="356616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Six steps. Stopped by loop detection, with a reason written down. Found in three seconds.</a:t>
            </a:r>
            <a:endParaRPr lang="en-US" sz="1250" dirty="0"/>
          </a:p>
        </p:txBody>
      </p:sp>
      <p:sp>
        <p:nvSpPr>
          <p:cNvPr id="16" name="Shape 14"/>
          <p:cNvSpPr/>
          <p:nvPr/>
        </p:nvSpPr>
        <p:spPr>
          <a:xfrm>
            <a:off x="457200" y="3749040"/>
            <a:ext cx="8229600" cy="960120"/>
          </a:xfrm>
          <a:prstGeom prst="roundRect">
            <a:avLst>
              <a:gd name="adj" fmla="val 7619"/>
            </a:avLst>
          </a:prstGeom>
          <a:solidFill>
            <a:srgbClr val="111827"/>
          </a:solidFill>
          <a:ln w="12700">
            <a:solidFill>
              <a:srgbClr val="111827"/>
            </a:solidFill>
            <a:prstDash val="solid"/>
          </a:ln>
        </p:spPr>
      </p:sp>
      <p:sp>
        <p:nvSpPr>
          <p:cNvPr id="17" name="Text 15"/>
          <p:cNvSpPr txBox="1"/>
          <p:nvPr/>
        </p:nvSpPr>
        <p:spPr>
          <a:xfrm>
            <a:off x="731520" y="3840480"/>
            <a:ext cx="768096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Nobody will ever thank you for this number, because it never appears on an invoice.</a:t>
            </a:r>
            <a:endParaRPr lang="en-US" sz="1400" dirty="0"/>
          </a:p>
        </p:txBody>
      </p:sp>
      <p:sp>
        <p:nvSpPr>
          <p:cNvPr id="18" name="Text 16"/>
          <p:cNvSpPr txBox="1"/>
          <p:nvPr/>
        </p:nvSpPr>
        <p:spPr>
          <a:xfrm>
            <a:off x="731520" y="4224528"/>
            <a:ext cx="7680960" cy="365760"/>
          </a:xfrm>
          <a:prstGeom prst="rect">
            <a:avLst/>
          </a:prstGeom>
          <a:noFill/>
          <a:ln/>
        </p:spPr>
        <p:txBody>
          <a:bodyPr wrap="square" lIns="0" tIns="0" rIns="0" bIns="0" rtlCol="0" anchor="t"/>
          <a:lstStyle/>
          <a:p>
            <a:pPr indent="0" marL="0">
              <a:buNone/>
            </a:pPr>
            <a:r>
              <a:rPr lang="en-US" sz="1300" dirty="0">
                <a:solidFill>
                  <a:srgbClr val="F59E0B"/>
                </a:solidFill>
                <a:latin typeface="Calibri" pitchFamily="34" charset="0"/>
                <a:ea typeface="Calibri" pitchFamily="34" charset="-122"/>
                <a:cs typeface="Calibri" pitchFamily="34" charset="-120"/>
              </a:rPr>
              <a:t>Which is exactly why you have to show it to them yourself.</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THE BILL THAT NEVER ARRIVED</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sentences, for three different rooms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457200" y="1188720"/>
            <a:ext cx="8229600" cy="969264"/>
          </a:xfrm>
          <a:prstGeom prst="roundRect">
            <a:avLst>
              <a:gd name="adj" fmla="val 7547"/>
            </a:avLst>
          </a:prstGeom>
          <a:solidFill>
            <a:srgbClr val="EFF6FF"/>
          </a:solidFill>
          <a:ln w="12700">
            <a:solidFill>
              <a:srgbClr val="EFF6FF"/>
            </a:solidFill>
            <a:prstDash val="solid"/>
          </a:ln>
        </p:spPr>
      </p:sp>
      <p:sp>
        <p:nvSpPr>
          <p:cNvPr id="7" name="Text 5"/>
          <p:cNvSpPr txBox="1"/>
          <p:nvPr/>
        </p:nvSpPr>
        <p:spPr>
          <a:xfrm>
            <a:off x="685800" y="1280160"/>
            <a:ext cx="7772400" cy="256032"/>
          </a:xfrm>
          <a:prstGeom prst="rect">
            <a:avLst/>
          </a:prstGeom>
          <a:noFill/>
          <a:ln/>
        </p:spPr>
        <p:txBody>
          <a:bodyPr wrap="square" lIns="0" tIns="0" rIns="0" bIns="0" rtlCol="0" anchor="t"/>
          <a:lstStyle/>
          <a:p>
            <a:pPr indent="0" marL="0">
              <a:buNone/>
            </a:pPr>
            <a:r>
              <a:rPr lang="en-US" sz="1000" b="1" spc="150" kern="0" dirty="0">
                <a:solidFill>
                  <a:srgbClr val="1D4ED8"/>
                </a:solidFill>
                <a:latin typeface="Calibri" pitchFamily="34" charset="0"/>
                <a:ea typeface="Calibri" pitchFamily="34" charset="-122"/>
                <a:cs typeface="Calibri" pitchFamily="34" charset="-120"/>
              </a:rPr>
              <a:t>TO YOUR MANAGER</a:t>
            </a:r>
            <a:endParaRPr lang="en-US" sz="1000" dirty="0"/>
          </a:p>
        </p:txBody>
      </p:sp>
      <p:sp>
        <p:nvSpPr>
          <p:cNvPr id="8" name="Text 6"/>
          <p:cNvSpPr txBox="1"/>
          <p:nvPr/>
        </p:nvSpPr>
        <p:spPr>
          <a:xfrm>
            <a:off x="685800" y="1536192"/>
            <a:ext cx="7772400" cy="566928"/>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"The agent that ran away in March now stops itself in six steps. Here is the run with the protection off, and here it is with it on."</a:t>
            </a:r>
            <a:endParaRPr lang="en-US" sz="1300" dirty="0"/>
          </a:p>
        </p:txBody>
      </p:sp>
      <p:sp>
        <p:nvSpPr>
          <p:cNvPr id="9" name="Shape 7"/>
          <p:cNvSpPr/>
          <p:nvPr/>
        </p:nvSpPr>
        <p:spPr>
          <a:xfrm>
            <a:off x="457200" y="2276856"/>
            <a:ext cx="8229600" cy="969264"/>
          </a:xfrm>
          <a:prstGeom prst="roundRect">
            <a:avLst>
              <a:gd name="adj" fmla="val 7547"/>
            </a:avLst>
          </a:prstGeom>
          <a:solidFill>
            <a:srgbClr val="ECFDF5"/>
          </a:solidFill>
          <a:ln w="12700">
            <a:solidFill>
              <a:srgbClr val="ECFDF5"/>
            </a:solidFill>
            <a:prstDash val="solid"/>
          </a:ln>
        </p:spPr>
      </p:sp>
      <p:sp>
        <p:nvSpPr>
          <p:cNvPr id="10" name="Text 8"/>
          <p:cNvSpPr txBox="1"/>
          <p:nvPr/>
        </p:nvSpPr>
        <p:spPr>
          <a:xfrm>
            <a:off x="685800" y="2368296"/>
            <a:ext cx="7772400" cy="256032"/>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TO FINANCE</a:t>
            </a:r>
            <a:endParaRPr lang="en-US" sz="1000" dirty="0"/>
          </a:p>
        </p:txBody>
      </p:sp>
      <p:sp>
        <p:nvSpPr>
          <p:cNvPr id="11" name="Text 9"/>
          <p:cNvSpPr txBox="1"/>
          <p:nvPr/>
        </p:nvSpPr>
        <p:spPr>
          <a:xfrm>
            <a:off x="685800" y="2624328"/>
            <a:ext cx="7772400" cy="566928"/>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"Thirty-one cents per resolved ticket, and we can tell you what share of spend goes to work that fails. It is currently nine percent."</a:t>
            </a:r>
            <a:endParaRPr lang="en-US" sz="1300" dirty="0"/>
          </a:p>
        </p:txBody>
      </p:sp>
      <p:sp>
        <p:nvSpPr>
          <p:cNvPr id="12" name="Shape 10"/>
          <p:cNvSpPr/>
          <p:nvPr/>
        </p:nvSpPr>
        <p:spPr>
          <a:xfrm>
            <a:off x="457200" y="3364992"/>
            <a:ext cx="8229600" cy="969264"/>
          </a:xfrm>
          <a:prstGeom prst="roundRect">
            <a:avLst>
              <a:gd name="adj" fmla="val 7547"/>
            </a:avLst>
          </a:prstGeom>
          <a:solidFill>
            <a:srgbClr val="FEF3C7"/>
          </a:solidFill>
          <a:ln w="12700">
            <a:solidFill>
              <a:srgbClr val="FEF3C7"/>
            </a:solidFill>
            <a:prstDash val="solid"/>
          </a:ln>
        </p:spPr>
      </p:sp>
      <p:sp>
        <p:nvSpPr>
          <p:cNvPr id="13" name="Text 11"/>
          <p:cNvSpPr txBox="1"/>
          <p:nvPr/>
        </p:nvSpPr>
        <p:spPr>
          <a:xfrm>
            <a:off x="685800" y="3456432"/>
            <a:ext cx="7772400" cy="256032"/>
          </a:xfrm>
          <a:prstGeom prst="rect">
            <a:avLst/>
          </a:prstGeom>
          <a:noFill/>
          <a:ln/>
        </p:spPr>
        <p:txBody>
          <a:bodyPr wrap="square" lIns="0" tIns="0" rIns="0" bIns="0" rtlCol="0" anchor="t"/>
          <a:lstStyle/>
          <a:p>
            <a:pPr indent="0" marL="0">
              <a:buNone/>
            </a:pPr>
            <a:r>
              <a:rPr lang="en-US" sz="1000" b="1" spc="150" kern="0" dirty="0">
                <a:solidFill>
                  <a:srgbClr val="B45309"/>
                </a:solidFill>
                <a:latin typeface="Calibri" pitchFamily="34" charset="0"/>
                <a:ea typeface="Calibri" pitchFamily="34" charset="-122"/>
                <a:cs typeface="Calibri" pitchFamily="34" charset="-120"/>
              </a:rPr>
              <a:t>TO THE ENGINEER WHO HAS TO KEEP IT</a:t>
            </a:r>
            <a:endParaRPr lang="en-US" sz="1000" dirty="0"/>
          </a:p>
        </p:txBody>
      </p:sp>
      <p:sp>
        <p:nvSpPr>
          <p:cNvPr id="14" name="Text 12"/>
          <p:cNvSpPr txBox="1"/>
          <p:nvPr/>
        </p:nvSpPr>
        <p:spPr>
          <a:xfrm>
            <a:off x="685800" y="3712464"/>
            <a:ext cx="7772400" cy="566928"/>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"Four hundred lines, one check that fails in CI if any of it breaks, and every mechanism has a flag so you can measure what it buys."</a:t>
            </a:r>
            <a:endParaRPr lang="en-US" sz="1300" dirty="0"/>
          </a:p>
        </p:txBody>
      </p:sp>
      <p:sp>
        <p:nvSpPr>
          <p:cNvPr id="15" name="Text 13"/>
          <p:cNvSpPr txBox="1"/>
          <p:nvPr/>
        </p:nvSpPr>
        <p:spPr>
          <a:xfrm>
            <a:off x="457200" y="4480560"/>
            <a:ext cx="8229600" cy="320040"/>
          </a:xfrm>
          <a:prstGeom prst="rect">
            <a:avLst/>
          </a:prstGeom>
          <a:noFill/>
          <a:ln/>
        </p:spPr>
        <p:txBody>
          <a:bodyPr wrap="square" lIns="0" tIns="0" rIns="0" bIns="0" rtlCol="0" anchor="t"/>
          <a:lstStyle/>
          <a:p>
            <a:pPr indent="0" marL="0">
              <a:buNone/>
            </a:pPr>
            <a:r>
              <a:rPr lang="en-US" sz="1250" b="1" dirty="0">
                <a:solidFill>
                  <a:srgbClr val="6B7280"/>
                </a:solidFill>
                <a:latin typeface="Calibri" pitchFamily="34" charset="0"/>
                <a:ea typeface="Calibri" pitchFamily="34" charset="-122"/>
                <a:cs typeface="Calibri" pitchFamily="34" charset="-120"/>
              </a:rPr>
              <a:t>Same work, three times, in the unit each room already counts in.</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The Bill That Never Arrived</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two numbers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Two boxes, a minus sign between them, then let it sit.</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large boxes side by side. Left red, right green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MODULE 1: what it would have cost. Big number: $1,400 plus. Underneath: found in the morning, by somebody else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large minus sign between the boxes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NOW: what it actually costs. Big number: $0.07. Underneath: found by the agent, in three seconds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wide box underneath: nobody will ever thank you for this number, because it never appears on an invoice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dark bar at the very bottom in gold: that is what the whole course was for</a:t>
            </a:r>
            <a:endParaRPr lang="en-US" sz="950" dirty="0"/>
          </a:p>
        </p:txBody>
      </p:sp>
      <p:sp>
        <p:nvSpPr>
          <p:cNvPr id="12" name="Shape 8"/>
          <p:cNvSpPr/>
          <p:nvPr/>
        </p:nvSpPr>
        <p:spPr>
          <a:xfrm>
            <a:off x="3886200" y="1536192"/>
            <a:ext cx="4800600" cy="1990938"/>
          </a:xfrm>
          <a:prstGeom prst="roundRect">
            <a:avLst>
              <a:gd name="adj" fmla="val 367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533738"/>
          </a:xfrm>
          <a:prstGeom prst="rect">
            <a:avLst/>
          </a:prstGeom>
        </p:spPr>
      </p:pic>
      <p:sp>
        <p:nvSpPr>
          <p:cNvPr id="15" name="Shape 10"/>
          <p:cNvSpPr/>
          <p:nvPr/>
        </p:nvSpPr>
        <p:spPr>
          <a:xfrm>
            <a:off x="3886200" y="3682578"/>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682578"/>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“Fourteen hundred dollars, minus seven cents. Nobody will ever send you that invoice.”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the Whole Thing, in Order</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commands, then the check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457200" y="1325880"/>
            <a:ext cx="2606040" cy="1051560"/>
          </a:xfrm>
          <a:prstGeom prst="roundRect">
            <a:avLst>
              <a:gd name="adj" fmla="val 6957"/>
            </a:avLst>
          </a:prstGeom>
          <a:solidFill>
            <a:srgbClr val="F3F4F6"/>
          </a:solidFill>
          <a:ln w="12700">
            <a:solidFill>
              <a:srgbClr val="F3F4F6"/>
            </a:solidFill>
            <a:prstDash val="solid"/>
          </a:ln>
        </p:spPr>
      </p:sp>
      <p:sp>
        <p:nvSpPr>
          <p:cNvPr id="7" name="Text 5"/>
          <p:cNvSpPr txBox="1"/>
          <p:nvPr/>
        </p:nvSpPr>
        <p:spPr>
          <a:xfrm>
            <a:off x="658368" y="1435608"/>
            <a:ext cx="2194560" cy="228600"/>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STEP 1</a:t>
            </a:r>
            <a:endParaRPr lang="en-US" sz="900" dirty="0"/>
          </a:p>
        </p:txBody>
      </p:sp>
      <p:sp>
        <p:nvSpPr>
          <p:cNvPr id="8" name="Text 6"/>
          <p:cNvSpPr txBox="1"/>
          <p:nvPr/>
        </p:nvSpPr>
        <p:spPr>
          <a:xfrm>
            <a:off x="658368" y="1691640"/>
            <a:ext cx="224028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Watch it fail</a:t>
            </a:r>
            <a:endParaRPr lang="en-US" sz="1350" dirty="0"/>
          </a:p>
        </p:txBody>
      </p:sp>
      <p:sp>
        <p:nvSpPr>
          <p:cNvPr id="9" name="Text 7"/>
          <p:cNvSpPr txBox="1"/>
          <p:nvPr/>
        </p:nvSpPr>
        <p:spPr>
          <a:xfrm>
            <a:off x="658368" y="2011680"/>
            <a:ext cx="2240280" cy="27432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naive_agent.py, twenty seconds</a:t>
            </a:r>
            <a:endParaRPr lang="en-US" sz="1050" dirty="0"/>
          </a:p>
        </p:txBody>
      </p:sp>
      <p:sp>
        <p:nvSpPr>
          <p:cNvPr id="10" name="Shape 8"/>
          <p:cNvSpPr/>
          <p:nvPr/>
        </p:nvSpPr>
        <p:spPr>
          <a:xfrm>
            <a:off x="3246120" y="1325880"/>
            <a:ext cx="2606040" cy="1051560"/>
          </a:xfrm>
          <a:prstGeom prst="roundRect">
            <a:avLst>
              <a:gd name="adj" fmla="val 6957"/>
            </a:avLst>
          </a:prstGeom>
          <a:solidFill>
            <a:srgbClr val="F3F4F6"/>
          </a:solidFill>
          <a:ln w="12700">
            <a:solidFill>
              <a:srgbClr val="F3F4F6"/>
            </a:solidFill>
            <a:prstDash val="solid"/>
          </a:ln>
        </p:spPr>
      </p:sp>
      <p:sp>
        <p:nvSpPr>
          <p:cNvPr id="11" name="Text 9"/>
          <p:cNvSpPr txBox="1"/>
          <p:nvPr/>
        </p:nvSpPr>
        <p:spPr>
          <a:xfrm>
            <a:off x="3447288" y="1435608"/>
            <a:ext cx="2194560" cy="228600"/>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STEP 2</a:t>
            </a:r>
            <a:endParaRPr lang="en-US" sz="900" dirty="0"/>
          </a:p>
        </p:txBody>
      </p:sp>
      <p:sp>
        <p:nvSpPr>
          <p:cNvPr id="12" name="Text 10"/>
          <p:cNvSpPr txBox="1"/>
          <p:nvPr/>
        </p:nvSpPr>
        <p:spPr>
          <a:xfrm>
            <a:off x="3447288" y="1691640"/>
            <a:ext cx="224028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Watch it stop</a:t>
            </a:r>
            <a:endParaRPr lang="en-US" sz="1350" dirty="0"/>
          </a:p>
        </p:txBody>
      </p:sp>
      <p:sp>
        <p:nvSpPr>
          <p:cNvPr id="13" name="Text 11"/>
          <p:cNvSpPr txBox="1"/>
          <p:nvPr/>
        </p:nvSpPr>
        <p:spPr>
          <a:xfrm>
            <a:off x="3447288" y="2011680"/>
            <a:ext cx="2240280" cy="27432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run_agent.py, same input</a:t>
            </a:r>
            <a:endParaRPr lang="en-US" sz="1050" dirty="0"/>
          </a:p>
        </p:txBody>
      </p:sp>
      <p:sp>
        <p:nvSpPr>
          <p:cNvPr id="14" name="Shape 12"/>
          <p:cNvSpPr/>
          <p:nvPr/>
        </p:nvSpPr>
        <p:spPr>
          <a:xfrm>
            <a:off x="6035040" y="1325880"/>
            <a:ext cx="2606040" cy="1051560"/>
          </a:xfrm>
          <a:prstGeom prst="roundRect">
            <a:avLst>
              <a:gd name="adj" fmla="val 6957"/>
            </a:avLst>
          </a:prstGeom>
          <a:solidFill>
            <a:srgbClr val="F3F4F6"/>
          </a:solidFill>
          <a:ln w="12700">
            <a:solidFill>
              <a:srgbClr val="F3F4F6"/>
            </a:solidFill>
            <a:prstDash val="solid"/>
          </a:ln>
        </p:spPr>
      </p:sp>
      <p:sp>
        <p:nvSpPr>
          <p:cNvPr id="15" name="Text 13"/>
          <p:cNvSpPr txBox="1"/>
          <p:nvPr/>
        </p:nvSpPr>
        <p:spPr>
          <a:xfrm>
            <a:off x="6236208" y="1435608"/>
            <a:ext cx="2194560" cy="228600"/>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STEP 3</a:t>
            </a:r>
            <a:endParaRPr lang="en-US" sz="900" dirty="0"/>
          </a:p>
        </p:txBody>
      </p:sp>
      <p:sp>
        <p:nvSpPr>
          <p:cNvPr id="16" name="Text 14"/>
          <p:cNvSpPr txBox="1"/>
          <p:nvPr/>
        </p:nvSpPr>
        <p:spPr>
          <a:xfrm>
            <a:off x="6236208" y="1691640"/>
            <a:ext cx="224028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Prove the cap</a:t>
            </a:r>
            <a:endParaRPr lang="en-US" sz="1350" dirty="0"/>
          </a:p>
        </p:txBody>
      </p:sp>
      <p:sp>
        <p:nvSpPr>
          <p:cNvPr id="17" name="Text 15"/>
          <p:cNvSpPr txBox="1"/>
          <p:nvPr/>
        </p:nvSpPr>
        <p:spPr>
          <a:xfrm>
            <a:off x="6236208" y="2011680"/>
            <a:ext cx="2240280" cy="27432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loop detection off</a:t>
            </a:r>
            <a:endParaRPr lang="en-US" sz="1050" dirty="0"/>
          </a:p>
        </p:txBody>
      </p:sp>
      <p:sp>
        <p:nvSpPr>
          <p:cNvPr id="18" name="Shape 16"/>
          <p:cNvSpPr/>
          <p:nvPr/>
        </p:nvSpPr>
        <p:spPr>
          <a:xfrm>
            <a:off x="457200" y="2560320"/>
            <a:ext cx="2606040" cy="1051560"/>
          </a:xfrm>
          <a:prstGeom prst="roundRect">
            <a:avLst>
              <a:gd name="adj" fmla="val 6957"/>
            </a:avLst>
          </a:prstGeom>
          <a:solidFill>
            <a:srgbClr val="F3F4F6"/>
          </a:solidFill>
          <a:ln w="12700">
            <a:solidFill>
              <a:srgbClr val="F3F4F6"/>
            </a:solidFill>
            <a:prstDash val="solid"/>
          </a:ln>
        </p:spPr>
      </p:sp>
      <p:sp>
        <p:nvSpPr>
          <p:cNvPr id="19" name="Text 17"/>
          <p:cNvSpPr txBox="1"/>
          <p:nvPr/>
        </p:nvSpPr>
        <p:spPr>
          <a:xfrm>
            <a:off x="658368" y="2670048"/>
            <a:ext cx="2194560" cy="228600"/>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STEP 4</a:t>
            </a:r>
            <a:endParaRPr lang="en-US" sz="900" dirty="0"/>
          </a:p>
        </p:txBody>
      </p:sp>
      <p:sp>
        <p:nvSpPr>
          <p:cNvPr id="20" name="Text 18"/>
          <p:cNvSpPr txBox="1"/>
          <p:nvPr/>
        </p:nvSpPr>
        <p:spPr>
          <a:xfrm>
            <a:off x="658368" y="2926080"/>
            <a:ext cx="224028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Prove the checkpoint</a:t>
            </a:r>
            <a:endParaRPr lang="en-US" sz="1350" dirty="0"/>
          </a:p>
        </p:txBody>
      </p:sp>
      <p:sp>
        <p:nvSpPr>
          <p:cNvPr id="21" name="Text 19"/>
          <p:cNvSpPr txBox="1"/>
          <p:nvPr/>
        </p:nvSpPr>
        <p:spPr>
          <a:xfrm>
            <a:off x="658368" y="3246120"/>
            <a:ext cx="2240280" cy="27432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kill it, resume it</a:t>
            </a:r>
            <a:endParaRPr lang="en-US" sz="1050" dirty="0"/>
          </a:p>
        </p:txBody>
      </p:sp>
      <p:sp>
        <p:nvSpPr>
          <p:cNvPr id="22" name="Shape 20"/>
          <p:cNvSpPr/>
          <p:nvPr/>
        </p:nvSpPr>
        <p:spPr>
          <a:xfrm>
            <a:off x="3246120" y="2560320"/>
            <a:ext cx="2606040" cy="1051560"/>
          </a:xfrm>
          <a:prstGeom prst="roundRect">
            <a:avLst>
              <a:gd name="adj" fmla="val 6957"/>
            </a:avLst>
          </a:prstGeom>
          <a:solidFill>
            <a:srgbClr val="F3F4F6"/>
          </a:solidFill>
          <a:ln w="12700">
            <a:solidFill>
              <a:srgbClr val="F3F4F6"/>
            </a:solidFill>
            <a:prstDash val="solid"/>
          </a:ln>
        </p:spPr>
      </p:sp>
      <p:sp>
        <p:nvSpPr>
          <p:cNvPr id="23" name="Text 21"/>
          <p:cNvSpPr txBox="1"/>
          <p:nvPr/>
        </p:nvSpPr>
        <p:spPr>
          <a:xfrm>
            <a:off x="3447288" y="2670048"/>
            <a:ext cx="2194560" cy="228600"/>
          </a:xfrm>
          <a:prstGeom prst="rect">
            <a:avLst/>
          </a:prstGeom>
          <a:noFill/>
          <a:ln/>
        </p:spPr>
        <p:txBody>
          <a:bodyPr wrap="square" lIns="0" tIns="0" rIns="0" bIns="0" rtlCol="0" anchor="t"/>
          <a:lstStyle/>
          <a:p>
            <a:pPr indent="0" marL="0">
              <a:buNone/>
            </a:pPr>
            <a:r>
              <a:rPr lang="en-US" sz="900" b="1" spc="150" kern="0" dirty="0">
                <a:solidFill>
                  <a:srgbClr val="B45309"/>
                </a:solidFill>
                <a:latin typeface="Calibri" pitchFamily="34" charset="0"/>
                <a:ea typeface="Calibri" pitchFamily="34" charset="-122"/>
                <a:cs typeface="Calibri" pitchFamily="34" charset="-120"/>
              </a:rPr>
              <a:t>STEP 5</a:t>
            </a:r>
            <a:endParaRPr lang="en-US" sz="900" dirty="0"/>
          </a:p>
        </p:txBody>
      </p:sp>
      <p:sp>
        <p:nvSpPr>
          <p:cNvPr id="24" name="Text 22"/>
          <p:cNvSpPr txBox="1"/>
          <p:nvPr/>
        </p:nvSpPr>
        <p:spPr>
          <a:xfrm>
            <a:off x="3447288" y="2926080"/>
            <a:ext cx="2240280" cy="320040"/>
          </a:xfrm>
          <a:prstGeom prst="rect">
            <a:avLst/>
          </a:prstGeom>
          <a:noFill/>
          <a:ln/>
        </p:spPr>
        <p:txBody>
          <a:bodyPr wrap="square" lIns="0" tIns="0" rIns="0" bIns="0" rtlCol="0" anchor="t"/>
          <a:lstStyle/>
          <a:p>
            <a:pPr indent="0" marL="0">
              <a:buNone/>
            </a:pPr>
            <a:r>
              <a:rPr lang="en-US" sz="1350" b="1" dirty="0">
                <a:solidFill>
                  <a:srgbClr val="111827"/>
                </a:solidFill>
                <a:latin typeface="Calibri" pitchFamily="34" charset="0"/>
                <a:ea typeface="Calibri" pitchFamily="34" charset="-122"/>
                <a:cs typeface="Calibri" pitchFamily="34" charset="-120"/>
              </a:rPr>
              <a:t>Read the true number</a:t>
            </a:r>
            <a:endParaRPr lang="en-US" sz="1350" dirty="0"/>
          </a:p>
        </p:txBody>
      </p:sp>
      <p:sp>
        <p:nvSpPr>
          <p:cNvPr id="25" name="Text 23"/>
          <p:cNvSpPr txBox="1"/>
          <p:nvPr/>
        </p:nvSpPr>
        <p:spPr>
          <a:xfrm>
            <a:off x="3447288" y="3246120"/>
            <a:ext cx="2240280" cy="27432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report.py</a:t>
            </a:r>
            <a:endParaRPr lang="en-US" sz="1050" dirty="0"/>
          </a:p>
        </p:txBody>
      </p:sp>
      <p:sp>
        <p:nvSpPr>
          <p:cNvPr id="26" name="Shape 24"/>
          <p:cNvSpPr/>
          <p:nvPr/>
        </p:nvSpPr>
        <p:spPr>
          <a:xfrm>
            <a:off x="6035040" y="2560320"/>
            <a:ext cx="2606040" cy="1051560"/>
          </a:xfrm>
          <a:prstGeom prst="roundRect">
            <a:avLst>
              <a:gd name="adj" fmla="val 6957"/>
            </a:avLst>
          </a:prstGeom>
          <a:solidFill>
            <a:srgbClr val="111827"/>
          </a:solidFill>
          <a:ln w="12700">
            <a:solidFill>
              <a:srgbClr val="111827"/>
            </a:solidFill>
            <a:prstDash val="solid"/>
          </a:ln>
        </p:spPr>
      </p:sp>
      <p:sp>
        <p:nvSpPr>
          <p:cNvPr id="27" name="Text 25"/>
          <p:cNvSpPr txBox="1"/>
          <p:nvPr/>
        </p:nvSpPr>
        <p:spPr>
          <a:xfrm>
            <a:off x="6236208" y="2670048"/>
            <a:ext cx="2194560" cy="228600"/>
          </a:xfrm>
          <a:prstGeom prst="rect">
            <a:avLst/>
          </a:prstGeom>
          <a:noFill/>
          <a:ln/>
        </p:spPr>
        <p:txBody>
          <a:bodyPr wrap="square" lIns="0" tIns="0" rIns="0" bIns="0" rtlCol="0" anchor="t"/>
          <a:lstStyle/>
          <a:p>
            <a:pPr indent="0" marL="0">
              <a:buNone/>
            </a:pPr>
            <a:r>
              <a:rPr lang="en-US" sz="900" b="1" spc="150" kern="0" dirty="0">
                <a:solidFill>
                  <a:srgbClr val="F59E0B"/>
                </a:solidFill>
                <a:latin typeface="Calibri" pitchFamily="34" charset="0"/>
                <a:ea typeface="Calibri" pitchFamily="34" charset="-122"/>
                <a:cs typeface="Calibri" pitchFamily="34" charset="-120"/>
              </a:rPr>
              <a:t>STEP 6</a:t>
            </a:r>
            <a:endParaRPr lang="en-US" sz="900" dirty="0"/>
          </a:p>
        </p:txBody>
      </p:sp>
      <p:sp>
        <p:nvSpPr>
          <p:cNvPr id="28" name="Text 26"/>
          <p:cNvSpPr txBox="1"/>
          <p:nvPr/>
        </p:nvSpPr>
        <p:spPr>
          <a:xfrm>
            <a:off x="6236208" y="2926080"/>
            <a:ext cx="2240280" cy="32004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Prove the alert</a:t>
            </a:r>
            <a:endParaRPr lang="en-US" sz="1350" dirty="0"/>
          </a:p>
        </p:txBody>
      </p:sp>
      <p:sp>
        <p:nvSpPr>
          <p:cNvPr id="29" name="Text 27"/>
          <p:cNvSpPr txBox="1"/>
          <p:nvPr/>
        </p:nvSpPr>
        <p:spPr>
          <a:xfrm>
            <a:off x="6236208" y="3246120"/>
            <a:ext cx="2240280" cy="274320"/>
          </a:xfrm>
          <a:prstGeom prst="rect">
            <a:avLst/>
          </a:prstGeom>
          <a:noFill/>
          <a:ln/>
        </p:spPr>
        <p:txBody>
          <a:bodyPr wrap="square" lIns="0" tIns="0" rIns="0" bIns="0" rtlCol="0" anchor="t"/>
          <a:lstStyle/>
          <a:p>
            <a:pPr indent="0" marL="0">
              <a:buNone/>
            </a:pPr>
            <a:r>
              <a:rPr lang="en-US" sz="1050" dirty="0">
                <a:solidFill>
                  <a:srgbClr val="9CA3AF"/>
                </a:solidFill>
                <a:latin typeface="Calibri" pitchFamily="34" charset="0"/>
                <a:ea typeface="Calibri" pitchFamily="34" charset="-122"/>
                <a:cs typeface="Calibri" pitchFamily="34" charset="-120"/>
              </a:rPr>
              <a:t>caps off, then straight back on</a:t>
            </a:r>
            <a:endParaRPr lang="en-US" sz="1050" dirty="0"/>
          </a:p>
        </p:txBody>
      </p:sp>
      <p:sp>
        <p:nvSpPr>
          <p:cNvPr id="30" name="Shape 28"/>
          <p:cNvSpPr/>
          <p:nvPr/>
        </p:nvSpPr>
        <p:spPr>
          <a:xfrm>
            <a:off x="457200" y="3886200"/>
            <a:ext cx="8229600" cy="777240"/>
          </a:xfrm>
          <a:prstGeom prst="roundRect">
            <a:avLst>
              <a:gd name="adj" fmla="val 9412"/>
            </a:avLst>
          </a:prstGeom>
          <a:solidFill>
            <a:srgbClr val="ECFDF5"/>
          </a:solidFill>
          <a:ln w="12700">
            <a:solidFill>
              <a:srgbClr val="ECFDF5"/>
            </a:solidFill>
            <a:prstDash val="solid"/>
          </a:ln>
        </p:spPr>
      </p:sp>
      <p:sp>
        <p:nvSpPr>
          <p:cNvPr id="31" name="Text 29"/>
          <p:cNvSpPr txBox="1"/>
          <p:nvPr/>
        </p:nvSpPr>
        <p:spPr>
          <a:xfrm>
            <a:off x="731520" y="3886200"/>
            <a:ext cx="7680960" cy="777240"/>
          </a:xfrm>
          <a:prstGeom prst="rect">
            <a:avLst/>
          </a:prstGeom>
          <a:noFill/>
          <a:ln/>
        </p:spPr>
        <p:txBody>
          <a:bodyPr wrap="square" lIns="0" tIns="0" rIns="0" bIns="0" rtlCol="0" anchor="ctr"/>
          <a:lstStyle/>
          <a:p>
            <a:pPr indent="0" marL="0">
              <a:buNone/>
            </a:pPr>
            <a:r>
              <a:rPr lang="en-US" sz="1250" b="1" dirty="0">
                <a:solidFill>
                  <a:srgbClr val="047857"/>
                </a:solidFill>
                <a:latin typeface="Courier New" pitchFamily="34" charset="0"/>
                <a:ea typeface="Courier New" pitchFamily="34" charset="-122"/>
                <a:cs typeface="Courier New" pitchFamily="34" charset="-120"/>
              </a:rPr>
              <a:t>Then python3 verify.py. </a:t>
            </a:r>
            <a:pPr indent="0" marL="0">
              <a:buNone/>
            </a:pPr>
            <a:r>
              <a:rPr lang="en-US" sz="1250" dirty="0">
                <a:solidFill>
                  <a:srgbClr val="1F2937"/>
                </a:solidFill>
                <a:latin typeface="Calibri" pitchFamily="34" charset="0"/>
                <a:ea typeface="Calibri" pitchFamily="34" charset="-122"/>
                <a:cs typeface="Calibri" pitchFamily="34" charset="-120"/>
              </a:rPr>
              <a:t>Six PASS lines, and the agent is safe to leave running overnight; not because I said so, but because the thing that would have hurt you was tried and stopped.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1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it fail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Twenty seconds with the problem. No cost, no ceiling, no exit.</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566" b="1" dirty="0">
                <a:solidFill>
                  <a:srgbClr val="F59E0B"/>
                </a:solidFill>
                <a:latin typeface="Courier New" pitchFamily="34" charset="0"/>
                <a:ea typeface="Courier New" pitchFamily="34" charset="-122"/>
                <a:cs typeface="Courier New" pitchFamily="34" charset="-120"/>
              </a:rPr>
              <a:t>$ </a:t>
            </a:r>
            <a:pPr indent="0" marL="0">
              <a:buNone/>
            </a:pPr>
            <a:r>
              <a:rPr lang="en-US" sz="1566" dirty="0">
                <a:solidFill>
                  <a:srgbClr val="E8EAED"/>
                </a:solidFill>
                <a:latin typeface="Courier New" pitchFamily="34" charset="0"/>
                <a:ea typeface="Courier New" pitchFamily="34" charset="-122"/>
                <a:cs typeface="Courier New" pitchFamily="34" charset="-120"/>
              </a:rPr>
              <a:t>timeout 20 python3 naive_agent.py --input samples/malformed.json</a:t>
            </a:r>
            <a:endParaRPr lang="en-US" sz="1566" dirty="0"/>
          </a:p>
        </p:txBody>
      </p:sp>
      <p:sp>
        <p:nvSpPr>
          <p:cNvPr id="9" name="Shape 7"/>
          <p:cNvSpPr/>
          <p:nvPr/>
        </p:nvSpPr>
        <p:spPr>
          <a:xfrm>
            <a:off x="457200" y="2651760"/>
            <a:ext cx="8229600" cy="914400"/>
          </a:xfrm>
          <a:prstGeom prst="roundRect">
            <a:avLst>
              <a:gd name="adj" fmla="val 8000"/>
            </a:avLst>
          </a:prstGeom>
          <a:solidFill>
            <a:srgbClr val="F3F4F6"/>
          </a:solidFill>
          <a:ln w="12700">
            <a:solidFill>
              <a:srgbClr val="F3F4F6"/>
            </a:solidFill>
            <a:prstDash val="solid"/>
          </a:ln>
        </p:spPr>
      </p:sp>
      <p:sp>
        <p:nvSpPr>
          <p:cNvPr id="10" name="Text 8"/>
          <p:cNvSpPr txBox="1"/>
          <p:nvPr/>
        </p:nvSpPr>
        <p:spPr>
          <a:xfrm>
            <a:off x="731520" y="2651760"/>
            <a:ext cx="7680960" cy="91440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Steps scroll past and stop only because you killed it. Not one number on that screen tells you what it cost.</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2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it stop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Same input. Same model. Everything switched on.</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samples/malformed.json</a:t>
            </a:r>
            <a:endParaRPr lang="en-US" sz="1600" dirty="0"/>
          </a:p>
        </p:txBody>
      </p:sp>
      <p:sp>
        <p:nvSpPr>
          <p:cNvPr id="9" name="Shape 7"/>
          <p:cNvSpPr/>
          <p:nvPr/>
        </p:nvSpPr>
        <p:spPr>
          <a:xfrm>
            <a:off x="457200" y="2651760"/>
            <a:ext cx="8229600" cy="1371600"/>
          </a:xfrm>
          <a:prstGeom prst="roundRect">
            <a:avLst>
              <a:gd name="adj" fmla="val 5333"/>
            </a:avLst>
          </a:prstGeom>
          <a:solidFill>
            <a:srgbClr val="0F172A"/>
          </a:solidFill>
          <a:ln w="12700">
            <a:solidFill>
              <a:srgbClr val="0F172A"/>
            </a:solidFill>
            <a:prstDash val="solid"/>
          </a:ln>
        </p:spPr>
      </p:sp>
      <p:sp>
        <p:nvSpPr>
          <p:cNvPr id="10" name="Text 8"/>
          <p:cNvSpPr txBox="1"/>
          <p:nvPr/>
        </p:nvSpPr>
        <p:spPr>
          <a:xfrm>
            <a:off x="658368" y="2816352"/>
            <a:ext cx="7863840" cy="1097280"/>
          </a:xfrm>
          <a:prstGeom prst="rect">
            <a:avLst/>
          </a:prstGeom>
          <a:noFill/>
          <a:ln/>
        </p:spPr>
        <p:txBody>
          <a:bodyPr wrap="square" lIns="0" tIns="0" rIns="0" bIns="0" rtlCol="0" anchor="t"/>
          <a:lstStyle/>
          <a:p>
            <a:pPr indent="0" marL="0">
              <a:buNone/>
            </a:pPr>
            <a:r>
              <a:rPr lang="en-US" sz="1150" dirty="0">
                <a:solidFill>
                  <a:srgbClr val="E8EAED"/>
                </a:solidFill>
                <a:latin typeface="Courier New" pitchFamily="34" charset="0"/>
                <a:ea typeface="Courier New" pitchFamily="34" charset="-122"/>
                <a:cs typeface="Courier New" pitchFamily="34" charset="-120"/>
              </a:rPr>
              <a:t>  run d8d915fa   STOPPED: loop detected</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why          bouncing: 'validate:amount' &lt;-&gt; 'parse:amount' for 3 cycles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steps        6</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cost         $0.0671</a:t>
            </a:r>
            <a:endParaRPr lang="en-US" sz="1150" dirty="0"/>
          </a:p>
        </p:txBody>
      </p:sp>
      <p:sp>
        <p:nvSpPr>
          <p:cNvPr id="11" name="Text 9"/>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A reason a person can read, attached to a number a person can act on.</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3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Prove the cap, with the detector off</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Turn loop detection off so the cap is the only thing left that can stop it.</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161" b="1" dirty="0">
                <a:solidFill>
                  <a:srgbClr val="F59E0B"/>
                </a:solidFill>
                <a:latin typeface="Courier New" pitchFamily="34" charset="0"/>
                <a:ea typeface="Courier New" pitchFamily="34" charset="-122"/>
                <a:cs typeface="Courier New" pitchFamily="34" charset="-120"/>
              </a:rPr>
              <a:t>$ </a:t>
            </a:r>
            <a:pPr indent="0" marL="0">
              <a:buNone/>
            </a:pPr>
            <a:r>
              <a:rPr lang="en-US" sz="1161" dirty="0">
                <a:solidFill>
                  <a:srgbClr val="E8EAED"/>
                </a:solidFill>
                <a:latin typeface="Courier New" pitchFamily="34" charset="0"/>
                <a:ea typeface="Courier New" pitchFamily="34" charset="-122"/>
                <a:cs typeface="Courier New" pitchFamily="34" charset="-120"/>
              </a:rPr>
              <a:t>python3 run_agent.py --input samples/malformed.json --no-loop-detect --per-run-usd 0.05</a:t>
            </a:r>
            <a:endParaRPr lang="en-US" sz="1161" dirty="0"/>
          </a:p>
        </p:txBody>
      </p:sp>
      <p:sp>
        <p:nvSpPr>
          <p:cNvPr id="9" name="Shape 7"/>
          <p:cNvSpPr/>
          <p:nvPr/>
        </p:nvSpPr>
        <p:spPr>
          <a:xfrm>
            <a:off x="457200" y="2834640"/>
            <a:ext cx="8229600" cy="1005840"/>
          </a:xfrm>
          <a:prstGeom prst="roundRect">
            <a:avLst>
              <a:gd name="adj" fmla="val 7273"/>
            </a:avLst>
          </a:prstGeom>
          <a:solidFill>
            <a:srgbClr val="FEF3C7"/>
          </a:solidFill>
          <a:ln w="12700">
            <a:solidFill>
              <a:srgbClr val="FEF3C7"/>
            </a:solidFill>
            <a:prstDash val="solid"/>
          </a:ln>
        </p:spPr>
      </p:sp>
      <p:sp>
        <p:nvSpPr>
          <p:cNvPr id="10" name="Text 8"/>
          <p:cNvSpPr txBox="1"/>
          <p:nvPr/>
        </p:nvSpPr>
        <p:spPr>
          <a:xfrm>
            <a:off x="731520" y="2834640"/>
            <a:ext cx="7680960" cy="1005840"/>
          </a:xfrm>
          <a:prstGeom prst="rect">
            <a:avLst/>
          </a:prstGeom>
          <a:noFill/>
          <a:ln/>
        </p:spPr>
        <p:txBody>
          <a:bodyPr wrap="square" lIns="0" tIns="0" rIns="0" bIns="0" rtlCol="0" anchor="ctr"/>
          <a:lstStyle/>
          <a:p>
            <a:pPr indent="0" marL="0">
              <a:buNone/>
            </a:pPr>
            <a:r>
              <a:rPr lang="en-US" sz="1350" b="1" dirty="0">
                <a:solidFill>
                  <a:srgbClr val="B45309"/>
                </a:solidFill>
                <a:latin typeface="Calibri" pitchFamily="34" charset="0"/>
                <a:ea typeface="Calibri" pitchFamily="34" charset="-122"/>
                <a:cs typeface="Calibri" pitchFamily="34" charset="-120"/>
              </a:rPr>
              <a:t>14 steps and $0.1455, against 6 steps and $0.0671 with the detector on. </a:t>
            </a:r>
            <a:pPr indent="0" marL="0">
              <a:buNone/>
            </a:pPr>
            <a:r>
              <a:rPr lang="en-US" sz="1350" dirty="0">
                <a:solidFill>
                  <a:srgbClr val="1F2937"/>
                </a:solidFill>
                <a:latin typeface="Calibri" pitchFamily="34" charset="0"/>
                <a:ea typeface="Calibri" pitchFamily="34" charset="-122"/>
                <a:cs typeface="Calibri" pitchFamily="34" charset="-120"/>
              </a:rPr>
              <a:t>The cap works. It just costs you the whole budget to find out.</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4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Prove the checkpoint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Kill a good run partway. Then resume it and watch what it does not pay for twice.</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590" b="1" dirty="0">
                <a:solidFill>
                  <a:srgbClr val="F59E0B"/>
                </a:solidFill>
                <a:latin typeface="Courier New" pitchFamily="34" charset="0"/>
                <a:ea typeface="Courier New" pitchFamily="34" charset="-122"/>
                <a:cs typeface="Courier New" pitchFamily="34" charset="-120"/>
              </a:rPr>
              <a:t>$ </a:t>
            </a:r>
            <a:pPr indent="0" marL="0">
              <a:buNone/>
            </a:pPr>
            <a:r>
              <a:rPr lang="en-US" sz="1590" dirty="0">
                <a:solidFill>
                  <a:srgbClr val="E8EAED"/>
                </a:solidFill>
                <a:latin typeface="Courier New" pitchFamily="34" charset="0"/>
                <a:ea typeface="Courier New" pitchFamily="34" charset="-122"/>
                <a:cs typeface="Courier New" pitchFamily="34" charset="-120"/>
              </a:rPr>
              <a:t>python3 run_agent.py --input samples/good.json --step-ceiling 3</a:t>
            </a:r>
            <a:endParaRPr lang="en-US" sz="1590" dirty="0"/>
          </a:p>
        </p:txBody>
      </p:sp>
      <p:sp>
        <p:nvSpPr>
          <p:cNvPr id="9" name="Shape 7"/>
          <p:cNvSpPr/>
          <p:nvPr/>
        </p:nvSpPr>
        <p:spPr>
          <a:xfrm>
            <a:off x="365760" y="2606040"/>
            <a:ext cx="8412480" cy="868680"/>
          </a:xfrm>
          <a:prstGeom prst="roundRect">
            <a:avLst>
              <a:gd name="adj" fmla="val 8421"/>
            </a:avLst>
          </a:prstGeom>
          <a:solidFill>
            <a:srgbClr val="0F172A"/>
          </a:solidFill>
          <a:ln w="12700">
            <a:solidFill>
              <a:srgbClr val="0F172A"/>
            </a:solidFill>
            <a:prstDash val="solid"/>
          </a:ln>
        </p:spPr>
      </p:sp>
      <p:sp>
        <p:nvSpPr>
          <p:cNvPr id="10" name="Text 8"/>
          <p:cNvSpPr txBox="1"/>
          <p:nvPr/>
        </p:nvSpPr>
        <p:spPr>
          <a:xfrm>
            <a:off x="594360" y="26060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samples/good.json --resume</a:t>
            </a:r>
            <a:endParaRPr lang="en-US" sz="1600" dirty="0"/>
          </a:p>
        </p:txBody>
      </p:sp>
      <p:sp>
        <p:nvSpPr>
          <p:cNvPr id="11" name="Shape 9"/>
          <p:cNvSpPr/>
          <p:nvPr/>
        </p:nvSpPr>
        <p:spPr>
          <a:xfrm>
            <a:off x="457200" y="3657600"/>
            <a:ext cx="8229600" cy="914400"/>
          </a:xfrm>
          <a:prstGeom prst="roundRect">
            <a:avLst>
              <a:gd name="adj" fmla="val 8000"/>
            </a:avLst>
          </a:prstGeom>
          <a:solidFill>
            <a:srgbClr val="ECFDF5"/>
          </a:solidFill>
          <a:ln w="12700">
            <a:solidFill>
              <a:srgbClr val="ECFDF5"/>
            </a:solidFill>
            <a:prstDash val="solid"/>
          </a:ln>
        </p:spPr>
      </p:sp>
      <p:sp>
        <p:nvSpPr>
          <p:cNvPr id="12" name="Text 10"/>
          <p:cNvSpPr txBox="1"/>
          <p:nvPr/>
        </p:nvSpPr>
        <p:spPr>
          <a:xfrm>
            <a:off x="731520" y="3657600"/>
            <a:ext cx="7680960" cy="914400"/>
          </a:xfrm>
          <a:prstGeom prst="rect">
            <a:avLst/>
          </a:prstGeom>
          <a:noFill/>
          <a:ln/>
        </p:spPr>
        <p:txBody>
          <a:bodyPr wrap="square" lIns="0" tIns="0" rIns="0" bIns="0" rtlCol="0" anchor="ctr"/>
          <a:lstStyle/>
          <a:p>
            <a:pPr indent="0" marL="0">
              <a:buNone/>
            </a:pPr>
            <a:r>
              <a:rPr lang="en-US" sz="1300" b="1" dirty="0">
                <a:solidFill>
                  <a:srgbClr val="047857"/>
                </a:solidFill>
                <a:latin typeface="Courier New" pitchFamily="34" charset="0"/>
                <a:ea typeface="Courier New" pitchFamily="34" charset="-122"/>
                <a:cs typeface="Courier New" pitchFamily="34" charset="-120"/>
              </a:rPr>
              <a:t>not re-paid  $0.0291</a:t>
            </a:r>
            <a:pPr indent="0" marL="0">
              <a:buNone/>
            </a:pPr>
            <a:r>
              <a:rPr lang="en-US" sz="1300" dirty="0">
                <a:solidFill>
                  <a:srgbClr val="1F2937"/>
                </a:solidFill>
                <a:latin typeface="Calibri" pitchFamily="34" charset="0"/>
                <a:ea typeface="Calibri" pitchFamily="34" charset="-122"/>
                <a:cs typeface="Calibri" pitchFamily="34" charset="-120"/>
              </a:rPr>
              <a:t>   ; the finished work the checkpoint kept. Without it, every stop you build costs you a restart.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5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Read the true number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Run a batch, good and bad mixed, then ask for the arithmetic.</a:t>
            </a:r>
            <a:endParaRPr lang="en-US" sz="1400" dirty="0"/>
          </a:p>
        </p:txBody>
      </p:sp>
      <p:sp>
        <p:nvSpPr>
          <p:cNvPr id="7" name="Shape 5"/>
          <p:cNvSpPr/>
          <p:nvPr/>
        </p:nvSpPr>
        <p:spPr>
          <a:xfrm>
            <a:off x="365760" y="15544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5544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report.py</a:t>
            </a:r>
            <a:endParaRPr lang="en-US" sz="1600" dirty="0"/>
          </a:p>
        </p:txBody>
      </p:sp>
      <p:sp>
        <p:nvSpPr>
          <p:cNvPr id="9" name="Shape 7"/>
          <p:cNvSpPr/>
          <p:nvPr/>
        </p:nvSpPr>
        <p:spPr>
          <a:xfrm>
            <a:off x="457200" y="2651760"/>
            <a:ext cx="8229600" cy="1691640"/>
          </a:xfrm>
          <a:prstGeom prst="roundRect">
            <a:avLst>
              <a:gd name="adj" fmla="val 4324"/>
            </a:avLst>
          </a:prstGeom>
          <a:solidFill>
            <a:srgbClr val="0F172A"/>
          </a:solidFill>
          <a:ln w="12700">
            <a:solidFill>
              <a:srgbClr val="0F172A"/>
            </a:solidFill>
            <a:prstDash val="solid"/>
          </a:ln>
        </p:spPr>
      </p:sp>
      <p:sp>
        <p:nvSpPr>
          <p:cNvPr id="10" name="Text 8"/>
          <p:cNvSpPr txBox="1"/>
          <p:nvPr/>
        </p:nvSpPr>
        <p:spPr>
          <a:xfrm>
            <a:off x="658368" y="2816352"/>
            <a:ext cx="7863840" cy="1417320"/>
          </a:xfrm>
          <a:prstGeom prst="rect">
            <a:avLst/>
          </a:prstGeom>
          <a:noFill/>
          <a:ln/>
        </p:spPr>
        <p:txBody>
          <a:bodyPr wrap="square" lIns="0" tIns="0" rIns="0" bIns="0" rtlCol="0" anchor="t"/>
          <a:lstStyle/>
          <a:p>
            <a:pPr indent="0" marL="0">
              <a:buNone/>
            </a:pPr>
            <a:r>
              <a:rPr lang="en-US" sz="1150" dirty="0">
                <a:solidFill>
                  <a:srgbClr val="E8EAED"/>
                </a:solidFill>
                <a:latin typeface="Courier New" pitchFamily="34" charset="0"/>
                <a:ea typeface="Courier New" pitchFamily="34" charset="-122"/>
                <a:cs typeface="Courier New" pitchFamily="34" charset="-120"/>
              </a:rPr>
              <a:t>  succeeded                7      &lt;- the denominator</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did not                 10      &lt;- still counts on top</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cost per request        $0.2485   (pays by the mile)</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cost per SUCCESSFUL     $0.6035   (pays for arrival)</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failed-run tax          $3.7971  (90% of spend)</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STEP 6 OF 6</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Prove the alert, then turn the caps back on</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Text 4"/>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Bring the stack up, then run the runaway deliberately, with the ceiling set.</a:t>
            </a:r>
            <a:endParaRPr lang="en-US" sz="1400" dirty="0"/>
          </a:p>
        </p:txBody>
      </p:sp>
      <p:sp>
        <p:nvSpPr>
          <p:cNvPr id="7" name="Shape 5"/>
          <p:cNvSpPr/>
          <p:nvPr/>
        </p:nvSpPr>
        <p:spPr>
          <a:xfrm>
            <a:off x="365760" y="146304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4630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docker compose up -d</a:t>
            </a:r>
            <a:endParaRPr lang="en-US" sz="1600" dirty="0"/>
          </a:p>
        </p:txBody>
      </p:sp>
      <p:sp>
        <p:nvSpPr>
          <p:cNvPr id="9" name="Shape 7"/>
          <p:cNvSpPr/>
          <p:nvPr/>
        </p:nvSpPr>
        <p:spPr>
          <a:xfrm>
            <a:off x="365760" y="2468880"/>
            <a:ext cx="8412480" cy="868680"/>
          </a:xfrm>
          <a:prstGeom prst="roundRect">
            <a:avLst>
              <a:gd name="adj" fmla="val 8421"/>
            </a:avLst>
          </a:prstGeom>
          <a:solidFill>
            <a:srgbClr val="0F172A"/>
          </a:solidFill>
          <a:ln w="12700">
            <a:solidFill>
              <a:srgbClr val="0F172A"/>
            </a:solidFill>
            <a:prstDash val="solid"/>
          </a:ln>
        </p:spPr>
      </p:sp>
      <p:sp>
        <p:nvSpPr>
          <p:cNvPr id="10" name="Text 8"/>
          <p:cNvSpPr txBox="1"/>
          <p:nvPr/>
        </p:nvSpPr>
        <p:spPr>
          <a:xfrm>
            <a:off x="594360" y="2468880"/>
            <a:ext cx="8092440" cy="868680"/>
          </a:xfrm>
          <a:prstGeom prst="rect">
            <a:avLst/>
          </a:prstGeom>
          <a:noFill/>
          <a:ln/>
        </p:spPr>
        <p:txBody>
          <a:bodyPr wrap="square" lIns="0" tIns="0" rIns="0" bIns="0" rtlCol="0" anchor="ctr"/>
          <a:lstStyle/>
          <a:p>
            <a:pPr indent="0" marL="0">
              <a:buNone/>
            </a:pPr>
            <a:r>
              <a:rPr lang="en-US" sz="1188" b="1" dirty="0">
                <a:solidFill>
                  <a:srgbClr val="F59E0B"/>
                </a:solidFill>
                <a:latin typeface="Courier New" pitchFamily="34" charset="0"/>
                <a:ea typeface="Courier New" pitchFamily="34" charset="-122"/>
                <a:cs typeface="Courier New" pitchFamily="34" charset="-120"/>
              </a:rPr>
              <a:t>$ </a:t>
            </a:r>
            <a:pPr indent="0" marL="0">
              <a:buNone/>
            </a:pPr>
            <a:r>
              <a:rPr lang="en-US" sz="1188" dirty="0">
                <a:solidFill>
                  <a:srgbClr val="E8EAED"/>
                </a:solidFill>
                <a:latin typeface="Courier New" pitchFamily="34" charset="0"/>
                <a:ea typeface="Courier New" pitchFamily="34" charset="-122"/>
                <a:cs typeface="Courier New" pitchFamily="34" charset="-120"/>
              </a:rPr>
              <a:t>python3 run_agent.py --input samples/malformed.json --no-caps --no-loop-detect --push</a:t>
            </a:r>
            <a:endParaRPr lang="en-US" sz="1188" dirty="0"/>
          </a:p>
        </p:txBody>
      </p:sp>
      <p:sp>
        <p:nvSpPr>
          <p:cNvPr id="11" name="Shape 9"/>
          <p:cNvSpPr/>
          <p:nvPr/>
        </p:nvSpPr>
        <p:spPr>
          <a:xfrm>
            <a:off x="457200" y="3794760"/>
            <a:ext cx="8229600" cy="868680"/>
          </a:xfrm>
          <a:prstGeom prst="roundRect">
            <a:avLst>
              <a:gd name="adj" fmla="val 8421"/>
            </a:avLst>
          </a:prstGeom>
          <a:solidFill>
            <a:srgbClr val="FEF2F2"/>
          </a:solidFill>
          <a:ln w="12700">
            <a:solidFill>
              <a:srgbClr val="FEF2F2"/>
            </a:solidFill>
            <a:prstDash val="solid"/>
          </a:ln>
        </p:spPr>
      </p:sp>
      <p:pic>
        <p:nvPicPr>
          <p:cNvPr id="12" name="Image 0" descr="preencoded.png">    </p:cNvPr>
          <p:cNvPicPr>
            <a:picLocks noChangeAspect="1"/>
          </p:cNvPicPr>
          <p:nvPr/>
        </p:nvPicPr>
        <p:blipFill>
          <a:blip r:embed="rId1"/>
          <a:stretch>
            <a:fillRect/>
          </a:stretch>
        </p:blipFill>
        <p:spPr>
          <a:xfrm>
            <a:off x="731520" y="4069080"/>
            <a:ext cx="292608" cy="292608"/>
          </a:xfrm>
          <a:prstGeom prst="rect">
            <a:avLst/>
          </a:prstGeom>
        </p:spPr>
      </p:pic>
      <p:sp>
        <p:nvSpPr>
          <p:cNvPr id="13" name="Text 10"/>
          <p:cNvSpPr txBox="1"/>
          <p:nvPr/>
        </p:nvSpPr>
        <p:spPr>
          <a:xfrm>
            <a:off x="1188720" y="3794760"/>
            <a:ext cx="7223760" cy="868680"/>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This is the only dangerous command in the course. </a:t>
            </a:r>
            <a:pPr indent="0" marL="0">
              <a:buNone/>
            </a:pPr>
            <a:r>
              <a:rPr lang="en-US" sz="1300" dirty="0">
                <a:solidFill>
                  <a:srgbClr val="1F2937"/>
                </a:solidFill>
                <a:latin typeface="Calibri" pitchFamily="34" charset="0"/>
                <a:ea typeface="Calibri" pitchFamily="34" charset="-122"/>
                <a:cs typeface="Calibri" pitchFamily="34" charset="-120"/>
              </a:rPr>
              <a:t>Keep the step ceiling, run it once, and turn the caps back on before you walk away.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THE CHECK</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PASS lines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365760" y="114300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1430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verify.py</a:t>
            </a:r>
            <a:endParaRPr lang="en-US" sz="1600" dirty="0"/>
          </a:p>
        </p:txBody>
      </p:sp>
      <p:sp>
        <p:nvSpPr>
          <p:cNvPr id="8" name="Shape 6"/>
          <p:cNvSpPr/>
          <p:nvPr/>
        </p:nvSpPr>
        <p:spPr>
          <a:xfrm>
            <a:off x="457200" y="2194560"/>
            <a:ext cx="8229600" cy="1828800"/>
          </a:xfrm>
          <a:prstGeom prst="roundRect">
            <a:avLst>
              <a:gd name="adj" fmla="val 4000"/>
            </a:avLst>
          </a:prstGeom>
          <a:solidFill>
            <a:srgbClr val="0F172A"/>
          </a:solidFill>
          <a:ln w="12700">
            <a:solidFill>
              <a:srgbClr val="0F172A"/>
            </a:solidFill>
            <a:prstDash val="solid"/>
          </a:ln>
        </p:spPr>
      </p:sp>
      <p:sp>
        <p:nvSpPr>
          <p:cNvPr id="9" name="Text 7"/>
          <p:cNvSpPr txBox="1"/>
          <p:nvPr/>
        </p:nvSpPr>
        <p:spPr>
          <a:xfrm>
            <a:off x="658368" y="2359152"/>
            <a:ext cx="7863840" cy="1554480"/>
          </a:xfrm>
          <a:prstGeom prst="rect">
            <a:avLst/>
          </a:prstGeom>
          <a:noFill/>
          <a:ln/>
        </p:spPr>
        <p:txBody>
          <a:bodyPr wrap="square" lIns="0" tIns="0" rIns="0" bIns="0" rtlCol="0" anchor="t"/>
          <a:lstStyle/>
          <a:p>
            <a:pPr indent="0" marL="0">
              <a:buNone/>
            </a:pPr>
            <a:r>
              <a:rPr lang="en-US" sz="1150" dirty="0">
                <a:solidFill>
                  <a:srgbClr val="E8EAED"/>
                </a:solidFill>
                <a:latin typeface="Courier New" pitchFamily="34" charset="0"/>
                <a:ea typeface="Courier New" pitchFamily="34" charset="-122"/>
                <a:cs typeface="Courier New" pitchFamily="34" charset="-120"/>
              </a:rPr>
              <a:t>  1. Instrumented: cost, tokens, labels             PASS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2. Capped: per run and per day, deliberately      PASS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3. Loop caught before the cap is reached          PASS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4. Checkpointed: a kill wastes nothing            PASS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5. Cost per successful task, failures on top      PASS</a:t>
            </a:r>
            <a:endParaRPr lang="en-US" sz="1150" dirty="0"/>
          </a:p>
          <a:p>
            <a:pPr indent="0" marL="0">
              <a:buNone/>
            </a:pPr>
            <a:r>
              <a:rPr lang="en-US" sz="1150" dirty="0">
                <a:solidFill>
                  <a:srgbClr val="E8EAED"/>
                </a:solidFill>
                <a:latin typeface="Courier New" pitchFamily="34" charset="0"/>
                <a:ea typeface="Courier New" pitchFamily="34" charset="-122"/>
                <a:cs typeface="Courier New" pitchFamily="34" charset="-120"/>
              </a:rPr>
              <a:t>  6. Alerted on burn rate, proven by triggering it  PASS</a:t>
            </a:r>
            <a:endParaRPr lang="en-US" sz="1150" dirty="0"/>
          </a:p>
        </p:txBody>
      </p:sp>
      <p:sp>
        <p:nvSpPr>
          <p:cNvPr id="10" name="Text 8"/>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Put it in CI. Safety layers rot quietly, and a check that fails is the only thing that keeps this true in six months.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THE WHOLE COURSE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Seven sessions, one agent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457200" y="1234440"/>
            <a:ext cx="4023360" cy="1737360"/>
          </a:xfrm>
          <a:prstGeom prst="roundRect">
            <a:avLst>
              <a:gd name="adj" fmla="val 4211"/>
            </a:avLst>
          </a:prstGeom>
          <a:solidFill>
            <a:srgbClr val="FEF2F2"/>
          </a:solidFill>
          <a:ln w="12700">
            <a:solidFill>
              <a:srgbClr val="FEF2F2"/>
            </a:solidFill>
            <a:prstDash val="solid"/>
          </a:ln>
        </p:spPr>
      </p:sp>
      <p:sp>
        <p:nvSpPr>
          <p:cNvPr id="7" name="Text 5"/>
          <p:cNvSpPr txBox="1"/>
          <p:nvPr/>
        </p:nvSpPr>
        <p:spPr>
          <a:xfrm>
            <a:off x="685800" y="1371600"/>
            <a:ext cx="3566160" cy="274320"/>
          </a:xfrm>
          <a:prstGeom prst="rect">
            <a:avLst/>
          </a:prstGeom>
          <a:noFill/>
          <a:ln/>
        </p:spPr>
        <p:txBody>
          <a:bodyPr wrap="square" lIns="0" tIns="0" rIns="0" bIns="0" rtlCol="0" anchor="t"/>
          <a:lstStyle/>
          <a:p>
            <a:pPr indent="0" marL="0">
              <a:buNone/>
            </a:pPr>
            <a:r>
              <a:rPr lang="en-US" sz="1000" b="1" spc="150" kern="0" dirty="0">
                <a:solidFill>
                  <a:srgbClr val="B91C1C"/>
                </a:solidFill>
                <a:latin typeface="Calibri" pitchFamily="34" charset="0"/>
                <a:ea typeface="Calibri" pitchFamily="34" charset="-122"/>
                <a:cs typeface="Calibri" pitchFamily="34" charset="-120"/>
              </a:rPr>
              <a:t>WHERE WE STARTED</a:t>
            </a:r>
            <a:endParaRPr lang="en-US" sz="1000" dirty="0"/>
          </a:p>
        </p:txBody>
      </p:sp>
      <p:sp>
        <p:nvSpPr>
          <p:cNvPr id="8" name="Text 6"/>
          <p:cNvSpPr txBox="1"/>
          <p:nvPr/>
        </p:nvSpPr>
        <p:spPr>
          <a:xfrm>
            <a:off x="685800" y="1691640"/>
            <a:ext cx="3566160" cy="7315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An agent that could spend four figures overnight while every dashboard stayed green.</a:t>
            </a:r>
            <a:endParaRPr lang="en-US" sz="1350" dirty="0"/>
          </a:p>
        </p:txBody>
      </p:sp>
      <p:sp>
        <p:nvSpPr>
          <p:cNvPr id="9" name="Text 7"/>
          <p:cNvSpPr txBox="1"/>
          <p:nvPr/>
        </p:nvSpPr>
        <p:spPr>
          <a:xfrm>
            <a:off x="685800" y="2514600"/>
            <a:ext cx="3566160" cy="320040"/>
          </a:xfrm>
          <a:prstGeom prst="rect">
            <a:avLst/>
          </a:prstGeom>
          <a:noFill/>
          <a:ln/>
        </p:spPr>
        <p:txBody>
          <a:bodyPr wrap="square" lIns="0" tIns="0" rIns="0" bIns="0" rtlCol="0" anchor="t"/>
          <a:lstStyle/>
          <a:p>
            <a:pPr indent="0" marL="0">
              <a:buNone/>
            </a:pPr>
            <a:r>
              <a:rPr lang="en-US" sz="1300" b="1" i="1" dirty="0">
                <a:solidFill>
                  <a:srgbClr val="B91C1C"/>
                </a:solidFill>
                <a:latin typeface="Calibri" pitchFamily="34" charset="0"/>
                <a:ea typeface="Calibri" pitchFamily="34" charset="-122"/>
                <a:cs typeface="Calibri" pitchFamily="34" charset="-120"/>
              </a:rPr>
              <a:t>One number, and a shrug.</a:t>
            </a:r>
            <a:endParaRPr lang="en-US" sz="1300" dirty="0"/>
          </a:p>
        </p:txBody>
      </p:sp>
      <p:sp>
        <p:nvSpPr>
          <p:cNvPr id="10" name="Shape 8"/>
          <p:cNvSpPr/>
          <p:nvPr/>
        </p:nvSpPr>
        <p:spPr>
          <a:xfrm>
            <a:off x="4663440" y="1234440"/>
            <a:ext cx="4023360" cy="1737360"/>
          </a:xfrm>
          <a:prstGeom prst="roundRect">
            <a:avLst>
              <a:gd name="adj" fmla="val 4211"/>
            </a:avLst>
          </a:prstGeom>
          <a:solidFill>
            <a:srgbClr val="ECFDF5"/>
          </a:solidFill>
          <a:ln w="12700">
            <a:solidFill>
              <a:srgbClr val="ECFDF5"/>
            </a:solidFill>
            <a:prstDash val="solid"/>
          </a:ln>
        </p:spPr>
      </p:sp>
      <p:sp>
        <p:nvSpPr>
          <p:cNvPr id="11" name="Text 9"/>
          <p:cNvSpPr txBox="1"/>
          <p:nvPr/>
        </p:nvSpPr>
        <p:spPr>
          <a:xfrm>
            <a:off x="4892040" y="13716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WHERE WE ARE</a:t>
            </a:r>
            <a:endParaRPr lang="en-US" sz="1000" dirty="0"/>
          </a:p>
        </p:txBody>
      </p:sp>
      <p:sp>
        <p:nvSpPr>
          <p:cNvPr id="12" name="Text 10"/>
          <p:cNvSpPr txBox="1"/>
          <p:nvPr/>
        </p:nvSpPr>
        <p:spPr>
          <a:xfrm>
            <a:off x="4892040" y="1691640"/>
            <a:ext cx="3566160" cy="10972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 agent that stops itself in six steps, at a cost you chose, with a reason written down; and a check that proves it still does.</a:t>
            </a:r>
            <a:endParaRPr lang="en-US" sz="1300" dirty="0"/>
          </a:p>
        </p:txBody>
      </p:sp>
      <p:sp>
        <p:nvSpPr>
          <p:cNvPr id="13" name="Shape 11"/>
          <p:cNvSpPr/>
          <p:nvPr/>
        </p:nvSpPr>
        <p:spPr>
          <a:xfrm>
            <a:off x="457200" y="3154680"/>
            <a:ext cx="8229600" cy="731520"/>
          </a:xfrm>
          <a:prstGeom prst="roundRect">
            <a:avLst>
              <a:gd name="adj" fmla="val 10000"/>
            </a:avLst>
          </a:prstGeom>
          <a:solidFill>
            <a:srgbClr val="111827"/>
          </a:solidFill>
          <a:ln w="12700">
            <a:solidFill>
              <a:srgbClr val="111827"/>
            </a:solidFill>
            <a:prstDash val="solid"/>
          </a:ln>
        </p:spPr>
      </p:sp>
      <p:sp>
        <p:nvSpPr>
          <p:cNvPr id="14" name="Text 12"/>
          <p:cNvSpPr txBox="1"/>
          <p:nvPr/>
        </p:nvSpPr>
        <p:spPr>
          <a:xfrm>
            <a:off x="731520" y="3154680"/>
            <a:ext cx="768096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Under four hundred lines, and an afternoon. Not a platform, not a quarter, not a vendor.</a:t>
            </a:r>
            <a:endParaRPr lang="en-US" sz="1400" dirty="0"/>
          </a:p>
        </p:txBody>
      </p:sp>
      <p:sp>
        <p:nvSpPr>
          <p:cNvPr id="15" name="Text 13"/>
          <p:cNvSpPr txBox="1"/>
          <p:nvPr/>
        </p:nvSpPr>
        <p:spPr>
          <a:xfrm>
            <a:off x="457200" y="406908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The runaway that started this course now stops on its own, in seconds, at a cost you chose in advance.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THE IDEA WORTH KEEPING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The Capstone</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
        <p:nvSpPr>
          <p:cNvPr id="5" name="Text 3"/>
          <p:cNvSpPr txBox="1"/>
          <p:nvPr/>
        </p:nvSpPr>
        <p:spPr>
          <a:xfrm>
            <a:off x="457200" y="914400"/>
            <a:ext cx="8229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Every one of these six</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is a decision moved earlier.</a:t>
            </a:r>
            <a:endParaRPr lang="en-US" sz="3400" dirty="0"/>
          </a:p>
        </p:txBody>
      </p:sp>
      <p:sp>
        <p:nvSpPr>
          <p:cNvPr id="6" name="Text 4"/>
          <p:cNvSpPr txBox="1"/>
          <p:nvPr/>
        </p:nvSpPr>
        <p:spPr>
          <a:xfrm>
            <a:off x="457200" y="2331720"/>
            <a:ext cx="2377440" cy="365760"/>
          </a:xfrm>
          <a:prstGeom prst="rect">
            <a:avLst/>
          </a:prstGeom>
          <a:noFill/>
          <a:ln/>
        </p:spPr>
        <p:txBody>
          <a:bodyPr wrap="square" lIns="0" tIns="0" rIns="0" bIns="0" rtlCol="0" anchor="t"/>
          <a:lstStyle/>
          <a:p>
            <a:pPr indent="0" marL="0">
              <a:buNone/>
            </a:pPr>
            <a:r>
              <a:rPr lang="en-US" sz="1300" b="1" dirty="0">
                <a:solidFill>
                  <a:srgbClr val="F59E0B"/>
                </a:solidFill>
                <a:latin typeface="Calibri" pitchFamily="34" charset="0"/>
                <a:ea typeface="Calibri" pitchFamily="34" charset="-122"/>
                <a:cs typeface="Calibri" pitchFamily="34" charset="-120"/>
              </a:rPr>
              <a:t>A cap</a:t>
            </a:r>
            <a:endParaRPr lang="en-US" sz="1300" dirty="0"/>
          </a:p>
        </p:txBody>
      </p:sp>
      <p:sp>
        <p:nvSpPr>
          <p:cNvPr id="7" name="Text 5"/>
          <p:cNvSpPr txBox="1"/>
          <p:nvPr/>
        </p:nvSpPr>
        <p:spPr>
          <a:xfrm>
            <a:off x="2926080" y="2331720"/>
            <a:ext cx="55778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deciding what a task is worth before it runs, instead of after</a:t>
            </a:r>
            <a:endParaRPr lang="en-US" sz="1250" dirty="0"/>
          </a:p>
        </p:txBody>
      </p:sp>
      <p:sp>
        <p:nvSpPr>
          <p:cNvPr id="8" name="Text 6"/>
          <p:cNvSpPr txBox="1"/>
          <p:nvPr/>
        </p:nvSpPr>
        <p:spPr>
          <a:xfrm>
            <a:off x="457200" y="2880360"/>
            <a:ext cx="2377440" cy="365760"/>
          </a:xfrm>
          <a:prstGeom prst="rect">
            <a:avLst/>
          </a:prstGeom>
          <a:noFill/>
          <a:ln/>
        </p:spPr>
        <p:txBody>
          <a:bodyPr wrap="square" lIns="0" tIns="0" rIns="0" bIns="0" rtlCol="0" anchor="t"/>
          <a:lstStyle/>
          <a:p>
            <a:pPr indent="0" marL="0">
              <a:buNone/>
            </a:pPr>
            <a:r>
              <a:rPr lang="en-US" sz="1300" b="1" dirty="0">
                <a:solidFill>
                  <a:srgbClr val="F59E0B"/>
                </a:solidFill>
                <a:latin typeface="Calibri" pitchFamily="34" charset="0"/>
                <a:ea typeface="Calibri" pitchFamily="34" charset="-122"/>
                <a:cs typeface="Calibri" pitchFamily="34" charset="-120"/>
              </a:rPr>
              <a:t>A step limit</a:t>
            </a:r>
            <a:endParaRPr lang="en-US" sz="1300" dirty="0"/>
          </a:p>
        </p:txBody>
      </p:sp>
      <p:sp>
        <p:nvSpPr>
          <p:cNvPr id="9" name="Text 7"/>
          <p:cNvSpPr txBox="1"/>
          <p:nvPr/>
        </p:nvSpPr>
        <p:spPr>
          <a:xfrm>
            <a:off x="2926080" y="2880360"/>
            <a:ext cx="55778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deciding how long is too long while you are calm, rather than during an incident</a:t>
            </a:r>
            <a:endParaRPr lang="en-US" sz="1250" dirty="0"/>
          </a:p>
        </p:txBody>
      </p:sp>
      <p:sp>
        <p:nvSpPr>
          <p:cNvPr id="10" name="Text 8"/>
          <p:cNvSpPr txBox="1"/>
          <p:nvPr/>
        </p:nvSpPr>
        <p:spPr>
          <a:xfrm>
            <a:off x="457200" y="3429000"/>
            <a:ext cx="2377440" cy="365760"/>
          </a:xfrm>
          <a:prstGeom prst="rect">
            <a:avLst/>
          </a:prstGeom>
          <a:noFill/>
          <a:ln/>
        </p:spPr>
        <p:txBody>
          <a:bodyPr wrap="square" lIns="0" tIns="0" rIns="0" bIns="0" rtlCol="0" anchor="t"/>
          <a:lstStyle/>
          <a:p>
            <a:pPr indent="0" marL="0">
              <a:buNone/>
            </a:pPr>
            <a:r>
              <a:rPr lang="en-US" sz="1300" b="1" dirty="0">
                <a:solidFill>
                  <a:srgbClr val="F59E0B"/>
                </a:solidFill>
                <a:latin typeface="Calibri" pitchFamily="34" charset="0"/>
                <a:ea typeface="Calibri" pitchFamily="34" charset="-122"/>
                <a:cs typeface="Calibri" pitchFamily="34" charset="-120"/>
              </a:rPr>
              <a:t>A definition of success</a:t>
            </a:r>
            <a:endParaRPr lang="en-US" sz="1300" dirty="0"/>
          </a:p>
        </p:txBody>
      </p:sp>
      <p:sp>
        <p:nvSpPr>
          <p:cNvPr id="11" name="Text 9"/>
          <p:cNvSpPr txBox="1"/>
          <p:nvPr/>
        </p:nvSpPr>
        <p:spPr>
          <a:xfrm>
            <a:off x="2926080" y="3429000"/>
            <a:ext cx="55778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deciding what you mean before you report a number, rather than in a meeting</a:t>
            </a:r>
            <a:endParaRPr lang="en-US" sz="1250" dirty="0"/>
          </a:p>
        </p:txBody>
      </p:sp>
      <p:sp>
        <p:nvSpPr>
          <p:cNvPr id="12" name="Text 10"/>
          <p:cNvSpPr txBox="1"/>
          <p:nvPr/>
        </p:nvSpPr>
        <p:spPr>
          <a:xfrm>
            <a:off x="457200" y="3977640"/>
            <a:ext cx="2377440" cy="365760"/>
          </a:xfrm>
          <a:prstGeom prst="rect">
            <a:avLst/>
          </a:prstGeom>
          <a:noFill/>
          <a:ln/>
        </p:spPr>
        <p:txBody>
          <a:bodyPr wrap="square" lIns="0" tIns="0" rIns="0" bIns="0" rtlCol="0" anchor="t"/>
          <a:lstStyle/>
          <a:p>
            <a:pPr indent="0" marL="0">
              <a:buNone/>
            </a:pPr>
            <a:r>
              <a:rPr lang="en-US" sz="1300" b="1" dirty="0">
                <a:solidFill>
                  <a:srgbClr val="F59E0B"/>
                </a:solidFill>
                <a:latin typeface="Calibri" pitchFamily="34" charset="0"/>
                <a:ea typeface="Calibri" pitchFamily="34" charset="-122"/>
                <a:cs typeface="Calibri" pitchFamily="34" charset="-120"/>
              </a:rPr>
              <a:t>A checkpoint</a:t>
            </a:r>
            <a:endParaRPr lang="en-US" sz="1300" dirty="0"/>
          </a:p>
        </p:txBody>
      </p:sp>
      <p:sp>
        <p:nvSpPr>
          <p:cNvPr id="13" name="Text 11"/>
          <p:cNvSpPr txBox="1"/>
          <p:nvPr/>
        </p:nvSpPr>
        <p:spPr>
          <a:xfrm>
            <a:off x="2926080" y="3977640"/>
            <a:ext cx="5577840" cy="4572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deciding that stopping should be cheap, before you need to stop</a:t>
            </a:r>
            <a:endParaRPr lang="en-US" sz="1250" dirty="0"/>
          </a:p>
        </p:txBody>
      </p:sp>
      <p:sp>
        <p:nvSpPr>
          <p:cNvPr id="14" name="Text 12"/>
          <p:cNvSpPr txBox="1"/>
          <p:nvPr/>
        </p:nvSpPr>
        <p:spPr>
          <a:xfrm>
            <a:off x="457200" y="4526280"/>
            <a:ext cx="8229600" cy="365760"/>
          </a:xfrm>
          <a:prstGeom prst="rect">
            <a:avLst/>
          </a:prstGeom>
          <a:noFill/>
          <a:ln/>
        </p:spPr>
        <p:txBody>
          <a:bodyPr wrap="square" lIns="0" tIns="0" rIns="0" bIns="0" rtlCol="0" anchor="t"/>
          <a:lstStyle/>
          <a:p>
            <a:pPr indent="0" marL="0">
              <a:buNone/>
            </a:pPr>
            <a:r>
              <a:rPr lang="en-US" sz="1300" i="1" dirty="0">
                <a:solidFill>
                  <a:srgbClr val="9CA3AF"/>
                </a:solidFill>
                <a:latin typeface="Calibri" pitchFamily="34" charset="0"/>
                <a:ea typeface="Calibri" pitchFamily="34" charset="-122"/>
                <a:cs typeface="Calibri" pitchFamily="34" charset="-120"/>
              </a:rPr>
              <a:t>None of these are hard in advance. All of them are hard at three in the morning.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COURSE COMPLETE</a:t>
            </a:r>
            <a:endParaRPr lang="en-US" sz="1100" dirty="0"/>
          </a:p>
        </p:txBody>
      </p:sp>
      <p:sp>
        <p:nvSpPr>
          <p:cNvPr id="3" name="Text 1"/>
          <p:cNvSpPr txBox="1"/>
          <p:nvPr/>
        </p:nvSpPr>
        <p:spPr>
          <a:xfrm>
            <a:off x="457200" y="1600200"/>
            <a:ext cx="822960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Decide early. Write it down.</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Let a machine enforce it.</a:t>
            </a:r>
            <a:endParaRPr lang="en-US" sz="3600" dirty="0"/>
          </a:p>
        </p:txBody>
      </p:sp>
      <p:sp>
        <p:nvSpPr>
          <p:cNvPr id="4" name="Text 2"/>
          <p:cNvSpPr txBox="1"/>
          <p:nvPr/>
        </p:nvSpPr>
        <p:spPr>
          <a:xfrm>
            <a:off x="457200" y="3154680"/>
            <a:ext cx="7863840" cy="45720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Go and run verify.py against your own agent. Then show somebody the two numbers.</a:t>
            </a:r>
            <a:endParaRPr lang="en-US" sz="1500" dirty="0"/>
          </a:p>
        </p:txBody>
      </p:sp>
      <p:sp>
        <p:nvSpPr>
          <p:cNvPr id="5" name="Text 3"/>
          <p:cNvSpPr txBox="1"/>
          <p:nvPr/>
        </p:nvSpPr>
        <p:spPr>
          <a:xfrm>
            <a:off x="457200" y="3703320"/>
            <a:ext cx="7863840" cy="365760"/>
          </a:xfrm>
          <a:prstGeom prst="rect">
            <a:avLst/>
          </a:prstGeom>
          <a:noFill/>
          <a:ln/>
        </p:spPr>
        <p:txBody>
          <a:bodyPr wrap="square" lIns="0" tIns="0" rIns="0" bIns="0" rtlCol="0" anchor="t"/>
          <a:lstStyle/>
          <a:p>
            <a:pPr indent="0" marL="0">
              <a:buNone/>
            </a:pPr>
            <a:r>
              <a:rPr lang="en-US" sz="1500" i="1" dirty="0">
                <a:solidFill>
                  <a:srgbClr val="F59E0B"/>
                </a:solidFill>
                <a:latin typeface="Calibri" pitchFamily="34" charset="0"/>
                <a:ea typeface="Calibri" pitchFamily="34" charset="-122"/>
                <a:cs typeface="Calibri" pitchFamily="34" charset="-120"/>
              </a:rPr>
              <a:t>Thank you for building this with me.</a:t>
            </a:r>
            <a:endParaRPr lang="en-US" sz="1500" dirty="0"/>
          </a:p>
        </p:txBody>
      </p:sp>
      <p:sp>
        <p:nvSpPr>
          <p:cNvPr id="6" name="Text 4"/>
          <p:cNvSpPr txBox="1"/>
          <p:nvPr/>
        </p:nvSpPr>
        <p:spPr>
          <a:xfrm>
            <a:off x="457200" y="4297680"/>
            <a:ext cx="7863840" cy="32004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Emmanuel Naweji  ·  github.com/Here2ServeU/agent-cost-control</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280160"/>
            <a:ext cx="1920240" cy="1417320"/>
          </a:xfrm>
          <a:prstGeom prst="roundRect">
            <a:avLst>
              <a:gd name="adj" fmla="val 5161"/>
            </a:avLst>
          </a:prstGeom>
          <a:solidFill>
            <a:srgbClr val="F3F4F6"/>
          </a:solidFill>
          <a:ln w="12700">
            <a:solidFill>
              <a:srgbClr val="F3F4F6"/>
            </a:solidFill>
            <a:prstDash val="solid"/>
          </a:ln>
        </p:spPr>
      </p:sp>
      <p:sp>
        <p:nvSpPr>
          <p:cNvPr id="7" name="Text 5"/>
          <p:cNvSpPr txBox="1"/>
          <p:nvPr/>
        </p:nvSpPr>
        <p:spPr>
          <a:xfrm>
            <a:off x="621792" y="13898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01</a:t>
            </a:r>
            <a:endParaRPr lang="en-US" sz="1700" dirty="0"/>
          </a:p>
        </p:txBody>
      </p:sp>
      <p:sp>
        <p:nvSpPr>
          <p:cNvPr id="8" name="Text 6"/>
          <p:cNvSpPr txBox="1"/>
          <p:nvPr/>
        </p:nvSpPr>
        <p:spPr>
          <a:xfrm>
            <a:off x="621792" y="17373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Run the before picture</a:t>
            </a:r>
            <a:endParaRPr lang="en-US" sz="1150" dirty="0"/>
          </a:p>
        </p:txBody>
      </p:sp>
      <p:sp>
        <p:nvSpPr>
          <p:cNvPr id="9" name="Text 7"/>
          <p:cNvSpPr txBox="1"/>
          <p:nvPr/>
        </p:nvSpPr>
        <p:spPr>
          <a:xfrm>
            <a:off x="621792" y="21214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Twenty seconds with naive_agent.py. Watch it not stop.</a:t>
            </a:r>
            <a:endParaRPr lang="en-US" sz="950" dirty="0"/>
          </a:p>
        </p:txBody>
      </p:sp>
      <p:sp>
        <p:nvSpPr>
          <p:cNvPr id="10" name="Shape 8"/>
          <p:cNvSpPr/>
          <p:nvPr/>
        </p:nvSpPr>
        <p:spPr>
          <a:xfrm>
            <a:off x="2542032" y="1280160"/>
            <a:ext cx="1920240" cy="1417320"/>
          </a:xfrm>
          <a:prstGeom prst="roundRect">
            <a:avLst>
              <a:gd name="adj" fmla="val 5161"/>
            </a:avLst>
          </a:prstGeom>
          <a:solidFill>
            <a:srgbClr val="F3F4F6"/>
          </a:solidFill>
          <a:ln w="12700">
            <a:solidFill>
              <a:srgbClr val="F3F4F6"/>
            </a:solidFill>
            <a:prstDash val="solid"/>
          </a:ln>
        </p:spPr>
      </p:sp>
      <p:sp>
        <p:nvSpPr>
          <p:cNvPr id="11" name="Text 9"/>
          <p:cNvSpPr txBox="1"/>
          <p:nvPr/>
        </p:nvSpPr>
        <p:spPr>
          <a:xfrm>
            <a:off x="2706624" y="13898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02</a:t>
            </a:r>
            <a:endParaRPr lang="en-US" sz="1700" dirty="0"/>
          </a:p>
        </p:txBody>
      </p:sp>
      <p:sp>
        <p:nvSpPr>
          <p:cNvPr id="12" name="Text 10"/>
          <p:cNvSpPr txBox="1"/>
          <p:nvPr/>
        </p:nvSpPr>
        <p:spPr>
          <a:xfrm>
            <a:off x="2706624" y="17373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Break the order</a:t>
            </a:r>
            <a:endParaRPr lang="en-US" sz="1150" dirty="0"/>
          </a:p>
        </p:txBody>
      </p:sp>
      <p:sp>
        <p:nvSpPr>
          <p:cNvPr id="13" name="Text 11"/>
          <p:cNvSpPr txBox="1"/>
          <p:nvPr/>
        </p:nvSpPr>
        <p:spPr>
          <a:xfrm>
            <a:off x="2706624" y="21214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Move the record call after the cap check. Then try to say what the last step cost.</a:t>
            </a:r>
            <a:endParaRPr lang="en-US" sz="950" dirty="0"/>
          </a:p>
        </p:txBody>
      </p:sp>
      <p:sp>
        <p:nvSpPr>
          <p:cNvPr id="14" name="Shape 12"/>
          <p:cNvSpPr/>
          <p:nvPr/>
        </p:nvSpPr>
        <p:spPr>
          <a:xfrm>
            <a:off x="4626864" y="1280160"/>
            <a:ext cx="1920240" cy="1417320"/>
          </a:xfrm>
          <a:prstGeom prst="roundRect">
            <a:avLst>
              <a:gd name="adj" fmla="val 5161"/>
            </a:avLst>
          </a:prstGeom>
          <a:solidFill>
            <a:srgbClr val="F3F4F6"/>
          </a:solidFill>
          <a:ln w="12700">
            <a:solidFill>
              <a:srgbClr val="F3F4F6"/>
            </a:solidFill>
            <a:prstDash val="solid"/>
          </a:ln>
        </p:spPr>
      </p:sp>
      <p:sp>
        <p:nvSpPr>
          <p:cNvPr id="15" name="Text 13"/>
          <p:cNvSpPr txBox="1"/>
          <p:nvPr/>
        </p:nvSpPr>
        <p:spPr>
          <a:xfrm>
            <a:off x="4791456" y="13898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03</a:t>
            </a:r>
            <a:endParaRPr lang="en-US" sz="1700" dirty="0"/>
          </a:p>
        </p:txBody>
      </p:sp>
      <p:sp>
        <p:nvSpPr>
          <p:cNvPr id="16" name="Text 14"/>
          <p:cNvSpPr txBox="1"/>
          <p:nvPr/>
        </p:nvSpPr>
        <p:spPr>
          <a:xfrm>
            <a:off x="4791456" y="17373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Turn off one mechanism</a:t>
            </a:r>
            <a:endParaRPr lang="en-US" sz="1150" dirty="0"/>
          </a:p>
        </p:txBody>
      </p:sp>
      <p:sp>
        <p:nvSpPr>
          <p:cNvPr id="17" name="Text 15"/>
          <p:cNvSpPr txBox="1"/>
          <p:nvPr/>
        </p:nvSpPr>
        <p:spPr>
          <a:xfrm>
            <a:off x="4791456" y="21214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Any one. Run it. Write down what the number became.</a:t>
            </a:r>
            <a:endParaRPr lang="en-US" sz="950" dirty="0"/>
          </a:p>
        </p:txBody>
      </p:sp>
      <p:sp>
        <p:nvSpPr>
          <p:cNvPr id="18" name="Shape 16"/>
          <p:cNvSpPr/>
          <p:nvPr/>
        </p:nvSpPr>
        <p:spPr>
          <a:xfrm>
            <a:off x="6711696" y="1280160"/>
            <a:ext cx="1920240" cy="1417320"/>
          </a:xfrm>
          <a:prstGeom prst="roundRect">
            <a:avLst>
              <a:gd name="adj" fmla="val 5161"/>
            </a:avLst>
          </a:prstGeom>
          <a:solidFill>
            <a:srgbClr val="F3F4F6"/>
          </a:solidFill>
          <a:ln w="12700">
            <a:solidFill>
              <a:srgbClr val="F3F4F6"/>
            </a:solidFill>
            <a:prstDash val="solid"/>
          </a:ln>
        </p:spPr>
      </p:sp>
      <p:sp>
        <p:nvSpPr>
          <p:cNvPr id="19" name="Text 17"/>
          <p:cNvSpPr txBox="1"/>
          <p:nvPr/>
        </p:nvSpPr>
        <p:spPr>
          <a:xfrm>
            <a:off x="6876288" y="13898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04</a:t>
            </a:r>
            <a:endParaRPr lang="en-US" sz="1700" dirty="0"/>
          </a:p>
        </p:txBody>
      </p:sp>
      <p:sp>
        <p:nvSpPr>
          <p:cNvPr id="20" name="Text 18"/>
          <p:cNvSpPr txBox="1"/>
          <p:nvPr/>
        </p:nvSpPr>
        <p:spPr>
          <a:xfrm>
            <a:off x="6876288" y="17373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Add a fourth loop shape</a:t>
            </a:r>
            <a:endParaRPr lang="en-US" sz="1150" dirty="0"/>
          </a:p>
        </p:txBody>
      </p:sp>
      <p:sp>
        <p:nvSpPr>
          <p:cNvPr id="21" name="Text 19"/>
          <p:cNvSpPr txBox="1"/>
          <p:nvPr/>
        </p:nvSpPr>
        <p:spPr>
          <a:xfrm>
            <a:off x="6876288" y="21214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Something your own agent does. Add it to loops.py and to verify.py.</a:t>
            </a:r>
            <a:endParaRPr lang="en-US" sz="950" dirty="0"/>
          </a:p>
        </p:txBody>
      </p:sp>
      <p:sp>
        <p:nvSpPr>
          <p:cNvPr id="22" name="Shape 20"/>
          <p:cNvSpPr/>
          <p:nvPr/>
        </p:nvSpPr>
        <p:spPr>
          <a:xfrm>
            <a:off x="457200" y="2880360"/>
            <a:ext cx="1920240" cy="1417320"/>
          </a:xfrm>
          <a:prstGeom prst="roundRect">
            <a:avLst>
              <a:gd name="adj" fmla="val 5161"/>
            </a:avLst>
          </a:prstGeom>
          <a:solidFill>
            <a:srgbClr val="F3F4F6"/>
          </a:solidFill>
          <a:ln w="12700">
            <a:solidFill>
              <a:srgbClr val="F3F4F6"/>
            </a:solidFill>
            <a:prstDash val="solid"/>
          </a:ln>
        </p:spPr>
      </p:sp>
      <p:sp>
        <p:nvSpPr>
          <p:cNvPr id="23" name="Text 21"/>
          <p:cNvSpPr txBox="1"/>
          <p:nvPr/>
        </p:nvSpPr>
        <p:spPr>
          <a:xfrm>
            <a:off x="621792" y="29900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05</a:t>
            </a:r>
            <a:endParaRPr lang="en-US" sz="1700" dirty="0"/>
          </a:p>
        </p:txBody>
      </p:sp>
      <p:sp>
        <p:nvSpPr>
          <p:cNvPr id="24" name="Text 22"/>
          <p:cNvSpPr txBox="1"/>
          <p:nvPr/>
        </p:nvSpPr>
        <p:spPr>
          <a:xfrm>
            <a:off x="621792" y="33375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Tighten the cap</a:t>
            </a:r>
            <a:endParaRPr lang="en-US" sz="1150" dirty="0"/>
          </a:p>
        </p:txBody>
      </p:sp>
      <p:sp>
        <p:nvSpPr>
          <p:cNvPr id="25" name="Text 23"/>
          <p:cNvSpPr txBox="1"/>
          <p:nvPr/>
        </p:nvSpPr>
        <p:spPr>
          <a:xfrm>
            <a:off x="621792" y="37216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Halve per_run_usd. Find what stops succeeding, and decide whether you care.</a:t>
            </a:r>
            <a:endParaRPr lang="en-US" sz="950" dirty="0"/>
          </a:p>
        </p:txBody>
      </p:sp>
      <p:sp>
        <p:nvSpPr>
          <p:cNvPr id="26" name="Shape 24"/>
          <p:cNvSpPr/>
          <p:nvPr/>
        </p:nvSpPr>
        <p:spPr>
          <a:xfrm>
            <a:off x="2542032" y="2880360"/>
            <a:ext cx="1920240" cy="1417320"/>
          </a:xfrm>
          <a:prstGeom prst="roundRect">
            <a:avLst>
              <a:gd name="adj" fmla="val 5161"/>
            </a:avLst>
          </a:prstGeom>
          <a:solidFill>
            <a:srgbClr val="F3F4F6"/>
          </a:solidFill>
          <a:ln w="12700">
            <a:solidFill>
              <a:srgbClr val="F3F4F6"/>
            </a:solidFill>
            <a:prstDash val="solid"/>
          </a:ln>
        </p:spPr>
      </p:sp>
      <p:sp>
        <p:nvSpPr>
          <p:cNvPr id="27" name="Text 25"/>
          <p:cNvSpPr txBox="1"/>
          <p:nvPr/>
        </p:nvSpPr>
        <p:spPr>
          <a:xfrm>
            <a:off x="2706624" y="29900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06</a:t>
            </a:r>
            <a:endParaRPr lang="en-US" sz="1700" dirty="0"/>
          </a:p>
        </p:txBody>
      </p:sp>
      <p:sp>
        <p:nvSpPr>
          <p:cNvPr id="28" name="Text 26"/>
          <p:cNvSpPr txBox="1"/>
          <p:nvPr/>
        </p:nvSpPr>
        <p:spPr>
          <a:xfrm>
            <a:off x="2706624" y="33375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Put verify.py in CI</a:t>
            </a:r>
            <a:endParaRPr lang="en-US" sz="1150" dirty="0"/>
          </a:p>
        </p:txBody>
      </p:sp>
      <p:sp>
        <p:nvSpPr>
          <p:cNvPr id="29" name="Text 27"/>
          <p:cNvSpPr txBox="1"/>
          <p:nvPr/>
        </p:nvSpPr>
        <p:spPr>
          <a:xfrm>
            <a:off x="2706624" y="37216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Make it fail on purpose once, so you know the failure is visible.</a:t>
            </a:r>
            <a:endParaRPr lang="en-US" sz="950" dirty="0"/>
          </a:p>
        </p:txBody>
      </p:sp>
      <p:sp>
        <p:nvSpPr>
          <p:cNvPr id="30" name="Shape 28"/>
          <p:cNvSpPr/>
          <p:nvPr/>
        </p:nvSpPr>
        <p:spPr>
          <a:xfrm>
            <a:off x="4626864" y="2880360"/>
            <a:ext cx="1920240" cy="1417320"/>
          </a:xfrm>
          <a:prstGeom prst="roundRect">
            <a:avLst>
              <a:gd name="adj" fmla="val 5161"/>
            </a:avLst>
          </a:prstGeom>
          <a:solidFill>
            <a:srgbClr val="F3F4F6"/>
          </a:solidFill>
          <a:ln w="12700">
            <a:solidFill>
              <a:srgbClr val="F3F4F6"/>
            </a:solidFill>
            <a:prstDash val="solid"/>
          </a:ln>
        </p:spPr>
      </p:sp>
      <p:sp>
        <p:nvSpPr>
          <p:cNvPr id="31" name="Text 29"/>
          <p:cNvSpPr txBox="1"/>
          <p:nvPr/>
        </p:nvSpPr>
        <p:spPr>
          <a:xfrm>
            <a:off x="4791456" y="2990088"/>
            <a:ext cx="1554480" cy="32004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07</a:t>
            </a:r>
            <a:endParaRPr lang="en-US" sz="1700" dirty="0"/>
          </a:p>
        </p:txBody>
      </p:sp>
      <p:sp>
        <p:nvSpPr>
          <p:cNvPr id="32" name="Text 30"/>
          <p:cNvSpPr txBox="1"/>
          <p:nvPr/>
        </p:nvSpPr>
        <p:spPr>
          <a:xfrm>
            <a:off x="4791456" y="3337560"/>
            <a:ext cx="1645920" cy="384048"/>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Swap in a real model</a:t>
            </a:r>
            <a:endParaRPr lang="en-US" sz="1150" dirty="0"/>
          </a:p>
        </p:txBody>
      </p:sp>
      <p:sp>
        <p:nvSpPr>
          <p:cNvPr id="33" name="Text 31"/>
          <p:cNvSpPr txBox="1"/>
          <p:nvPr/>
        </p:nvSpPr>
        <p:spPr>
          <a:xfrm>
            <a:off x="4791456" y="3721608"/>
            <a:ext cx="1645920" cy="50292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Replace SimulatedModel. Nothing else should need to change.</a:t>
            </a:r>
            <a:endParaRPr lang="en-US" sz="950" dirty="0"/>
          </a:p>
        </p:txBody>
      </p:sp>
      <p:sp>
        <p:nvSpPr>
          <p:cNvPr id="34" name="Shape 32"/>
          <p:cNvSpPr/>
          <p:nvPr/>
        </p:nvSpPr>
        <p:spPr>
          <a:xfrm>
            <a:off x="6711696" y="2880360"/>
            <a:ext cx="1920240" cy="1417320"/>
          </a:xfrm>
          <a:prstGeom prst="roundRect">
            <a:avLst>
              <a:gd name="adj" fmla="val 5161"/>
            </a:avLst>
          </a:prstGeom>
          <a:solidFill>
            <a:srgbClr val="111827"/>
          </a:solidFill>
          <a:ln w="12700">
            <a:solidFill>
              <a:srgbClr val="111827"/>
            </a:solidFill>
            <a:prstDash val="solid"/>
          </a:ln>
        </p:spPr>
      </p:sp>
      <p:sp>
        <p:nvSpPr>
          <p:cNvPr id="35" name="Text 33"/>
          <p:cNvSpPr txBox="1"/>
          <p:nvPr/>
        </p:nvSpPr>
        <p:spPr>
          <a:xfrm>
            <a:off x="6876288" y="2990088"/>
            <a:ext cx="1554480" cy="320040"/>
          </a:xfrm>
          <a:prstGeom prst="rect">
            <a:avLst/>
          </a:prstGeom>
          <a:noFill/>
          <a:ln/>
        </p:spPr>
        <p:txBody>
          <a:bodyPr wrap="square" lIns="0" tIns="0" rIns="0" bIns="0" rtlCol="0" anchor="t"/>
          <a:lstStyle/>
          <a:p>
            <a:pPr indent="0" marL="0">
              <a:buNone/>
            </a:pPr>
            <a:r>
              <a:rPr lang="en-US" sz="1700" b="1" dirty="0">
                <a:solidFill>
                  <a:srgbClr val="F59E0B"/>
                </a:solidFill>
                <a:latin typeface="Cambria" pitchFamily="34" charset="0"/>
                <a:ea typeface="Cambria" pitchFamily="34" charset="-122"/>
                <a:cs typeface="Cambria" pitchFamily="34" charset="-120"/>
              </a:rPr>
              <a:t>08</a:t>
            </a:r>
            <a:endParaRPr lang="en-US" sz="1700" dirty="0"/>
          </a:p>
        </p:txBody>
      </p:sp>
      <p:sp>
        <p:nvSpPr>
          <p:cNvPr id="36" name="Text 34"/>
          <p:cNvSpPr txBox="1"/>
          <p:nvPr/>
        </p:nvSpPr>
        <p:spPr>
          <a:xfrm>
            <a:off x="6876288" y="3337560"/>
            <a:ext cx="1645920" cy="38404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Record your two numbers</a:t>
            </a:r>
            <a:endParaRPr lang="en-US" sz="1150" dirty="0"/>
          </a:p>
        </p:txBody>
      </p:sp>
      <p:sp>
        <p:nvSpPr>
          <p:cNvPr id="37" name="Text 35"/>
          <p:cNvSpPr txBox="1"/>
          <p:nvPr/>
        </p:nvSpPr>
        <p:spPr>
          <a:xfrm>
            <a:off x="6876288" y="3721608"/>
            <a:ext cx="1645920" cy="502920"/>
          </a:xfrm>
          <a:prstGeom prst="rect">
            <a:avLst/>
          </a:prstGeom>
          <a:noFill/>
          <a:ln/>
        </p:spPr>
        <p:txBody>
          <a:bodyPr wrap="square" lIns="0" tIns="0" rIns="0" bIns="0" rtlCol="0" anchor="t"/>
          <a:lstStyle/>
          <a:p>
            <a:pPr indent="0" marL="0">
              <a:buNone/>
            </a:pPr>
            <a:r>
              <a:rPr lang="en-US" sz="950" dirty="0">
                <a:solidFill>
                  <a:srgbClr val="9CA3AF"/>
                </a:solidFill>
                <a:latin typeface="Calibri" pitchFamily="34" charset="0"/>
                <a:ea typeface="Calibri" pitchFamily="34" charset="-122"/>
                <a:cs typeface="Calibri" pitchFamily="34" charset="-120"/>
              </a:rPr>
              <a:t>Uncapped extrapolation, and today's. Keep them where you can find them.</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457200" y="1280160"/>
            <a:ext cx="1920240" cy="1417320"/>
          </a:xfrm>
          <a:prstGeom prst="roundRect">
            <a:avLst>
              <a:gd name="adj" fmla="val 5161"/>
            </a:avLst>
          </a:prstGeom>
          <a:solidFill>
            <a:srgbClr val="F3F4F6"/>
          </a:solidFill>
          <a:ln w="12700">
            <a:solidFill>
              <a:srgbClr val="F3F4F6"/>
            </a:solidFill>
            <a:prstDash val="solid"/>
          </a:ln>
        </p:spPr>
      </p:sp>
      <p:sp>
        <p:nvSpPr>
          <p:cNvPr id="7" name="Text 5"/>
          <p:cNvSpPr txBox="1"/>
          <p:nvPr/>
        </p:nvSpPr>
        <p:spPr>
          <a:xfrm>
            <a:off x="621792" y="13716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01</a:t>
            </a:r>
            <a:endParaRPr lang="en-US" sz="950" dirty="0"/>
          </a:p>
        </p:txBody>
      </p:sp>
      <p:sp>
        <p:nvSpPr>
          <p:cNvPr id="8" name="Text 6"/>
          <p:cNvSpPr txBox="1"/>
          <p:nvPr/>
        </p:nvSpPr>
        <p:spPr>
          <a:xfrm>
            <a:off x="621792" y="16459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Capstone</a:t>
            </a:r>
            <a:endParaRPr lang="en-US" sz="1150" dirty="0"/>
          </a:p>
        </p:txBody>
      </p:sp>
      <p:sp>
        <p:nvSpPr>
          <p:cNvPr id="9" name="Text 7"/>
          <p:cNvSpPr txBox="1"/>
          <p:nvPr/>
        </p:nvSpPr>
        <p:spPr>
          <a:xfrm>
            <a:off x="621792" y="20574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One agent with all six mechanisms on it, and a check that proves each one.</a:t>
            </a:r>
            <a:endParaRPr lang="en-US" sz="950" dirty="0"/>
          </a:p>
        </p:txBody>
      </p:sp>
      <p:sp>
        <p:nvSpPr>
          <p:cNvPr id="10" name="Shape 8"/>
          <p:cNvSpPr/>
          <p:nvPr/>
        </p:nvSpPr>
        <p:spPr>
          <a:xfrm>
            <a:off x="2542032" y="1280160"/>
            <a:ext cx="1920240" cy="1417320"/>
          </a:xfrm>
          <a:prstGeom prst="roundRect">
            <a:avLst>
              <a:gd name="adj" fmla="val 5161"/>
            </a:avLst>
          </a:prstGeom>
          <a:solidFill>
            <a:srgbClr val="F3F4F6"/>
          </a:solidFill>
          <a:ln w="12700">
            <a:solidFill>
              <a:srgbClr val="F3F4F6"/>
            </a:solidFill>
            <a:prstDash val="solid"/>
          </a:ln>
        </p:spPr>
      </p:sp>
      <p:sp>
        <p:nvSpPr>
          <p:cNvPr id="11" name="Text 9"/>
          <p:cNvSpPr txBox="1"/>
          <p:nvPr/>
        </p:nvSpPr>
        <p:spPr>
          <a:xfrm>
            <a:off x="2706624" y="13716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02</a:t>
            </a:r>
            <a:endParaRPr lang="en-US" sz="950" dirty="0"/>
          </a:p>
        </p:txBody>
      </p:sp>
      <p:sp>
        <p:nvSpPr>
          <p:cNvPr id="12" name="Text 10"/>
          <p:cNvSpPr txBox="1"/>
          <p:nvPr/>
        </p:nvSpPr>
        <p:spPr>
          <a:xfrm>
            <a:off x="2706624" y="16459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Pre-flight check</a:t>
            </a:r>
            <a:endParaRPr lang="en-US" sz="1150" dirty="0"/>
          </a:p>
        </p:txBody>
      </p:sp>
      <p:sp>
        <p:nvSpPr>
          <p:cNvPr id="13" name="Text 11"/>
          <p:cNvSpPr txBox="1"/>
          <p:nvPr/>
        </p:nvSpPr>
        <p:spPr>
          <a:xfrm>
            <a:off x="2706624" y="20574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Estimating a step's cost before running it, so you do not overshoot the cap on the last one.</a:t>
            </a:r>
            <a:endParaRPr lang="en-US" sz="950" dirty="0"/>
          </a:p>
        </p:txBody>
      </p:sp>
      <p:sp>
        <p:nvSpPr>
          <p:cNvPr id="14" name="Shape 12"/>
          <p:cNvSpPr/>
          <p:nvPr/>
        </p:nvSpPr>
        <p:spPr>
          <a:xfrm>
            <a:off x="4626864" y="1280160"/>
            <a:ext cx="1920240" cy="1417320"/>
          </a:xfrm>
          <a:prstGeom prst="roundRect">
            <a:avLst>
              <a:gd name="adj" fmla="val 5161"/>
            </a:avLst>
          </a:prstGeom>
          <a:solidFill>
            <a:srgbClr val="F3F4F6"/>
          </a:solidFill>
          <a:ln w="12700">
            <a:solidFill>
              <a:srgbClr val="F3F4F6"/>
            </a:solidFill>
            <a:prstDash val="solid"/>
          </a:ln>
        </p:spPr>
      </p:sp>
      <p:sp>
        <p:nvSpPr>
          <p:cNvPr id="15" name="Text 13"/>
          <p:cNvSpPr txBox="1"/>
          <p:nvPr/>
        </p:nvSpPr>
        <p:spPr>
          <a:xfrm>
            <a:off x="4791456" y="13716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03</a:t>
            </a:r>
            <a:endParaRPr lang="en-US" sz="950" dirty="0"/>
          </a:p>
        </p:txBody>
      </p:sp>
      <p:sp>
        <p:nvSpPr>
          <p:cNvPr id="16" name="Text 14"/>
          <p:cNvSpPr txBox="1"/>
          <p:nvPr/>
        </p:nvSpPr>
        <p:spPr>
          <a:xfrm>
            <a:off x="4791456" y="16459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Cardinality bomb</a:t>
            </a:r>
            <a:endParaRPr lang="en-US" sz="1150" dirty="0"/>
          </a:p>
        </p:txBody>
      </p:sp>
      <p:sp>
        <p:nvSpPr>
          <p:cNvPr id="17" name="Text 15"/>
          <p:cNvSpPr txBox="1"/>
          <p:nvPr/>
        </p:nvSpPr>
        <p:spPr>
          <a:xfrm>
            <a:off x="4791456" y="20574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metric label with a new value every run. It kills Prometheus long before it kills your agent.</a:t>
            </a:r>
            <a:endParaRPr lang="en-US" sz="950" dirty="0"/>
          </a:p>
        </p:txBody>
      </p:sp>
      <p:sp>
        <p:nvSpPr>
          <p:cNvPr id="18" name="Shape 16"/>
          <p:cNvSpPr/>
          <p:nvPr/>
        </p:nvSpPr>
        <p:spPr>
          <a:xfrm>
            <a:off x="6711696" y="1280160"/>
            <a:ext cx="1920240" cy="1417320"/>
          </a:xfrm>
          <a:prstGeom prst="roundRect">
            <a:avLst>
              <a:gd name="adj" fmla="val 5161"/>
            </a:avLst>
          </a:prstGeom>
          <a:solidFill>
            <a:srgbClr val="F3F4F6"/>
          </a:solidFill>
          <a:ln w="12700">
            <a:solidFill>
              <a:srgbClr val="F3F4F6"/>
            </a:solidFill>
            <a:prstDash val="solid"/>
          </a:ln>
        </p:spPr>
      </p:sp>
      <p:sp>
        <p:nvSpPr>
          <p:cNvPr id="19" name="Text 17"/>
          <p:cNvSpPr txBox="1"/>
          <p:nvPr/>
        </p:nvSpPr>
        <p:spPr>
          <a:xfrm>
            <a:off x="6876288" y="13716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04</a:t>
            </a:r>
            <a:endParaRPr lang="en-US" sz="950" dirty="0"/>
          </a:p>
        </p:txBody>
      </p:sp>
      <p:sp>
        <p:nvSpPr>
          <p:cNvPr id="20" name="Text 18"/>
          <p:cNvSpPr txBox="1"/>
          <p:nvPr/>
        </p:nvSpPr>
        <p:spPr>
          <a:xfrm>
            <a:off x="6876288" y="16459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ledger</a:t>
            </a:r>
            <a:endParaRPr lang="en-US" sz="1150" dirty="0"/>
          </a:p>
        </p:txBody>
      </p:sp>
      <p:sp>
        <p:nvSpPr>
          <p:cNvPr id="21" name="Text 19"/>
          <p:cNvSpPr txBox="1"/>
          <p:nvPr/>
        </p:nvSpPr>
        <p:spPr>
          <a:xfrm>
            <a:off x="6876288" y="20574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One appended line per run. Prometheus says what is happening; the ledger says what happened.</a:t>
            </a:r>
            <a:endParaRPr lang="en-US" sz="950" dirty="0"/>
          </a:p>
        </p:txBody>
      </p:sp>
      <p:sp>
        <p:nvSpPr>
          <p:cNvPr id="22" name="Shape 20"/>
          <p:cNvSpPr/>
          <p:nvPr/>
        </p:nvSpPr>
        <p:spPr>
          <a:xfrm>
            <a:off x="457200" y="2880360"/>
            <a:ext cx="1920240" cy="1417320"/>
          </a:xfrm>
          <a:prstGeom prst="roundRect">
            <a:avLst>
              <a:gd name="adj" fmla="val 5161"/>
            </a:avLst>
          </a:prstGeom>
          <a:solidFill>
            <a:srgbClr val="F3F4F6"/>
          </a:solidFill>
          <a:ln w="12700">
            <a:solidFill>
              <a:srgbClr val="F3F4F6"/>
            </a:solidFill>
            <a:prstDash val="solid"/>
          </a:ln>
        </p:spPr>
      </p:sp>
      <p:sp>
        <p:nvSpPr>
          <p:cNvPr id="23" name="Text 21"/>
          <p:cNvSpPr txBox="1"/>
          <p:nvPr/>
        </p:nvSpPr>
        <p:spPr>
          <a:xfrm>
            <a:off x="621792" y="29718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05</a:t>
            </a:r>
            <a:endParaRPr lang="en-US" sz="950" dirty="0"/>
          </a:p>
        </p:txBody>
      </p:sp>
      <p:sp>
        <p:nvSpPr>
          <p:cNvPr id="24" name="Text 22"/>
          <p:cNvSpPr txBox="1"/>
          <p:nvPr/>
        </p:nvSpPr>
        <p:spPr>
          <a:xfrm>
            <a:off x="621792" y="32461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Atomic write</a:t>
            </a:r>
            <a:endParaRPr lang="en-US" sz="1150" dirty="0"/>
          </a:p>
        </p:txBody>
      </p:sp>
      <p:sp>
        <p:nvSpPr>
          <p:cNvPr id="25" name="Text 23"/>
          <p:cNvSpPr txBox="1"/>
          <p:nvPr/>
        </p:nvSpPr>
        <p:spPr>
          <a:xfrm>
            <a:off x="621792" y="36576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Write to a temp file, then rename. A half-written checkpoint is worse than none.</a:t>
            </a:r>
            <a:endParaRPr lang="en-US" sz="950" dirty="0"/>
          </a:p>
        </p:txBody>
      </p:sp>
      <p:sp>
        <p:nvSpPr>
          <p:cNvPr id="26" name="Shape 24"/>
          <p:cNvSpPr/>
          <p:nvPr/>
        </p:nvSpPr>
        <p:spPr>
          <a:xfrm>
            <a:off x="2542032" y="2880360"/>
            <a:ext cx="1920240" cy="1417320"/>
          </a:xfrm>
          <a:prstGeom prst="roundRect">
            <a:avLst>
              <a:gd name="adj" fmla="val 5161"/>
            </a:avLst>
          </a:prstGeom>
          <a:solidFill>
            <a:srgbClr val="F3F4F6"/>
          </a:solidFill>
          <a:ln w="12700">
            <a:solidFill>
              <a:srgbClr val="F3F4F6"/>
            </a:solidFill>
            <a:prstDash val="solid"/>
          </a:ln>
        </p:spPr>
      </p:sp>
      <p:sp>
        <p:nvSpPr>
          <p:cNvPr id="27" name="Text 25"/>
          <p:cNvSpPr txBox="1"/>
          <p:nvPr/>
        </p:nvSpPr>
        <p:spPr>
          <a:xfrm>
            <a:off x="2706624" y="29718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06</a:t>
            </a:r>
            <a:endParaRPr lang="en-US" sz="950" dirty="0"/>
          </a:p>
        </p:txBody>
      </p:sp>
      <p:sp>
        <p:nvSpPr>
          <p:cNvPr id="28" name="Text 26"/>
          <p:cNvSpPr txBox="1"/>
          <p:nvPr/>
        </p:nvSpPr>
        <p:spPr>
          <a:xfrm>
            <a:off x="2706624" y="32461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Proof by turning it off</a:t>
            </a:r>
            <a:endParaRPr lang="en-US" sz="1150" dirty="0"/>
          </a:p>
        </p:txBody>
      </p:sp>
      <p:sp>
        <p:nvSpPr>
          <p:cNvPr id="29" name="Text 27"/>
          <p:cNvSpPr txBox="1"/>
          <p:nvPr/>
        </p:nvSpPr>
        <p:spPr>
          <a:xfrm>
            <a:off x="2706624" y="36576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Running with a mechanism disabled to measure what it was buying you.</a:t>
            </a:r>
            <a:endParaRPr lang="en-US" sz="950" dirty="0"/>
          </a:p>
        </p:txBody>
      </p:sp>
      <p:sp>
        <p:nvSpPr>
          <p:cNvPr id="30" name="Shape 28"/>
          <p:cNvSpPr/>
          <p:nvPr/>
        </p:nvSpPr>
        <p:spPr>
          <a:xfrm>
            <a:off x="4626864" y="2880360"/>
            <a:ext cx="1920240" cy="1417320"/>
          </a:xfrm>
          <a:prstGeom prst="roundRect">
            <a:avLst>
              <a:gd name="adj" fmla="val 5161"/>
            </a:avLst>
          </a:prstGeom>
          <a:solidFill>
            <a:srgbClr val="F3F4F6"/>
          </a:solidFill>
          <a:ln w="12700">
            <a:solidFill>
              <a:srgbClr val="F3F4F6"/>
            </a:solidFill>
            <a:prstDash val="solid"/>
          </a:ln>
        </p:spPr>
      </p:sp>
      <p:sp>
        <p:nvSpPr>
          <p:cNvPr id="31" name="Text 29"/>
          <p:cNvSpPr txBox="1"/>
          <p:nvPr/>
        </p:nvSpPr>
        <p:spPr>
          <a:xfrm>
            <a:off x="4791456" y="29718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07</a:t>
            </a:r>
            <a:endParaRPr lang="en-US" sz="950" dirty="0"/>
          </a:p>
        </p:txBody>
      </p:sp>
      <p:sp>
        <p:nvSpPr>
          <p:cNvPr id="32" name="Text 30"/>
          <p:cNvSpPr txBox="1"/>
          <p:nvPr/>
        </p:nvSpPr>
        <p:spPr>
          <a:xfrm>
            <a:off x="4791456" y="32461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failed-run tax</a:t>
            </a:r>
            <a:endParaRPr lang="en-US" sz="1150" dirty="0"/>
          </a:p>
        </p:txBody>
      </p:sp>
      <p:sp>
        <p:nvSpPr>
          <p:cNvPr id="33" name="Text 31"/>
          <p:cNvSpPr txBox="1"/>
          <p:nvPr/>
        </p:nvSpPr>
        <p:spPr>
          <a:xfrm>
            <a:off x="4791456" y="36576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share of spend that went to runs which did not succeed.</a:t>
            </a:r>
            <a:endParaRPr lang="en-US" sz="950" dirty="0"/>
          </a:p>
        </p:txBody>
      </p:sp>
      <p:sp>
        <p:nvSpPr>
          <p:cNvPr id="34" name="Shape 32"/>
          <p:cNvSpPr/>
          <p:nvPr/>
        </p:nvSpPr>
        <p:spPr>
          <a:xfrm>
            <a:off x="6711696" y="2880360"/>
            <a:ext cx="1920240" cy="1417320"/>
          </a:xfrm>
          <a:prstGeom prst="roundRect">
            <a:avLst>
              <a:gd name="adj" fmla="val 5161"/>
            </a:avLst>
          </a:prstGeom>
          <a:solidFill>
            <a:srgbClr val="F3F4F6"/>
          </a:solidFill>
          <a:ln w="12700">
            <a:solidFill>
              <a:srgbClr val="F3F4F6"/>
            </a:solidFill>
            <a:prstDash val="solid"/>
          </a:ln>
        </p:spPr>
      </p:sp>
      <p:sp>
        <p:nvSpPr>
          <p:cNvPr id="35" name="Text 33"/>
          <p:cNvSpPr txBox="1"/>
          <p:nvPr/>
        </p:nvSpPr>
        <p:spPr>
          <a:xfrm>
            <a:off x="6876288" y="2971800"/>
            <a:ext cx="1554480" cy="256032"/>
          </a:xfrm>
          <a:prstGeom prst="rect">
            <a:avLst/>
          </a:prstGeom>
          <a:noFill/>
          <a:ln/>
        </p:spPr>
        <p:txBody>
          <a:bodyPr wrap="square" lIns="0" tIns="0" rIns="0" bIns="0" rtlCol="0" anchor="t"/>
          <a:lstStyle/>
          <a:p>
            <a:pPr indent="0" marL="0">
              <a:buNone/>
            </a:pPr>
            <a:r>
              <a:rPr lang="en-US" sz="950" b="1" dirty="0">
                <a:solidFill>
                  <a:srgbClr val="B45309"/>
                </a:solidFill>
                <a:latin typeface="Calibri" pitchFamily="34" charset="0"/>
                <a:ea typeface="Calibri" pitchFamily="34" charset="-122"/>
                <a:cs typeface="Calibri" pitchFamily="34" charset="-120"/>
              </a:rPr>
              <a:t>08</a:t>
            </a:r>
            <a:endParaRPr lang="en-US" sz="950" dirty="0"/>
          </a:p>
        </p:txBody>
      </p:sp>
      <p:sp>
        <p:nvSpPr>
          <p:cNvPr id="36" name="Text 34"/>
          <p:cNvSpPr txBox="1"/>
          <p:nvPr/>
        </p:nvSpPr>
        <p:spPr>
          <a:xfrm>
            <a:off x="6876288" y="3246120"/>
            <a:ext cx="1645920" cy="41148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The bill that never arrived</a:t>
            </a:r>
            <a:endParaRPr lang="en-US" sz="1150" dirty="0"/>
          </a:p>
        </p:txBody>
      </p:sp>
      <p:sp>
        <p:nvSpPr>
          <p:cNvPr id="37" name="Text 35"/>
          <p:cNvSpPr txBox="1"/>
          <p:nvPr/>
        </p:nvSpPr>
        <p:spPr>
          <a:xfrm>
            <a:off x="6876288" y="3657600"/>
            <a:ext cx="1645920" cy="566928"/>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difference between the uncapped extrapolation and today's number.</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Everything you typed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The Capstone</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457200" y="1188720"/>
            <a:ext cx="8229600" cy="384048"/>
          </a:xfrm>
          <a:prstGeom prst="roundRect">
            <a:avLst>
              <a:gd name="adj" fmla="val 19048"/>
            </a:avLst>
          </a:prstGeom>
          <a:solidFill>
            <a:srgbClr val="F3F4F6"/>
          </a:solidFill>
          <a:ln w="12700">
            <a:solidFill>
              <a:srgbClr val="F3F4F6"/>
            </a:solidFill>
            <a:prstDash val="solid"/>
          </a:ln>
        </p:spPr>
      </p:sp>
      <p:sp>
        <p:nvSpPr>
          <p:cNvPr id="7" name="Text 5"/>
          <p:cNvSpPr txBox="1"/>
          <p:nvPr/>
        </p:nvSpPr>
        <p:spPr>
          <a:xfrm>
            <a:off x="640080" y="11887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python3 naive_agent.py</a:t>
            </a:r>
            <a:endParaRPr lang="en-US" sz="950" dirty="0"/>
          </a:p>
        </p:txBody>
      </p:sp>
      <p:sp>
        <p:nvSpPr>
          <p:cNvPr id="8" name="Text 6"/>
          <p:cNvSpPr txBox="1"/>
          <p:nvPr/>
        </p:nvSpPr>
        <p:spPr>
          <a:xfrm>
            <a:off x="4069080" y="11887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before picture. No cost, no ceiling, no exit.</a:t>
            </a:r>
            <a:endParaRPr lang="en-US" sz="1050" dirty="0"/>
          </a:p>
        </p:txBody>
      </p:sp>
      <p:sp>
        <p:nvSpPr>
          <p:cNvPr id="9" name="Shape 7"/>
          <p:cNvSpPr/>
          <p:nvPr/>
        </p:nvSpPr>
        <p:spPr>
          <a:xfrm>
            <a:off x="457200" y="1645920"/>
            <a:ext cx="8229600" cy="384048"/>
          </a:xfrm>
          <a:prstGeom prst="roundRect">
            <a:avLst>
              <a:gd name="adj" fmla="val 19048"/>
            </a:avLst>
          </a:prstGeom>
          <a:solidFill>
            <a:srgbClr val="FFFFFF"/>
          </a:solidFill>
          <a:ln w="12700">
            <a:solidFill>
              <a:srgbClr val="FFFFFF"/>
            </a:solidFill>
            <a:prstDash val="solid"/>
          </a:ln>
        </p:spPr>
      </p:sp>
      <p:sp>
        <p:nvSpPr>
          <p:cNvPr id="10" name="Text 8"/>
          <p:cNvSpPr txBox="1"/>
          <p:nvPr/>
        </p:nvSpPr>
        <p:spPr>
          <a:xfrm>
            <a:off x="640080" y="16459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python3 run_agent.py --input X</a:t>
            </a:r>
            <a:endParaRPr lang="en-US" sz="950" dirty="0"/>
          </a:p>
        </p:txBody>
      </p:sp>
      <p:sp>
        <p:nvSpPr>
          <p:cNvPr id="11" name="Text 9"/>
          <p:cNvSpPr txBox="1"/>
          <p:nvPr/>
        </p:nvSpPr>
        <p:spPr>
          <a:xfrm>
            <a:off x="4069080" y="16459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safe agent. Same model, six mechanisms on.</a:t>
            </a:r>
            <a:endParaRPr lang="en-US" sz="1050" dirty="0"/>
          </a:p>
        </p:txBody>
      </p:sp>
      <p:sp>
        <p:nvSpPr>
          <p:cNvPr id="12" name="Shape 10"/>
          <p:cNvSpPr/>
          <p:nvPr/>
        </p:nvSpPr>
        <p:spPr>
          <a:xfrm>
            <a:off x="457200" y="2103120"/>
            <a:ext cx="8229600" cy="384048"/>
          </a:xfrm>
          <a:prstGeom prst="roundRect">
            <a:avLst>
              <a:gd name="adj" fmla="val 19048"/>
            </a:avLst>
          </a:prstGeom>
          <a:solidFill>
            <a:srgbClr val="F3F4F6"/>
          </a:solidFill>
          <a:ln w="12700">
            <a:solidFill>
              <a:srgbClr val="F3F4F6"/>
            </a:solidFill>
            <a:prstDash val="solid"/>
          </a:ln>
        </p:spPr>
      </p:sp>
      <p:sp>
        <p:nvSpPr>
          <p:cNvPr id="13" name="Text 11"/>
          <p:cNvSpPr txBox="1"/>
          <p:nvPr/>
        </p:nvSpPr>
        <p:spPr>
          <a:xfrm>
            <a:off x="640080" y="21031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--no-loop-detect</a:t>
            </a:r>
            <a:endParaRPr lang="en-US" sz="950" dirty="0"/>
          </a:p>
        </p:txBody>
      </p:sp>
      <p:sp>
        <p:nvSpPr>
          <p:cNvPr id="14" name="Text 12"/>
          <p:cNvSpPr txBox="1"/>
          <p:nvPr/>
        </p:nvSpPr>
        <p:spPr>
          <a:xfrm>
            <a:off x="4069080" y="21031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Turn step 3 off, so the cap is the only thing that can stop it.</a:t>
            </a:r>
            <a:endParaRPr lang="en-US" sz="1050" dirty="0"/>
          </a:p>
        </p:txBody>
      </p:sp>
      <p:sp>
        <p:nvSpPr>
          <p:cNvPr id="15" name="Shape 13"/>
          <p:cNvSpPr/>
          <p:nvPr/>
        </p:nvSpPr>
        <p:spPr>
          <a:xfrm>
            <a:off x="457200" y="2560320"/>
            <a:ext cx="8229600" cy="384048"/>
          </a:xfrm>
          <a:prstGeom prst="roundRect">
            <a:avLst>
              <a:gd name="adj" fmla="val 19048"/>
            </a:avLst>
          </a:prstGeom>
          <a:solidFill>
            <a:srgbClr val="FFFFFF"/>
          </a:solidFill>
          <a:ln w="12700">
            <a:solidFill>
              <a:srgbClr val="FFFFFF"/>
            </a:solidFill>
            <a:prstDash val="solid"/>
          </a:ln>
        </p:spPr>
      </p:sp>
      <p:sp>
        <p:nvSpPr>
          <p:cNvPr id="16" name="Text 14"/>
          <p:cNvSpPr txBox="1"/>
          <p:nvPr/>
        </p:nvSpPr>
        <p:spPr>
          <a:xfrm>
            <a:off x="640080" y="25603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--no-caps</a:t>
            </a:r>
            <a:endParaRPr lang="en-US" sz="950" dirty="0"/>
          </a:p>
        </p:txBody>
      </p:sp>
      <p:sp>
        <p:nvSpPr>
          <p:cNvPr id="17" name="Text 15"/>
          <p:cNvSpPr txBox="1"/>
          <p:nvPr/>
        </p:nvSpPr>
        <p:spPr>
          <a:xfrm>
            <a:off x="4069080" y="25603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Turn step 2 off. The one dangerous flag; use it once, with the ceiling on.</a:t>
            </a:r>
            <a:endParaRPr lang="en-US" sz="1050" dirty="0"/>
          </a:p>
        </p:txBody>
      </p:sp>
      <p:sp>
        <p:nvSpPr>
          <p:cNvPr id="18" name="Shape 16"/>
          <p:cNvSpPr/>
          <p:nvPr/>
        </p:nvSpPr>
        <p:spPr>
          <a:xfrm>
            <a:off x="457200" y="3017520"/>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640080" y="30175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--resume</a:t>
            </a:r>
            <a:endParaRPr lang="en-US" sz="950" dirty="0"/>
          </a:p>
        </p:txBody>
      </p:sp>
      <p:sp>
        <p:nvSpPr>
          <p:cNvPr id="20" name="Text 18"/>
          <p:cNvSpPr txBox="1"/>
          <p:nvPr/>
        </p:nvSpPr>
        <p:spPr>
          <a:xfrm>
            <a:off x="4069080" y="30175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Pick up from the last checkpoint instead of paying again.</a:t>
            </a:r>
            <a:endParaRPr lang="en-US" sz="1050" dirty="0"/>
          </a:p>
        </p:txBody>
      </p:sp>
      <p:sp>
        <p:nvSpPr>
          <p:cNvPr id="21" name="Shape 19"/>
          <p:cNvSpPr/>
          <p:nvPr/>
        </p:nvSpPr>
        <p:spPr>
          <a:xfrm>
            <a:off x="457200" y="3474720"/>
            <a:ext cx="8229600" cy="384048"/>
          </a:xfrm>
          <a:prstGeom prst="roundRect">
            <a:avLst>
              <a:gd name="adj" fmla="val 19048"/>
            </a:avLst>
          </a:prstGeom>
          <a:solidFill>
            <a:srgbClr val="FFFFFF"/>
          </a:solidFill>
          <a:ln w="12700">
            <a:solidFill>
              <a:srgbClr val="FFFFFF"/>
            </a:solidFill>
            <a:prstDash val="solid"/>
          </a:ln>
        </p:spPr>
      </p:sp>
      <p:sp>
        <p:nvSpPr>
          <p:cNvPr id="22" name="Text 20"/>
          <p:cNvSpPr txBox="1"/>
          <p:nvPr/>
        </p:nvSpPr>
        <p:spPr>
          <a:xfrm>
            <a:off x="640080" y="34747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python3 report.py</a:t>
            </a:r>
            <a:endParaRPr lang="en-US" sz="950" dirty="0"/>
          </a:p>
        </p:txBody>
      </p:sp>
      <p:sp>
        <p:nvSpPr>
          <p:cNvPr id="23" name="Text 21"/>
          <p:cNvSpPr txBox="1"/>
          <p:nvPr/>
        </p:nvSpPr>
        <p:spPr>
          <a:xfrm>
            <a:off x="4069080" y="34747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Cost per successful task, with its definition printed above it.</a:t>
            </a:r>
            <a:endParaRPr lang="en-US" sz="1050" dirty="0"/>
          </a:p>
        </p:txBody>
      </p:sp>
      <p:sp>
        <p:nvSpPr>
          <p:cNvPr id="24" name="Shape 22"/>
          <p:cNvSpPr/>
          <p:nvPr/>
        </p:nvSpPr>
        <p:spPr>
          <a:xfrm>
            <a:off x="457200" y="3931920"/>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640080" y="39319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python3 verify.py</a:t>
            </a:r>
            <a:endParaRPr lang="en-US" sz="950" dirty="0"/>
          </a:p>
        </p:txBody>
      </p:sp>
      <p:sp>
        <p:nvSpPr>
          <p:cNvPr id="26" name="Text 24"/>
          <p:cNvSpPr txBox="1"/>
          <p:nvPr/>
        </p:nvSpPr>
        <p:spPr>
          <a:xfrm>
            <a:off x="4069080" y="39319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capstone check. Six proofs; exits non-zero if any breaks.</a:t>
            </a:r>
            <a:endParaRPr lang="en-US" sz="1050" dirty="0"/>
          </a:p>
        </p:txBody>
      </p:sp>
      <p:sp>
        <p:nvSpPr>
          <p:cNvPr id="27" name="Shape 25"/>
          <p:cNvSpPr/>
          <p:nvPr/>
        </p:nvSpPr>
        <p:spPr>
          <a:xfrm>
            <a:off x="457200" y="4389120"/>
            <a:ext cx="8229600"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640080" y="4389120"/>
            <a:ext cx="3291840" cy="384048"/>
          </a:xfrm>
          <a:prstGeom prst="rect">
            <a:avLst/>
          </a:prstGeom>
          <a:noFill/>
          <a:ln/>
        </p:spPr>
        <p:txBody>
          <a:bodyPr wrap="square" lIns="0" tIns="0" rIns="0" bIns="0" rtlCol="0" anchor="ctr"/>
          <a:lstStyle/>
          <a:p>
            <a:pPr indent="0" marL="0">
              <a:buNone/>
            </a:pPr>
            <a:r>
              <a:rPr lang="en-US" sz="950" dirty="0">
                <a:solidFill>
                  <a:srgbClr val="6D28D9"/>
                </a:solidFill>
                <a:latin typeface="Courier New" pitchFamily="34" charset="0"/>
                <a:ea typeface="Courier New" pitchFamily="34" charset="-122"/>
                <a:cs typeface="Courier New" pitchFamily="34" charset="-120"/>
              </a:rPr>
              <a:t>docker compose up -d</a:t>
            </a:r>
            <a:endParaRPr lang="en-US" sz="950" dirty="0"/>
          </a:p>
        </p:txBody>
      </p:sp>
      <p:sp>
        <p:nvSpPr>
          <p:cNvPr id="29" name="Text 27"/>
          <p:cNvSpPr txBox="1"/>
          <p:nvPr/>
        </p:nvSpPr>
        <p:spPr>
          <a:xfrm>
            <a:off x="4069080" y="4389120"/>
            <a:ext cx="44348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Prometheus on 9090, Grafana on 3000, pushgateway on 9091.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Capstone: Safe to Leave Running Overnight</dc:title>
  <dc:subject>PptxGenJS Presentation</dc:subject>
  <dc:creator>Emmanuel Naweji</dc:creator>
  <cp:lastModifiedBy>Emmanuel Naweji</cp:lastModifiedBy>
  <cp:revision>1</cp:revision>
  <dcterms:created xsi:type="dcterms:W3CDTF">2026-09-23T20:39:42Z</dcterms:created>
  <dcterms:modified xsi:type="dcterms:W3CDTF">2026-09-23T20:39:42Z</dcterms:modified>
</cp:coreProperties>
</file>