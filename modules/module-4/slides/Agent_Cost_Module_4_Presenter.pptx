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 Script" id="{4138cce2-85ed-d734-5a4b-0629144fc416}">
          <p14:sldIdLst>
            <p14:sldId id="256"/>
            <p14:sldId id="257"/>
            <p14:sldId id="258"/>
          </p14:sldIdLst>
        </p14:section>
        <p14:section name="Setup · Script" id="{ec14b3bc-82cd-cc35-3fa4-1c5c5565534c}">
          <p14:sldIdLst>
            <p14:sldId id="259"/>
            <p14:sldId id="260"/>
          </p14:sldIdLst>
        </p14:section>
        <p14:section name="01 · Script" id="{45ab38bb-6200-1682-44e9-ba1ff61af989}">
          <p14:sldIdLst>
            <p14:sldId id="261"/>
            <p14:sldId id="262"/>
            <p14:sldId id="263"/>
          </p14:sldIdLst>
        </p14:section>
        <p14:section name="01 · iPad" id="{ed7a4088-b73b-680f-c786-04e0e3c77927}">
          <p14:sldIdLst>
            <p14:sldId id="264"/>
          </p14:sldIdLst>
        </p14:section>
        <p14:section name="02 · Script" id="{eff6b3b9-043f-8e1a-ed7d-e00e01e9fecf}">
          <p14:sldIdLst>
            <p14:sldId id="265"/>
            <p14:sldId id="266"/>
            <p14:sldId id="267"/>
          </p14:sldIdLst>
        </p14:section>
        <p14:section name="02 · iPad" id="{643a6fd6-cbfb-d0b2-7534-7e532ac3ab19}">
          <p14:sldIdLst>
            <p14:sldId id="268"/>
          </p14:sldIdLst>
        </p14:section>
        <p14:section name="03 · Script" id="{60ebd782-0865-27a9-22f2-c977cae1c363}">
          <p14:sldIdLst>
            <p14:sldId id="269"/>
            <p14:sldId id="270"/>
            <p14:sldId id="271"/>
          </p14:sldIdLst>
        </p14:section>
        <p14:section name="03 · iPad" id="{e16e47ba-fe5f-32f8-5fb4-9b2159b4e481}">
          <p14:sldIdLst>
            <p14:sldId id="272"/>
          </p14:sldIdLst>
        </p14:section>
        <p14:section name="04 · Script" id="{bb71046d-ddd6-d4e1-ec0e-31af5297d459}">
          <p14:sldIdLst>
            <p14:sldId id="273"/>
            <p14:sldId id="274"/>
            <p14:sldId id="275"/>
          </p14:sldIdLst>
        </p14:section>
        <p14:section name="04 · iPad" id="{dd1c6944-425e-94da-80c4-8b28d16f0c99}">
          <p14:sldIdLst>
            <p14:sldId id="276"/>
          </p14:sldIdLst>
        </p14:section>
        <p14:section name="05 · Script" id="{72eec17b-ba5d-af84-efc3-f0b6252c0401}">
          <p14:sldIdLst>
            <p14:sldId id="277"/>
            <p14:sldId id="278"/>
            <p14:sldId id="279"/>
          </p14:sldIdLst>
        </p14:section>
        <p14:section name="05 · iPad" id="{25bc5b00-b359-3839-0106-a1456322f3b0}">
          <p14:sldIdLst>
            <p14:sldId id="280"/>
          </p14:sldIdLst>
        </p14:section>
        <p14:section name="06 · Script" id="{fc7d83ef-07c2-a4d6-4fcb-96b6708ebb20}">
          <p14:sldIdLst>
            <p14:sldId id="281"/>
            <p14:sldId id="282"/>
          </p14:sldIdLst>
        </p14:section>
        <p14:section name="06 · Terminal (VS Code)" id="{dae6153a-df80-e4f1-8e4a-4a36a2a1ee26}">
          <p14:sldIdLst>
            <p14:sldId id="283"/>
            <p14:sldId id="284"/>
            <p14:sldId id="285"/>
            <p14:sldId id="286"/>
            <p14:sldId id="287"/>
          </p14:sldIdLst>
        </p14:section>
        <p14:section name="Wrap-up · Script" id="{69eba60d-e873-90d4-ee8f-9a268a9c47ad}">
          <p14:sldIdLst>
            <p14:sldId id="288"/>
            <p14:sldId id="289"/>
            <p14:sldId id="290"/>
          </p14:sldIdLst>
        </p14:section>
        <p14:section name="Appendix · Reference" id="{f8113181-45db-e87f-f91b-130b2d675da9}">
          <p14:sldIdLst>
            <p14:sldId id="291"/>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saving in this whole course is not a cheaper model. It is not paying twice for work you already did. This module is about step limits, spotting loops, save points, and finding out what share of your money buys nothing at all.
[Presenter: Emmanuel Naweji · Runtime ~45 min · 6 sections · Course repo github.com/Here2ServeU/agent-cost-control]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of module three I said something was still missing, and here it is. Your caps now stop the bleeding. But they do not save any of the work. If a run hits its limit on step eleven of twelve, you paid for eleven steps and got nothing back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 to 5 build the case and the numbers; section 6 adds all four controls to the envelope from module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Module four adds no new tools either. You need the machine from module one, the virtual environment and envelope from module two, and the recorded runs from module two, because this module picks its numbers from your own data. Checkpoints need somewhere to write: a small file is enough, or Redis if you already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If your machine is not set up yet, stop here and watch the video for your computer. The Mac one is youtu.be/8ZIiXg4XOY0; the Windows one is youtu.be/3e2-GRBibWc.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retry does not continue from where it stopped. It starts again from the very beginning.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task needs twelve steps. On the first attempt it gets to step nine and something goes wrong; a tool times out, an external service is briefly down, anything. It fails. You have paid for nine steps and received nothing.
It retries. Attempt two starts at step one. Steps one through nine run again, doing exactly the same work they did five minutes ago, costing exactly the same money. And it fails at step nine again, because whatever was wrong is still wrong.
It retries once more. Attempt three runs all twelve steps and succeeds. Add it up. You paid for thirty steps. You received twelve steps of useful work. Eighteen steps produced nothing at all; they were done, paid for, and thrown away.
And here is the part worth sitting with: the agent did nothing wrong. It retried, which is exactly what you asked it to do. The retry logic is correct. The cost is a consequence of how retrying works, not a bug anybody introduced.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imagine the same thing with a save point. Attempt one still fails at step nine, but this time the work is written down as it goes. Attempt two skips the first nine steps; they are already done; and runs steps ten, eleven, twelve.
Thirty steps becomes twelve. Same outcome, same answer, same quality. You just stopped buying the same thing three times. That is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the step rows as small numbered squares; the visual repetition is the argument.
SAY:
Let's draw the three attempts, because seeing the same steps repeat makes the waste obvious.
THEN SAY:
Those two pictures side by side are the entire business case for this module. And notice what did not change: the answer the user gets is identical. This is the rare kind of saving that costs you nothing in quality, which is why I would do it before touching model choice or prompt size.
→ Next: the loops that never finish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Retries waste money on work that could have succeeded. Loops waste money on work that was never going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shape is stuck. The agent does exactly the same thing over and over. It searches for the same phrase, gets the same unhelpful result, and searches again, identically. This is the easy one; the calls are identical, so you can spot it by remembering the last few and checking whether this one matches.
The second shape is bouncing. The agent flips between two things, forever. It reads a file, tries to parse it, fails, decides it should read the file again, parses it again, and round it goes. No single call repeats immediately. Every step looks different from the one before it. It looks like progress. It is not; it is a two-step circle.
The third shape is drifting, and it is the hardest. The agent always does something slightly new. It searches for invoice one, then invoice two, then invoice three. Nothing ever repeats. You cannot catch that by looking for repetition, because there is no repetition. It just never finishes.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exactly why you need a step limit even after you have built loop detection. Loop detection catches the patterns you can describe. A step limit catches everything else, including the shapes you have not thought of yet. Those two together, a detector for the obvious cases and a hard ceiling for everything else, is the complete answer.
Start with the first one. Detecting identical repeated calls takes about ten lines of code and catches the most common loop by a wide margin. The bouncing case is worth adding later. Drifting you do not try to detect at all; you let the ceiling handle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Write out the actual call sequences; seeing the pattern is what teaches it.
SAY:
Let's draw all three shapes with real call sequences, so you can see why two of them hide.
THEN SAY:
Start with the first one. Detecting identical repeated calls takes about ten lines of code and catches the most common loop by a wide margin. The bouncing case is worth adding later. Drifting you do not try to detect at all; you let the ceiling handle it, which is the next section.
→ Next: choosing the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step limit is the simplest control in this course. The only real question is what number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temptation to guess; to pick twenty because it sounds generous, or fifty because you do not want to block anything. Do not guess. You already have the data.
In module two you started recording every run. Go and look at your successful runs and ask a simple question: how many steps did they actually use? What you will almost certainly find is that most tasks finish quickly. A big cluster around three, four, five steps. Then a tail stretching out to the right.
Find the number that covers nearly all of your successful runs, say ninety-five out of a hundred. Then add a bit of headroom, because your data is from the past and next month might be slightly harder. That is your ceiling. It came from your own system rather than from a feeling.
One last thing: a step limit and a cost cap are not the same thing and you want both. A run can use very few steps and still be expensive if each step carries a huge amount of history. And a run can take many cheap steps. They catch different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honest part, and I want to be clear about it because this is where people quietly fool themselves.
Whatever number you pick, some real tasks will hit it. If your ceiling covers ninety-five percent of successful runs, then five percent of the work that would have succeeded is now going to be stopped. Write that number down. Say it out loud to whoever owns the work. Because the alternative to blocking five percent of tasks is having no ceiling at all, and we already know what that costs; that was module one.
There is a real trade being made here, and it is much better made openly than discovered later by someone whose task got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the histogram shape roughly; the long tail is the point, not precision.
SAY:
Let's draw what your own data will look like, and pick the number off it.
THEN SAY:
That fourth line is the one people skip, and it is the one that matters when someone comes to you in three weeks saying their task was stopped. If you already knew and already said so, that is a conversation about the trade-off. If you did not, it looks like your control broke their work.
→ Next: not starting from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ever played a video game, you already understand this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actually happens without them. A run gets through nine steps. All the results from those nine steps are held in memory, inside that running program. Then the run stops; it hits a cap, it crashes, the machine restarts, whatever. The program ends, memory is cleared, and all nine steps are simply gone.
With checkpoints, each finished step gets written down somewhere outside the program. When the run stops and something restarts it, it reads what was already done and picks up at step ten.
Where do you put it? Almost anywhere. A file on disk. A row in a small table. Redis if you already have it. This genuinely does not need special software, and I want to say that clearly because checkpointing sounds like a big infrastructure topic and for most agents it is a small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you actually write down? Three things. Which step you got to; just a number. What you found; the results from the steps that finished. And the run ID from module two, so you can find the right save point when you come back.
Two honest cautions before you build it. First, writing a checkpoint costs something; a little time on every step. For a twelve-step task that is nothing. For a task with thousands of tiny steps it might matter, and you would checkpoint every tenth step instead of every one.
Second, and more important: not everything is safe to resume. If step seven sent an email, and you resume from step five, you might send it twice. So before you resume, ask what each step actually did. Steps that only read things are always safe. Steps that change something in the outside world need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Game analogy at the top, then the two-column comparison, then what to save.
SAY:
Let's draw the difference between having save points and not.
THEN SAY:
Before you build this, write down one sentence for each step of your agent saying whether it is safe to run twice. Steps that only read something, a search, a lookup, a calculation, are always safe. Steps that send, write, charge, or delete are not. That list takes ten minutes and it is what stops resuming from causing a much worse problem than it solved.
→ Next: measuring how much this is costing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number, and you can calculate it today from what you recorded in module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call it the failed-run tax. It is the share of your spending that bought nothing at all. Take a month of runs. Add up everything you spent. Then add up what you spent on runs that succeeded. The difference is the tax.
The first time people calculate this, the number is usually higher than they expect. Thirty to forty percent is common for an agent nobody has tuned. In the example on screen it is thirty-nine percent, meaning nearly four in every ten bought precisely nothing.
That tax is made of three things, all of which we have now covered. Retries, the same work paid for more than once, from section one. Loops, work that was never going to finish, from section two. And abandoned runs, runs stopped partway with nothing saved, which is the problem checkpoints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I wanted you to measure this specifically, rather than just improving things and hoping. The obvious way to reduce agent cost is to switch to a cheaper model. That might save you thirty percent. It will also usually make your answers worse, and you will spend weeks arguing about whether the quality drop is acceptable.
Fixing the failed-run tax saves you up to thirty-nine percent in this example, and the answers do not get worse at all. Not even slightly. You are simply not buying the same thing twice. That is a genuinely rare kind of improvement.
One practical note on calculating this. You need the result label from module two, the one we set to unknown and promised to come back to. If you have not set it properly yet, you cannot compute this number. That is module five's job, and it is the last piece before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the split bar to scale; the visual proportion is the shock.
SAY:
Let's draw the tax, and then what it is made of.
THEN SAY:
One practical note on calculating this. You need the result label from module two, the one we set to unknown and promised to come back to. If you have not set it properly yet, you cannot compute this number. That is module five's job, and it is the last piece before the dashboard.
→ Last section: build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add: a step limit, loop detection, checkpoints, and the failed-run tax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add: a step limit, loop detection, checkpoints, and the failed-run tax calculation. Five stages, running after each. Everything still goes in the envelope from module two.
Production note — Build in an editor with a terminal beside it. Stage 4 is the payoff; let the before-and-after numbers sit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one: the step limit. Keep a count of steps in the run, and check it before each model call. If the count is at the ceiling, stop the run the same controlled way your budget cap does; a clear result, not a crash. Set the ceiling from an environment variable so you can change it without editing code.
Three is deliberately too low, so a normal task trips it. Confirm it stops cleanly and says which limit it hit; the message must distinguish a step limit from a budget cap, or you will confuse yourself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two: loop detection, the simple kind. Keep a short list of the last few tool calls the agent made; the name and the arguments together as one string. Before making a new call, check whether it is already in that list. If it is, stop.
The loop sample repeats the same call. Your detector should catch it within a handful of steps, well before the step ceiling fires. Note which one caught it; that tells you the detector is doing real work rather than the ceiling covering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three: checkpoints. After each step completes, write a small record to a file; the run ID, the step number, and the result of that step. At the start of a run, look for an existing checkpoint for that run ID, and if you find one, skip ahead.
Let that run partway, then stop it with control-C. Look at the checkpoint file and confirm the finished steps are in it.
Same run ID, second time. Watch the output. It should skip the steps it already did and pick up where it left off. Count the model calls it made; fewer than the first attempt. That difference is money you did not spend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four: prove the saving. Run the same failing task twice; once with checkpoints turned off, once with them on; and compare total cost.
Two numbers. Same task, same retries, same answer. The second one costs substantially less. Write both down, because that pair of numbers is the clearest thing you can show anyone to explain what this module was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five: calculate your tax. Write a small script that reads your recorded runs, sums total spend, sums spend on successful runs, and prints the difference as a percentage.
That percentage is your number. Keep it. In module six you will put it on a dashboard, and it becomes the thing you watch to know whether any of this is still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module four, and it is the one with the biggest saving in it.
Your agent now stops after a number of steps you chose from your own data. It notices when it is repeating itself and stops early. It writes down finished work so a restart does not begin at zero. And you know what share of your spending has been buying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flag one thing that is still missing, because it is the last real gap.
You have been calculating the failed-run tax using whatever you have for a result. But back in module two we set that result label to unknown and promised to come back to it. Until that label is set properly, until your system actually knows whether a run succeeded, every number that depends on success is an estimate.
And that turns out to be harder than it sounds. What counts as success? A run that finished without crashing? One that produced an answer? One that produced a correct answer? Those are three different questions and they give three different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module five: cost per successful task, and the genuinely difficult part of defining what successful means. See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exercises before module 5.
1. Find your step distribution. From your module 2 records, count how many steps each successful run used. Sketch the shape. Find the number that covers 95 of every 100 successful runs.
2. Pick a ceiling, and name the cost. Then write down how many real tasks it would have blocked last month, and say that number out loud to whoever owns the work.
3. Build the step limit. Add the counter and the check. Make the stop message clearly distinguish a step limit from a budget cap.
4. Detect the simple loop. Keep the last few tool calls as strings and check for a repeat. Confirm your detector catches the loop sample before the step ceiling does.
5. List what is safe to resume. One line per step of your agent. Reading is safe; sending, writing, charging, deleting are not. Ten minutes, and it prevents a much worse bug.
6. Build checkpoints. Write the run ID, step number and results after each step. Stop a run partway, restart it with the same run ID, and confirm it skips ahead.
7. Prove the saving. Run the same flaky task with checkpoints off and on. Record both costs; that pair of numbers is the most persuasive thing you have.
8. Calculate your failed-run tax. Total spend minus spend on successful runs, as a percentage. Most people are surprised, and it tells you how much is actually available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Paying twice : A retry starts from the beginning, not where it stopped. Three attempts at a 12-step task can cost 30 steps.
02 Loop : The agent keeps going without getting closer to finishing; money spent on work that was never going to succeed.
03 Stuck loop : The same call, over and over, identically. The easy one: catch it by remembering the last few calls.
04 Bouncing loop : Flipping between two things forever. Looks like progress because no single call repeats.
05 Drifting loop : Always something slightly new, never finishing. No pattern to detect; only a step limit catches it.
06 Step limit (ceiling) : Stop after this many steps, regardless. Pick it from your own data, and state what it would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 Why you need both : Detection catches patterns you can describe. A ceiling catches everything else, including shapes you have not met.
08 Checkpoint (save point) : Finished work written down outside the program, so a restart does not begin at zero.
09 What to checkpoint : Which step you reached, what you found, and the run ID. A file or a small table is enough.
10 Safe to resume : Steps that only read can run twice safely. Steps that send, write, charge or delete cannot.
11 The failed-run tax : The share of spending that bought nothing: total spend minus spend on successful runs. Often 30 to 40 percent.
12 Fix this before models : A cheaper model saves money and makes answers worse. Fixing the tax saves as much and makes them no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MAX_STEPS=3 python3 run_agent.py … : Set the step ceiling for one command only, then run the agent.
--input samples/loop.json : A sample input that makes the agent repeat the same call, to test your detector.
--input samples/flaky.json : A sample that fails partway, so retries and checkpoints have something to work with.
--retries 3 : A flag on the course script: try the task up to three times before giving up.
--run-id test-resume : Give the run a fixed name, so the second run finds the first run's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Control-C : Stop the running command by hand. Here it is how you interrupt a run partway through.
CHECKPOINTS=off   /   CHECKPOINTS=on : The same task, twice, with save points disabled and enabled, so you can compare the cost.
python3 failed_run_tax.py --since 30d : Your own small script: read the last 30 days of runs and print the wasted percentage.
cat checkpoints.json   /   Get-Content : Print the checkpoint file to confirm the finished steps really were written down.
grep -c 'usage' : From module 1: count model calls, so you can compare the first run with the resumed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youtu.be/8ZIiXg4XOY0" TargetMode="External"/><Relationship Id="rId2" Type="http://schemas.openxmlformats.org/officeDocument/2006/relationships/hyperlink" Target="https://youtu.be/3e2-GRBibWc" TargetMode="External"/><Relationship Id="rId3" Type="http://schemas.openxmlformats.org/officeDocument/2006/relationships/hyperlink" Target="https://python.org/downloads" TargetMode="External"/><Relationship Id="rId4" Type="http://schemas.openxmlformats.org/officeDocument/2006/relationships/hyperlink" Target="https://docs.python.org/3/library/venv.html" TargetMode="External"/><Relationship Id="rId5" Type="http://schemas.openxmlformats.org/officeDocument/2006/relationships/hyperlink" Target="https://docs.python.org/3/tutorial/inputoutput.html" TargetMode="External"/><Relationship Id="rId6" Type="http://schemas.openxmlformats.org/officeDocument/2006/relationships/hyperlink" Target="https://redis.io/docs/latest/get-started"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822960"/>
            <a:ext cx="73152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AGENT COST PROBLEM  ·  MODULE 4 OF 6</a:t>
            </a:r>
            <a:endParaRPr lang="en-US" sz="1100" dirty="0"/>
          </a:p>
        </p:txBody>
      </p:sp>
      <p:sp>
        <p:nvSpPr>
          <p:cNvPr id="3" name="Text 1"/>
          <p:cNvSpPr txBox="1"/>
          <p:nvPr/>
        </p:nvSpPr>
        <p:spPr>
          <a:xfrm>
            <a:off x="548640" y="1188720"/>
            <a:ext cx="8046720" cy="164592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Loops, Retries, and</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the Cost of Failure</a:t>
            </a:r>
            <a:endParaRPr lang="en-US" sz="4200" dirty="0"/>
          </a:p>
        </p:txBody>
      </p:sp>
      <p:sp>
        <p:nvSpPr>
          <p:cNvPr id="4" name="Text 2"/>
          <p:cNvSpPr txBox="1"/>
          <p:nvPr/>
        </p:nvSpPr>
        <p:spPr>
          <a:xfrm>
            <a:off x="548640" y="2880360"/>
            <a:ext cx="7863840" cy="73152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The biggest saving in this whole course is not a cheaper model. </a:t>
            </a:r>
            <a:pPr indent="0" marL="0">
              <a:buNone/>
            </a:pPr>
            <a:r>
              <a:rPr lang="en-US" sz="1800" b="1" dirty="0">
                <a:solidFill>
                  <a:srgbClr val="FFFFFF"/>
                </a:solidFill>
                <a:latin typeface="Calibri" pitchFamily="34" charset="0"/>
                <a:ea typeface="Calibri" pitchFamily="34" charset="-122"/>
                <a:cs typeface="Calibri" pitchFamily="34" charset="-120"/>
              </a:rPr>
              <a:t>It is not paying twice for work you already did.</a:t>
            </a:r>
            <a:endParaRPr lang="en-US" sz="1800" dirty="0"/>
          </a:p>
        </p:txBody>
      </p:sp>
      <p:sp>
        <p:nvSpPr>
          <p:cNvPr id="5" name="Text 3"/>
          <p:cNvSpPr txBox="1"/>
          <p:nvPr/>
        </p:nvSpPr>
        <p:spPr>
          <a:xfrm>
            <a:off x="54864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PRESENTER</a:t>
            </a:r>
            <a:endParaRPr lang="en-US" sz="900" dirty="0"/>
          </a:p>
        </p:txBody>
      </p:sp>
      <p:sp>
        <p:nvSpPr>
          <p:cNvPr id="6" name="Text 4"/>
          <p:cNvSpPr txBox="1"/>
          <p:nvPr/>
        </p:nvSpPr>
        <p:spPr>
          <a:xfrm>
            <a:off x="54864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Emmanuel Naweji</a:t>
            </a:r>
            <a:endParaRPr lang="en-US" sz="1200" dirty="0"/>
          </a:p>
        </p:txBody>
      </p:sp>
      <p:sp>
        <p:nvSpPr>
          <p:cNvPr id="7" name="Text 5"/>
          <p:cNvSpPr txBox="1"/>
          <p:nvPr/>
        </p:nvSpPr>
        <p:spPr>
          <a:xfrm>
            <a:off x="265176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RUNTIME</a:t>
            </a:r>
            <a:endParaRPr lang="en-US" sz="900" dirty="0"/>
          </a:p>
        </p:txBody>
      </p:sp>
      <p:sp>
        <p:nvSpPr>
          <p:cNvPr id="8" name="Text 6"/>
          <p:cNvSpPr txBox="1"/>
          <p:nvPr/>
        </p:nvSpPr>
        <p:spPr>
          <a:xfrm>
            <a:off x="265176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~45 min · 6 sections</a:t>
            </a:r>
            <a:endParaRPr lang="en-US" sz="1200" dirty="0"/>
          </a:p>
        </p:txBody>
      </p:sp>
      <p:sp>
        <p:nvSpPr>
          <p:cNvPr id="9" name="Text 7"/>
          <p:cNvSpPr txBox="1"/>
          <p:nvPr/>
        </p:nvSpPr>
        <p:spPr>
          <a:xfrm>
            <a:off x="4754880" y="3931920"/>
            <a:ext cx="384048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COURSE REPO</a:t>
            </a:r>
            <a:endParaRPr lang="en-US" sz="900" dirty="0"/>
          </a:p>
        </p:txBody>
      </p:sp>
      <p:sp>
        <p:nvSpPr>
          <p:cNvPr id="10" name="Text 8"/>
          <p:cNvSpPr txBox="1"/>
          <p:nvPr/>
        </p:nvSpPr>
        <p:spPr>
          <a:xfrm>
            <a:off x="4754880" y="4160520"/>
            <a:ext cx="384048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github.com/Here2ServeU/agent-cost-control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WHAT THIS MODULE GIVES YOU</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457200" y="731520"/>
            <a:ext cx="8229600" cy="1371600"/>
          </a:xfrm>
          <a:prstGeom prst="rect">
            <a:avLst/>
          </a:prstGeom>
          <a:noFill/>
          <a:ln/>
        </p:spPr>
        <p:txBody>
          <a:bodyPr wrap="square" lIns="0" tIns="0" rIns="0" bIns="0" rtlCol="0" anchor="t"/>
          <a:lstStyle/>
          <a:p>
            <a:pPr indent="0" marL="0">
              <a:buNone/>
            </a:pPr>
            <a:r>
              <a:rPr lang="en-US" sz="3400" b="1" dirty="0">
                <a:solidFill>
                  <a:srgbClr val="111827"/>
                </a:solidFill>
                <a:latin typeface="Cambria" pitchFamily="34" charset="0"/>
                <a:ea typeface="Cambria" pitchFamily="34" charset="-122"/>
                <a:cs typeface="Cambria" pitchFamily="34" charset="-120"/>
              </a:rPr>
              <a:t>Caps stopped the bleeding.</a:t>
            </a:r>
            <a:endParaRPr lang="en-US" sz="3400" dirty="0"/>
          </a:p>
          <a:p>
            <a:pPr indent="0" marL="0">
              <a:buNone/>
            </a:pPr>
            <a:r>
              <a:rPr lang="en-US" sz="3400" b="1" dirty="0">
                <a:solidFill>
                  <a:srgbClr val="111827"/>
                </a:solidFill>
                <a:latin typeface="Cambria" pitchFamily="34" charset="0"/>
                <a:ea typeface="Cambria" pitchFamily="34" charset="-122"/>
                <a:cs typeface="Cambria" pitchFamily="34" charset="-120"/>
              </a:rPr>
              <a:t>They did not save the work.</a:t>
            </a:r>
            <a:endParaRPr lang="en-US" sz="3400" dirty="0"/>
          </a:p>
        </p:txBody>
      </p:sp>
      <p:sp>
        <p:nvSpPr>
          <p:cNvPr id="6" name="Shape 4"/>
          <p:cNvSpPr/>
          <p:nvPr/>
        </p:nvSpPr>
        <p:spPr>
          <a:xfrm>
            <a:off x="457200" y="2514600"/>
            <a:ext cx="2606040" cy="1920240"/>
          </a:xfrm>
          <a:prstGeom prst="roundRect">
            <a:avLst>
              <a:gd name="adj" fmla="val 3810"/>
            </a:avLst>
          </a:prstGeom>
          <a:solidFill>
            <a:srgbClr val="F3F4F6"/>
          </a:solidFill>
          <a:ln w="12700">
            <a:solidFill>
              <a:srgbClr val="F3F4F6"/>
            </a:solidFill>
            <a:prstDash val="solid"/>
          </a:ln>
        </p:spPr>
      </p:sp>
      <p:sp>
        <p:nvSpPr>
          <p:cNvPr id="7" name="Shape 5"/>
          <p:cNvSpPr/>
          <p:nvPr/>
        </p:nvSpPr>
        <p:spPr>
          <a:xfrm>
            <a:off x="685800" y="2697480"/>
            <a:ext cx="384048" cy="384048"/>
          </a:xfrm>
          <a:prstGeom prst="roundRect">
            <a:avLst>
              <a:gd name="adj" fmla="val 19048"/>
            </a:avLst>
          </a:prstGeom>
          <a:solidFill>
            <a:srgbClr val="1D4ED8"/>
          </a:solidFill>
          <a:ln w="12700">
            <a:solidFill>
              <a:srgbClr val="1D4ED8"/>
            </a:solidFill>
            <a:prstDash val="solid"/>
          </a:ln>
        </p:spPr>
      </p:sp>
      <p:pic>
        <p:nvPicPr>
          <p:cNvPr id="8" name="Image 0" descr="preencoded.png">    </p:cNvPr>
          <p:cNvPicPr>
            <a:picLocks noChangeAspect="1"/>
          </p:cNvPicPr>
          <p:nvPr/>
        </p:nvPicPr>
        <p:blipFill>
          <a:blip r:embed="rId1"/>
          <a:stretch>
            <a:fillRect/>
          </a:stretch>
        </p:blipFill>
        <p:spPr>
          <a:xfrm>
            <a:off x="768096" y="2779776"/>
            <a:ext cx="219456" cy="219456"/>
          </a:xfrm>
          <a:prstGeom prst="rect">
            <a:avLst/>
          </a:prstGeom>
        </p:spPr>
      </p:pic>
      <p:sp>
        <p:nvSpPr>
          <p:cNvPr id="9" name="Text 6"/>
          <p:cNvSpPr txBox="1"/>
          <p:nvPr/>
        </p:nvSpPr>
        <p:spPr>
          <a:xfrm>
            <a:off x="68580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ceiling from your data</a:t>
            </a:r>
            <a:endParaRPr lang="en-US" sz="1500" dirty="0"/>
          </a:p>
        </p:txBody>
      </p:sp>
      <p:sp>
        <p:nvSpPr>
          <p:cNvPr id="10" name="Text 7"/>
          <p:cNvSpPr txBox="1"/>
          <p:nvPr/>
        </p:nvSpPr>
        <p:spPr>
          <a:xfrm>
            <a:off x="68580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step limit chosen from your own successful runs, not from a feeling.</a:t>
            </a:r>
            <a:endParaRPr lang="en-US" sz="1200" dirty="0"/>
          </a:p>
        </p:txBody>
      </p:sp>
      <p:sp>
        <p:nvSpPr>
          <p:cNvPr id="11" name="Shape 8"/>
          <p:cNvSpPr/>
          <p:nvPr/>
        </p:nvSpPr>
        <p:spPr>
          <a:xfrm>
            <a:off x="3246120" y="2514600"/>
            <a:ext cx="2606040" cy="1920240"/>
          </a:xfrm>
          <a:prstGeom prst="roundRect">
            <a:avLst>
              <a:gd name="adj" fmla="val 3810"/>
            </a:avLst>
          </a:prstGeom>
          <a:solidFill>
            <a:srgbClr val="F3F4F6"/>
          </a:solidFill>
          <a:ln w="12700">
            <a:solidFill>
              <a:srgbClr val="F3F4F6"/>
            </a:solidFill>
            <a:prstDash val="solid"/>
          </a:ln>
        </p:spPr>
      </p:sp>
      <p:sp>
        <p:nvSpPr>
          <p:cNvPr id="12" name="Shape 9"/>
          <p:cNvSpPr/>
          <p:nvPr/>
        </p:nvSpPr>
        <p:spPr>
          <a:xfrm>
            <a:off x="3474720" y="2697480"/>
            <a:ext cx="384048" cy="384048"/>
          </a:xfrm>
          <a:prstGeom prst="roundRect">
            <a:avLst>
              <a:gd name="adj" fmla="val 19048"/>
            </a:avLst>
          </a:prstGeom>
          <a:solidFill>
            <a:srgbClr val="047857"/>
          </a:solidFill>
          <a:ln w="12700">
            <a:solidFill>
              <a:srgbClr val="047857"/>
            </a:solidFill>
            <a:prstDash val="solid"/>
          </a:ln>
        </p:spPr>
      </p:sp>
      <p:pic>
        <p:nvPicPr>
          <p:cNvPr id="13" name="Image 1" descr="preencoded.png">    </p:cNvPr>
          <p:cNvPicPr>
            <a:picLocks noChangeAspect="1"/>
          </p:cNvPicPr>
          <p:nvPr/>
        </p:nvPicPr>
        <p:blipFill>
          <a:blip r:embed="rId2"/>
          <a:stretch>
            <a:fillRect/>
          </a:stretch>
        </p:blipFill>
        <p:spPr>
          <a:xfrm>
            <a:off x="3557016" y="2779776"/>
            <a:ext cx="219456" cy="219456"/>
          </a:xfrm>
          <a:prstGeom prst="rect">
            <a:avLst/>
          </a:prstGeom>
        </p:spPr>
      </p:pic>
      <p:sp>
        <p:nvSpPr>
          <p:cNvPr id="14" name="Text 10"/>
          <p:cNvSpPr txBox="1"/>
          <p:nvPr/>
        </p:nvSpPr>
        <p:spPr>
          <a:xfrm>
            <a:off x="347472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Save points</a:t>
            </a:r>
            <a:endParaRPr lang="en-US" sz="1500" dirty="0"/>
          </a:p>
        </p:txBody>
      </p:sp>
      <p:sp>
        <p:nvSpPr>
          <p:cNvPr id="15" name="Text 11"/>
          <p:cNvSpPr txBox="1"/>
          <p:nvPr/>
        </p:nvSpPr>
        <p:spPr>
          <a:xfrm>
            <a:off x="347472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Finished work written down, so a restart does not begin at zero.</a:t>
            </a:r>
            <a:endParaRPr lang="en-US" sz="1200" dirty="0"/>
          </a:p>
        </p:txBody>
      </p:sp>
      <p:sp>
        <p:nvSpPr>
          <p:cNvPr id="16" name="Shape 12"/>
          <p:cNvSpPr/>
          <p:nvPr/>
        </p:nvSpPr>
        <p:spPr>
          <a:xfrm>
            <a:off x="6035040" y="2514600"/>
            <a:ext cx="2606040" cy="1920240"/>
          </a:xfrm>
          <a:prstGeom prst="roundRect">
            <a:avLst>
              <a:gd name="adj" fmla="val 3810"/>
            </a:avLst>
          </a:prstGeom>
          <a:solidFill>
            <a:srgbClr val="F3F4F6"/>
          </a:solidFill>
          <a:ln w="12700">
            <a:solidFill>
              <a:srgbClr val="F3F4F6"/>
            </a:solidFill>
            <a:prstDash val="solid"/>
          </a:ln>
        </p:spPr>
      </p:sp>
      <p:sp>
        <p:nvSpPr>
          <p:cNvPr id="17" name="Shape 13"/>
          <p:cNvSpPr/>
          <p:nvPr/>
        </p:nvSpPr>
        <p:spPr>
          <a:xfrm>
            <a:off x="6263640" y="2697480"/>
            <a:ext cx="384048" cy="384048"/>
          </a:xfrm>
          <a:prstGeom prst="roundRect">
            <a:avLst>
              <a:gd name="adj" fmla="val 19048"/>
            </a:avLst>
          </a:prstGeom>
          <a:solidFill>
            <a:srgbClr val="B91C1C"/>
          </a:solidFill>
          <a:ln w="12700">
            <a:solidFill>
              <a:srgbClr val="B91C1C"/>
            </a:solidFill>
            <a:prstDash val="solid"/>
          </a:ln>
        </p:spPr>
      </p:sp>
      <p:pic>
        <p:nvPicPr>
          <p:cNvPr id="18" name="Image 2" descr="preencoded.png">    </p:cNvPr>
          <p:cNvPicPr>
            <a:picLocks noChangeAspect="1"/>
          </p:cNvPicPr>
          <p:nvPr/>
        </p:nvPicPr>
        <p:blipFill>
          <a:blip r:embed="rId3"/>
          <a:stretch>
            <a:fillRect/>
          </a:stretch>
        </p:blipFill>
        <p:spPr>
          <a:xfrm>
            <a:off x="6345936" y="2779776"/>
            <a:ext cx="219456" cy="219456"/>
          </a:xfrm>
          <a:prstGeom prst="rect">
            <a:avLst/>
          </a:prstGeom>
        </p:spPr>
      </p:pic>
      <p:sp>
        <p:nvSpPr>
          <p:cNvPr id="19" name="Text 14"/>
          <p:cNvSpPr txBox="1"/>
          <p:nvPr/>
        </p:nvSpPr>
        <p:spPr>
          <a:xfrm>
            <a:off x="626364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number for the waste</a:t>
            </a:r>
            <a:endParaRPr lang="en-US" sz="1500" dirty="0"/>
          </a:p>
        </p:txBody>
      </p:sp>
      <p:sp>
        <p:nvSpPr>
          <p:cNvPr id="20" name="Text 15"/>
          <p:cNvSpPr txBox="1"/>
          <p:nvPr/>
        </p:nvSpPr>
        <p:spPr>
          <a:xfrm>
            <a:off x="626364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share of your spending that bought nothing at all.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SECTIONS AT A GLANCE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sections; one habit: stop buying it twice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417320"/>
            <a:ext cx="2606040" cy="1371600"/>
          </a:xfrm>
          <a:prstGeom prst="roundRect">
            <a:avLst>
              <a:gd name="adj" fmla="val 5333"/>
            </a:avLst>
          </a:prstGeom>
          <a:solidFill>
            <a:srgbClr val="F3F4F6"/>
          </a:solidFill>
          <a:ln w="12700">
            <a:solidFill>
              <a:srgbClr val="F3F4F6"/>
            </a:solidFill>
            <a:prstDash val="solid"/>
          </a:ln>
        </p:spPr>
      </p:sp>
      <p:sp>
        <p:nvSpPr>
          <p:cNvPr id="7" name="Text 5"/>
          <p:cNvSpPr txBox="1"/>
          <p:nvPr/>
        </p:nvSpPr>
        <p:spPr>
          <a:xfrm>
            <a:off x="68580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01</a:t>
            </a:r>
            <a:endParaRPr lang="en-US" sz="2800" dirty="0"/>
          </a:p>
        </p:txBody>
      </p:sp>
      <p:sp>
        <p:nvSpPr>
          <p:cNvPr id="8" name="Text 6"/>
          <p:cNvSpPr txBox="1"/>
          <p:nvPr/>
        </p:nvSpPr>
        <p:spPr>
          <a:xfrm>
            <a:off x="192024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9" name="Text 7"/>
          <p:cNvSpPr txBox="1"/>
          <p:nvPr/>
        </p:nvSpPr>
        <p:spPr>
          <a:xfrm>
            <a:off x="68580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Paying Twice</a:t>
            </a:r>
            <a:endParaRPr lang="en-US" sz="1400" dirty="0"/>
          </a:p>
        </p:txBody>
      </p:sp>
      <p:sp>
        <p:nvSpPr>
          <p:cNvPr id="10" name="Shape 8"/>
          <p:cNvSpPr/>
          <p:nvPr/>
        </p:nvSpPr>
        <p:spPr>
          <a:xfrm>
            <a:off x="3246120" y="1417320"/>
            <a:ext cx="2606040" cy="1371600"/>
          </a:xfrm>
          <a:prstGeom prst="roundRect">
            <a:avLst>
              <a:gd name="adj" fmla="val 5333"/>
            </a:avLst>
          </a:prstGeom>
          <a:solidFill>
            <a:srgbClr val="F3F4F6"/>
          </a:solidFill>
          <a:ln w="12700">
            <a:solidFill>
              <a:srgbClr val="F3F4F6"/>
            </a:solidFill>
            <a:prstDash val="solid"/>
          </a:ln>
        </p:spPr>
      </p:sp>
      <p:sp>
        <p:nvSpPr>
          <p:cNvPr id="11" name="Text 9"/>
          <p:cNvSpPr txBox="1"/>
          <p:nvPr/>
        </p:nvSpPr>
        <p:spPr>
          <a:xfrm>
            <a:off x="347472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02</a:t>
            </a:r>
            <a:endParaRPr lang="en-US" sz="2800" dirty="0"/>
          </a:p>
        </p:txBody>
      </p:sp>
      <p:sp>
        <p:nvSpPr>
          <p:cNvPr id="12" name="Text 10"/>
          <p:cNvSpPr txBox="1"/>
          <p:nvPr/>
        </p:nvSpPr>
        <p:spPr>
          <a:xfrm>
            <a:off x="470916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13" name="Text 11"/>
          <p:cNvSpPr txBox="1"/>
          <p:nvPr/>
        </p:nvSpPr>
        <p:spPr>
          <a:xfrm>
            <a:off x="347472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Loop Shapes</a:t>
            </a:r>
            <a:endParaRPr lang="en-US" sz="1400" dirty="0"/>
          </a:p>
        </p:txBody>
      </p:sp>
      <p:sp>
        <p:nvSpPr>
          <p:cNvPr id="14" name="Shape 12"/>
          <p:cNvSpPr/>
          <p:nvPr/>
        </p:nvSpPr>
        <p:spPr>
          <a:xfrm>
            <a:off x="6035040" y="1417320"/>
            <a:ext cx="2606040" cy="1371600"/>
          </a:xfrm>
          <a:prstGeom prst="roundRect">
            <a:avLst>
              <a:gd name="adj" fmla="val 5333"/>
            </a:avLst>
          </a:prstGeom>
          <a:solidFill>
            <a:srgbClr val="F3F4F6"/>
          </a:solidFill>
          <a:ln w="12700">
            <a:solidFill>
              <a:srgbClr val="F3F4F6"/>
            </a:solidFill>
            <a:prstDash val="solid"/>
          </a:ln>
        </p:spPr>
      </p:sp>
      <p:sp>
        <p:nvSpPr>
          <p:cNvPr id="15" name="Text 13"/>
          <p:cNvSpPr txBox="1"/>
          <p:nvPr/>
        </p:nvSpPr>
        <p:spPr>
          <a:xfrm>
            <a:off x="626364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03</a:t>
            </a:r>
            <a:endParaRPr lang="en-US" sz="2800" dirty="0"/>
          </a:p>
        </p:txBody>
      </p:sp>
      <p:sp>
        <p:nvSpPr>
          <p:cNvPr id="16" name="Text 14"/>
          <p:cNvSpPr txBox="1"/>
          <p:nvPr/>
        </p:nvSpPr>
        <p:spPr>
          <a:xfrm>
            <a:off x="749808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17" name="Text 15"/>
          <p:cNvSpPr txBox="1"/>
          <p:nvPr/>
        </p:nvSpPr>
        <p:spPr>
          <a:xfrm>
            <a:off x="626364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How Many Steps</a:t>
            </a:r>
            <a:endParaRPr lang="en-US" sz="1400" dirty="0"/>
          </a:p>
        </p:txBody>
      </p:sp>
      <p:sp>
        <p:nvSpPr>
          <p:cNvPr id="18" name="Shape 16"/>
          <p:cNvSpPr/>
          <p:nvPr/>
        </p:nvSpPr>
        <p:spPr>
          <a:xfrm>
            <a:off x="457200" y="2971800"/>
            <a:ext cx="2606040" cy="1371600"/>
          </a:xfrm>
          <a:prstGeom prst="roundRect">
            <a:avLst>
              <a:gd name="adj" fmla="val 5333"/>
            </a:avLst>
          </a:prstGeom>
          <a:solidFill>
            <a:srgbClr val="F3F4F6"/>
          </a:solidFill>
          <a:ln w="12700">
            <a:solidFill>
              <a:srgbClr val="F3F4F6"/>
            </a:solidFill>
            <a:prstDash val="solid"/>
          </a:ln>
        </p:spPr>
      </p:sp>
      <p:sp>
        <p:nvSpPr>
          <p:cNvPr id="19" name="Text 17"/>
          <p:cNvSpPr txBox="1"/>
          <p:nvPr/>
        </p:nvSpPr>
        <p:spPr>
          <a:xfrm>
            <a:off x="68580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04</a:t>
            </a:r>
            <a:endParaRPr lang="en-US" sz="2800" dirty="0"/>
          </a:p>
        </p:txBody>
      </p:sp>
      <p:sp>
        <p:nvSpPr>
          <p:cNvPr id="20" name="Text 18"/>
          <p:cNvSpPr txBox="1"/>
          <p:nvPr/>
        </p:nvSpPr>
        <p:spPr>
          <a:xfrm>
            <a:off x="192024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21" name="Text 19"/>
          <p:cNvSpPr txBox="1"/>
          <p:nvPr/>
        </p:nvSpPr>
        <p:spPr>
          <a:xfrm>
            <a:off x="68580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Save Points</a:t>
            </a:r>
            <a:endParaRPr lang="en-US" sz="1400" dirty="0"/>
          </a:p>
        </p:txBody>
      </p:sp>
      <p:sp>
        <p:nvSpPr>
          <p:cNvPr id="22" name="Shape 20"/>
          <p:cNvSpPr/>
          <p:nvPr/>
        </p:nvSpPr>
        <p:spPr>
          <a:xfrm>
            <a:off x="3246120" y="2971800"/>
            <a:ext cx="2606040" cy="1371600"/>
          </a:xfrm>
          <a:prstGeom prst="roundRect">
            <a:avLst>
              <a:gd name="adj" fmla="val 5333"/>
            </a:avLst>
          </a:prstGeom>
          <a:solidFill>
            <a:srgbClr val="F3F4F6"/>
          </a:solidFill>
          <a:ln w="12700">
            <a:solidFill>
              <a:srgbClr val="F3F4F6"/>
            </a:solidFill>
            <a:prstDash val="solid"/>
          </a:ln>
        </p:spPr>
      </p:sp>
      <p:sp>
        <p:nvSpPr>
          <p:cNvPr id="23" name="Text 21"/>
          <p:cNvSpPr txBox="1"/>
          <p:nvPr/>
        </p:nvSpPr>
        <p:spPr>
          <a:xfrm>
            <a:off x="347472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05</a:t>
            </a:r>
            <a:endParaRPr lang="en-US" sz="2800" dirty="0"/>
          </a:p>
        </p:txBody>
      </p:sp>
      <p:sp>
        <p:nvSpPr>
          <p:cNvPr id="24" name="Text 22"/>
          <p:cNvSpPr txBox="1"/>
          <p:nvPr/>
        </p:nvSpPr>
        <p:spPr>
          <a:xfrm>
            <a:off x="470916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25" name="Text 23"/>
          <p:cNvSpPr txBox="1"/>
          <p:nvPr/>
        </p:nvSpPr>
        <p:spPr>
          <a:xfrm>
            <a:off x="347472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Tax</a:t>
            </a:r>
            <a:endParaRPr lang="en-US" sz="1400" dirty="0"/>
          </a:p>
        </p:txBody>
      </p:sp>
      <p:sp>
        <p:nvSpPr>
          <p:cNvPr id="26" name="Shape 24"/>
          <p:cNvSpPr/>
          <p:nvPr/>
        </p:nvSpPr>
        <p:spPr>
          <a:xfrm>
            <a:off x="6035040" y="2971800"/>
            <a:ext cx="2606040" cy="1371600"/>
          </a:xfrm>
          <a:prstGeom prst="roundRect">
            <a:avLst>
              <a:gd name="adj" fmla="val 5333"/>
            </a:avLst>
          </a:prstGeom>
          <a:solidFill>
            <a:srgbClr val="111827"/>
          </a:solidFill>
          <a:ln w="12700">
            <a:solidFill>
              <a:srgbClr val="111827"/>
            </a:solidFill>
            <a:prstDash val="solid"/>
          </a:ln>
        </p:spPr>
      </p:sp>
      <p:sp>
        <p:nvSpPr>
          <p:cNvPr id="27" name="Text 25"/>
          <p:cNvSpPr txBox="1"/>
          <p:nvPr/>
        </p:nvSpPr>
        <p:spPr>
          <a:xfrm>
            <a:off x="6263640" y="3154680"/>
            <a:ext cx="914400" cy="457200"/>
          </a:xfrm>
          <a:prstGeom prst="rect">
            <a:avLst/>
          </a:prstGeom>
          <a:noFill/>
          <a:ln/>
        </p:spPr>
        <p:txBody>
          <a:bodyPr wrap="square" lIns="0" tIns="0" rIns="0" bIns="0" rtlCol="0" anchor="t"/>
          <a:lstStyle/>
          <a:p>
            <a:pPr indent="0" marL="0">
              <a:buNone/>
            </a:pPr>
            <a:r>
              <a:rPr lang="en-US" sz="2800" b="1" dirty="0">
                <a:solidFill>
                  <a:srgbClr val="F59E0B"/>
                </a:solidFill>
                <a:latin typeface="Cambria" pitchFamily="34" charset="0"/>
                <a:ea typeface="Cambria" pitchFamily="34" charset="-122"/>
                <a:cs typeface="Cambria" pitchFamily="34" charset="-120"/>
              </a:rPr>
              <a:t>06</a:t>
            </a:r>
            <a:endParaRPr lang="en-US" sz="2800" dirty="0"/>
          </a:p>
        </p:txBody>
      </p:sp>
      <p:sp>
        <p:nvSpPr>
          <p:cNvPr id="28" name="Text 26"/>
          <p:cNvSpPr txBox="1"/>
          <p:nvPr/>
        </p:nvSpPr>
        <p:spPr>
          <a:xfrm>
            <a:off x="7498080" y="3218688"/>
            <a:ext cx="960120" cy="274320"/>
          </a:xfrm>
          <a:prstGeom prst="rect">
            <a:avLst/>
          </a:prstGeom>
          <a:noFill/>
          <a:ln/>
        </p:spPr>
        <p:txBody>
          <a:bodyPr wrap="square" lIns="0" tIns="0" rIns="0" bIns="0" rtlCol="0" anchor="t"/>
          <a:lstStyle/>
          <a:p>
            <a:pPr algn="r" indent="0" marL="0">
              <a:buNone/>
            </a:pPr>
            <a:r>
              <a:rPr lang="en-US" sz="1100" dirty="0">
                <a:solidFill>
                  <a:srgbClr val="9CA3AF"/>
                </a:solidFill>
                <a:latin typeface="Calibri" pitchFamily="34" charset="0"/>
                <a:ea typeface="Calibri" pitchFamily="34" charset="-122"/>
                <a:cs typeface="Calibri" pitchFamily="34" charset="-120"/>
              </a:rPr>
              <a:t>~10 min</a:t>
            </a:r>
            <a:endParaRPr lang="en-US" sz="1100" dirty="0"/>
          </a:p>
        </p:txBody>
      </p:sp>
      <p:sp>
        <p:nvSpPr>
          <p:cNvPr id="29" name="Text 27"/>
          <p:cNvSpPr txBox="1"/>
          <p:nvPr/>
        </p:nvSpPr>
        <p:spPr>
          <a:xfrm>
            <a:off x="6263640" y="3721608"/>
            <a:ext cx="219456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Build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Install what you need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Ten minutes once, and every command in this module will run. Pick your side.</a:t>
            </a:r>
            <a:endParaRPr lang="en-US" sz="1400" dirty="0"/>
          </a:p>
        </p:txBody>
      </p:sp>
      <p:sp>
        <p:nvSpPr>
          <p:cNvPr id="7" name="Shape 5"/>
          <p:cNvSpPr/>
          <p:nvPr/>
        </p:nvSpPr>
        <p:spPr>
          <a:xfrm>
            <a:off x="457200" y="1600200"/>
            <a:ext cx="4023360" cy="2148840"/>
          </a:xfrm>
          <a:prstGeom prst="roundRect">
            <a:avLst>
              <a:gd name="adj" fmla="val 3404"/>
            </a:avLst>
          </a:prstGeom>
          <a:solidFill>
            <a:srgbClr val="F3F4F6"/>
          </a:solidFill>
          <a:ln w="12700">
            <a:solidFill>
              <a:srgbClr val="F3F4F6"/>
            </a:solidFill>
            <a:prstDash val="solid"/>
          </a:ln>
        </p:spPr>
      </p:sp>
      <p:sp>
        <p:nvSpPr>
          <p:cNvPr id="8" name="Text 6"/>
          <p:cNvSpPr txBox="1"/>
          <p:nvPr/>
        </p:nvSpPr>
        <p:spPr>
          <a:xfrm>
            <a:off x="685800" y="1737360"/>
            <a:ext cx="3566160" cy="274320"/>
          </a:xfrm>
          <a:prstGeom prst="rect">
            <a:avLst/>
          </a:prstGeom>
          <a:noFill/>
          <a:ln/>
        </p:spPr>
        <p:txBody>
          <a:bodyPr wrap="square" lIns="0" tIns="0" rIns="0" bIns="0" rtlCol="0" anchor="t"/>
          <a:lstStyle/>
          <a:p>
            <a:pPr indent="0" marL="0">
              <a:buNone/>
            </a:pPr>
            <a:r>
              <a:rPr lang="en-US" sz="1100" b="1" spc="100" kern="0" dirty="0">
                <a:solidFill>
                  <a:srgbClr val="1D4ED8"/>
                </a:solidFill>
                <a:latin typeface="Calibri" pitchFamily="34" charset="0"/>
                <a:ea typeface="Calibri" pitchFamily="34" charset="-122"/>
                <a:cs typeface="Calibri" pitchFamily="34" charset="-120"/>
              </a:rPr>
              <a:t>macOS  ·  TERMINAL</a:t>
            </a:r>
            <a:endParaRPr lang="en-US" sz="1100" dirty="0"/>
          </a:p>
        </p:txBody>
      </p:sp>
      <p:sp>
        <p:nvSpPr>
          <p:cNvPr id="9" name="Shape 7"/>
          <p:cNvSpPr/>
          <p:nvPr/>
        </p:nvSpPr>
        <p:spPr>
          <a:xfrm>
            <a:off x="685800" y="2057400"/>
            <a:ext cx="3566160" cy="1508760"/>
          </a:xfrm>
          <a:prstGeom prst="roundRect">
            <a:avLst>
              <a:gd name="adj" fmla="val 4848"/>
            </a:avLst>
          </a:prstGeom>
          <a:solidFill>
            <a:srgbClr val="0F172A"/>
          </a:solidFill>
          <a:ln w="12700">
            <a:solidFill>
              <a:srgbClr val="0F172A"/>
            </a:solidFill>
            <a:prstDash val="solid"/>
          </a:ln>
        </p:spPr>
      </p:sp>
      <p:sp>
        <p:nvSpPr>
          <p:cNvPr id="10" name="Text 8"/>
          <p:cNvSpPr txBox="1"/>
          <p:nvPr/>
        </p:nvSpPr>
        <p:spPr>
          <a:xfrm>
            <a:off x="86868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install Homebrew first: brew.sh</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python 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--cask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python3 --version &amp;&amp; git --version</a:t>
            </a:r>
            <a:endParaRPr lang="en-US" sz="950" dirty="0"/>
          </a:p>
        </p:txBody>
      </p:sp>
      <p:sp>
        <p:nvSpPr>
          <p:cNvPr id="11" name="Shape 9"/>
          <p:cNvSpPr/>
          <p:nvPr/>
        </p:nvSpPr>
        <p:spPr>
          <a:xfrm>
            <a:off x="4663440" y="1600200"/>
            <a:ext cx="4023360" cy="2148840"/>
          </a:xfrm>
          <a:prstGeom prst="roundRect">
            <a:avLst>
              <a:gd name="adj" fmla="val 3404"/>
            </a:avLst>
          </a:prstGeom>
          <a:solidFill>
            <a:srgbClr val="F3F4F6"/>
          </a:solidFill>
          <a:ln w="12700">
            <a:solidFill>
              <a:srgbClr val="F3F4F6"/>
            </a:solidFill>
            <a:prstDash val="solid"/>
          </a:ln>
        </p:spPr>
      </p:sp>
      <p:sp>
        <p:nvSpPr>
          <p:cNvPr id="12" name="Text 10"/>
          <p:cNvSpPr txBox="1"/>
          <p:nvPr/>
        </p:nvSpPr>
        <p:spPr>
          <a:xfrm>
            <a:off x="4892040" y="1737360"/>
            <a:ext cx="3566160" cy="274320"/>
          </a:xfrm>
          <a:prstGeom prst="rect">
            <a:avLst/>
          </a:prstGeom>
          <a:noFill/>
          <a:ln/>
        </p:spPr>
        <p:txBody>
          <a:bodyPr wrap="square" lIns="0" tIns="0" rIns="0" bIns="0" rtlCol="0" anchor="t"/>
          <a:lstStyle/>
          <a:p>
            <a:pPr indent="0" marL="0">
              <a:buNone/>
            </a:pPr>
            <a:r>
              <a:rPr lang="en-US" sz="1100" b="1" spc="100" kern="0" dirty="0">
                <a:solidFill>
                  <a:srgbClr val="6D28D9"/>
                </a:solidFill>
                <a:latin typeface="Calibri" pitchFamily="34" charset="0"/>
                <a:ea typeface="Calibri" pitchFamily="34" charset="-122"/>
                <a:cs typeface="Calibri" pitchFamily="34" charset="-120"/>
              </a:rPr>
              <a:t>WINDOWS  ·  POWERSHELL</a:t>
            </a:r>
            <a:endParaRPr lang="en-US" sz="1100" dirty="0"/>
          </a:p>
        </p:txBody>
      </p:sp>
      <p:sp>
        <p:nvSpPr>
          <p:cNvPr id="13" name="Shape 11"/>
          <p:cNvSpPr/>
          <p:nvPr/>
        </p:nvSpPr>
        <p:spPr>
          <a:xfrm>
            <a:off x="4892040" y="2057400"/>
            <a:ext cx="3566160" cy="1508760"/>
          </a:xfrm>
          <a:prstGeom prst="roundRect">
            <a:avLst>
              <a:gd name="adj" fmla="val 4848"/>
            </a:avLst>
          </a:prstGeom>
          <a:solidFill>
            <a:srgbClr val="0F172A"/>
          </a:solidFill>
          <a:ln w="12700">
            <a:solidFill>
              <a:srgbClr val="0F172A"/>
            </a:solidFill>
            <a:prstDash val="solid"/>
          </a:ln>
        </p:spPr>
      </p:sp>
      <p:sp>
        <p:nvSpPr>
          <p:cNvPr id="14" name="Text 12"/>
          <p:cNvSpPr txBox="1"/>
          <p:nvPr/>
        </p:nvSpPr>
        <p:spPr>
          <a:xfrm>
            <a:off x="507492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winget ships with Windows 11</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Python.Python.3.12</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Git.Git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Microsoft.VisualStudioCode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py --version; git --version</a:t>
            </a:r>
            <a:endParaRPr lang="en-US" sz="950" dirty="0"/>
          </a:p>
        </p:txBody>
      </p:sp>
      <p:sp>
        <p:nvSpPr>
          <p:cNvPr id="15" name="Text 13"/>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MODULE 4 ADDS</a:t>
            </a:r>
            <a:endParaRPr lang="en-US" sz="1000" dirty="0"/>
          </a:p>
        </p:txBody>
      </p:sp>
      <p:sp>
        <p:nvSpPr>
          <p:cNvPr id="16" name="Shape 14"/>
          <p:cNvSpPr/>
          <p:nvPr/>
        </p:nvSpPr>
        <p:spPr>
          <a:xfrm>
            <a:off x="457200" y="4114800"/>
            <a:ext cx="2606040" cy="594360"/>
          </a:xfrm>
          <a:prstGeom prst="roundRect">
            <a:avLst>
              <a:gd name="adj" fmla="val 12308"/>
            </a:avLst>
          </a:prstGeom>
          <a:solidFill>
            <a:srgbClr val="ECFDF5"/>
          </a:solidFill>
          <a:ln w="12700">
            <a:solidFill>
              <a:srgbClr val="ECFDF5"/>
            </a:solidFill>
            <a:prstDash val="solid"/>
          </a:ln>
        </p:spPr>
      </p:sp>
      <p:sp>
        <p:nvSpPr>
          <p:cNvPr id="17" name="Text 15"/>
          <p:cNvSpPr txBox="1"/>
          <p:nvPr/>
        </p:nvSpPr>
        <p:spPr>
          <a:xfrm>
            <a:off x="64008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Your module 2 records</a:t>
            </a:r>
            <a:endParaRPr lang="en-US" sz="1150" dirty="0"/>
          </a:p>
        </p:txBody>
      </p:sp>
      <p:sp>
        <p:nvSpPr>
          <p:cNvPr id="18" name="Text 16"/>
          <p:cNvSpPr txBox="1"/>
          <p:nvPr/>
        </p:nvSpPr>
        <p:spPr>
          <a:xfrm>
            <a:off x="64008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the step counts and the costs</a:t>
            </a:r>
            <a:endParaRPr lang="en-US" sz="950" dirty="0"/>
          </a:p>
        </p:txBody>
      </p:sp>
      <p:sp>
        <p:nvSpPr>
          <p:cNvPr id="19" name="Shape 17"/>
          <p:cNvSpPr/>
          <p:nvPr/>
        </p:nvSpPr>
        <p:spPr>
          <a:xfrm>
            <a:off x="3246120" y="4114800"/>
            <a:ext cx="2606040" cy="594360"/>
          </a:xfrm>
          <a:prstGeom prst="roundRect">
            <a:avLst>
              <a:gd name="adj" fmla="val 12308"/>
            </a:avLst>
          </a:prstGeom>
          <a:solidFill>
            <a:srgbClr val="ECFDF5"/>
          </a:solidFill>
          <a:ln w="12700">
            <a:solidFill>
              <a:srgbClr val="ECFDF5"/>
            </a:solidFill>
            <a:prstDash val="solid"/>
          </a:ln>
        </p:spPr>
      </p:sp>
      <p:sp>
        <p:nvSpPr>
          <p:cNvPr id="20" name="Text 18"/>
          <p:cNvSpPr txBox="1"/>
          <p:nvPr/>
        </p:nvSpPr>
        <p:spPr>
          <a:xfrm>
            <a:off x="342900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A file for checkpoints</a:t>
            </a:r>
            <a:endParaRPr lang="en-US" sz="1150" dirty="0"/>
          </a:p>
        </p:txBody>
      </p:sp>
      <p:sp>
        <p:nvSpPr>
          <p:cNvPr id="21" name="Text 19"/>
          <p:cNvSpPr txBox="1"/>
          <p:nvPr/>
        </p:nvSpPr>
        <p:spPr>
          <a:xfrm>
            <a:off x="342900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or Redis, if you already run it</a:t>
            </a:r>
            <a:endParaRPr lang="en-US" sz="950" dirty="0"/>
          </a:p>
        </p:txBody>
      </p:sp>
      <p:sp>
        <p:nvSpPr>
          <p:cNvPr id="22" name="Shape 20"/>
          <p:cNvSpPr/>
          <p:nvPr/>
        </p:nvSpPr>
        <p:spPr>
          <a:xfrm>
            <a:off x="6035040" y="4114800"/>
            <a:ext cx="2606040" cy="594360"/>
          </a:xfrm>
          <a:prstGeom prst="roundRect">
            <a:avLst>
              <a:gd name="adj" fmla="val 12308"/>
            </a:avLst>
          </a:prstGeom>
          <a:solidFill>
            <a:srgbClr val="ECFDF5"/>
          </a:solidFill>
          <a:ln w="12700">
            <a:solidFill>
              <a:srgbClr val="ECFDF5"/>
            </a:solidFill>
            <a:prstDash val="solid"/>
          </a:ln>
        </p:spPr>
      </p:sp>
      <p:sp>
        <p:nvSpPr>
          <p:cNvPr id="23" name="Text 21"/>
          <p:cNvSpPr txBox="1"/>
          <p:nvPr/>
        </p:nvSpPr>
        <p:spPr>
          <a:xfrm>
            <a:off x="621792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One small script</a:t>
            </a:r>
            <a:endParaRPr lang="en-US" sz="1150" dirty="0"/>
          </a:p>
        </p:txBody>
      </p:sp>
      <p:sp>
        <p:nvSpPr>
          <p:cNvPr id="24" name="Text 22"/>
          <p:cNvSpPr txBox="1"/>
          <p:nvPr/>
        </p:nvSpPr>
        <p:spPr>
          <a:xfrm>
            <a:off x="621792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to calculate your tax</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these before you install anything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457200" y="1143000"/>
            <a:ext cx="8229600" cy="3200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Two short videos take you from a blank machine to Git, Python and VS Code installed. Pick the one for your computer.</a:t>
            </a:r>
            <a:endParaRPr lang="en-US" sz="1300" dirty="0"/>
          </a:p>
        </p:txBody>
      </p:sp>
      <p:sp>
        <p:nvSpPr>
          <p:cNvPr id="7" name="Shape 5"/>
          <p:cNvSpPr/>
          <p:nvPr/>
        </p:nvSpPr>
        <p:spPr>
          <a:xfrm>
            <a:off x="457200" y="1554480"/>
            <a:ext cx="4023360" cy="1371600"/>
          </a:xfrm>
          <a:prstGeom prst="roundRect">
            <a:avLst>
              <a:gd name="adj" fmla="val 5333"/>
            </a:avLst>
          </a:prstGeom>
          <a:solidFill>
            <a:srgbClr val="F3F4F6"/>
          </a:solidFill>
          <a:ln w="12700">
            <a:solidFill>
              <a:srgbClr val="F3F4F6"/>
            </a:solidFill>
            <a:prstDash val="solid"/>
          </a:ln>
        </p:spPr>
      </p:sp>
      <p:sp>
        <p:nvSpPr>
          <p:cNvPr id="8" name="Shape 6"/>
          <p:cNvSpPr/>
          <p:nvPr/>
        </p:nvSpPr>
        <p:spPr>
          <a:xfrm>
            <a:off x="685800" y="1737360"/>
            <a:ext cx="1143000" cy="292608"/>
          </a:xfrm>
          <a:prstGeom prst="roundRect">
            <a:avLst>
              <a:gd name="adj" fmla="val 50000"/>
            </a:avLst>
          </a:prstGeom>
          <a:solidFill>
            <a:srgbClr val="1D4ED8"/>
          </a:solidFill>
          <a:ln w="12700">
            <a:solidFill>
              <a:srgbClr val="1D4ED8"/>
            </a:solidFill>
            <a:prstDash val="solid"/>
          </a:ln>
        </p:spPr>
      </p:sp>
      <p:sp>
        <p:nvSpPr>
          <p:cNvPr id="9" name="Text 7"/>
          <p:cNvSpPr txBox="1"/>
          <p:nvPr/>
        </p:nvSpPr>
        <p:spPr>
          <a:xfrm>
            <a:off x="68580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macOS</a:t>
            </a:r>
            <a:endParaRPr lang="en-US" sz="950" dirty="0"/>
          </a:p>
        </p:txBody>
      </p:sp>
      <p:sp>
        <p:nvSpPr>
          <p:cNvPr id="10" name="Text 8"/>
          <p:cNvSpPr txBox="1"/>
          <p:nvPr/>
        </p:nvSpPr>
        <p:spPr>
          <a:xfrm>
            <a:off x="68580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a Mac</a:t>
            </a:r>
            <a:endParaRPr lang="en-US" sz="1400" dirty="0"/>
          </a:p>
        </p:txBody>
      </p:sp>
      <p:sp>
        <p:nvSpPr>
          <p:cNvPr id="11" name="Text 9">
            <a:hlinkClick r:id="rId1" tooltip=""/>
          </p:cNvPr>
          <p:cNvSpPr txBox="1"/>
          <p:nvPr/>
        </p:nvSpPr>
        <p:spPr>
          <a:xfrm>
            <a:off x="685800" y="2560320"/>
            <a:ext cx="3566160" cy="274320"/>
          </a:xfrm>
          <a:prstGeom prst="rect">
            <a:avLst/>
          </a:prstGeom>
          <a:noFill/>
          <a:ln/>
        </p:spPr>
        <p:txBody>
          <a:bodyPr wrap="square" lIns="0" tIns="0" rIns="0" bIns="0" rtlCol="0" anchor="ctr"/>
          <a:lstStyle/>
          <a:p>
            <a:pPr indent="0" marL="0">
              <a:buNone/>
            </a:pPr>
            <a:r>
              <a:rPr lang="en-US" sz="1100" u="sng" dirty="0">
                <a:solidFill>
                  <a:srgbClr val="1D4ED8"/>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https://youtu.be/8ZIiXg4XOY0</a:t>
            </a:r>
            <a:endParaRPr lang="en-US" sz="1100" dirty="0"/>
          </a:p>
        </p:txBody>
      </p:sp>
      <p:sp>
        <p:nvSpPr>
          <p:cNvPr id="12" name="Shape 10"/>
          <p:cNvSpPr/>
          <p:nvPr/>
        </p:nvSpPr>
        <p:spPr>
          <a:xfrm>
            <a:off x="4663440" y="1554480"/>
            <a:ext cx="4023360" cy="1371600"/>
          </a:xfrm>
          <a:prstGeom prst="roundRect">
            <a:avLst>
              <a:gd name="adj" fmla="val 5333"/>
            </a:avLst>
          </a:prstGeom>
          <a:solidFill>
            <a:srgbClr val="F3F4F6"/>
          </a:solidFill>
          <a:ln w="12700">
            <a:solidFill>
              <a:srgbClr val="F3F4F6"/>
            </a:solidFill>
            <a:prstDash val="solid"/>
          </a:ln>
        </p:spPr>
      </p:sp>
      <p:sp>
        <p:nvSpPr>
          <p:cNvPr id="13" name="Shape 11"/>
          <p:cNvSpPr/>
          <p:nvPr/>
        </p:nvSpPr>
        <p:spPr>
          <a:xfrm>
            <a:off x="4892040" y="1737360"/>
            <a:ext cx="1143000" cy="292608"/>
          </a:xfrm>
          <a:prstGeom prst="roundRect">
            <a:avLst>
              <a:gd name="adj" fmla="val 50000"/>
            </a:avLst>
          </a:prstGeom>
          <a:solidFill>
            <a:srgbClr val="6D28D9"/>
          </a:solidFill>
          <a:ln w="12700">
            <a:solidFill>
              <a:srgbClr val="6D28D9"/>
            </a:solidFill>
            <a:prstDash val="solid"/>
          </a:ln>
        </p:spPr>
      </p:sp>
      <p:sp>
        <p:nvSpPr>
          <p:cNvPr id="14" name="Text 12"/>
          <p:cNvSpPr txBox="1"/>
          <p:nvPr/>
        </p:nvSpPr>
        <p:spPr>
          <a:xfrm>
            <a:off x="489204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WINDOWS</a:t>
            </a:r>
            <a:endParaRPr lang="en-US" sz="950" dirty="0"/>
          </a:p>
        </p:txBody>
      </p:sp>
      <p:sp>
        <p:nvSpPr>
          <p:cNvPr id="15" name="Text 13"/>
          <p:cNvSpPr txBox="1"/>
          <p:nvPr/>
        </p:nvSpPr>
        <p:spPr>
          <a:xfrm>
            <a:off x="489204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Windows</a:t>
            </a:r>
            <a:endParaRPr lang="en-US" sz="1400" dirty="0"/>
          </a:p>
        </p:txBody>
      </p:sp>
      <p:sp>
        <p:nvSpPr>
          <p:cNvPr id="16" name="Text 14">
            <a:hlinkClick r:id="rId2" tooltip=""/>
          </p:cNvPr>
          <p:cNvSpPr txBox="1"/>
          <p:nvPr/>
        </p:nvSpPr>
        <p:spPr>
          <a:xfrm>
            <a:off x="4892040" y="2560320"/>
            <a:ext cx="3566160" cy="274320"/>
          </a:xfrm>
          <a:prstGeom prst="rect">
            <a:avLst/>
          </a:prstGeom>
          <a:noFill/>
          <a:ln/>
        </p:spPr>
        <p:txBody>
          <a:bodyPr wrap="square" lIns="0" tIns="0" rIns="0" bIns="0" rtlCol="0" anchor="ctr"/>
          <a:lstStyle/>
          <a:p>
            <a:pPr indent="0" marL="0">
              <a:buNone/>
            </a:pPr>
            <a:r>
              <a:rPr lang="en-US" sz="1100" u="sng" dirty="0">
                <a:solidFill>
                  <a:srgbClr val="6D28D9"/>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https://youtu.be/3e2-GRBibWc</a:t>
            </a:r>
            <a:endParaRPr lang="en-US" sz="1100" dirty="0"/>
          </a:p>
        </p:txBody>
      </p:sp>
      <p:sp>
        <p:nvSpPr>
          <p:cNvPr id="17" name="Text 15"/>
          <p:cNvSpPr txBox="1"/>
          <p:nvPr/>
        </p:nvSpPr>
        <p:spPr>
          <a:xfrm>
            <a:off x="457200" y="3108960"/>
            <a:ext cx="8229600" cy="274320"/>
          </a:xfrm>
          <a:prstGeom prst="rect">
            <a:avLst/>
          </a:prstGeom>
          <a:noFill/>
          <a:ln/>
        </p:spPr>
        <p:txBody>
          <a:bodyPr wrap="square" lIns="0" tIns="0" rIns="0" bIns="0" rtlCol="0" anchor="t"/>
          <a:lstStyle/>
          <a:p>
            <a:pPr indent="0" marL="0">
              <a:buNone/>
            </a:pPr>
            <a:r>
              <a:rPr lang="en-US" sz="950" b="1" spc="200" kern="0" dirty="0">
                <a:solidFill>
                  <a:srgbClr val="6B7280"/>
                </a:solidFill>
                <a:latin typeface="Calibri" pitchFamily="34" charset="0"/>
                <a:ea typeface="Calibri" pitchFamily="34" charset="-122"/>
                <a:cs typeface="Calibri" pitchFamily="34" charset="-120"/>
              </a:rPr>
              <a:t>OFFICIAL PAGES, IF YOU PREFER TO READ</a:t>
            </a:r>
            <a:endParaRPr lang="en-US" sz="950" dirty="0"/>
          </a:p>
        </p:txBody>
      </p:sp>
      <p:sp>
        <p:nvSpPr>
          <p:cNvPr id="18" name="Shape 16"/>
          <p:cNvSpPr/>
          <p:nvPr/>
        </p:nvSpPr>
        <p:spPr>
          <a:xfrm>
            <a:off x="457200" y="3429000"/>
            <a:ext cx="4023360" cy="566928"/>
          </a:xfrm>
          <a:prstGeom prst="roundRect">
            <a:avLst>
              <a:gd name="adj" fmla="val 12903"/>
            </a:avLst>
          </a:prstGeom>
          <a:solidFill>
            <a:srgbClr val="F3F4F6"/>
          </a:solidFill>
          <a:ln w="12700">
            <a:solidFill>
              <a:srgbClr val="F3F4F6"/>
            </a:solidFill>
            <a:prstDash val="solid"/>
          </a:ln>
        </p:spPr>
      </p:sp>
      <p:sp>
        <p:nvSpPr>
          <p:cNvPr id="19" name="Text 17"/>
          <p:cNvSpPr txBox="1"/>
          <p:nvPr/>
        </p:nvSpPr>
        <p:spPr>
          <a:xfrm>
            <a:off x="65836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Install Python</a:t>
            </a:r>
            <a:endParaRPr lang="en-US" sz="1150" dirty="0"/>
          </a:p>
        </p:txBody>
      </p:sp>
      <p:sp>
        <p:nvSpPr>
          <p:cNvPr id="20" name="Text 18"/>
          <p:cNvSpPr txBox="1"/>
          <p:nvPr/>
        </p:nvSpPr>
        <p:spPr>
          <a:xfrm>
            <a:off x="65836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downloads, Mac and Windows</a:t>
            </a:r>
            <a:endParaRPr lang="en-US" sz="900" dirty="0"/>
          </a:p>
        </p:txBody>
      </p:sp>
      <p:sp>
        <p:nvSpPr>
          <p:cNvPr id="21" name="Text 19">
            <a:hlinkClick r:id="rId3" tooltip=""/>
          </p:cNvPr>
          <p:cNvSpPr txBox="1"/>
          <p:nvPr/>
        </p:nvSpPr>
        <p:spPr>
          <a:xfrm>
            <a:off x="2697480" y="3429000"/>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python.org/downloads</a:t>
            </a:r>
            <a:endParaRPr lang="en-US" sz="800" dirty="0"/>
          </a:p>
        </p:txBody>
      </p:sp>
      <p:sp>
        <p:nvSpPr>
          <p:cNvPr id="22" name="Shape 20"/>
          <p:cNvSpPr/>
          <p:nvPr/>
        </p:nvSpPr>
        <p:spPr>
          <a:xfrm>
            <a:off x="4663440" y="3429000"/>
            <a:ext cx="4023360" cy="566928"/>
          </a:xfrm>
          <a:prstGeom prst="roundRect">
            <a:avLst>
              <a:gd name="adj" fmla="val 12903"/>
            </a:avLst>
          </a:prstGeom>
          <a:solidFill>
            <a:srgbClr val="F3F4F6"/>
          </a:solidFill>
          <a:ln w="12700">
            <a:solidFill>
              <a:srgbClr val="F3F4F6"/>
            </a:solidFill>
            <a:prstDash val="solid"/>
          </a:ln>
        </p:spPr>
      </p:sp>
      <p:sp>
        <p:nvSpPr>
          <p:cNvPr id="23" name="Text 21"/>
          <p:cNvSpPr txBox="1"/>
          <p:nvPr/>
        </p:nvSpPr>
        <p:spPr>
          <a:xfrm>
            <a:off x="486460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Virtual environments</a:t>
            </a:r>
            <a:endParaRPr lang="en-US" sz="1150" dirty="0"/>
          </a:p>
        </p:txBody>
      </p:sp>
      <p:sp>
        <p:nvSpPr>
          <p:cNvPr id="24" name="Text 22"/>
          <p:cNvSpPr txBox="1"/>
          <p:nvPr/>
        </p:nvSpPr>
        <p:spPr>
          <a:xfrm>
            <a:off x="486460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The official venv how-to</a:t>
            </a:r>
            <a:endParaRPr lang="en-US" sz="900" dirty="0"/>
          </a:p>
        </p:txBody>
      </p:sp>
      <p:sp>
        <p:nvSpPr>
          <p:cNvPr id="25" name="Text 23">
            <a:hlinkClick r:id="rId4" tooltip=""/>
          </p:cNvPr>
          <p:cNvSpPr txBox="1"/>
          <p:nvPr/>
        </p:nvSpPr>
        <p:spPr>
          <a:xfrm>
            <a:off x="6903720" y="3429000"/>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docs.python.org/3/library/venv.html</a:t>
            </a:r>
            <a:endParaRPr lang="en-US" sz="800" dirty="0"/>
          </a:p>
        </p:txBody>
      </p:sp>
      <p:sp>
        <p:nvSpPr>
          <p:cNvPr id="26" name="Shape 24"/>
          <p:cNvSpPr/>
          <p:nvPr/>
        </p:nvSpPr>
        <p:spPr>
          <a:xfrm>
            <a:off x="457200" y="4087368"/>
            <a:ext cx="4023360" cy="566928"/>
          </a:xfrm>
          <a:prstGeom prst="roundRect">
            <a:avLst>
              <a:gd name="adj" fmla="val 12903"/>
            </a:avLst>
          </a:prstGeom>
          <a:solidFill>
            <a:srgbClr val="F3F4F6"/>
          </a:solidFill>
          <a:ln w="12700">
            <a:solidFill>
              <a:srgbClr val="F3F4F6"/>
            </a:solidFill>
            <a:prstDash val="solid"/>
          </a:ln>
        </p:spPr>
      </p:sp>
      <p:sp>
        <p:nvSpPr>
          <p:cNvPr id="27" name="Text 25"/>
          <p:cNvSpPr txBox="1"/>
          <p:nvPr/>
        </p:nvSpPr>
        <p:spPr>
          <a:xfrm>
            <a:off x="65836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Reading and writing files</a:t>
            </a:r>
            <a:endParaRPr lang="en-US" sz="1150" dirty="0"/>
          </a:p>
        </p:txBody>
      </p:sp>
      <p:sp>
        <p:nvSpPr>
          <p:cNvPr id="28" name="Text 26"/>
          <p:cNvSpPr txBox="1"/>
          <p:nvPr/>
        </p:nvSpPr>
        <p:spPr>
          <a:xfrm>
            <a:off x="65836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The official file how-to</a:t>
            </a:r>
            <a:endParaRPr lang="en-US" sz="900" dirty="0"/>
          </a:p>
        </p:txBody>
      </p:sp>
      <p:sp>
        <p:nvSpPr>
          <p:cNvPr id="29" name="Text 27">
            <a:hlinkClick r:id="rId5" tooltip=""/>
          </p:cNvPr>
          <p:cNvSpPr txBox="1"/>
          <p:nvPr/>
        </p:nvSpPr>
        <p:spPr>
          <a:xfrm>
            <a:off x="2697480" y="4087368"/>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docs.python.org/3/tutorial/inputoutput.html</a:t>
            </a:r>
            <a:endParaRPr lang="en-US" sz="800" dirty="0"/>
          </a:p>
        </p:txBody>
      </p:sp>
      <p:sp>
        <p:nvSpPr>
          <p:cNvPr id="30" name="Shape 28"/>
          <p:cNvSpPr/>
          <p:nvPr/>
        </p:nvSpPr>
        <p:spPr>
          <a:xfrm>
            <a:off x="4663440" y="4087368"/>
            <a:ext cx="4023360" cy="566928"/>
          </a:xfrm>
          <a:prstGeom prst="roundRect">
            <a:avLst>
              <a:gd name="adj" fmla="val 12903"/>
            </a:avLst>
          </a:prstGeom>
          <a:solidFill>
            <a:srgbClr val="F3F4F6"/>
          </a:solidFill>
          <a:ln w="12700">
            <a:solidFill>
              <a:srgbClr val="F3F4F6"/>
            </a:solidFill>
            <a:prstDash val="solid"/>
          </a:ln>
        </p:spPr>
      </p:sp>
      <p:sp>
        <p:nvSpPr>
          <p:cNvPr id="31" name="Text 29"/>
          <p:cNvSpPr txBox="1"/>
          <p:nvPr/>
        </p:nvSpPr>
        <p:spPr>
          <a:xfrm>
            <a:off x="486460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Redis, if you use it</a:t>
            </a:r>
            <a:endParaRPr lang="en-US" sz="1150" dirty="0"/>
          </a:p>
        </p:txBody>
      </p:sp>
      <p:sp>
        <p:nvSpPr>
          <p:cNvPr id="32" name="Text 30"/>
          <p:cNvSpPr txBox="1"/>
          <p:nvPr/>
        </p:nvSpPr>
        <p:spPr>
          <a:xfrm>
            <a:off x="486460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quick start</a:t>
            </a:r>
            <a:endParaRPr lang="en-US" sz="900" dirty="0"/>
          </a:p>
        </p:txBody>
      </p:sp>
      <p:sp>
        <p:nvSpPr>
          <p:cNvPr id="33" name="Text 31">
            <a:hlinkClick r:id="rId6" tooltip=""/>
          </p:cNvPr>
          <p:cNvSpPr txBox="1"/>
          <p:nvPr/>
        </p:nvSpPr>
        <p:spPr>
          <a:xfrm>
            <a:off x="6903720" y="4087368"/>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redis.io/docs/latest/get-started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Paying Twice for the Same Work</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PAYING TWICE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Thirty steps to get twelve steps of work</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457200" y="1234440"/>
            <a:ext cx="8229600" cy="685800"/>
          </a:xfrm>
          <a:prstGeom prst="roundRect">
            <a:avLst>
              <a:gd name="adj" fmla="val 10667"/>
            </a:avLst>
          </a:prstGeom>
          <a:solidFill>
            <a:srgbClr val="F3F4F6"/>
          </a:solidFill>
          <a:ln w="12700">
            <a:solidFill>
              <a:srgbClr val="F3F4F6"/>
            </a:solidFill>
            <a:prstDash val="solid"/>
          </a:ln>
        </p:spPr>
      </p:sp>
      <p:sp>
        <p:nvSpPr>
          <p:cNvPr id="7" name="Text 5"/>
          <p:cNvSpPr txBox="1"/>
          <p:nvPr/>
        </p:nvSpPr>
        <p:spPr>
          <a:xfrm>
            <a:off x="685800" y="1234440"/>
            <a:ext cx="1828800" cy="6858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Attempt one</a:t>
            </a:r>
            <a:endParaRPr lang="en-US" sz="1400" dirty="0"/>
          </a:p>
        </p:txBody>
      </p:sp>
      <p:sp>
        <p:nvSpPr>
          <p:cNvPr id="8" name="Text 6"/>
          <p:cNvSpPr txBox="1"/>
          <p:nvPr/>
        </p:nvSpPr>
        <p:spPr>
          <a:xfrm>
            <a:off x="2606040" y="1234440"/>
            <a:ext cx="310896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runs steps 1 to 9, fails</a:t>
            </a:r>
            <a:endParaRPr lang="en-US" sz="1300" dirty="0"/>
          </a:p>
        </p:txBody>
      </p:sp>
      <p:sp>
        <p:nvSpPr>
          <p:cNvPr id="9" name="Text 7"/>
          <p:cNvSpPr txBox="1"/>
          <p:nvPr/>
        </p:nvSpPr>
        <p:spPr>
          <a:xfrm>
            <a:off x="5852160" y="1234440"/>
            <a:ext cx="2651760" cy="685800"/>
          </a:xfrm>
          <a:prstGeom prst="rect">
            <a:avLst/>
          </a:prstGeom>
          <a:noFill/>
          <a:ln/>
        </p:spPr>
        <p:txBody>
          <a:bodyPr wrap="square" lIns="0" tIns="0" rIns="0" bIns="0" rtlCol="0" anchor="ctr"/>
          <a:lstStyle/>
          <a:p>
            <a:pPr algn="r" indent="0" marL="0">
              <a:buNone/>
            </a:pPr>
            <a:r>
              <a:rPr lang="en-US" sz="1300" b="1" dirty="0">
                <a:solidFill>
                  <a:srgbClr val="B91C1C"/>
                </a:solidFill>
                <a:latin typeface="Calibri" pitchFamily="34" charset="0"/>
                <a:ea typeface="Calibri" pitchFamily="34" charset="-122"/>
                <a:cs typeface="Calibri" pitchFamily="34" charset="-120"/>
              </a:rPr>
              <a:t>paid for 9, got nothing</a:t>
            </a:r>
            <a:endParaRPr lang="en-US" sz="1300" dirty="0"/>
          </a:p>
        </p:txBody>
      </p:sp>
      <p:sp>
        <p:nvSpPr>
          <p:cNvPr id="10" name="Shape 8"/>
          <p:cNvSpPr/>
          <p:nvPr/>
        </p:nvSpPr>
        <p:spPr>
          <a:xfrm>
            <a:off x="457200" y="2011680"/>
            <a:ext cx="8229600" cy="685800"/>
          </a:xfrm>
          <a:prstGeom prst="roundRect">
            <a:avLst>
              <a:gd name="adj" fmla="val 10667"/>
            </a:avLst>
          </a:prstGeom>
          <a:solidFill>
            <a:srgbClr val="F3F4F6"/>
          </a:solidFill>
          <a:ln w="12700">
            <a:solidFill>
              <a:srgbClr val="F3F4F6"/>
            </a:solidFill>
            <a:prstDash val="solid"/>
          </a:ln>
        </p:spPr>
      </p:sp>
      <p:sp>
        <p:nvSpPr>
          <p:cNvPr id="11" name="Text 9"/>
          <p:cNvSpPr txBox="1"/>
          <p:nvPr/>
        </p:nvSpPr>
        <p:spPr>
          <a:xfrm>
            <a:off x="685800" y="2011680"/>
            <a:ext cx="1828800" cy="6858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Attempt two</a:t>
            </a:r>
            <a:endParaRPr lang="en-US" sz="1400" dirty="0"/>
          </a:p>
        </p:txBody>
      </p:sp>
      <p:sp>
        <p:nvSpPr>
          <p:cNvPr id="12" name="Text 10"/>
          <p:cNvSpPr txBox="1"/>
          <p:nvPr/>
        </p:nvSpPr>
        <p:spPr>
          <a:xfrm>
            <a:off x="2606040" y="2011680"/>
            <a:ext cx="310896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starts at step 1 again, fails at 9</a:t>
            </a:r>
            <a:endParaRPr lang="en-US" sz="1300" dirty="0"/>
          </a:p>
        </p:txBody>
      </p:sp>
      <p:sp>
        <p:nvSpPr>
          <p:cNvPr id="13" name="Text 11"/>
          <p:cNvSpPr txBox="1"/>
          <p:nvPr/>
        </p:nvSpPr>
        <p:spPr>
          <a:xfrm>
            <a:off x="5852160" y="2011680"/>
            <a:ext cx="2651760" cy="685800"/>
          </a:xfrm>
          <a:prstGeom prst="rect">
            <a:avLst/>
          </a:prstGeom>
          <a:noFill/>
          <a:ln/>
        </p:spPr>
        <p:txBody>
          <a:bodyPr wrap="square" lIns="0" tIns="0" rIns="0" bIns="0" rtlCol="0" anchor="ctr"/>
          <a:lstStyle/>
          <a:p>
            <a:pPr algn="r" indent="0" marL="0">
              <a:buNone/>
            </a:pPr>
            <a:r>
              <a:rPr lang="en-US" sz="1300" b="1" dirty="0">
                <a:solidFill>
                  <a:srgbClr val="B91C1C"/>
                </a:solidFill>
                <a:latin typeface="Calibri" pitchFamily="34" charset="0"/>
                <a:ea typeface="Calibri" pitchFamily="34" charset="-122"/>
                <a:cs typeface="Calibri" pitchFamily="34" charset="-120"/>
              </a:rPr>
              <a:t>paid for 9 again</a:t>
            </a:r>
            <a:endParaRPr lang="en-US" sz="1300" dirty="0"/>
          </a:p>
        </p:txBody>
      </p:sp>
      <p:sp>
        <p:nvSpPr>
          <p:cNvPr id="14" name="Shape 12"/>
          <p:cNvSpPr/>
          <p:nvPr/>
        </p:nvSpPr>
        <p:spPr>
          <a:xfrm>
            <a:off x="457200" y="2788920"/>
            <a:ext cx="8229600" cy="685800"/>
          </a:xfrm>
          <a:prstGeom prst="roundRect">
            <a:avLst>
              <a:gd name="adj" fmla="val 10667"/>
            </a:avLst>
          </a:prstGeom>
          <a:solidFill>
            <a:srgbClr val="F3F4F6"/>
          </a:solidFill>
          <a:ln w="12700">
            <a:solidFill>
              <a:srgbClr val="F3F4F6"/>
            </a:solidFill>
            <a:prstDash val="solid"/>
          </a:ln>
        </p:spPr>
      </p:sp>
      <p:sp>
        <p:nvSpPr>
          <p:cNvPr id="15" name="Text 13"/>
          <p:cNvSpPr txBox="1"/>
          <p:nvPr/>
        </p:nvSpPr>
        <p:spPr>
          <a:xfrm>
            <a:off x="685800" y="2788920"/>
            <a:ext cx="1828800" cy="6858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Attempt three</a:t>
            </a:r>
            <a:endParaRPr lang="en-US" sz="1400" dirty="0"/>
          </a:p>
        </p:txBody>
      </p:sp>
      <p:sp>
        <p:nvSpPr>
          <p:cNvPr id="16" name="Text 14"/>
          <p:cNvSpPr txBox="1"/>
          <p:nvPr/>
        </p:nvSpPr>
        <p:spPr>
          <a:xfrm>
            <a:off x="2606040" y="2788920"/>
            <a:ext cx="310896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runs all 12, succeeds</a:t>
            </a:r>
            <a:endParaRPr lang="en-US" sz="1300" dirty="0"/>
          </a:p>
        </p:txBody>
      </p:sp>
      <p:sp>
        <p:nvSpPr>
          <p:cNvPr id="17" name="Text 15"/>
          <p:cNvSpPr txBox="1"/>
          <p:nvPr/>
        </p:nvSpPr>
        <p:spPr>
          <a:xfrm>
            <a:off x="5852160" y="2788920"/>
            <a:ext cx="2651760" cy="685800"/>
          </a:xfrm>
          <a:prstGeom prst="rect">
            <a:avLst/>
          </a:prstGeom>
          <a:noFill/>
          <a:ln/>
        </p:spPr>
        <p:txBody>
          <a:bodyPr wrap="square" lIns="0" tIns="0" rIns="0" bIns="0" rtlCol="0" anchor="ctr"/>
          <a:lstStyle/>
          <a:p>
            <a:pPr algn="r" indent="0" marL="0">
              <a:buNone/>
            </a:pPr>
            <a:r>
              <a:rPr lang="en-US" sz="1300" b="1" dirty="0">
                <a:solidFill>
                  <a:srgbClr val="047857"/>
                </a:solidFill>
                <a:latin typeface="Calibri" pitchFamily="34" charset="0"/>
                <a:ea typeface="Calibri" pitchFamily="34" charset="-122"/>
                <a:cs typeface="Calibri" pitchFamily="34" charset="-120"/>
              </a:rPr>
              <a:t>paid for 12, succeeded</a:t>
            </a:r>
            <a:endParaRPr lang="en-US" sz="1300" dirty="0"/>
          </a:p>
        </p:txBody>
      </p:sp>
      <p:sp>
        <p:nvSpPr>
          <p:cNvPr id="18" name="Shape 16"/>
          <p:cNvSpPr/>
          <p:nvPr/>
        </p:nvSpPr>
        <p:spPr>
          <a:xfrm>
            <a:off x="457200" y="3657600"/>
            <a:ext cx="8229600" cy="914400"/>
          </a:xfrm>
          <a:prstGeom prst="roundRect">
            <a:avLst>
              <a:gd name="adj" fmla="val 8000"/>
            </a:avLst>
          </a:prstGeom>
          <a:solidFill>
            <a:srgbClr val="111827"/>
          </a:solidFill>
          <a:ln w="12700">
            <a:solidFill>
              <a:srgbClr val="111827"/>
            </a:solidFill>
            <a:prstDash val="solid"/>
          </a:ln>
        </p:spPr>
      </p:sp>
      <p:sp>
        <p:nvSpPr>
          <p:cNvPr id="19" name="Text 17"/>
          <p:cNvSpPr txBox="1"/>
          <p:nvPr/>
        </p:nvSpPr>
        <p:spPr>
          <a:xfrm>
            <a:off x="731520" y="3657600"/>
            <a:ext cx="7680960" cy="914400"/>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You paid for 30 steps to get 12 steps of work. </a:t>
            </a:r>
            <a:pPr indent="0" marL="0">
              <a:buNone/>
            </a:pPr>
            <a:r>
              <a:rPr lang="en-US" sz="1500" dirty="0">
                <a:solidFill>
                  <a:srgbClr val="FFFFFF"/>
                </a:solidFill>
                <a:latin typeface="Calibri" pitchFamily="34" charset="0"/>
                <a:ea typeface="Calibri" pitchFamily="34" charset="-122"/>
                <a:cs typeface="Calibri" pitchFamily="34" charset="-120"/>
              </a:rPr>
              <a:t>Eighteen steps produced nothing. The agent did nothing wrong; it retried, which is exactly what you asked.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PAYING TWICE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same thing, with a save point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457200" y="1280160"/>
            <a:ext cx="4023360" cy="1737360"/>
          </a:xfrm>
          <a:prstGeom prst="roundRect">
            <a:avLst>
              <a:gd name="adj" fmla="val 4211"/>
            </a:avLst>
          </a:prstGeom>
          <a:solidFill>
            <a:srgbClr val="FEF2F2"/>
          </a:solidFill>
          <a:ln w="12700">
            <a:solidFill>
              <a:srgbClr val="FEF2F2"/>
            </a:solidFill>
            <a:prstDash val="solid"/>
          </a:ln>
        </p:spPr>
      </p:sp>
      <p:sp>
        <p:nvSpPr>
          <p:cNvPr id="7" name="Text 5"/>
          <p:cNvSpPr txBox="1"/>
          <p:nvPr/>
        </p:nvSpPr>
        <p:spPr>
          <a:xfrm>
            <a:off x="685800" y="141732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WITHOUT SAVE POINTS</a:t>
            </a:r>
            <a:endParaRPr lang="en-US" sz="1000" dirty="0"/>
          </a:p>
        </p:txBody>
      </p:sp>
      <p:sp>
        <p:nvSpPr>
          <p:cNvPr id="8" name="Text 6"/>
          <p:cNvSpPr txBox="1"/>
          <p:nvPr/>
        </p:nvSpPr>
        <p:spPr>
          <a:xfrm>
            <a:off x="685800" y="1737360"/>
            <a:ext cx="3566160" cy="640080"/>
          </a:xfrm>
          <a:prstGeom prst="rect">
            <a:avLst/>
          </a:prstGeom>
          <a:noFill/>
          <a:ln/>
        </p:spPr>
        <p:txBody>
          <a:bodyPr wrap="square" lIns="0" tIns="0" rIns="0" bIns="0" rtlCol="0" anchor="t"/>
          <a:lstStyle/>
          <a:p>
            <a:pPr indent="0" marL="0">
              <a:buNone/>
            </a:pPr>
            <a:r>
              <a:rPr lang="en-US" sz="4000" b="1" dirty="0">
                <a:solidFill>
                  <a:srgbClr val="B91C1C"/>
                </a:solidFill>
                <a:latin typeface="Cambria" pitchFamily="34" charset="0"/>
                <a:ea typeface="Cambria" pitchFamily="34" charset="-122"/>
                <a:cs typeface="Cambria" pitchFamily="34" charset="-120"/>
              </a:rPr>
              <a:t>30 steps</a:t>
            </a:r>
            <a:endParaRPr lang="en-US" sz="4000" dirty="0"/>
          </a:p>
        </p:txBody>
      </p:sp>
      <p:sp>
        <p:nvSpPr>
          <p:cNvPr id="9" name="Text 7"/>
          <p:cNvSpPr txBox="1"/>
          <p:nvPr/>
        </p:nvSpPr>
        <p:spPr>
          <a:xfrm>
            <a:off x="685800" y="2468880"/>
            <a:ext cx="3566160" cy="4572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Three attempts, each starting from zero.</a:t>
            </a:r>
            <a:endParaRPr lang="en-US" sz="1300" dirty="0"/>
          </a:p>
        </p:txBody>
      </p:sp>
      <p:sp>
        <p:nvSpPr>
          <p:cNvPr id="10" name="Shape 8"/>
          <p:cNvSpPr/>
          <p:nvPr/>
        </p:nvSpPr>
        <p:spPr>
          <a:xfrm>
            <a:off x="4663440" y="1280160"/>
            <a:ext cx="4023360" cy="1737360"/>
          </a:xfrm>
          <a:prstGeom prst="roundRect">
            <a:avLst>
              <a:gd name="adj" fmla="val 4211"/>
            </a:avLst>
          </a:prstGeom>
          <a:solidFill>
            <a:srgbClr val="ECFDF5"/>
          </a:solidFill>
          <a:ln w="12700">
            <a:solidFill>
              <a:srgbClr val="ECFDF5"/>
            </a:solidFill>
            <a:prstDash val="solid"/>
          </a:ln>
        </p:spPr>
      </p:sp>
      <p:sp>
        <p:nvSpPr>
          <p:cNvPr id="11" name="Text 9"/>
          <p:cNvSpPr txBox="1"/>
          <p:nvPr/>
        </p:nvSpPr>
        <p:spPr>
          <a:xfrm>
            <a:off x="4892040" y="141732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WITH SAVE POINTS</a:t>
            </a:r>
            <a:endParaRPr lang="en-US" sz="1000" dirty="0"/>
          </a:p>
        </p:txBody>
      </p:sp>
      <p:sp>
        <p:nvSpPr>
          <p:cNvPr id="12" name="Text 10"/>
          <p:cNvSpPr txBox="1"/>
          <p:nvPr/>
        </p:nvSpPr>
        <p:spPr>
          <a:xfrm>
            <a:off x="4892040" y="1737360"/>
            <a:ext cx="3566160" cy="640080"/>
          </a:xfrm>
          <a:prstGeom prst="rect">
            <a:avLst/>
          </a:prstGeom>
          <a:noFill/>
          <a:ln/>
        </p:spPr>
        <p:txBody>
          <a:bodyPr wrap="square" lIns="0" tIns="0" rIns="0" bIns="0" rtlCol="0" anchor="t"/>
          <a:lstStyle/>
          <a:p>
            <a:pPr indent="0" marL="0">
              <a:buNone/>
            </a:pPr>
            <a:r>
              <a:rPr lang="en-US" sz="4000" b="1" dirty="0">
                <a:solidFill>
                  <a:srgbClr val="047857"/>
                </a:solidFill>
                <a:latin typeface="Cambria" pitchFamily="34" charset="0"/>
                <a:ea typeface="Cambria" pitchFamily="34" charset="-122"/>
                <a:cs typeface="Cambria" pitchFamily="34" charset="-120"/>
              </a:rPr>
              <a:t>12 steps</a:t>
            </a:r>
            <a:endParaRPr lang="en-US" sz="4000" dirty="0"/>
          </a:p>
        </p:txBody>
      </p:sp>
      <p:sp>
        <p:nvSpPr>
          <p:cNvPr id="13" name="Text 11"/>
          <p:cNvSpPr txBox="1"/>
          <p:nvPr/>
        </p:nvSpPr>
        <p:spPr>
          <a:xfrm>
            <a:off x="4892040" y="2468880"/>
            <a:ext cx="3566160" cy="4572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Attempt two skips the nine already done and runs 10, 11, 12.</a:t>
            </a:r>
            <a:endParaRPr lang="en-US" sz="1300" dirty="0"/>
          </a:p>
        </p:txBody>
      </p:sp>
      <p:sp>
        <p:nvSpPr>
          <p:cNvPr id="14" name="Shape 12"/>
          <p:cNvSpPr/>
          <p:nvPr/>
        </p:nvSpPr>
        <p:spPr>
          <a:xfrm>
            <a:off x="457200" y="3291840"/>
            <a:ext cx="8229600" cy="1234440"/>
          </a:xfrm>
          <a:prstGeom prst="roundRect">
            <a:avLst>
              <a:gd name="adj" fmla="val 5926"/>
            </a:avLst>
          </a:prstGeom>
          <a:solidFill>
            <a:srgbClr val="F3F4F6"/>
          </a:solidFill>
          <a:ln w="12700">
            <a:solidFill>
              <a:srgbClr val="F3F4F6"/>
            </a:solidFill>
            <a:prstDash val="solid"/>
          </a:ln>
        </p:spPr>
      </p:sp>
      <p:sp>
        <p:nvSpPr>
          <p:cNvPr id="15" name="Text 13"/>
          <p:cNvSpPr txBox="1"/>
          <p:nvPr/>
        </p:nvSpPr>
        <p:spPr>
          <a:xfrm>
            <a:off x="731520" y="3291840"/>
            <a:ext cx="7680960" cy="123444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Same outcome. Same answer. Same quality. </a:t>
            </a:r>
            <a:endParaRPr lang="en-US" sz="1500" dirty="0"/>
          </a:p>
          <a:p>
            <a:pPr indent="0" marL="0">
              <a:buNone/>
            </a:pPr>
            <a:r>
              <a:rPr lang="en-US" sz="1500" dirty="0">
                <a:solidFill>
                  <a:srgbClr val="1F2937"/>
                </a:solidFill>
                <a:latin typeface="Calibri" pitchFamily="34" charset="0"/>
                <a:ea typeface="Calibri" pitchFamily="34" charset="-122"/>
                <a:cs typeface="Calibri" pitchFamily="34" charset="-120"/>
              </a:rPr>
              <a:t>This is the rare kind of saving that costs you nothing at all, which is why I would do it before touching model choice or prompt size.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01 · Paying Twice</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three attempts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the step rows as small numbered squares; the visual repetition is the argument.</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Heading: one task that fails at step nine, retried twice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row of twelve small numbered squares. Shade the first nine, leave three empty. Label it attempt one; on the right: paid for nine, got nothing</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An identical second row, same nine shaded. Attempt two; on the right: paid for nine again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third row with all twelve shaded in another colour. Attempt three; on the right: paid for twelve, succeeded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Wide box underneath, large: you paid for thirty steps to get twelve steps of work. Then: eighteen produced nothing · the agent did nothing wrong, it retried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Second heading lower down: what it could have been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The first attempt row again, nine of twelve shaded; on the right: paid for nine, saved the work</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Second row: the first nine squares dashed with a tick inside, only the last three shaded. Attempt two; on the right: skipped nine, paid for three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At the very bottom: thirty steps becomes twelve, same outcome</a:t>
            </a:r>
            <a:endParaRPr lang="en-US" sz="950" dirty="0"/>
          </a:p>
        </p:txBody>
      </p:sp>
      <p:sp>
        <p:nvSpPr>
          <p:cNvPr id="12" name="Shape 8"/>
          <p:cNvSpPr/>
          <p:nvPr/>
        </p:nvSpPr>
        <p:spPr>
          <a:xfrm>
            <a:off x="3886200" y="1536192"/>
            <a:ext cx="4800600" cy="2310714"/>
          </a:xfrm>
          <a:prstGeom prst="roundRect">
            <a:avLst>
              <a:gd name="adj" fmla="val 316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853514"/>
          </a:xfrm>
          <a:prstGeom prst="rect">
            <a:avLst/>
          </a:prstGeom>
        </p:spPr>
      </p:pic>
      <p:sp>
        <p:nvSpPr>
          <p:cNvPr id="15" name="Shape 10"/>
          <p:cNvSpPr/>
          <p:nvPr/>
        </p:nvSpPr>
        <p:spPr>
          <a:xfrm>
            <a:off x="3886200" y="4002354"/>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4002354"/>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“Draw the repeated squares. The repetition is the argument.”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Three Shapes a Loop Can Take</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LOOP SHAPES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Only the first one is obvious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457200" y="1234440"/>
            <a:ext cx="2606040" cy="3017520"/>
          </a:xfrm>
          <a:prstGeom prst="roundRect">
            <a:avLst>
              <a:gd name="adj" fmla="val 2807"/>
            </a:avLst>
          </a:prstGeom>
          <a:solidFill>
            <a:srgbClr val="F3F4F6"/>
          </a:solidFill>
          <a:ln w="12700">
            <a:solidFill>
              <a:srgbClr val="F3F4F6"/>
            </a:solidFill>
            <a:prstDash val="solid"/>
          </a:ln>
        </p:spPr>
      </p:sp>
      <p:sp>
        <p:nvSpPr>
          <p:cNvPr id="7" name="Text 5"/>
          <p:cNvSpPr txBox="1"/>
          <p:nvPr/>
        </p:nvSpPr>
        <p:spPr>
          <a:xfrm>
            <a:off x="658368" y="1371600"/>
            <a:ext cx="2240280" cy="365760"/>
          </a:xfrm>
          <a:prstGeom prst="rect">
            <a:avLst/>
          </a:prstGeom>
          <a:noFill/>
          <a:ln/>
        </p:spPr>
        <p:txBody>
          <a:bodyPr wrap="square" lIns="0" tIns="0" rIns="0" bIns="0" rtlCol="0" anchor="t"/>
          <a:lstStyle/>
          <a:p>
            <a:pPr indent="0" marL="0">
              <a:buNone/>
            </a:pPr>
            <a:r>
              <a:rPr lang="en-US" sz="2100" b="1" dirty="0">
                <a:solidFill>
                  <a:srgbClr val="1D4ED8"/>
                </a:solidFill>
                <a:latin typeface="Cambria" pitchFamily="34" charset="0"/>
                <a:ea typeface="Cambria" pitchFamily="34" charset="-122"/>
                <a:cs typeface="Cambria" pitchFamily="34" charset="-120"/>
              </a:rPr>
              <a:t>STUCK</a:t>
            </a:r>
            <a:endParaRPr lang="en-US" sz="2100" dirty="0"/>
          </a:p>
        </p:txBody>
      </p:sp>
      <p:sp>
        <p:nvSpPr>
          <p:cNvPr id="8" name="Text 6"/>
          <p:cNvSpPr txBox="1"/>
          <p:nvPr/>
        </p:nvSpPr>
        <p:spPr>
          <a:xfrm>
            <a:off x="658368" y="1755648"/>
            <a:ext cx="2240280"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the same thing, over and over</a:t>
            </a:r>
            <a:endParaRPr lang="en-US" sz="1100" dirty="0"/>
          </a:p>
        </p:txBody>
      </p:sp>
      <p:sp>
        <p:nvSpPr>
          <p:cNvPr id="9" name="Shape 7"/>
          <p:cNvSpPr/>
          <p:nvPr/>
        </p:nvSpPr>
        <p:spPr>
          <a:xfrm>
            <a:off x="658368" y="2103120"/>
            <a:ext cx="2240280" cy="1143000"/>
          </a:xfrm>
          <a:prstGeom prst="roundRect">
            <a:avLst>
              <a:gd name="adj" fmla="val 6400"/>
            </a:avLst>
          </a:prstGeom>
          <a:solidFill>
            <a:srgbClr val="0F172A"/>
          </a:solidFill>
          <a:ln w="12700">
            <a:solidFill>
              <a:srgbClr val="0F172A"/>
            </a:solidFill>
            <a:prstDash val="solid"/>
          </a:ln>
        </p:spPr>
      </p:sp>
      <p:sp>
        <p:nvSpPr>
          <p:cNvPr id="10" name="Text 8"/>
          <p:cNvSpPr txBox="1"/>
          <p:nvPr/>
        </p:nvSpPr>
        <p:spPr>
          <a:xfrm>
            <a:off x="777240" y="2194560"/>
            <a:ext cx="2103120" cy="960120"/>
          </a:xfrm>
          <a:prstGeom prst="rect">
            <a:avLst/>
          </a:prstGeom>
          <a:noFill/>
          <a:ln/>
        </p:spPr>
        <p:txBody>
          <a:bodyPr wrap="square" lIns="0" tIns="0" rIns="0" bIns="0" rtlCol="0" anchor="t"/>
          <a:lstStyle/>
          <a:p>
            <a:pPr indent="0" marL="0">
              <a:buNone/>
            </a:pPr>
            <a:r>
              <a:rPr lang="en-US" sz="850" dirty="0">
                <a:solidFill>
                  <a:srgbClr val="E8EAED"/>
                </a:solidFill>
                <a:latin typeface="Courier New" pitchFamily="34" charset="0"/>
                <a:ea typeface="Courier New" pitchFamily="34" charset="-122"/>
                <a:cs typeface="Courier New" pitchFamily="34" charset="-120"/>
              </a:rPr>
              <a:t>search("invoice")</a:t>
            </a:r>
            <a:endParaRPr lang="en-US" sz="850" dirty="0"/>
          </a:p>
          <a:p>
            <a:pPr indent="0" marL="0">
              <a:buNone/>
            </a:pPr>
            <a:r>
              <a:rPr lang="en-US" sz="850" dirty="0">
                <a:solidFill>
                  <a:srgbClr val="E8EAED"/>
                </a:solidFill>
                <a:latin typeface="Courier New" pitchFamily="34" charset="0"/>
                <a:ea typeface="Courier New" pitchFamily="34" charset="-122"/>
                <a:cs typeface="Courier New" pitchFamily="34" charset="-120"/>
              </a:rPr>
              <a:t>search("invoice")</a:t>
            </a:r>
            <a:endParaRPr lang="en-US" sz="850" dirty="0"/>
          </a:p>
          <a:p>
            <a:pPr indent="0" marL="0">
              <a:buNone/>
            </a:pPr>
            <a:r>
              <a:rPr lang="en-US" sz="850" dirty="0">
                <a:solidFill>
                  <a:srgbClr val="E8EAED"/>
                </a:solidFill>
                <a:latin typeface="Courier New" pitchFamily="34" charset="0"/>
                <a:ea typeface="Courier New" pitchFamily="34" charset="-122"/>
                <a:cs typeface="Courier New" pitchFamily="34" charset="-120"/>
              </a:rPr>
              <a:t>search("invoice")</a:t>
            </a:r>
            <a:endParaRPr lang="en-US" sz="850" dirty="0"/>
          </a:p>
        </p:txBody>
      </p:sp>
      <p:sp>
        <p:nvSpPr>
          <p:cNvPr id="11" name="Text 9"/>
          <p:cNvSpPr txBox="1"/>
          <p:nvPr/>
        </p:nvSpPr>
        <p:spPr>
          <a:xfrm>
            <a:off x="658368" y="3383280"/>
            <a:ext cx="224028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Identical calls; easy to spot.</a:t>
            </a:r>
            <a:endParaRPr lang="en-US" sz="1200" dirty="0"/>
          </a:p>
        </p:txBody>
      </p:sp>
      <p:sp>
        <p:nvSpPr>
          <p:cNvPr id="12" name="Shape 10"/>
          <p:cNvSpPr/>
          <p:nvPr/>
        </p:nvSpPr>
        <p:spPr>
          <a:xfrm>
            <a:off x="3246120" y="1234440"/>
            <a:ext cx="2606040" cy="3017520"/>
          </a:xfrm>
          <a:prstGeom prst="roundRect">
            <a:avLst>
              <a:gd name="adj" fmla="val 2807"/>
            </a:avLst>
          </a:prstGeom>
          <a:solidFill>
            <a:srgbClr val="F3F4F6"/>
          </a:solidFill>
          <a:ln w="12700">
            <a:solidFill>
              <a:srgbClr val="F3F4F6"/>
            </a:solidFill>
            <a:prstDash val="solid"/>
          </a:ln>
        </p:spPr>
      </p:sp>
      <p:sp>
        <p:nvSpPr>
          <p:cNvPr id="13" name="Text 11"/>
          <p:cNvSpPr txBox="1"/>
          <p:nvPr/>
        </p:nvSpPr>
        <p:spPr>
          <a:xfrm>
            <a:off x="3447288" y="1371600"/>
            <a:ext cx="2240280" cy="365760"/>
          </a:xfrm>
          <a:prstGeom prst="rect">
            <a:avLst/>
          </a:prstGeom>
          <a:noFill/>
          <a:ln/>
        </p:spPr>
        <p:txBody>
          <a:bodyPr wrap="square" lIns="0" tIns="0" rIns="0" bIns="0" rtlCol="0" anchor="t"/>
          <a:lstStyle/>
          <a:p>
            <a:pPr indent="0" marL="0">
              <a:buNone/>
            </a:pPr>
            <a:r>
              <a:rPr lang="en-US" sz="2100" b="1" dirty="0">
                <a:solidFill>
                  <a:srgbClr val="B45309"/>
                </a:solidFill>
                <a:latin typeface="Cambria" pitchFamily="34" charset="0"/>
                <a:ea typeface="Cambria" pitchFamily="34" charset="-122"/>
                <a:cs typeface="Cambria" pitchFamily="34" charset="-120"/>
              </a:rPr>
              <a:t>BOUNCING</a:t>
            </a:r>
            <a:endParaRPr lang="en-US" sz="2100" dirty="0"/>
          </a:p>
        </p:txBody>
      </p:sp>
      <p:sp>
        <p:nvSpPr>
          <p:cNvPr id="14" name="Text 12"/>
          <p:cNvSpPr txBox="1"/>
          <p:nvPr/>
        </p:nvSpPr>
        <p:spPr>
          <a:xfrm>
            <a:off x="3447288" y="1755648"/>
            <a:ext cx="2240280"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flipping between two things</a:t>
            </a:r>
            <a:endParaRPr lang="en-US" sz="1100" dirty="0"/>
          </a:p>
        </p:txBody>
      </p:sp>
      <p:sp>
        <p:nvSpPr>
          <p:cNvPr id="15" name="Shape 13"/>
          <p:cNvSpPr/>
          <p:nvPr/>
        </p:nvSpPr>
        <p:spPr>
          <a:xfrm>
            <a:off x="3447288" y="2103120"/>
            <a:ext cx="2240280" cy="1143000"/>
          </a:xfrm>
          <a:prstGeom prst="roundRect">
            <a:avLst>
              <a:gd name="adj" fmla="val 6400"/>
            </a:avLst>
          </a:prstGeom>
          <a:solidFill>
            <a:srgbClr val="0F172A"/>
          </a:solidFill>
          <a:ln w="12700">
            <a:solidFill>
              <a:srgbClr val="0F172A"/>
            </a:solidFill>
            <a:prstDash val="solid"/>
          </a:ln>
        </p:spPr>
      </p:sp>
      <p:sp>
        <p:nvSpPr>
          <p:cNvPr id="16" name="Text 14"/>
          <p:cNvSpPr txBox="1"/>
          <p:nvPr/>
        </p:nvSpPr>
        <p:spPr>
          <a:xfrm>
            <a:off x="3566160" y="2194560"/>
            <a:ext cx="2103120" cy="960120"/>
          </a:xfrm>
          <a:prstGeom prst="rect">
            <a:avLst/>
          </a:prstGeom>
          <a:noFill/>
          <a:ln/>
        </p:spPr>
        <p:txBody>
          <a:bodyPr wrap="square" lIns="0" tIns="0" rIns="0" bIns="0" rtlCol="0" anchor="t"/>
          <a:lstStyle/>
          <a:p>
            <a:pPr indent="0" marL="0">
              <a:buNone/>
            </a:pPr>
            <a:r>
              <a:rPr lang="en-US" sz="850" dirty="0">
                <a:solidFill>
                  <a:srgbClr val="E8EAED"/>
                </a:solidFill>
                <a:latin typeface="Courier New" pitchFamily="34" charset="0"/>
                <a:ea typeface="Courier New" pitchFamily="34" charset="-122"/>
                <a:cs typeface="Courier New" pitchFamily="34" charset="-120"/>
              </a:rPr>
              <a:t>read_file("a.csv")</a:t>
            </a:r>
            <a:endParaRPr lang="en-US" sz="850" dirty="0"/>
          </a:p>
          <a:p>
            <a:pPr indent="0" marL="0">
              <a:buNone/>
            </a:pPr>
            <a:r>
              <a:rPr lang="en-US" sz="850" dirty="0">
                <a:solidFill>
                  <a:srgbClr val="E8EAED"/>
                </a:solidFill>
                <a:latin typeface="Courier New" pitchFamily="34" charset="0"/>
                <a:ea typeface="Courier New" pitchFamily="34" charset="-122"/>
                <a:cs typeface="Courier New" pitchFamily="34" charset="-120"/>
              </a:rPr>
              <a:t>parse_file("a.csv")</a:t>
            </a:r>
            <a:endParaRPr lang="en-US" sz="850" dirty="0"/>
          </a:p>
          <a:p>
            <a:pPr indent="0" marL="0">
              <a:buNone/>
            </a:pPr>
            <a:r>
              <a:rPr lang="en-US" sz="850" dirty="0">
                <a:solidFill>
                  <a:srgbClr val="E8EAED"/>
                </a:solidFill>
                <a:latin typeface="Courier New" pitchFamily="34" charset="0"/>
                <a:ea typeface="Courier New" pitchFamily="34" charset="-122"/>
                <a:cs typeface="Courier New" pitchFamily="34" charset="-120"/>
              </a:rPr>
              <a:t>read_file("a.csv")</a:t>
            </a:r>
            <a:endParaRPr lang="en-US" sz="850" dirty="0"/>
          </a:p>
        </p:txBody>
      </p:sp>
      <p:sp>
        <p:nvSpPr>
          <p:cNvPr id="17" name="Text 15"/>
          <p:cNvSpPr txBox="1"/>
          <p:nvPr/>
        </p:nvSpPr>
        <p:spPr>
          <a:xfrm>
            <a:off x="3447288" y="3383280"/>
            <a:ext cx="224028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Looks like progress; a two-step circle.</a:t>
            </a:r>
            <a:endParaRPr lang="en-US" sz="1200" dirty="0"/>
          </a:p>
        </p:txBody>
      </p:sp>
      <p:sp>
        <p:nvSpPr>
          <p:cNvPr id="18" name="Shape 16"/>
          <p:cNvSpPr/>
          <p:nvPr/>
        </p:nvSpPr>
        <p:spPr>
          <a:xfrm>
            <a:off x="6035040" y="1234440"/>
            <a:ext cx="2606040" cy="3017520"/>
          </a:xfrm>
          <a:prstGeom prst="roundRect">
            <a:avLst>
              <a:gd name="adj" fmla="val 2807"/>
            </a:avLst>
          </a:prstGeom>
          <a:solidFill>
            <a:srgbClr val="F3F4F6"/>
          </a:solidFill>
          <a:ln w="12700">
            <a:solidFill>
              <a:srgbClr val="F3F4F6"/>
            </a:solidFill>
            <a:prstDash val="solid"/>
          </a:ln>
        </p:spPr>
      </p:sp>
      <p:sp>
        <p:nvSpPr>
          <p:cNvPr id="19" name="Text 17"/>
          <p:cNvSpPr txBox="1"/>
          <p:nvPr/>
        </p:nvSpPr>
        <p:spPr>
          <a:xfrm>
            <a:off x="6236208" y="1371600"/>
            <a:ext cx="2240280" cy="365760"/>
          </a:xfrm>
          <a:prstGeom prst="rect">
            <a:avLst/>
          </a:prstGeom>
          <a:noFill/>
          <a:ln/>
        </p:spPr>
        <p:txBody>
          <a:bodyPr wrap="square" lIns="0" tIns="0" rIns="0" bIns="0" rtlCol="0" anchor="t"/>
          <a:lstStyle/>
          <a:p>
            <a:pPr indent="0" marL="0">
              <a:buNone/>
            </a:pPr>
            <a:r>
              <a:rPr lang="en-US" sz="2100" b="1" dirty="0">
                <a:solidFill>
                  <a:srgbClr val="B91C1C"/>
                </a:solidFill>
                <a:latin typeface="Cambria" pitchFamily="34" charset="0"/>
                <a:ea typeface="Cambria" pitchFamily="34" charset="-122"/>
                <a:cs typeface="Cambria" pitchFamily="34" charset="-120"/>
              </a:rPr>
              <a:t>DRIFTING</a:t>
            </a:r>
            <a:endParaRPr lang="en-US" sz="2100" dirty="0"/>
          </a:p>
        </p:txBody>
      </p:sp>
      <p:sp>
        <p:nvSpPr>
          <p:cNvPr id="20" name="Text 18"/>
          <p:cNvSpPr txBox="1"/>
          <p:nvPr/>
        </p:nvSpPr>
        <p:spPr>
          <a:xfrm>
            <a:off x="6236208" y="1755648"/>
            <a:ext cx="2240280"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always something slightly new</a:t>
            </a:r>
            <a:endParaRPr lang="en-US" sz="1100" dirty="0"/>
          </a:p>
        </p:txBody>
      </p:sp>
      <p:sp>
        <p:nvSpPr>
          <p:cNvPr id="21" name="Shape 19"/>
          <p:cNvSpPr/>
          <p:nvPr/>
        </p:nvSpPr>
        <p:spPr>
          <a:xfrm>
            <a:off x="6236208" y="2103120"/>
            <a:ext cx="2240280" cy="1143000"/>
          </a:xfrm>
          <a:prstGeom prst="roundRect">
            <a:avLst>
              <a:gd name="adj" fmla="val 6400"/>
            </a:avLst>
          </a:prstGeom>
          <a:solidFill>
            <a:srgbClr val="0F172A"/>
          </a:solidFill>
          <a:ln w="12700">
            <a:solidFill>
              <a:srgbClr val="0F172A"/>
            </a:solidFill>
            <a:prstDash val="solid"/>
          </a:ln>
        </p:spPr>
      </p:sp>
      <p:sp>
        <p:nvSpPr>
          <p:cNvPr id="22" name="Text 20"/>
          <p:cNvSpPr txBox="1"/>
          <p:nvPr/>
        </p:nvSpPr>
        <p:spPr>
          <a:xfrm>
            <a:off x="6355080" y="2194560"/>
            <a:ext cx="2103120" cy="960120"/>
          </a:xfrm>
          <a:prstGeom prst="rect">
            <a:avLst/>
          </a:prstGeom>
          <a:noFill/>
          <a:ln/>
        </p:spPr>
        <p:txBody>
          <a:bodyPr wrap="square" lIns="0" tIns="0" rIns="0" bIns="0" rtlCol="0" anchor="t"/>
          <a:lstStyle/>
          <a:p>
            <a:pPr indent="0" marL="0">
              <a:buNone/>
            </a:pPr>
            <a:r>
              <a:rPr lang="en-US" sz="850" dirty="0">
                <a:solidFill>
                  <a:srgbClr val="E8EAED"/>
                </a:solidFill>
                <a:latin typeface="Courier New" pitchFamily="34" charset="0"/>
                <a:ea typeface="Courier New" pitchFamily="34" charset="-122"/>
                <a:cs typeface="Courier New" pitchFamily="34" charset="-120"/>
              </a:rPr>
              <a:t>search("invoice 1")</a:t>
            </a:r>
            <a:endParaRPr lang="en-US" sz="850" dirty="0"/>
          </a:p>
          <a:p>
            <a:pPr indent="0" marL="0">
              <a:buNone/>
            </a:pPr>
            <a:r>
              <a:rPr lang="en-US" sz="850" dirty="0">
                <a:solidFill>
                  <a:srgbClr val="E8EAED"/>
                </a:solidFill>
                <a:latin typeface="Courier New" pitchFamily="34" charset="0"/>
                <a:ea typeface="Courier New" pitchFamily="34" charset="-122"/>
                <a:cs typeface="Courier New" pitchFamily="34" charset="-120"/>
              </a:rPr>
              <a:t>search("invoice 2")</a:t>
            </a:r>
            <a:endParaRPr lang="en-US" sz="850" dirty="0"/>
          </a:p>
          <a:p>
            <a:pPr indent="0" marL="0">
              <a:buNone/>
            </a:pPr>
            <a:r>
              <a:rPr lang="en-US" sz="850" dirty="0">
                <a:solidFill>
                  <a:srgbClr val="E8EAED"/>
                </a:solidFill>
                <a:latin typeface="Courier New" pitchFamily="34" charset="0"/>
                <a:ea typeface="Courier New" pitchFamily="34" charset="-122"/>
                <a:cs typeface="Courier New" pitchFamily="34" charset="-120"/>
              </a:rPr>
              <a:t>search("invoice 3")</a:t>
            </a:r>
            <a:endParaRPr lang="en-US" sz="850" dirty="0"/>
          </a:p>
        </p:txBody>
      </p:sp>
      <p:sp>
        <p:nvSpPr>
          <p:cNvPr id="23" name="Text 21"/>
          <p:cNvSpPr txBox="1"/>
          <p:nvPr/>
        </p:nvSpPr>
        <p:spPr>
          <a:xfrm>
            <a:off x="6236208" y="3383280"/>
            <a:ext cx="224028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No repetition at all; the hardest.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LOOP SHAPES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How you catch each one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457200" y="1280160"/>
            <a:ext cx="8229600" cy="731520"/>
          </a:xfrm>
          <a:prstGeom prst="roundRect">
            <a:avLst>
              <a:gd name="adj" fmla="val 10000"/>
            </a:avLst>
          </a:prstGeom>
          <a:solidFill>
            <a:srgbClr val="F3F4F6"/>
          </a:solidFill>
          <a:ln w="12700">
            <a:solidFill>
              <a:srgbClr val="F3F4F6"/>
            </a:solidFill>
            <a:prstDash val="solid"/>
          </a:ln>
        </p:spPr>
      </p:sp>
      <p:sp>
        <p:nvSpPr>
          <p:cNvPr id="7" name="Text 5"/>
          <p:cNvSpPr txBox="1"/>
          <p:nvPr/>
        </p:nvSpPr>
        <p:spPr>
          <a:xfrm>
            <a:off x="731520" y="1280160"/>
            <a:ext cx="2011680" cy="731520"/>
          </a:xfrm>
          <a:prstGeom prst="rect">
            <a:avLst/>
          </a:prstGeom>
          <a:noFill/>
          <a:ln/>
        </p:spPr>
        <p:txBody>
          <a:bodyPr wrap="square" lIns="0" tIns="0" rIns="0" bIns="0" rtlCol="0" anchor="ctr"/>
          <a:lstStyle/>
          <a:p>
            <a:pPr indent="0" marL="0">
              <a:buNone/>
            </a:pPr>
            <a:r>
              <a:rPr lang="en-US" sz="1500" b="1" dirty="0">
                <a:solidFill>
                  <a:srgbClr val="1D4ED8"/>
                </a:solidFill>
                <a:latin typeface="Calibri" pitchFamily="34" charset="0"/>
                <a:ea typeface="Calibri" pitchFamily="34" charset="-122"/>
                <a:cs typeface="Calibri" pitchFamily="34" charset="-120"/>
              </a:rPr>
              <a:t>STUCK</a:t>
            </a:r>
            <a:endParaRPr lang="en-US" sz="1500" dirty="0"/>
          </a:p>
        </p:txBody>
      </p:sp>
      <p:sp>
        <p:nvSpPr>
          <p:cNvPr id="8" name="Text 6"/>
          <p:cNvSpPr txBox="1"/>
          <p:nvPr/>
        </p:nvSpPr>
        <p:spPr>
          <a:xfrm>
            <a:off x="2834640" y="1280160"/>
            <a:ext cx="566928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Remember the last few calls; if this one matches, stop.</a:t>
            </a:r>
            <a:endParaRPr lang="en-US" sz="1400" dirty="0"/>
          </a:p>
        </p:txBody>
      </p:sp>
      <p:sp>
        <p:nvSpPr>
          <p:cNvPr id="9" name="Shape 7"/>
          <p:cNvSpPr/>
          <p:nvPr/>
        </p:nvSpPr>
        <p:spPr>
          <a:xfrm>
            <a:off x="457200" y="2148840"/>
            <a:ext cx="8229600" cy="731520"/>
          </a:xfrm>
          <a:prstGeom prst="roundRect">
            <a:avLst>
              <a:gd name="adj" fmla="val 10000"/>
            </a:avLst>
          </a:prstGeom>
          <a:solidFill>
            <a:srgbClr val="F3F4F6"/>
          </a:solidFill>
          <a:ln w="12700">
            <a:solidFill>
              <a:srgbClr val="F3F4F6"/>
            </a:solidFill>
            <a:prstDash val="solid"/>
          </a:ln>
        </p:spPr>
      </p:sp>
      <p:sp>
        <p:nvSpPr>
          <p:cNvPr id="10" name="Text 8"/>
          <p:cNvSpPr txBox="1"/>
          <p:nvPr/>
        </p:nvSpPr>
        <p:spPr>
          <a:xfrm>
            <a:off x="731520" y="2148840"/>
            <a:ext cx="2011680" cy="731520"/>
          </a:xfrm>
          <a:prstGeom prst="rect">
            <a:avLst/>
          </a:prstGeom>
          <a:noFill/>
          <a:ln/>
        </p:spPr>
        <p:txBody>
          <a:bodyPr wrap="square" lIns="0" tIns="0" rIns="0" bIns="0" rtlCol="0" anchor="ctr"/>
          <a:lstStyle/>
          <a:p>
            <a:pPr indent="0" marL="0">
              <a:buNone/>
            </a:pPr>
            <a:r>
              <a:rPr lang="en-US" sz="1500" b="1" dirty="0">
                <a:solidFill>
                  <a:srgbClr val="B45309"/>
                </a:solidFill>
                <a:latin typeface="Calibri" pitchFamily="34" charset="0"/>
                <a:ea typeface="Calibri" pitchFamily="34" charset="-122"/>
                <a:cs typeface="Calibri" pitchFamily="34" charset="-120"/>
              </a:rPr>
              <a:t>BOUNCING</a:t>
            </a:r>
            <a:endParaRPr lang="en-US" sz="1500" dirty="0"/>
          </a:p>
        </p:txBody>
      </p:sp>
      <p:sp>
        <p:nvSpPr>
          <p:cNvPr id="11" name="Text 9"/>
          <p:cNvSpPr txBox="1"/>
          <p:nvPr/>
        </p:nvSpPr>
        <p:spPr>
          <a:xfrm>
            <a:off x="2834640" y="2148840"/>
            <a:ext cx="566928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Remember more of them; if you have seen this pair before, stop.</a:t>
            </a:r>
            <a:endParaRPr lang="en-US" sz="1400" dirty="0"/>
          </a:p>
        </p:txBody>
      </p:sp>
      <p:sp>
        <p:nvSpPr>
          <p:cNvPr id="12" name="Shape 10"/>
          <p:cNvSpPr/>
          <p:nvPr/>
        </p:nvSpPr>
        <p:spPr>
          <a:xfrm>
            <a:off x="457200" y="3017520"/>
            <a:ext cx="8229600" cy="731520"/>
          </a:xfrm>
          <a:prstGeom prst="roundRect">
            <a:avLst>
              <a:gd name="adj" fmla="val 10000"/>
            </a:avLst>
          </a:prstGeom>
          <a:solidFill>
            <a:srgbClr val="F3F4F6"/>
          </a:solidFill>
          <a:ln w="12700">
            <a:solidFill>
              <a:srgbClr val="F3F4F6"/>
            </a:solidFill>
            <a:prstDash val="solid"/>
          </a:ln>
        </p:spPr>
      </p:sp>
      <p:sp>
        <p:nvSpPr>
          <p:cNvPr id="13" name="Text 11"/>
          <p:cNvSpPr txBox="1"/>
          <p:nvPr/>
        </p:nvSpPr>
        <p:spPr>
          <a:xfrm>
            <a:off x="731520" y="3017520"/>
            <a:ext cx="2011680" cy="731520"/>
          </a:xfrm>
          <a:prstGeom prst="rect">
            <a:avLst/>
          </a:prstGeom>
          <a:noFill/>
          <a:ln/>
        </p:spPr>
        <p:txBody>
          <a:bodyPr wrap="square" lIns="0" tIns="0" rIns="0" bIns="0" rtlCol="0" anchor="ctr"/>
          <a:lstStyle/>
          <a:p>
            <a:pPr indent="0" marL="0">
              <a:buNone/>
            </a:pPr>
            <a:r>
              <a:rPr lang="en-US" sz="1500" b="1" dirty="0">
                <a:solidFill>
                  <a:srgbClr val="B91C1C"/>
                </a:solidFill>
                <a:latin typeface="Calibri" pitchFamily="34" charset="0"/>
                <a:ea typeface="Calibri" pitchFamily="34" charset="-122"/>
                <a:cs typeface="Calibri" pitchFamily="34" charset="-120"/>
              </a:rPr>
              <a:t>DRIFTING</a:t>
            </a:r>
            <a:endParaRPr lang="en-US" sz="1500" dirty="0"/>
          </a:p>
        </p:txBody>
      </p:sp>
      <p:sp>
        <p:nvSpPr>
          <p:cNvPr id="14" name="Text 12"/>
          <p:cNvSpPr txBox="1"/>
          <p:nvPr/>
        </p:nvSpPr>
        <p:spPr>
          <a:xfrm>
            <a:off x="2834640" y="3017520"/>
            <a:ext cx="566928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You cannot spot the pattern, so a step limit catches it instead.</a:t>
            </a:r>
            <a:endParaRPr lang="en-US" sz="1400" dirty="0"/>
          </a:p>
        </p:txBody>
      </p:sp>
      <p:sp>
        <p:nvSpPr>
          <p:cNvPr id="15" name="Shape 13"/>
          <p:cNvSpPr/>
          <p:nvPr/>
        </p:nvSpPr>
        <p:spPr>
          <a:xfrm>
            <a:off x="457200" y="3931920"/>
            <a:ext cx="8229600" cy="777240"/>
          </a:xfrm>
          <a:prstGeom prst="roundRect">
            <a:avLst>
              <a:gd name="adj" fmla="val 9412"/>
            </a:avLst>
          </a:prstGeom>
          <a:solidFill>
            <a:srgbClr val="111827"/>
          </a:solidFill>
          <a:ln w="12700">
            <a:solidFill>
              <a:srgbClr val="111827"/>
            </a:solidFill>
            <a:prstDash val="solid"/>
          </a:ln>
        </p:spPr>
      </p:sp>
      <p:sp>
        <p:nvSpPr>
          <p:cNvPr id="16" name="Text 14"/>
          <p:cNvSpPr txBox="1"/>
          <p:nvPr/>
        </p:nvSpPr>
        <p:spPr>
          <a:xfrm>
            <a:off x="731520" y="3931920"/>
            <a:ext cx="7680960" cy="77724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This is why you need a step limit even after you build loop detection. </a:t>
            </a:r>
            <a:pPr indent="0" marL="0">
              <a:buNone/>
            </a:pPr>
            <a:r>
              <a:rPr lang="en-US" sz="1400" dirty="0">
                <a:solidFill>
                  <a:srgbClr val="FFFFFF"/>
                </a:solidFill>
                <a:latin typeface="Calibri" pitchFamily="34" charset="0"/>
                <a:ea typeface="Calibri" pitchFamily="34" charset="-122"/>
                <a:cs typeface="Calibri" pitchFamily="34" charset="-120"/>
              </a:rPr>
              <a:t>Detection catches the patterns you can describe; a ceiling catches everything else.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13</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02 · Loop Shapes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three shapes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Write out the actual call sequences; seeing the pattern is what teaches it.</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Three tall cards: STUCK · BOUNCING · DRIFTING</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STUCK: doing the same thing over and over. In a dark box, the same call four times: search("invoice"). Under it: easy to spot, identical calls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BOUNCING: flipping between two things forever. Four calls alternating: read_file, parse_file, read_file, parse_file. Under it: looks like progress but goes nowhere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DRIFTING: always something slightly new. Four different calls: search invoice 1, 2, 3, 4. Under it: never repeats, never finishes; the hardest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Below the cards, a heading: how you catch each one, then three rows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STUCK: remember the last few calls, and if this one matches, stop</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BOUNCING: remember more of them, and if you have seen this pair before, stop</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DRIFTING: you cannot spot the pattern, so a step limit catches it instead. At the very bottom: this is why you need a step limit even after you build loop detection</a:t>
            </a:r>
            <a:endParaRPr lang="en-US" sz="950" dirty="0"/>
          </a:p>
        </p:txBody>
      </p:sp>
      <p:sp>
        <p:nvSpPr>
          <p:cNvPr id="12" name="Shape 8"/>
          <p:cNvSpPr/>
          <p:nvPr/>
        </p:nvSpPr>
        <p:spPr>
          <a:xfrm>
            <a:off x="3886200" y="1536192"/>
            <a:ext cx="4800600" cy="2400763"/>
          </a:xfrm>
          <a:prstGeom prst="roundRect">
            <a:avLst>
              <a:gd name="adj" fmla="val 304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943563"/>
          </a:xfrm>
          <a:prstGeom prst="rect">
            <a:avLst/>
          </a:prstGeom>
        </p:spPr>
      </p:pic>
      <p:sp>
        <p:nvSpPr>
          <p:cNvPr id="15" name="Shape 10"/>
          <p:cNvSpPr/>
          <p:nvPr/>
        </p:nvSpPr>
        <p:spPr>
          <a:xfrm>
            <a:off x="3886200" y="4092403"/>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4092403"/>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“Write the call sequences out. The third one has no pattern to find.”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How Many Steps Is Too Many?</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HOW MANY STEPS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Do not guess; you already have the data</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15</a:t>
            </a:r>
            <a:endParaRPr lang="en-US" sz="900" dirty="0"/>
          </a:p>
        </p:txBody>
      </p:sp>
      <p:sp>
        <p:nvSpPr>
          <p:cNvPr id="6" name="Text 4"/>
          <p:cNvSpPr txBox="1"/>
          <p:nvPr/>
        </p:nvSpPr>
        <p:spPr>
          <a:xfrm>
            <a:off x="457200" y="1188720"/>
            <a:ext cx="8229600" cy="54864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In module two you started recording every run. Go and look at your successful runs and ask one question: how many steps did they actually use?</a:t>
            </a:r>
            <a:endParaRPr lang="en-US" sz="1500" dirty="0"/>
          </a:p>
        </p:txBody>
      </p:sp>
      <p:sp>
        <p:nvSpPr>
          <p:cNvPr id="7" name="Shape 5"/>
          <p:cNvSpPr/>
          <p:nvPr/>
        </p:nvSpPr>
        <p:spPr>
          <a:xfrm>
            <a:off x="457200" y="1828800"/>
            <a:ext cx="8229600" cy="621792"/>
          </a:xfrm>
          <a:prstGeom prst="roundRect">
            <a:avLst>
              <a:gd name="adj" fmla="val 11765"/>
            </a:avLst>
          </a:prstGeom>
          <a:solidFill>
            <a:srgbClr val="F3F4F6"/>
          </a:solidFill>
          <a:ln w="12700">
            <a:solidFill>
              <a:srgbClr val="F3F4F6"/>
            </a:solidFill>
            <a:prstDash val="solid"/>
          </a:ln>
        </p:spPr>
      </p:sp>
      <p:sp>
        <p:nvSpPr>
          <p:cNvPr id="8" name="Text 6"/>
          <p:cNvSpPr txBox="1"/>
          <p:nvPr/>
        </p:nvSpPr>
        <p:spPr>
          <a:xfrm>
            <a:off x="685800" y="1828800"/>
            <a:ext cx="365760" cy="621792"/>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2000" dirty="0"/>
          </a:p>
        </p:txBody>
      </p:sp>
      <p:sp>
        <p:nvSpPr>
          <p:cNvPr id="9" name="Text 7"/>
          <p:cNvSpPr txBox="1"/>
          <p:nvPr/>
        </p:nvSpPr>
        <p:spPr>
          <a:xfrm>
            <a:off x="1143000" y="1828800"/>
            <a:ext cx="3566160" cy="621792"/>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Look at your successful runs</a:t>
            </a:r>
            <a:endParaRPr lang="en-US" sz="1400" dirty="0"/>
          </a:p>
        </p:txBody>
      </p:sp>
      <p:sp>
        <p:nvSpPr>
          <p:cNvPr id="10" name="Text 8"/>
          <p:cNvSpPr txBox="1"/>
          <p:nvPr/>
        </p:nvSpPr>
        <p:spPr>
          <a:xfrm>
            <a:off x="4846320" y="1828800"/>
            <a:ext cx="3657600" cy="62179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From module 2. Count the steps each one used.</a:t>
            </a:r>
            <a:endParaRPr lang="en-US" sz="1200" dirty="0"/>
          </a:p>
        </p:txBody>
      </p:sp>
      <p:sp>
        <p:nvSpPr>
          <p:cNvPr id="11" name="Shape 9"/>
          <p:cNvSpPr/>
          <p:nvPr/>
        </p:nvSpPr>
        <p:spPr>
          <a:xfrm>
            <a:off x="457200" y="2542032"/>
            <a:ext cx="8229600" cy="621792"/>
          </a:xfrm>
          <a:prstGeom prst="roundRect">
            <a:avLst>
              <a:gd name="adj" fmla="val 11765"/>
            </a:avLst>
          </a:prstGeom>
          <a:solidFill>
            <a:srgbClr val="F3F4F6"/>
          </a:solidFill>
          <a:ln w="12700">
            <a:solidFill>
              <a:srgbClr val="F3F4F6"/>
            </a:solidFill>
            <a:prstDash val="solid"/>
          </a:ln>
        </p:spPr>
      </p:sp>
      <p:sp>
        <p:nvSpPr>
          <p:cNvPr id="12" name="Text 10"/>
          <p:cNvSpPr txBox="1"/>
          <p:nvPr/>
        </p:nvSpPr>
        <p:spPr>
          <a:xfrm>
            <a:off x="685800" y="2542032"/>
            <a:ext cx="365760" cy="621792"/>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1143000" y="2542032"/>
            <a:ext cx="3566160" cy="621792"/>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Find the number that covers almost all</a:t>
            </a:r>
            <a:endParaRPr lang="en-US" sz="1400" dirty="0"/>
          </a:p>
        </p:txBody>
      </p:sp>
      <p:sp>
        <p:nvSpPr>
          <p:cNvPr id="14" name="Text 12"/>
          <p:cNvSpPr txBox="1"/>
          <p:nvPr/>
        </p:nvSpPr>
        <p:spPr>
          <a:xfrm>
            <a:off x="4846320" y="2542032"/>
            <a:ext cx="3657600" cy="62179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Say 95 out of every 100.</a:t>
            </a:r>
            <a:endParaRPr lang="en-US" sz="1200" dirty="0"/>
          </a:p>
        </p:txBody>
      </p:sp>
      <p:sp>
        <p:nvSpPr>
          <p:cNvPr id="15" name="Shape 13"/>
          <p:cNvSpPr/>
          <p:nvPr/>
        </p:nvSpPr>
        <p:spPr>
          <a:xfrm>
            <a:off x="457200" y="3255264"/>
            <a:ext cx="8229600" cy="621792"/>
          </a:xfrm>
          <a:prstGeom prst="roundRect">
            <a:avLst>
              <a:gd name="adj" fmla="val 11765"/>
            </a:avLst>
          </a:prstGeom>
          <a:solidFill>
            <a:srgbClr val="F3F4F6"/>
          </a:solidFill>
          <a:ln w="12700">
            <a:solidFill>
              <a:srgbClr val="F3F4F6"/>
            </a:solidFill>
            <a:prstDash val="solid"/>
          </a:ln>
        </p:spPr>
      </p:sp>
      <p:sp>
        <p:nvSpPr>
          <p:cNvPr id="16" name="Text 14"/>
          <p:cNvSpPr txBox="1"/>
          <p:nvPr/>
        </p:nvSpPr>
        <p:spPr>
          <a:xfrm>
            <a:off x="685800" y="3255264"/>
            <a:ext cx="365760" cy="621792"/>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1143000" y="3255264"/>
            <a:ext cx="3566160" cy="621792"/>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Add a little headroom</a:t>
            </a:r>
            <a:endParaRPr lang="en-US" sz="1400" dirty="0"/>
          </a:p>
        </p:txBody>
      </p:sp>
      <p:sp>
        <p:nvSpPr>
          <p:cNvPr id="18" name="Text 16"/>
          <p:cNvSpPr txBox="1"/>
          <p:nvPr/>
        </p:nvSpPr>
        <p:spPr>
          <a:xfrm>
            <a:off x="4846320" y="3255264"/>
            <a:ext cx="3657600" cy="62179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Your data is from the past; next month may be harder.</a:t>
            </a:r>
            <a:endParaRPr lang="en-US" sz="1200" dirty="0"/>
          </a:p>
        </p:txBody>
      </p:sp>
      <p:sp>
        <p:nvSpPr>
          <p:cNvPr id="19" name="Shape 17"/>
          <p:cNvSpPr/>
          <p:nvPr/>
        </p:nvSpPr>
        <p:spPr>
          <a:xfrm>
            <a:off x="457200" y="3968496"/>
            <a:ext cx="8229600" cy="621792"/>
          </a:xfrm>
          <a:prstGeom prst="roundRect">
            <a:avLst>
              <a:gd name="adj" fmla="val 11765"/>
            </a:avLst>
          </a:prstGeom>
          <a:solidFill>
            <a:srgbClr val="111827"/>
          </a:solidFill>
          <a:ln w="12700">
            <a:solidFill>
              <a:srgbClr val="111827"/>
            </a:solidFill>
            <a:prstDash val="solid"/>
          </a:ln>
        </p:spPr>
      </p:sp>
      <p:sp>
        <p:nvSpPr>
          <p:cNvPr id="20" name="Text 18"/>
          <p:cNvSpPr txBox="1"/>
          <p:nvPr/>
        </p:nvSpPr>
        <p:spPr>
          <a:xfrm>
            <a:off x="685800" y="3968496"/>
            <a:ext cx="365760" cy="621792"/>
          </a:xfrm>
          <a:prstGeom prst="rect">
            <a:avLst/>
          </a:prstGeom>
          <a:noFill/>
          <a:ln/>
        </p:spPr>
        <p:txBody>
          <a:bodyPr wrap="square" lIns="0" tIns="0" rIns="0" bIns="0" rtlCol="0" anchor="ctr"/>
          <a:lstStyle/>
          <a:p>
            <a:pPr indent="0" marL="0">
              <a:buNone/>
            </a:pPr>
            <a:r>
              <a:rPr lang="en-US" sz="2000" b="1" dirty="0">
                <a:solidFill>
                  <a:srgbClr val="F59E0B"/>
                </a:solidFill>
                <a:latin typeface="Cambria" pitchFamily="34" charset="0"/>
                <a:ea typeface="Cambria" pitchFamily="34" charset="-122"/>
                <a:cs typeface="Cambria" pitchFamily="34" charset="-120"/>
              </a:rPr>
              <a:t>4</a:t>
            </a:r>
            <a:endParaRPr lang="en-US" sz="2000" dirty="0"/>
          </a:p>
        </p:txBody>
      </p:sp>
      <p:sp>
        <p:nvSpPr>
          <p:cNvPr id="21" name="Text 19"/>
          <p:cNvSpPr txBox="1"/>
          <p:nvPr/>
        </p:nvSpPr>
        <p:spPr>
          <a:xfrm>
            <a:off x="1143000" y="3968496"/>
            <a:ext cx="356616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Write down what it would have blocked</a:t>
            </a:r>
            <a:endParaRPr lang="en-US" sz="1400" dirty="0"/>
          </a:p>
        </p:txBody>
      </p:sp>
      <p:sp>
        <p:nvSpPr>
          <p:cNvPr id="22" name="Text 20"/>
          <p:cNvSpPr txBox="1"/>
          <p:nvPr/>
        </p:nvSpPr>
        <p:spPr>
          <a:xfrm>
            <a:off x="4846320" y="3968496"/>
            <a:ext cx="3657600" cy="621792"/>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And if that number is not zero, say so out loud.</a:t>
            </a:r>
            <a:endParaRPr lang="en-US" sz="1200" dirty="0"/>
          </a:p>
        </p:txBody>
      </p:sp>
      <p:sp>
        <p:nvSpPr>
          <p:cNvPr id="23" name="Text 21"/>
          <p:cNvSpPr txBox="1"/>
          <p:nvPr/>
        </p:nvSpPr>
        <p:spPr>
          <a:xfrm>
            <a:off x="457200" y="4617720"/>
            <a:ext cx="8229600" cy="27432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A step limit and a cost cap are not the same thing, and you want both.</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03 · HOW MANY STEPS</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4</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5" name="Text 3"/>
          <p:cNvSpPr txBox="1"/>
          <p:nvPr/>
        </p:nvSpPr>
        <p:spPr>
          <a:xfrm>
            <a:off x="457200" y="1005840"/>
            <a:ext cx="8229600" cy="12801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Whatever number you pick,</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some real tasks will hit it.</a:t>
            </a:r>
            <a:endParaRPr lang="en-US" sz="3400" dirty="0"/>
          </a:p>
        </p:txBody>
      </p:sp>
      <p:sp>
        <p:nvSpPr>
          <p:cNvPr id="6" name="Text 4"/>
          <p:cNvSpPr txBox="1"/>
          <p:nvPr/>
        </p:nvSpPr>
        <p:spPr>
          <a:xfrm>
            <a:off x="457200" y="2377440"/>
            <a:ext cx="7863840" cy="822960"/>
          </a:xfrm>
          <a:prstGeom prst="rect">
            <a:avLst/>
          </a:prstGeom>
          <a:noFill/>
          <a:ln/>
        </p:spPr>
        <p:txBody>
          <a:bodyPr wrap="square" lIns="0" tIns="0" rIns="0" bIns="0" rtlCol="0" anchor="t"/>
          <a:lstStyle/>
          <a:p>
            <a:pPr indent="0" marL="0">
              <a:buNone/>
            </a:pPr>
            <a:r>
              <a:rPr lang="en-US" sz="1600" dirty="0">
                <a:solidFill>
                  <a:srgbClr val="9CA3AF"/>
                </a:solidFill>
                <a:latin typeface="Calibri" pitchFamily="34" charset="0"/>
                <a:ea typeface="Calibri" pitchFamily="34" charset="-122"/>
                <a:cs typeface="Calibri" pitchFamily="34" charset="-120"/>
              </a:rPr>
              <a:t>If your ceiling covers ninety-five percent of successful runs, then five percent of the work that would have succeeded is now going to be stopped.</a:t>
            </a:r>
            <a:endParaRPr lang="en-US" sz="1600" dirty="0"/>
          </a:p>
        </p:txBody>
      </p:sp>
      <p:sp>
        <p:nvSpPr>
          <p:cNvPr id="7" name="Text 5"/>
          <p:cNvSpPr txBox="1"/>
          <p:nvPr/>
        </p:nvSpPr>
        <p:spPr>
          <a:xfrm>
            <a:off x="457200" y="3200400"/>
            <a:ext cx="7863840" cy="457200"/>
          </a:xfrm>
          <a:prstGeom prst="rect">
            <a:avLst/>
          </a:prstGeom>
          <a:noFill/>
          <a:ln/>
        </p:spPr>
        <p:txBody>
          <a:bodyPr wrap="square" lIns="0" tIns="0" rIns="0" bIns="0" rtlCol="0" anchor="t"/>
          <a:lstStyle/>
          <a:p>
            <a:pPr indent="0" marL="0">
              <a:buNone/>
            </a:pPr>
            <a:r>
              <a:rPr lang="en-US" sz="1600" b="1" dirty="0">
                <a:solidFill>
                  <a:srgbClr val="F59E0B"/>
                </a:solidFill>
                <a:latin typeface="Calibri" pitchFamily="34" charset="0"/>
                <a:ea typeface="Calibri" pitchFamily="34" charset="-122"/>
                <a:cs typeface="Calibri" pitchFamily="34" charset="-120"/>
              </a:rPr>
              <a:t>Write that number down. Say it out loud to whoever owns the work.</a:t>
            </a:r>
            <a:endParaRPr lang="en-US" sz="1600" dirty="0"/>
          </a:p>
        </p:txBody>
      </p:sp>
      <p:sp>
        <p:nvSpPr>
          <p:cNvPr id="8" name="Text 6"/>
          <p:cNvSpPr txBox="1"/>
          <p:nvPr/>
        </p:nvSpPr>
        <p:spPr>
          <a:xfrm>
            <a:off x="457200" y="3794760"/>
            <a:ext cx="7863840" cy="548640"/>
          </a:xfrm>
          <a:prstGeom prst="rect">
            <a:avLst/>
          </a:prstGeom>
          <a:noFill/>
          <a:ln/>
        </p:spPr>
        <p:txBody>
          <a:bodyPr wrap="square" lIns="0" tIns="0" rIns="0" bIns="0" rtlCol="0" anchor="t"/>
          <a:lstStyle/>
          <a:p>
            <a:pPr indent="0" marL="0">
              <a:buNone/>
            </a:pPr>
            <a:r>
              <a:rPr lang="en-US" sz="1400" i="1" dirty="0">
                <a:solidFill>
                  <a:srgbClr val="9CA3AF"/>
                </a:solidFill>
                <a:latin typeface="Calibri" pitchFamily="34" charset="0"/>
                <a:ea typeface="Calibri" pitchFamily="34" charset="-122"/>
                <a:cs typeface="Calibri" pitchFamily="34" charset="-120"/>
              </a:rPr>
              <a:t>The alternative is having no ceiling at all, and we already know what that costs; that was module one.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17</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03 · How Many Steps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your own step distribution</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the histogram shape roughly; the long tail is the point, not precision.</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pair of axes. Up the left: how many runs. Along the bottom: steps used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row of bars: short at one step, taller at two, tallest around three or four, then shorter and shorter to the right; a long thin tail out to fifteen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vertical dashed line in the tail, around twelve, labelled: your ceiling</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Shade the bars left of that line one colour and the few to the right in another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An arrow pointing at the big cluster: almost every real task finishes in here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Wide box underneath titled: how to pick the number honestly, with four numbered lines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One: look at your successful runs from module two. Two: find the number that covers 95 of every 100. Three: add a little headroom; that is your ceiling. Four: write down how many real tasks it would have blocked, and if it is not zero, say so</a:t>
            </a:r>
            <a:endParaRPr lang="en-US" sz="950" dirty="0"/>
          </a:p>
        </p:txBody>
      </p:sp>
      <p:sp>
        <p:nvSpPr>
          <p:cNvPr id="12" name="Shape 8"/>
          <p:cNvSpPr/>
          <p:nvPr/>
        </p:nvSpPr>
        <p:spPr>
          <a:xfrm>
            <a:off x="3886200" y="1536192"/>
            <a:ext cx="4800600" cy="2235200"/>
          </a:xfrm>
          <a:prstGeom prst="roundRect">
            <a:avLst>
              <a:gd name="adj" fmla="val 327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778000"/>
          </a:xfrm>
          <a:prstGeom prst="rect">
            <a:avLst/>
          </a:prstGeom>
        </p:spPr>
      </p:pic>
      <p:sp>
        <p:nvSpPr>
          <p:cNvPr id="15" name="Shape 10"/>
          <p:cNvSpPr/>
          <p:nvPr/>
        </p:nvSpPr>
        <p:spPr>
          <a:xfrm>
            <a:off x="3886200" y="3926840"/>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926840"/>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“The shape matters more than the precision. Big cluster left, long thin tail right.”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 Checkpoint Is a Save Point</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SAVE POINTS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Without save points, every death costs everything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457200" y="1188720"/>
            <a:ext cx="8229600" cy="731520"/>
          </a:xfrm>
          <a:prstGeom prst="roundRect">
            <a:avLst>
              <a:gd name="adj" fmla="val 10000"/>
            </a:avLst>
          </a:prstGeom>
          <a:solidFill>
            <a:srgbClr val="EFF6FF"/>
          </a:solidFill>
          <a:ln w="12700">
            <a:solidFill>
              <a:srgbClr val="EFF6FF"/>
            </a:solidFill>
            <a:prstDash val="solid"/>
          </a:ln>
        </p:spPr>
      </p:sp>
      <p:sp>
        <p:nvSpPr>
          <p:cNvPr id="7" name="Text 5"/>
          <p:cNvSpPr txBox="1"/>
          <p:nvPr/>
        </p:nvSpPr>
        <p:spPr>
          <a:xfrm>
            <a:off x="731520" y="1188720"/>
            <a:ext cx="768096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You die, and you start again from the last save point; not from the very beginning of the game. Agents work exactly the same way, and by default they have no save points at all.</a:t>
            </a:r>
            <a:endParaRPr lang="en-US" sz="1400" dirty="0"/>
          </a:p>
        </p:txBody>
      </p:sp>
      <p:sp>
        <p:nvSpPr>
          <p:cNvPr id="8" name="Shape 6"/>
          <p:cNvSpPr/>
          <p:nvPr/>
        </p:nvSpPr>
        <p:spPr>
          <a:xfrm>
            <a:off x="457200" y="2103120"/>
            <a:ext cx="4023360" cy="2011680"/>
          </a:xfrm>
          <a:prstGeom prst="roundRect">
            <a:avLst>
              <a:gd name="adj" fmla="val 3636"/>
            </a:avLst>
          </a:prstGeom>
          <a:solidFill>
            <a:srgbClr val="FEF2F2"/>
          </a:solidFill>
          <a:ln w="12700">
            <a:solidFill>
              <a:srgbClr val="FEF2F2"/>
            </a:solidFill>
            <a:prstDash val="solid"/>
          </a:ln>
        </p:spPr>
      </p:sp>
      <p:sp>
        <p:nvSpPr>
          <p:cNvPr id="9" name="Text 7"/>
          <p:cNvSpPr txBox="1"/>
          <p:nvPr/>
        </p:nvSpPr>
        <p:spPr>
          <a:xfrm>
            <a:off x="685800" y="224028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WITHOUT CHECKPOINTS</a:t>
            </a:r>
            <a:endParaRPr lang="en-US" sz="1000" dirty="0"/>
          </a:p>
        </p:txBody>
      </p:sp>
      <p:sp>
        <p:nvSpPr>
          <p:cNvPr id="10" name="Text 8"/>
          <p:cNvSpPr txBox="1"/>
          <p:nvPr/>
        </p:nvSpPr>
        <p:spPr>
          <a:xfrm>
            <a:off x="685800" y="2560320"/>
            <a:ext cx="3566160" cy="137160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Nine steps finish. All of it is held in memory, inside the running program. The run stops, memory clears, and all nine steps are gone.</a:t>
            </a:r>
            <a:endParaRPr lang="en-US" sz="1350" dirty="0"/>
          </a:p>
        </p:txBody>
      </p:sp>
      <p:sp>
        <p:nvSpPr>
          <p:cNvPr id="11" name="Shape 9"/>
          <p:cNvSpPr/>
          <p:nvPr/>
        </p:nvSpPr>
        <p:spPr>
          <a:xfrm>
            <a:off x="4663440" y="2103120"/>
            <a:ext cx="4023360" cy="2011680"/>
          </a:xfrm>
          <a:prstGeom prst="roundRect">
            <a:avLst>
              <a:gd name="adj" fmla="val 3636"/>
            </a:avLst>
          </a:prstGeom>
          <a:solidFill>
            <a:srgbClr val="ECFDF5"/>
          </a:solidFill>
          <a:ln w="12700">
            <a:solidFill>
              <a:srgbClr val="ECFDF5"/>
            </a:solidFill>
            <a:prstDash val="solid"/>
          </a:ln>
        </p:spPr>
      </p:sp>
      <p:sp>
        <p:nvSpPr>
          <p:cNvPr id="12" name="Text 10"/>
          <p:cNvSpPr txBox="1"/>
          <p:nvPr/>
        </p:nvSpPr>
        <p:spPr>
          <a:xfrm>
            <a:off x="4892040" y="224028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WITH CHECKPOINTS</a:t>
            </a:r>
            <a:endParaRPr lang="en-US" sz="1000" dirty="0"/>
          </a:p>
        </p:txBody>
      </p:sp>
      <p:sp>
        <p:nvSpPr>
          <p:cNvPr id="13" name="Text 11"/>
          <p:cNvSpPr txBox="1"/>
          <p:nvPr/>
        </p:nvSpPr>
        <p:spPr>
          <a:xfrm>
            <a:off x="4892040" y="2560320"/>
            <a:ext cx="3566160" cy="137160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Each finished step is written down outside the program. The run stops, something restarts it, and it picks up at step ten.</a:t>
            </a:r>
            <a:endParaRPr lang="en-US" sz="1350" dirty="0"/>
          </a:p>
        </p:txBody>
      </p:sp>
      <p:sp>
        <p:nvSpPr>
          <p:cNvPr id="14" name="Text 12"/>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A file on disk, a row in a small table, or Redis. This does not need special software.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SAVE POINTS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What to write down, and what is safe to resume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457200" y="1234440"/>
            <a:ext cx="2606040" cy="1097280"/>
          </a:xfrm>
          <a:prstGeom prst="roundRect">
            <a:avLst>
              <a:gd name="adj" fmla="val 6667"/>
            </a:avLst>
          </a:prstGeom>
          <a:solidFill>
            <a:srgbClr val="F3F4F6"/>
          </a:solidFill>
          <a:ln w="12700">
            <a:solidFill>
              <a:srgbClr val="F3F4F6"/>
            </a:solidFill>
            <a:prstDash val="solid"/>
          </a:ln>
        </p:spPr>
      </p:sp>
      <p:sp>
        <p:nvSpPr>
          <p:cNvPr id="7" name="Text 5"/>
          <p:cNvSpPr txBox="1"/>
          <p:nvPr/>
        </p:nvSpPr>
        <p:spPr>
          <a:xfrm>
            <a:off x="658368" y="137160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Which step</a:t>
            </a:r>
            <a:endParaRPr lang="en-US" sz="1500" dirty="0"/>
          </a:p>
        </p:txBody>
      </p:sp>
      <p:sp>
        <p:nvSpPr>
          <p:cNvPr id="8" name="Text 6"/>
          <p:cNvSpPr txBox="1"/>
          <p:nvPr/>
        </p:nvSpPr>
        <p:spPr>
          <a:xfrm>
            <a:off x="658368" y="1719072"/>
            <a:ext cx="224028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just a number</a:t>
            </a:r>
            <a:endParaRPr lang="en-US" sz="1150" dirty="0"/>
          </a:p>
        </p:txBody>
      </p:sp>
      <p:sp>
        <p:nvSpPr>
          <p:cNvPr id="9" name="Shape 7"/>
          <p:cNvSpPr/>
          <p:nvPr/>
        </p:nvSpPr>
        <p:spPr>
          <a:xfrm>
            <a:off x="3246120" y="1234440"/>
            <a:ext cx="2606040" cy="1097280"/>
          </a:xfrm>
          <a:prstGeom prst="roundRect">
            <a:avLst>
              <a:gd name="adj" fmla="val 6667"/>
            </a:avLst>
          </a:prstGeom>
          <a:solidFill>
            <a:srgbClr val="F3F4F6"/>
          </a:solidFill>
          <a:ln w="12700">
            <a:solidFill>
              <a:srgbClr val="F3F4F6"/>
            </a:solidFill>
            <a:prstDash val="solid"/>
          </a:ln>
        </p:spPr>
      </p:sp>
      <p:sp>
        <p:nvSpPr>
          <p:cNvPr id="10" name="Text 8"/>
          <p:cNvSpPr txBox="1"/>
          <p:nvPr/>
        </p:nvSpPr>
        <p:spPr>
          <a:xfrm>
            <a:off x="3447288" y="137160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What you found</a:t>
            </a:r>
            <a:endParaRPr lang="en-US" sz="1500" dirty="0"/>
          </a:p>
        </p:txBody>
      </p:sp>
      <p:sp>
        <p:nvSpPr>
          <p:cNvPr id="11" name="Text 9"/>
          <p:cNvSpPr txBox="1"/>
          <p:nvPr/>
        </p:nvSpPr>
        <p:spPr>
          <a:xfrm>
            <a:off x="3447288" y="1719072"/>
            <a:ext cx="224028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results from the steps that finished</a:t>
            </a:r>
            <a:endParaRPr lang="en-US" sz="1150" dirty="0"/>
          </a:p>
        </p:txBody>
      </p:sp>
      <p:sp>
        <p:nvSpPr>
          <p:cNvPr id="12" name="Shape 10"/>
          <p:cNvSpPr/>
          <p:nvPr/>
        </p:nvSpPr>
        <p:spPr>
          <a:xfrm>
            <a:off x="6035040" y="1234440"/>
            <a:ext cx="2606040" cy="1097280"/>
          </a:xfrm>
          <a:prstGeom prst="roundRect">
            <a:avLst>
              <a:gd name="adj" fmla="val 6667"/>
            </a:avLst>
          </a:prstGeom>
          <a:solidFill>
            <a:srgbClr val="F3F4F6"/>
          </a:solidFill>
          <a:ln w="12700">
            <a:solidFill>
              <a:srgbClr val="F3F4F6"/>
            </a:solidFill>
            <a:prstDash val="solid"/>
          </a:ln>
        </p:spPr>
      </p:sp>
      <p:sp>
        <p:nvSpPr>
          <p:cNvPr id="13" name="Text 11"/>
          <p:cNvSpPr txBox="1"/>
          <p:nvPr/>
        </p:nvSpPr>
        <p:spPr>
          <a:xfrm>
            <a:off x="6236208" y="137160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run ID</a:t>
            </a:r>
            <a:endParaRPr lang="en-US" sz="1500" dirty="0"/>
          </a:p>
        </p:txBody>
      </p:sp>
      <p:sp>
        <p:nvSpPr>
          <p:cNvPr id="14" name="Text 12"/>
          <p:cNvSpPr txBox="1"/>
          <p:nvPr/>
        </p:nvSpPr>
        <p:spPr>
          <a:xfrm>
            <a:off x="6236208" y="1719072"/>
            <a:ext cx="224028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from module 2, so you find the right save point</a:t>
            </a:r>
            <a:endParaRPr lang="en-US" sz="1150" dirty="0"/>
          </a:p>
        </p:txBody>
      </p:sp>
      <p:sp>
        <p:nvSpPr>
          <p:cNvPr id="15" name="Shape 13"/>
          <p:cNvSpPr/>
          <p:nvPr/>
        </p:nvSpPr>
        <p:spPr>
          <a:xfrm>
            <a:off x="457200" y="2560320"/>
            <a:ext cx="4023360" cy="1371600"/>
          </a:xfrm>
          <a:prstGeom prst="roundRect">
            <a:avLst>
              <a:gd name="adj" fmla="val 5333"/>
            </a:avLst>
          </a:prstGeom>
          <a:solidFill>
            <a:srgbClr val="ECFDF5"/>
          </a:solidFill>
          <a:ln w="12700">
            <a:solidFill>
              <a:srgbClr val="ECFDF5"/>
            </a:solidFill>
            <a:prstDash val="solid"/>
          </a:ln>
        </p:spPr>
      </p:sp>
      <p:sp>
        <p:nvSpPr>
          <p:cNvPr id="16" name="Text 14"/>
          <p:cNvSpPr txBox="1"/>
          <p:nvPr/>
        </p:nvSpPr>
        <p:spPr>
          <a:xfrm>
            <a:off x="685800" y="269748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ALWAYS SAFE TO RESUME</a:t>
            </a:r>
            <a:endParaRPr lang="en-US" sz="1000" dirty="0"/>
          </a:p>
        </p:txBody>
      </p:sp>
      <p:sp>
        <p:nvSpPr>
          <p:cNvPr id="17" name="Text 15"/>
          <p:cNvSpPr txBox="1"/>
          <p:nvPr/>
        </p:nvSpPr>
        <p:spPr>
          <a:xfrm>
            <a:off x="685800" y="3017520"/>
            <a:ext cx="3566160" cy="73152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Steps that only read: a search, a lookup, a calculation.</a:t>
            </a:r>
            <a:endParaRPr lang="en-US" sz="1350" dirty="0"/>
          </a:p>
        </p:txBody>
      </p:sp>
      <p:sp>
        <p:nvSpPr>
          <p:cNvPr id="18" name="Shape 16"/>
          <p:cNvSpPr/>
          <p:nvPr/>
        </p:nvSpPr>
        <p:spPr>
          <a:xfrm>
            <a:off x="4663440" y="2560320"/>
            <a:ext cx="4023360" cy="1371600"/>
          </a:xfrm>
          <a:prstGeom prst="roundRect">
            <a:avLst>
              <a:gd name="adj" fmla="val 5333"/>
            </a:avLst>
          </a:prstGeom>
          <a:solidFill>
            <a:srgbClr val="FEF2F2"/>
          </a:solidFill>
          <a:ln w="12700">
            <a:solidFill>
              <a:srgbClr val="FEF2F2"/>
            </a:solidFill>
            <a:prstDash val="solid"/>
          </a:ln>
        </p:spPr>
      </p:sp>
      <p:sp>
        <p:nvSpPr>
          <p:cNvPr id="19" name="Text 17"/>
          <p:cNvSpPr txBox="1"/>
          <p:nvPr/>
        </p:nvSpPr>
        <p:spPr>
          <a:xfrm>
            <a:off x="4892040" y="269748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NEEDS THOUGHT</a:t>
            </a:r>
            <a:endParaRPr lang="en-US" sz="1000" dirty="0"/>
          </a:p>
        </p:txBody>
      </p:sp>
      <p:sp>
        <p:nvSpPr>
          <p:cNvPr id="20" name="Text 18"/>
          <p:cNvSpPr txBox="1"/>
          <p:nvPr/>
        </p:nvSpPr>
        <p:spPr>
          <a:xfrm>
            <a:off x="4892040" y="3017520"/>
            <a:ext cx="3566160" cy="8229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Steps that send, write, charge or delete. Resume from step five and you may send that email twice.</a:t>
            </a:r>
            <a:endParaRPr lang="en-US" sz="1350" dirty="0"/>
          </a:p>
        </p:txBody>
      </p:sp>
      <p:sp>
        <p:nvSpPr>
          <p:cNvPr id="21" name="Shape 19"/>
          <p:cNvSpPr/>
          <p:nvPr/>
        </p:nvSpPr>
        <p:spPr>
          <a:xfrm>
            <a:off x="457200" y="4069080"/>
            <a:ext cx="8229600" cy="640080"/>
          </a:xfrm>
          <a:prstGeom prst="roundRect">
            <a:avLst>
              <a:gd name="adj" fmla="val 11429"/>
            </a:avLst>
          </a:prstGeom>
          <a:solidFill>
            <a:srgbClr val="111827"/>
          </a:solidFill>
          <a:ln w="12700">
            <a:solidFill>
              <a:srgbClr val="111827"/>
            </a:solidFill>
            <a:prstDash val="solid"/>
          </a:ln>
        </p:spPr>
      </p:sp>
      <p:sp>
        <p:nvSpPr>
          <p:cNvPr id="22" name="Text 20"/>
          <p:cNvSpPr txBox="1"/>
          <p:nvPr/>
        </p:nvSpPr>
        <p:spPr>
          <a:xfrm>
            <a:off x="731520" y="4069080"/>
            <a:ext cx="768096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Writing a checkpoint costs a little time on every step. For twelve steps that is nothing; for thousands, checkpoint every tenth.</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1">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21</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04 · Save Points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save points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Game analogy at the top, then the two-column comparison, then what to save.</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Wide box at the top with the analogy: you die and start from the last save point, not the beginning. Without save points, every death costs you everything</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Two boxes side by side. Left: WITHOUT CHECKPOINTS, noted: the run holds everything in memory</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Inside it, a small box: steps one to nine finished, in memory only. Arrow down to: the run stops, and all nine steps are gone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WITH CHECKPOINTS, noted: each finished step is written down. Inside: steps one to nine finished, and saved. Arrow down to: the run stops, and it restarts at step ten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Heading underneath: what to actually write down, then three small boxes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WHICH STEP: the number you got to. WHAT YOU FOUND: results from the steps that finished. THE RUN ID: so you can find it again, from module two</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At the bottom: a simple file or a small table is enough; this does not need special software</a:t>
            </a:r>
            <a:endParaRPr lang="en-US" sz="950" dirty="0"/>
          </a:p>
        </p:txBody>
      </p:sp>
      <p:sp>
        <p:nvSpPr>
          <p:cNvPr id="12" name="Shape 8"/>
          <p:cNvSpPr/>
          <p:nvPr/>
        </p:nvSpPr>
        <p:spPr>
          <a:xfrm>
            <a:off x="3886200" y="1536192"/>
            <a:ext cx="4800600" cy="2354670"/>
          </a:xfrm>
          <a:prstGeom prst="roundRect">
            <a:avLst>
              <a:gd name="adj" fmla="val 310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897470"/>
          </a:xfrm>
          <a:prstGeom prst="rect">
            <a:avLst/>
          </a:prstGeom>
        </p:spPr>
      </p:pic>
      <p:sp>
        <p:nvSpPr>
          <p:cNvPr id="15" name="Shape 10"/>
          <p:cNvSpPr/>
          <p:nvPr/>
        </p:nvSpPr>
        <p:spPr>
          <a:xfrm>
            <a:off x="3886200" y="4046310"/>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4046310"/>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“The game analogy does most of the teaching here.”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Failed-Run Tax</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THE TAX</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share of your spending that bought nothing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457200" y="1280160"/>
            <a:ext cx="5020056" cy="822960"/>
          </a:xfrm>
          <a:prstGeom prst="roundRect">
            <a:avLst>
              <a:gd name="adj" fmla="val 5556"/>
            </a:avLst>
          </a:prstGeom>
          <a:solidFill>
            <a:srgbClr val="047857"/>
          </a:solidFill>
          <a:ln w="12700">
            <a:solidFill>
              <a:srgbClr val="047857"/>
            </a:solidFill>
            <a:prstDash val="solid"/>
          </a:ln>
        </p:spPr>
      </p:sp>
      <p:sp>
        <p:nvSpPr>
          <p:cNvPr id="7" name="Shape 5"/>
          <p:cNvSpPr/>
          <p:nvPr/>
        </p:nvSpPr>
        <p:spPr>
          <a:xfrm>
            <a:off x="5477256" y="1280160"/>
            <a:ext cx="3209544" cy="822960"/>
          </a:xfrm>
          <a:prstGeom prst="roundRect">
            <a:avLst>
              <a:gd name="adj" fmla="val 5556"/>
            </a:avLst>
          </a:prstGeom>
          <a:solidFill>
            <a:srgbClr val="B91C1C"/>
          </a:solidFill>
          <a:ln w="12700">
            <a:solidFill>
              <a:srgbClr val="B91C1C"/>
            </a:solidFill>
            <a:prstDash val="solid"/>
          </a:ln>
        </p:spPr>
      </p:sp>
      <p:sp>
        <p:nvSpPr>
          <p:cNvPr id="8" name="Text 6"/>
          <p:cNvSpPr txBox="1"/>
          <p:nvPr/>
        </p:nvSpPr>
        <p:spPr>
          <a:xfrm>
            <a:off x="457200" y="1280160"/>
            <a:ext cx="5020056"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61%  work that succeeded</a:t>
            </a:r>
            <a:endParaRPr lang="en-US" sz="1600" dirty="0"/>
          </a:p>
        </p:txBody>
      </p:sp>
      <p:sp>
        <p:nvSpPr>
          <p:cNvPr id="9" name="Text 7"/>
          <p:cNvSpPr txBox="1"/>
          <p:nvPr/>
        </p:nvSpPr>
        <p:spPr>
          <a:xfrm>
            <a:off x="5477256" y="1280160"/>
            <a:ext cx="3209544"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39%  burned</a:t>
            </a:r>
            <a:endParaRPr lang="en-US" sz="1600" dirty="0"/>
          </a:p>
        </p:txBody>
      </p:sp>
      <p:sp>
        <p:nvSpPr>
          <p:cNvPr id="10" name="Text 8"/>
          <p:cNvSpPr txBox="1"/>
          <p:nvPr/>
        </p:nvSpPr>
        <p:spPr>
          <a:xfrm>
            <a:off x="457200" y="2194560"/>
            <a:ext cx="8229600" cy="36576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A real month, from a real agent, before any of this was fixed. Total spend, minus spend on runs that succeeded.</a:t>
            </a:r>
            <a:endParaRPr lang="en-US" sz="1250" dirty="0"/>
          </a:p>
        </p:txBody>
      </p:sp>
      <p:sp>
        <p:nvSpPr>
          <p:cNvPr id="11" name="Shape 9"/>
          <p:cNvSpPr/>
          <p:nvPr/>
        </p:nvSpPr>
        <p:spPr>
          <a:xfrm>
            <a:off x="457200" y="2697480"/>
            <a:ext cx="2606040" cy="1097280"/>
          </a:xfrm>
          <a:prstGeom prst="roundRect">
            <a:avLst>
              <a:gd name="adj" fmla="val 6667"/>
            </a:avLst>
          </a:prstGeom>
          <a:solidFill>
            <a:srgbClr val="FEF2F2"/>
          </a:solidFill>
          <a:ln w="12700">
            <a:solidFill>
              <a:srgbClr val="FEF2F2"/>
            </a:solidFill>
            <a:prstDash val="solid"/>
          </a:ln>
        </p:spPr>
      </p:sp>
      <p:sp>
        <p:nvSpPr>
          <p:cNvPr id="12" name="Text 10"/>
          <p:cNvSpPr txBox="1"/>
          <p:nvPr/>
        </p:nvSpPr>
        <p:spPr>
          <a:xfrm>
            <a:off x="658368" y="2834640"/>
            <a:ext cx="2240280" cy="320040"/>
          </a:xfrm>
          <a:prstGeom prst="rect">
            <a:avLst/>
          </a:prstGeom>
          <a:noFill/>
          <a:ln/>
        </p:spPr>
        <p:txBody>
          <a:bodyPr wrap="square" lIns="0" tIns="0" rIns="0" bIns="0" rtlCol="0" anchor="t"/>
          <a:lstStyle/>
          <a:p>
            <a:pPr indent="0" marL="0">
              <a:buNone/>
            </a:pPr>
            <a:r>
              <a:rPr lang="en-US" sz="1500" b="1" dirty="0">
                <a:solidFill>
                  <a:srgbClr val="B91C1C"/>
                </a:solidFill>
                <a:latin typeface="Calibri" pitchFamily="34" charset="0"/>
                <a:ea typeface="Calibri" pitchFamily="34" charset="-122"/>
                <a:cs typeface="Calibri" pitchFamily="34" charset="-120"/>
              </a:rPr>
              <a:t>Retries</a:t>
            </a:r>
            <a:endParaRPr lang="en-US" sz="1500" dirty="0"/>
          </a:p>
        </p:txBody>
      </p:sp>
      <p:sp>
        <p:nvSpPr>
          <p:cNvPr id="13" name="Text 11"/>
          <p:cNvSpPr txBox="1"/>
          <p:nvPr/>
        </p:nvSpPr>
        <p:spPr>
          <a:xfrm>
            <a:off x="658368" y="3182112"/>
            <a:ext cx="2240280" cy="5029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the same work, paid for more than once</a:t>
            </a:r>
            <a:endParaRPr lang="en-US" sz="1150" dirty="0"/>
          </a:p>
        </p:txBody>
      </p:sp>
      <p:sp>
        <p:nvSpPr>
          <p:cNvPr id="14" name="Shape 12"/>
          <p:cNvSpPr/>
          <p:nvPr/>
        </p:nvSpPr>
        <p:spPr>
          <a:xfrm>
            <a:off x="3246120" y="2697480"/>
            <a:ext cx="2606040" cy="1097280"/>
          </a:xfrm>
          <a:prstGeom prst="roundRect">
            <a:avLst>
              <a:gd name="adj" fmla="val 6667"/>
            </a:avLst>
          </a:prstGeom>
          <a:solidFill>
            <a:srgbClr val="FEF2F2"/>
          </a:solidFill>
          <a:ln w="12700">
            <a:solidFill>
              <a:srgbClr val="FEF2F2"/>
            </a:solidFill>
            <a:prstDash val="solid"/>
          </a:ln>
        </p:spPr>
      </p:sp>
      <p:sp>
        <p:nvSpPr>
          <p:cNvPr id="15" name="Text 13"/>
          <p:cNvSpPr txBox="1"/>
          <p:nvPr/>
        </p:nvSpPr>
        <p:spPr>
          <a:xfrm>
            <a:off x="3447288" y="2834640"/>
            <a:ext cx="2240280" cy="320040"/>
          </a:xfrm>
          <a:prstGeom prst="rect">
            <a:avLst/>
          </a:prstGeom>
          <a:noFill/>
          <a:ln/>
        </p:spPr>
        <p:txBody>
          <a:bodyPr wrap="square" lIns="0" tIns="0" rIns="0" bIns="0" rtlCol="0" anchor="t"/>
          <a:lstStyle/>
          <a:p>
            <a:pPr indent="0" marL="0">
              <a:buNone/>
            </a:pPr>
            <a:r>
              <a:rPr lang="en-US" sz="1500" b="1" dirty="0">
                <a:solidFill>
                  <a:srgbClr val="B91C1C"/>
                </a:solidFill>
                <a:latin typeface="Calibri" pitchFamily="34" charset="0"/>
                <a:ea typeface="Calibri" pitchFamily="34" charset="-122"/>
                <a:cs typeface="Calibri" pitchFamily="34" charset="-120"/>
              </a:rPr>
              <a:t>Loops</a:t>
            </a:r>
            <a:endParaRPr lang="en-US" sz="1500" dirty="0"/>
          </a:p>
        </p:txBody>
      </p:sp>
      <p:sp>
        <p:nvSpPr>
          <p:cNvPr id="16" name="Text 14"/>
          <p:cNvSpPr txBox="1"/>
          <p:nvPr/>
        </p:nvSpPr>
        <p:spPr>
          <a:xfrm>
            <a:off x="3447288" y="3182112"/>
            <a:ext cx="2240280" cy="5029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work that was never going to finish</a:t>
            </a:r>
            <a:endParaRPr lang="en-US" sz="1150" dirty="0"/>
          </a:p>
        </p:txBody>
      </p:sp>
      <p:sp>
        <p:nvSpPr>
          <p:cNvPr id="17" name="Shape 15"/>
          <p:cNvSpPr/>
          <p:nvPr/>
        </p:nvSpPr>
        <p:spPr>
          <a:xfrm>
            <a:off x="6035040" y="2697480"/>
            <a:ext cx="2606040" cy="1097280"/>
          </a:xfrm>
          <a:prstGeom prst="roundRect">
            <a:avLst>
              <a:gd name="adj" fmla="val 6667"/>
            </a:avLst>
          </a:prstGeom>
          <a:solidFill>
            <a:srgbClr val="FEF2F2"/>
          </a:solidFill>
          <a:ln w="12700">
            <a:solidFill>
              <a:srgbClr val="FEF2F2"/>
            </a:solidFill>
            <a:prstDash val="solid"/>
          </a:ln>
        </p:spPr>
      </p:sp>
      <p:sp>
        <p:nvSpPr>
          <p:cNvPr id="18" name="Text 16"/>
          <p:cNvSpPr txBox="1"/>
          <p:nvPr/>
        </p:nvSpPr>
        <p:spPr>
          <a:xfrm>
            <a:off x="6236208" y="2834640"/>
            <a:ext cx="2240280" cy="320040"/>
          </a:xfrm>
          <a:prstGeom prst="rect">
            <a:avLst/>
          </a:prstGeom>
          <a:noFill/>
          <a:ln/>
        </p:spPr>
        <p:txBody>
          <a:bodyPr wrap="square" lIns="0" tIns="0" rIns="0" bIns="0" rtlCol="0" anchor="t"/>
          <a:lstStyle/>
          <a:p>
            <a:pPr indent="0" marL="0">
              <a:buNone/>
            </a:pPr>
            <a:r>
              <a:rPr lang="en-US" sz="1500" b="1" dirty="0">
                <a:solidFill>
                  <a:srgbClr val="B91C1C"/>
                </a:solidFill>
                <a:latin typeface="Calibri" pitchFamily="34" charset="0"/>
                <a:ea typeface="Calibri" pitchFamily="34" charset="-122"/>
                <a:cs typeface="Calibri" pitchFamily="34" charset="-120"/>
              </a:rPr>
              <a:t>Abandoned runs</a:t>
            </a:r>
            <a:endParaRPr lang="en-US" sz="1500" dirty="0"/>
          </a:p>
        </p:txBody>
      </p:sp>
      <p:sp>
        <p:nvSpPr>
          <p:cNvPr id="19" name="Text 17"/>
          <p:cNvSpPr txBox="1"/>
          <p:nvPr/>
        </p:nvSpPr>
        <p:spPr>
          <a:xfrm>
            <a:off x="6236208" y="3182112"/>
            <a:ext cx="2240280" cy="5029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stopped partway, with nothing saved</a:t>
            </a:r>
            <a:endParaRPr lang="en-US" sz="1150" dirty="0"/>
          </a:p>
        </p:txBody>
      </p:sp>
      <p:sp>
        <p:nvSpPr>
          <p:cNvPr id="20" name="Shape 18"/>
          <p:cNvSpPr/>
          <p:nvPr/>
        </p:nvSpPr>
        <p:spPr>
          <a:xfrm>
            <a:off x="457200" y="3977640"/>
            <a:ext cx="8229600" cy="731520"/>
          </a:xfrm>
          <a:prstGeom prst="roundRect">
            <a:avLst>
              <a:gd name="adj" fmla="val 10000"/>
            </a:avLst>
          </a:prstGeom>
          <a:solidFill>
            <a:srgbClr val="F3F4F6"/>
          </a:solidFill>
          <a:ln w="12700">
            <a:solidFill>
              <a:srgbClr val="F3F4F6"/>
            </a:solidFill>
            <a:prstDash val="solid"/>
          </a:ln>
        </p:spPr>
      </p:sp>
      <p:sp>
        <p:nvSpPr>
          <p:cNvPr id="21" name="Text 19"/>
          <p:cNvSpPr txBox="1"/>
          <p:nvPr/>
        </p:nvSpPr>
        <p:spPr>
          <a:xfrm>
            <a:off x="731520" y="3977640"/>
            <a:ext cx="768096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Thirty to forty percent is common for an agent nobody has tuned. Measure your own number before you optimise anything.</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THE TAX</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Why fix this before switching models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457200" y="1280160"/>
            <a:ext cx="4023360" cy="1920240"/>
          </a:xfrm>
          <a:prstGeom prst="roundRect">
            <a:avLst>
              <a:gd name="adj" fmla="val 3810"/>
            </a:avLst>
          </a:prstGeom>
          <a:solidFill>
            <a:srgbClr val="F3F4F6"/>
          </a:solidFill>
          <a:ln w="12700">
            <a:solidFill>
              <a:srgbClr val="F3F4F6"/>
            </a:solidFill>
            <a:prstDash val="solid"/>
          </a:ln>
        </p:spPr>
      </p:sp>
      <p:sp>
        <p:nvSpPr>
          <p:cNvPr id="7" name="Text 5"/>
          <p:cNvSpPr txBox="1"/>
          <p:nvPr/>
        </p:nvSpPr>
        <p:spPr>
          <a:xfrm>
            <a:off x="685800" y="1417320"/>
            <a:ext cx="3566160" cy="274320"/>
          </a:xfrm>
          <a:prstGeom prst="rect">
            <a:avLst/>
          </a:prstGeom>
          <a:noFill/>
          <a:ln/>
        </p:spPr>
        <p:txBody>
          <a:bodyPr wrap="square" lIns="0" tIns="0" rIns="0" bIns="0" rtlCol="0" anchor="t"/>
          <a:lstStyle/>
          <a:p>
            <a:pPr indent="0" marL="0">
              <a:buNone/>
            </a:pPr>
            <a:r>
              <a:rPr lang="en-US" sz="1000" b="1" spc="150" kern="0" dirty="0">
                <a:solidFill>
                  <a:srgbClr val="6B7280"/>
                </a:solidFill>
                <a:latin typeface="Calibri" pitchFamily="34" charset="0"/>
                <a:ea typeface="Calibri" pitchFamily="34" charset="-122"/>
                <a:cs typeface="Calibri" pitchFamily="34" charset="-120"/>
              </a:rPr>
              <a:t>A CHEAPER MODEL</a:t>
            </a:r>
            <a:endParaRPr lang="en-US" sz="1000" dirty="0"/>
          </a:p>
        </p:txBody>
      </p:sp>
      <p:sp>
        <p:nvSpPr>
          <p:cNvPr id="8" name="Text 6"/>
          <p:cNvSpPr txBox="1"/>
          <p:nvPr/>
        </p:nvSpPr>
        <p:spPr>
          <a:xfrm>
            <a:off x="685800" y="1737360"/>
            <a:ext cx="3566160" cy="685800"/>
          </a:xfrm>
          <a:prstGeom prst="rect">
            <a:avLst/>
          </a:prstGeom>
          <a:noFill/>
          <a:ln/>
        </p:spPr>
        <p:txBody>
          <a:bodyPr wrap="square" lIns="0" tIns="0" rIns="0" bIns="0" rtlCol="0" anchor="t"/>
          <a:lstStyle/>
          <a:p>
            <a:pPr indent="0" marL="0">
              <a:buNone/>
            </a:pPr>
            <a:r>
              <a:rPr lang="en-US" sz="4000" b="1" dirty="0">
                <a:solidFill>
                  <a:srgbClr val="6B7280"/>
                </a:solidFill>
                <a:latin typeface="Cambria" pitchFamily="34" charset="0"/>
                <a:ea typeface="Cambria" pitchFamily="34" charset="-122"/>
                <a:cs typeface="Cambria" pitchFamily="34" charset="-120"/>
              </a:rPr>
              <a:t>~30%</a:t>
            </a:r>
            <a:endParaRPr lang="en-US" sz="4000" dirty="0"/>
          </a:p>
        </p:txBody>
      </p:sp>
      <p:sp>
        <p:nvSpPr>
          <p:cNvPr id="9" name="Text 7"/>
          <p:cNvSpPr txBox="1"/>
          <p:nvPr/>
        </p:nvSpPr>
        <p:spPr>
          <a:xfrm>
            <a:off x="685800" y="2468880"/>
            <a:ext cx="3566160" cy="6400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And your answers usually get worse, followed by weeks of arguing about whether that is acceptable.</a:t>
            </a:r>
            <a:endParaRPr lang="en-US" sz="1300" dirty="0"/>
          </a:p>
        </p:txBody>
      </p:sp>
      <p:sp>
        <p:nvSpPr>
          <p:cNvPr id="10" name="Shape 8"/>
          <p:cNvSpPr/>
          <p:nvPr/>
        </p:nvSpPr>
        <p:spPr>
          <a:xfrm>
            <a:off x="4663440" y="1280160"/>
            <a:ext cx="4023360" cy="1920240"/>
          </a:xfrm>
          <a:prstGeom prst="roundRect">
            <a:avLst>
              <a:gd name="adj" fmla="val 3810"/>
            </a:avLst>
          </a:prstGeom>
          <a:solidFill>
            <a:srgbClr val="ECFDF5"/>
          </a:solidFill>
          <a:ln w="12700">
            <a:solidFill>
              <a:srgbClr val="ECFDF5"/>
            </a:solidFill>
            <a:prstDash val="solid"/>
          </a:ln>
        </p:spPr>
      </p:sp>
      <p:sp>
        <p:nvSpPr>
          <p:cNvPr id="11" name="Text 9"/>
          <p:cNvSpPr txBox="1"/>
          <p:nvPr/>
        </p:nvSpPr>
        <p:spPr>
          <a:xfrm>
            <a:off x="4892040" y="141732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FIXING THE FAILED-RUN TAX</a:t>
            </a:r>
            <a:endParaRPr lang="en-US" sz="1000" dirty="0"/>
          </a:p>
        </p:txBody>
      </p:sp>
      <p:sp>
        <p:nvSpPr>
          <p:cNvPr id="12" name="Text 10"/>
          <p:cNvSpPr txBox="1"/>
          <p:nvPr/>
        </p:nvSpPr>
        <p:spPr>
          <a:xfrm>
            <a:off x="4892040" y="1737360"/>
            <a:ext cx="3566160" cy="685800"/>
          </a:xfrm>
          <a:prstGeom prst="rect">
            <a:avLst/>
          </a:prstGeom>
          <a:noFill/>
          <a:ln/>
        </p:spPr>
        <p:txBody>
          <a:bodyPr wrap="square" lIns="0" tIns="0" rIns="0" bIns="0" rtlCol="0" anchor="t"/>
          <a:lstStyle/>
          <a:p>
            <a:pPr indent="0" marL="0">
              <a:buNone/>
            </a:pPr>
            <a:r>
              <a:rPr lang="en-US" sz="4000" b="1" dirty="0">
                <a:solidFill>
                  <a:srgbClr val="047857"/>
                </a:solidFill>
                <a:latin typeface="Cambria" pitchFamily="34" charset="0"/>
                <a:ea typeface="Cambria" pitchFamily="34" charset="-122"/>
                <a:cs typeface="Cambria" pitchFamily="34" charset="-120"/>
              </a:rPr>
              <a:t>up to 39%</a:t>
            </a:r>
            <a:endParaRPr lang="en-US" sz="4000" dirty="0"/>
          </a:p>
        </p:txBody>
      </p:sp>
      <p:sp>
        <p:nvSpPr>
          <p:cNvPr id="13" name="Text 11"/>
          <p:cNvSpPr txBox="1"/>
          <p:nvPr/>
        </p:nvSpPr>
        <p:spPr>
          <a:xfrm>
            <a:off x="4892040" y="2468880"/>
            <a:ext cx="3566160" cy="6400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And the answers do not get worse at all. Not even slightly. You are simply not buying the same thing twice.</a:t>
            </a:r>
            <a:endParaRPr lang="en-US" sz="1300" dirty="0"/>
          </a:p>
        </p:txBody>
      </p:sp>
      <p:sp>
        <p:nvSpPr>
          <p:cNvPr id="14" name="Shape 12"/>
          <p:cNvSpPr/>
          <p:nvPr/>
        </p:nvSpPr>
        <p:spPr>
          <a:xfrm>
            <a:off x="457200" y="3474720"/>
            <a:ext cx="8229600" cy="1097280"/>
          </a:xfrm>
          <a:prstGeom prst="roundRect">
            <a:avLst>
              <a:gd name="adj" fmla="val 6667"/>
            </a:avLst>
          </a:prstGeom>
          <a:solidFill>
            <a:srgbClr val="FEF3C7"/>
          </a:solidFill>
          <a:ln w="12700">
            <a:solidFill>
              <a:srgbClr val="FEF3C7"/>
            </a:solidFill>
            <a:prstDash val="solid"/>
          </a:ln>
        </p:spPr>
      </p:sp>
      <p:pic>
        <p:nvPicPr>
          <p:cNvPr id="15" name="Image 0" descr="preencoded.png">    </p:cNvPr>
          <p:cNvPicPr>
            <a:picLocks noChangeAspect="1"/>
          </p:cNvPicPr>
          <p:nvPr/>
        </p:nvPicPr>
        <p:blipFill>
          <a:blip r:embed="rId1"/>
          <a:stretch>
            <a:fillRect/>
          </a:stretch>
        </p:blipFill>
        <p:spPr>
          <a:xfrm>
            <a:off x="731520" y="3822192"/>
            <a:ext cx="384048" cy="384048"/>
          </a:xfrm>
          <a:prstGeom prst="rect">
            <a:avLst/>
          </a:prstGeom>
        </p:spPr>
      </p:pic>
      <p:sp>
        <p:nvSpPr>
          <p:cNvPr id="16" name="Text 13"/>
          <p:cNvSpPr txBox="1"/>
          <p:nvPr/>
        </p:nvSpPr>
        <p:spPr>
          <a:xfrm>
            <a:off x="1325880" y="3474720"/>
            <a:ext cx="7132320" cy="1097280"/>
          </a:xfrm>
          <a:prstGeom prst="rect">
            <a:avLst/>
          </a:prstGeom>
          <a:noFill/>
          <a:ln/>
        </p:spPr>
        <p:txBody>
          <a:bodyPr wrap="square" lIns="0" tIns="0" rIns="0" bIns="0" rtlCol="0" anchor="ctr"/>
          <a:lstStyle/>
          <a:p>
            <a:pPr indent="0" marL="0">
              <a:buNone/>
            </a:pPr>
            <a:r>
              <a:rPr lang="en-US" sz="1350" b="1" dirty="0">
                <a:solidFill>
                  <a:srgbClr val="B45309"/>
                </a:solidFill>
                <a:latin typeface="Calibri" pitchFamily="34" charset="0"/>
                <a:ea typeface="Calibri" pitchFamily="34" charset="-122"/>
                <a:cs typeface="Calibri" pitchFamily="34" charset="-120"/>
              </a:rPr>
              <a:t>You need the result label from module two. </a:t>
            </a:r>
            <a:pPr indent="0" marL="0">
              <a:buNone/>
            </a:pPr>
            <a:r>
              <a:rPr lang="en-US" sz="1350" dirty="0">
                <a:solidFill>
                  <a:srgbClr val="1F2937"/>
                </a:solidFill>
                <a:latin typeface="Calibri" pitchFamily="34" charset="0"/>
                <a:ea typeface="Calibri" pitchFamily="34" charset="-122"/>
                <a:cs typeface="Calibri" pitchFamily="34" charset="-120"/>
              </a:rPr>
              <a:t>The one we set to unknown and promised to come back to. Until it is set properly you cannot compute this; that is module five's job.</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25</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05 · The Tax</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tax</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the split bar to scale; the visual proportion is the shock.</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One long horizontal bar across the top of the page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Shade about sixty percent from the left in one colour: work that succeeded. The remaining forty percent in a contrasting colour: burned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Put the percentages inside each part, sixty-one and thirty-nine. Underneath: a real month, from a real agent, before any of this was fixed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Heading below the bar: what that thirty-nine percent is made of, then three boxes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RETRIES: the same work, paid for twice. LOOPS: work that was never going to finish. ABANDONED RUNS: stopped partway, nothing saved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final wide box titled: this is where the biggest saving is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Inside: a cheaper model might save thirty percent, and give worse answers · fixing the failed-run tax saves up to thirty-nine percent, and the answers get no worse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At the bottom: measure your own number before you optimise anything else</a:t>
            </a:r>
            <a:endParaRPr lang="en-US" sz="950" dirty="0"/>
          </a:p>
        </p:txBody>
      </p:sp>
      <p:sp>
        <p:nvSpPr>
          <p:cNvPr id="12" name="Shape 8"/>
          <p:cNvSpPr/>
          <p:nvPr/>
        </p:nvSpPr>
        <p:spPr>
          <a:xfrm>
            <a:off x="3886200" y="1536192"/>
            <a:ext cx="4800600" cy="2084522"/>
          </a:xfrm>
          <a:prstGeom prst="roundRect">
            <a:avLst>
              <a:gd name="adj" fmla="val 350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627322"/>
          </a:xfrm>
          <a:prstGeom prst="rect">
            <a:avLst/>
          </a:prstGeom>
        </p:spPr>
      </p:pic>
      <p:sp>
        <p:nvSpPr>
          <p:cNvPr id="15" name="Shape 10"/>
          <p:cNvSpPr/>
          <p:nvPr/>
        </p:nvSpPr>
        <p:spPr>
          <a:xfrm>
            <a:off x="3886200" y="3776162"/>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776162"/>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“Draw the bar to scale. Four in ten buying nothing is the shock.”</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Build It: Stop Paying Twice</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~10 min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Five stages; run after every one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457200" y="1280160"/>
            <a:ext cx="2606040" cy="1280160"/>
          </a:xfrm>
          <a:prstGeom prst="roundRect">
            <a:avLst>
              <a:gd name="adj" fmla="val 5714"/>
            </a:avLst>
          </a:prstGeom>
          <a:solidFill>
            <a:srgbClr val="F3F4F6"/>
          </a:solidFill>
          <a:ln w="12700">
            <a:solidFill>
              <a:srgbClr val="F3F4F6"/>
            </a:solidFill>
            <a:prstDash val="solid"/>
          </a:ln>
        </p:spPr>
      </p:sp>
      <p:sp>
        <p:nvSpPr>
          <p:cNvPr id="7" name="Text 5"/>
          <p:cNvSpPr txBox="1"/>
          <p:nvPr/>
        </p:nvSpPr>
        <p:spPr>
          <a:xfrm>
            <a:off x="658368"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1</a:t>
            </a:r>
            <a:endParaRPr lang="en-US" sz="900" dirty="0"/>
          </a:p>
        </p:txBody>
      </p:sp>
      <p:sp>
        <p:nvSpPr>
          <p:cNvPr id="8" name="Text 6"/>
          <p:cNvSpPr txBox="1"/>
          <p:nvPr/>
        </p:nvSpPr>
        <p:spPr>
          <a:xfrm>
            <a:off x="658368" y="164592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step limit</a:t>
            </a:r>
            <a:endParaRPr lang="en-US" sz="1500" dirty="0"/>
          </a:p>
        </p:txBody>
      </p:sp>
      <p:sp>
        <p:nvSpPr>
          <p:cNvPr id="9" name="Text 7"/>
          <p:cNvSpPr txBox="1"/>
          <p:nvPr/>
        </p:nvSpPr>
        <p:spPr>
          <a:xfrm>
            <a:off x="658368" y="197510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 counter in the envelope, checked before each call.</a:t>
            </a:r>
            <a:endParaRPr lang="en-US" sz="1100" dirty="0"/>
          </a:p>
        </p:txBody>
      </p:sp>
      <p:sp>
        <p:nvSpPr>
          <p:cNvPr id="10" name="Shape 8"/>
          <p:cNvSpPr/>
          <p:nvPr/>
        </p:nvSpPr>
        <p:spPr>
          <a:xfrm>
            <a:off x="3246120" y="1280160"/>
            <a:ext cx="2606040" cy="1280160"/>
          </a:xfrm>
          <a:prstGeom prst="roundRect">
            <a:avLst>
              <a:gd name="adj" fmla="val 5714"/>
            </a:avLst>
          </a:prstGeom>
          <a:solidFill>
            <a:srgbClr val="F3F4F6"/>
          </a:solidFill>
          <a:ln w="12700">
            <a:solidFill>
              <a:srgbClr val="F3F4F6"/>
            </a:solidFill>
            <a:prstDash val="solid"/>
          </a:ln>
        </p:spPr>
      </p:sp>
      <p:sp>
        <p:nvSpPr>
          <p:cNvPr id="11" name="Text 9"/>
          <p:cNvSpPr txBox="1"/>
          <p:nvPr/>
        </p:nvSpPr>
        <p:spPr>
          <a:xfrm>
            <a:off x="3447288"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2</a:t>
            </a:r>
            <a:endParaRPr lang="en-US" sz="900" dirty="0"/>
          </a:p>
        </p:txBody>
      </p:sp>
      <p:sp>
        <p:nvSpPr>
          <p:cNvPr id="12" name="Text 10"/>
          <p:cNvSpPr txBox="1"/>
          <p:nvPr/>
        </p:nvSpPr>
        <p:spPr>
          <a:xfrm>
            <a:off x="3447288" y="164592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Loop detection</a:t>
            </a:r>
            <a:endParaRPr lang="en-US" sz="1500" dirty="0"/>
          </a:p>
        </p:txBody>
      </p:sp>
      <p:sp>
        <p:nvSpPr>
          <p:cNvPr id="13" name="Text 11"/>
          <p:cNvSpPr txBox="1"/>
          <p:nvPr/>
        </p:nvSpPr>
        <p:spPr>
          <a:xfrm>
            <a:off x="3447288" y="197510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The last few tool calls, checked for a repeat.</a:t>
            </a:r>
            <a:endParaRPr lang="en-US" sz="1100" dirty="0"/>
          </a:p>
        </p:txBody>
      </p:sp>
      <p:sp>
        <p:nvSpPr>
          <p:cNvPr id="14" name="Shape 12"/>
          <p:cNvSpPr/>
          <p:nvPr/>
        </p:nvSpPr>
        <p:spPr>
          <a:xfrm>
            <a:off x="6035040" y="1280160"/>
            <a:ext cx="2606040" cy="1280160"/>
          </a:xfrm>
          <a:prstGeom prst="roundRect">
            <a:avLst>
              <a:gd name="adj" fmla="val 5714"/>
            </a:avLst>
          </a:prstGeom>
          <a:solidFill>
            <a:srgbClr val="F3F4F6"/>
          </a:solidFill>
          <a:ln w="12700">
            <a:solidFill>
              <a:srgbClr val="F3F4F6"/>
            </a:solidFill>
            <a:prstDash val="solid"/>
          </a:ln>
        </p:spPr>
      </p:sp>
      <p:sp>
        <p:nvSpPr>
          <p:cNvPr id="15" name="Text 13"/>
          <p:cNvSpPr txBox="1"/>
          <p:nvPr/>
        </p:nvSpPr>
        <p:spPr>
          <a:xfrm>
            <a:off x="6236208"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3</a:t>
            </a:r>
            <a:endParaRPr lang="en-US" sz="900" dirty="0"/>
          </a:p>
        </p:txBody>
      </p:sp>
      <p:sp>
        <p:nvSpPr>
          <p:cNvPr id="16" name="Text 14"/>
          <p:cNvSpPr txBox="1"/>
          <p:nvPr/>
        </p:nvSpPr>
        <p:spPr>
          <a:xfrm>
            <a:off x="6236208" y="164592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Checkpoints</a:t>
            </a:r>
            <a:endParaRPr lang="en-US" sz="1500" dirty="0"/>
          </a:p>
        </p:txBody>
      </p:sp>
      <p:sp>
        <p:nvSpPr>
          <p:cNvPr id="17" name="Text 15"/>
          <p:cNvSpPr txBox="1"/>
          <p:nvPr/>
        </p:nvSpPr>
        <p:spPr>
          <a:xfrm>
            <a:off x="6236208" y="197510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 record after each step; skip ahead on restart.</a:t>
            </a:r>
            <a:endParaRPr lang="en-US" sz="1100" dirty="0"/>
          </a:p>
        </p:txBody>
      </p:sp>
      <p:sp>
        <p:nvSpPr>
          <p:cNvPr id="18" name="Shape 16"/>
          <p:cNvSpPr/>
          <p:nvPr/>
        </p:nvSpPr>
        <p:spPr>
          <a:xfrm>
            <a:off x="457200" y="2743200"/>
            <a:ext cx="2606040" cy="1280160"/>
          </a:xfrm>
          <a:prstGeom prst="roundRect">
            <a:avLst>
              <a:gd name="adj" fmla="val 5714"/>
            </a:avLst>
          </a:prstGeom>
          <a:solidFill>
            <a:srgbClr val="F3F4F6"/>
          </a:solidFill>
          <a:ln w="12700">
            <a:solidFill>
              <a:srgbClr val="F3F4F6"/>
            </a:solidFill>
            <a:prstDash val="solid"/>
          </a:ln>
        </p:spPr>
      </p:sp>
      <p:sp>
        <p:nvSpPr>
          <p:cNvPr id="19" name="Text 17"/>
          <p:cNvSpPr txBox="1"/>
          <p:nvPr/>
        </p:nvSpPr>
        <p:spPr>
          <a:xfrm>
            <a:off x="658368" y="286207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4</a:t>
            </a:r>
            <a:endParaRPr lang="en-US" sz="900" dirty="0"/>
          </a:p>
        </p:txBody>
      </p:sp>
      <p:sp>
        <p:nvSpPr>
          <p:cNvPr id="20" name="Text 18"/>
          <p:cNvSpPr txBox="1"/>
          <p:nvPr/>
        </p:nvSpPr>
        <p:spPr>
          <a:xfrm>
            <a:off x="658368" y="310896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Prove the saving</a:t>
            </a:r>
            <a:endParaRPr lang="en-US" sz="1500" dirty="0"/>
          </a:p>
        </p:txBody>
      </p:sp>
      <p:sp>
        <p:nvSpPr>
          <p:cNvPr id="21" name="Text 19"/>
          <p:cNvSpPr txBox="1"/>
          <p:nvPr/>
        </p:nvSpPr>
        <p:spPr>
          <a:xfrm>
            <a:off x="658368" y="343814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The same failing task with checkpoints off, then on.</a:t>
            </a:r>
            <a:endParaRPr lang="en-US" sz="1100" dirty="0"/>
          </a:p>
        </p:txBody>
      </p:sp>
      <p:sp>
        <p:nvSpPr>
          <p:cNvPr id="22" name="Shape 20"/>
          <p:cNvSpPr/>
          <p:nvPr/>
        </p:nvSpPr>
        <p:spPr>
          <a:xfrm>
            <a:off x="3246120" y="2743200"/>
            <a:ext cx="2606040" cy="1280160"/>
          </a:xfrm>
          <a:prstGeom prst="roundRect">
            <a:avLst>
              <a:gd name="adj" fmla="val 5714"/>
            </a:avLst>
          </a:prstGeom>
          <a:solidFill>
            <a:srgbClr val="F3F4F6"/>
          </a:solidFill>
          <a:ln w="12700">
            <a:solidFill>
              <a:srgbClr val="F3F4F6"/>
            </a:solidFill>
            <a:prstDash val="solid"/>
          </a:ln>
        </p:spPr>
      </p:sp>
      <p:sp>
        <p:nvSpPr>
          <p:cNvPr id="23" name="Text 21"/>
          <p:cNvSpPr txBox="1"/>
          <p:nvPr/>
        </p:nvSpPr>
        <p:spPr>
          <a:xfrm>
            <a:off x="3447288" y="286207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5</a:t>
            </a:r>
            <a:endParaRPr lang="en-US" sz="900" dirty="0"/>
          </a:p>
        </p:txBody>
      </p:sp>
      <p:sp>
        <p:nvSpPr>
          <p:cNvPr id="24" name="Text 22"/>
          <p:cNvSpPr txBox="1"/>
          <p:nvPr/>
        </p:nvSpPr>
        <p:spPr>
          <a:xfrm>
            <a:off x="3447288" y="310896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Calculate your tax</a:t>
            </a:r>
            <a:endParaRPr lang="en-US" sz="1500" dirty="0"/>
          </a:p>
        </p:txBody>
      </p:sp>
      <p:sp>
        <p:nvSpPr>
          <p:cNvPr id="25" name="Text 23"/>
          <p:cNvSpPr txBox="1"/>
          <p:nvPr/>
        </p:nvSpPr>
        <p:spPr>
          <a:xfrm>
            <a:off x="3447288" y="343814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 small script over your recorded runs.</a:t>
            </a:r>
            <a:endParaRPr lang="en-US" sz="1100" dirty="0"/>
          </a:p>
        </p:txBody>
      </p:sp>
      <p:sp>
        <p:nvSpPr>
          <p:cNvPr id="26" name="Shape 24"/>
          <p:cNvSpPr/>
          <p:nvPr/>
        </p:nvSpPr>
        <p:spPr>
          <a:xfrm>
            <a:off x="6035040" y="2743200"/>
            <a:ext cx="2606040" cy="1280160"/>
          </a:xfrm>
          <a:prstGeom prst="roundRect">
            <a:avLst>
              <a:gd name="adj" fmla="val 5714"/>
            </a:avLst>
          </a:prstGeom>
          <a:solidFill>
            <a:srgbClr val="111827"/>
          </a:solidFill>
          <a:ln w="12700">
            <a:solidFill>
              <a:srgbClr val="111827"/>
            </a:solidFill>
            <a:prstDash val="solid"/>
          </a:ln>
        </p:spPr>
      </p:sp>
      <p:sp>
        <p:nvSpPr>
          <p:cNvPr id="27" name="Text 25"/>
          <p:cNvSpPr txBox="1"/>
          <p:nvPr/>
        </p:nvSpPr>
        <p:spPr>
          <a:xfrm>
            <a:off x="6217920" y="2743200"/>
            <a:ext cx="2286000" cy="12801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Everything still goes in the envelope from module two.</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1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step limit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28</a:t>
            </a:r>
            <a:endParaRPr lang="en-US" sz="900" dirty="0"/>
          </a:p>
        </p:txBody>
      </p:sp>
      <p:sp>
        <p:nvSpPr>
          <p:cNvPr id="6" name="Text 4"/>
          <p:cNvSpPr txBox="1"/>
          <p:nvPr/>
        </p:nvSpPr>
        <p:spPr>
          <a:xfrm>
            <a:off x="457200" y="1188720"/>
            <a:ext cx="8229600" cy="7772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Keep a count of steps in the run and check it before each model call. At the ceiling, stop the same controlled way your budget cap does: a clear result, not a crash. Read the ceiling from an environment variable so you can change it without editing code.</a:t>
            </a:r>
            <a:endParaRPr lang="en-US" sz="1400" dirty="0"/>
          </a:p>
        </p:txBody>
      </p:sp>
      <p:sp>
        <p:nvSpPr>
          <p:cNvPr id="7" name="Shape 5"/>
          <p:cNvSpPr/>
          <p:nvPr/>
        </p:nvSpPr>
        <p:spPr>
          <a:xfrm>
            <a:off x="365760" y="210312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10312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MAX_STEPS=3 python3 run_agent.py --input samples/normal.json</a:t>
            </a:r>
            <a:endParaRPr lang="en-US" sz="1600" dirty="0"/>
          </a:p>
        </p:txBody>
      </p:sp>
      <p:sp>
        <p:nvSpPr>
          <p:cNvPr id="9" name="Shape 7"/>
          <p:cNvSpPr/>
          <p:nvPr/>
        </p:nvSpPr>
        <p:spPr>
          <a:xfrm>
            <a:off x="457200" y="3200400"/>
            <a:ext cx="8229600" cy="1143000"/>
          </a:xfrm>
          <a:prstGeom prst="roundRect">
            <a:avLst>
              <a:gd name="adj" fmla="val 6400"/>
            </a:avLst>
          </a:prstGeom>
          <a:solidFill>
            <a:srgbClr val="FEF3C7"/>
          </a:solidFill>
          <a:ln w="12700">
            <a:solidFill>
              <a:srgbClr val="FEF3C7"/>
            </a:solidFill>
            <a:prstDash val="solid"/>
          </a:ln>
        </p:spPr>
      </p:sp>
      <p:sp>
        <p:nvSpPr>
          <p:cNvPr id="10" name="Text 8"/>
          <p:cNvSpPr txBox="1"/>
          <p:nvPr/>
        </p:nvSpPr>
        <p:spPr>
          <a:xfrm>
            <a:off x="731520" y="3200400"/>
            <a:ext cx="7680960" cy="114300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Three is deliberately too low, so a normal task trips it. </a:t>
            </a:r>
            <a:pPr indent="0" marL="0">
              <a:buNone/>
            </a:pPr>
            <a:r>
              <a:rPr lang="en-US" sz="1400" dirty="0">
                <a:solidFill>
                  <a:srgbClr val="1F2937"/>
                </a:solidFill>
                <a:latin typeface="Calibri" pitchFamily="34" charset="0"/>
                <a:ea typeface="Calibri" pitchFamily="34" charset="-122"/>
                <a:cs typeface="Calibri" pitchFamily="34" charset="-120"/>
              </a:rPr>
              <a:t>The message must say which limit it hit: a step limit is not a budget cap, and you will need to tell them apart in a log.</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2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Loop detection, the simple kind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29</a:t>
            </a:r>
            <a:endParaRPr lang="en-US" sz="900" dirty="0"/>
          </a:p>
        </p:txBody>
      </p:sp>
      <p:sp>
        <p:nvSpPr>
          <p:cNvPr id="6" name="Text 4"/>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Keep a short list of the last few tool calls the agent made, the name and the arguments together as one string. Before making a new call, check whether it is already in that list. If it is, stop.</a:t>
            </a:r>
            <a:endParaRPr lang="en-US" sz="1400" dirty="0"/>
          </a:p>
        </p:txBody>
      </p:sp>
      <p:sp>
        <p:nvSpPr>
          <p:cNvPr id="7" name="Shape 5"/>
          <p:cNvSpPr/>
          <p:nvPr/>
        </p:nvSpPr>
        <p:spPr>
          <a:xfrm>
            <a:off x="365760" y="196596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96596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samples/loop.json</a:t>
            </a:r>
            <a:endParaRPr lang="en-US" sz="1600" dirty="0"/>
          </a:p>
        </p:txBody>
      </p:sp>
      <p:sp>
        <p:nvSpPr>
          <p:cNvPr id="9" name="Shape 7"/>
          <p:cNvSpPr/>
          <p:nvPr/>
        </p:nvSpPr>
        <p:spPr>
          <a:xfrm>
            <a:off x="457200" y="3063240"/>
            <a:ext cx="8229600" cy="1234440"/>
          </a:xfrm>
          <a:prstGeom prst="roundRect">
            <a:avLst>
              <a:gd name="adj" fmla="val 5926"/>
            </a:avLst>
          </a:prstGeom>
          <a:solidFill>
            <a:srgbClr val="ECFDF5"/>
          </a:solidFill>
          <a:ln w="12700">
            <a:solidFill>
              <a:srgbClr val="ECFDF5"/>
            </a:solidFill>
            <a:prstDash val="solid"/>
          </a:ln>
        </p:spPr>
      </p:sp>
      <p:sp>
        <p:nvSpPr>
          <p:cNvPr id="10" name="Text 8"/>
          <p:cNvSpPr txBox="1"/>
          <p:nvPr/>
        </p:nvSpPr>
        <p:spPr>
          <a:xfrm>
            <a:off x="731520" y="3063240"/>
            <a:ext cx="7680960" cy="1234440"/>
          </a:xfrm>
          <a:prstGeom prst="rect">
            <a:avLst/>
          </a:prstGeom>
          <a:noFill/>
          <a:ln/>
        </p:spPr>
        <p:txBody>
          <a:bodyPr wrap="square" lIns="0" tIns="0" rIns="0" bIns="0"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Your detector should catch it well before the step ceiling fires. </a:t>
            </a:r>
            <a:pPr indent="0" marL="0">
              <a:buNone/>
            </a:pPr>
            <a:r>
              <a:rPr lang="en-US" sz="1400" dirty="0">
                <a:solidFill>
                  <a:srgbClr val="1F2937"/>
                </a:solidFill>
                <a:latin typeface="Calibri" pitchFamily="34" charset="0"/>
                <a:ea typeface="Calibri" pitchFamily="34" charset="-122"/>
                <a:cs typeface="Calibri" pitchFamily="34" charset="-120"/>
              </a:rPr>
              <a:t>Note which one caught it: that tells you the detector is doing real work rather than the ceiling covering for it.</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3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Checkpoints; stop it, then resume it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30</a:t>
            </a:r>
            <a:endParaRPr lang="en-US" sz="900" dirty="0"/>
          </a:p>
        </p:txBody>
      </p:sp>
      <p:sp>
        <p:nvSpPr>
          <p:cNvPr id="6" name="Text 4"/>
          <p:cNvSpPr txBox="1"/>
          <p:nvPr/>
        </p:nvSpPr>
        <p:spPr>
          <a:xfrm>
            <a:off x="457200" y="1143000"/>
            <a:ext cx="8229600" cy="6400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After each step completes, write a small record to a file: the run ID, the step number, and the result. At the start of a run, look for an existing checkpoint for that run ID, and if you find one, skip ahead.</a:t>
            </a:r>
            <a:endParaRPr lang="en-US" sz="1350" dirty="0"/>
          </a:p>
        </p:txBody>
      </p:sp>
      <p:sp>
        <p:nvSpPr>
          <p:cNvPr id="7" name="Shape 5"/>
          <p:cNvSpPr/>
          <p:nvPr/>
        </p:nvSpPr>
        <p:spPr>
          <a:xfrm>
            <a:off x="365760" y="187452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874520"/>
            <a:ext cx="8092440" cy="868680"/>
          </a:xfrm>
          <a:prstGeom prst="rect">
            <a:avLst/>
          </a:prstGeom>
          <a:noFill/>
          <a:ln/>
        </p:spPr>
        <p:txBody>
          <a:bodyPr wrap="square" lIns="0" tIns="0" rIns="0" bIns="0" rtlCol="0" anchor="ctr"/>
          <a:lstStyle/>
          <a:p>
            <a:pPr indent="0" marL="0">
              <a:buNone/>
            </a:pPr>
            <a:r>
              <a:rPr lang="en-US" sz="1456" b="1" dirty="0">
                <a:solidFill>
                  <a:srgbClr val="F59E0B"/>
                </a:solidFill>
                <a:latin typeface="Courier New" pitchFamily="34" charset="0"/>
                <a:ea typeface="Courier New" pitchFamily="34" charset="-122"/>
                <a:cs typeface="Courier New" pitchFamily="34" charset="-120"/>
              </a:rPr>
              <a:t>$ </a:t>
            </a:r>
            <a:pPr indent="0" marL="0">
              <a:buNone/>
            </a:pPr>
            <a:r>
              <a:rPr lang="en-US" sz="1456" dirty="0">
                <a:solidFill>
                  <a:srgbClr val="E8EAED"/>
                </a:solidFill>
                <a:latin typeface="Courier New" pitchFamily="34" charset="0"/>
                <a:ea typeface="Courier New" pitchFamily="34" charset="-122"/>
                <a:cs typeface="Courier New" pitchFamily="34" charset="-120"/>
              </a:rPr>
              <a:t>python3 run_agent.py --input samples/normal.json --run-id test-resume</a:t>
            </a:r>
            <a:endParaRPr lang="en-US" sz="1456" dirty="0"/>
          </a:p>
        </p:txBody>
      </p:sp>
      <p:sp>
        <p:nvSpPr>
          <p:cNvPr id="9" name="Text 7"/>
          <p:cNvSpPr txBox="1"/>
          <p:nvPr/>
        </p:nvSpPr>
        <p:spPr>
          <a:xfrm>
            <a:off x="457200" y="2834640"/>
            <a:ext cx="8229600" cy="50292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Let it run partway, then stop it with Control-C. Open the checkpoint file and confirm the finished steps are in it. Then run exactly the same command again:</a:t>
            </a:r>
            <a:endParaRPr lang="en-US" sz="1300" dirty="0"/>
          </a:p>
        </p:txBody>
      </p:sp>
      <p:sp>
        <p:nvSpPr>
          <p:cNvPr id="10" name="Shape 8"/>
          <p:cNvSpPr/>
          <p:nvPr/>
        </p:nvSpPr>
        <p:spPr>
          <a:xfrm>
            <a:off x="365760" y="3383280"/>
            <a:ext cx="8412480" cy="868680"/>
          </a:xfrm>
          <a:prstGeom prst="roundRect">
            <a:avLst>
              <a:gd name="adj" fmla="val 8421"/>
            </a:avLst>
          </a:prstGeom>
          <a:solidFill>
            <a:srgbClr val="0F172A"/>
          </a:solidFill>
          <a:ln w="12700">
            <a:solidFill>
              <a:srgbClr val="0F172A"/>
            </a:solidFill>
            <a:prstDash val="solid"/>
          </a:ln>
        </p:spPr>
      </p:sp>
      <p:sp>
        <p:nvSpPr>
          <p:cNvPr id="11" name="Text 9"/>
          <p:cNvSpPr txBox="1"/>
          <p:nvPr/>
        </p:nvSpPr>
        <p:spPr>
          <a:xfrm>
            <a:off x="594360" y="3383280"/>
            <a:ext cx="8092440" cy="868680"/>
          </a:xfrm>
          <a:prstGeom prst="rect">
            <a:avLst/>
          </a:prstGeom>
          <a:noFill/>
          <a:ln/>
        </p:spPr>
        <p:txBody>
          <a:bodyPr wrap="square" lIns="0" tIns="0" rIns="0" bIns="0" rtlCol="0" anchor="ctr"/>
          <a:lstStyle/>
          <a:p>
            <a:pPr indent="0" marL="0">
              <a:buNone/>
            </a:pPr>
            <a:r>
              <a:rPr lang="en-US" sz="1456" b="1" dirty="0">
                <a:solidFill>
                  <a:srgbClr val="F59E0B"/>
                </a:solidFill>
                <a:latin typeface="Courier New" pitchFamily="34" charset="0"/>
                <a:ea typeface="Courier New" pitchFamily="34" charset="-122"/>
                <a:cs typeface="Courier New" pitchFamily="34" charset="-120"/>
              </a:rPr>
              <a:t>$ </a:t>
            </a:r>
            <a:pPr indent="0" marL="0">
              <a:buNone/>
            </a:pPr>
            <a:r>
              <a:rPr lang="en-US" sz="1456" dirty="0">
                <a:solidFill>
                  <a:srgbClr val="E8EAED"/>
                </a:solidFill>
                <a:latin typeface="Courier New" pitchFamily="34" charset="0"/>
                <a:ea typeface="Courier New" pitchFamily="34" charset="-122"/>
                <a:cs typeface="Courier New" pitchFamily="34" charset="-120"/>
              </a:rPr>
              <a:t>python3 run_agent.py --input samples/normal.json --run-id test-resume</a:t>
            </a:r>
            <a:endParaRPr lang="en-US" sz="1456" dirty="0"/>
          </a:p>
        </p:txBody>
      </p:sp>
      <p:sp>
        <p:nvSpPr>
          <p:cNvPr id="12" name="Text 10"/>
          <p:cNvSpPr txBox="1"/>
          <p:nvPr/>
        </p:nvSpPr>
        <p:spPr>
          <a:xfrm>
            <a:off x="457200" y="4343400"/>
            <a:ext cx="8229600" cy="457200"/>
          </a:xfrm>
          <a:prstGeom prst="rect">
            <a:avLst/>
          </a:prstGeom>
          <a:noFill/>
          <a:ln/>
        </p:spPr>
        <p:txBody>
          <a:bodyPr wrap="square" lIns="0" tIns="0" rIns="0" bIns="0" rtlCol="0" anchor="t"/>
          <a:lstStyle/>
          <a:p>
            <a:pPr indent="0" marL="0">
              <a:buNone/>
            </a:pPr>
            <a:r>
              <a:rPr lang="en-US" sz="1250" b="1" dirty="0">
                <a:solidFill>
                  <a:srgbClr val="047857"/>
                </a:solidFill>
                <a:latin typeface="Calibri" pitchFamily="34" charset="0"/>
                <a:ea typeface="Calibri" pitchFamily="34" charset="-122"/>
                <a:cs typeface="Calibri" pitchFamily="34" charset="-120"/>
              </a:rPr>
              <a:t>Same run ID, second time. It should skip what it already did and pick up where it left off; count the model calls, and the difference is money you did not spend twice.</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4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Prove the saving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31</a:t>
            </a:r>
            <a:endParaRPr lang="en-US" sz="900" dirty="0"/>
          </a:p>
        </p:txBody>
      </p:sp>
      <p:sp>
        <p:nvSpPr>
          <p:cNvPr id="6" name="Text 4"/>
          <p:cNvSpPr txBox="1"/>
          <p:nvPr/>
        </p:nvSpPr>
        <p:spPr>
          <a:xfrm>
            <a:off x="457200" y="1143000"/>
            <a:ext cx="8229600" cy="4114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Run the same failing task twice: once with checkpoints turned off, once with them on. Compare total cost.</a:t>
            </a:r>
            <a:endParaRPr lang="en-US" sz="1400" dirty="0"/>
          </a:p>
        </p:txBody>
      </p:sp>
      <p:sp>
        <p:nvSpPr>
          <p:cNvPr id="7" name="Shape 5"/>
          <p:cNvSpPr/>
          <p:nvPr/>
        </p:nvSpPr>
        <p:spPr>
          <a:xfrm>
            <a:off x="365760" y="164592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645920"/>
            <a:ext cx="8092440" cy="868680"/>
          </a:xfrm>
          <a:prstGeom prst="rect">
            <a:avLst/>
          </a:prstGeom>
          <a:noFill/>
          <a:ln/>
        </p:spPr>
        <p:txBody>
          <a:bodyPr wrap="square" lIns="0" tIns="0" rIns="0" bIns="0" rtlCol="0" anchor="ctr"/>
          <a:lstStyle/>
          <a:p>
            <a:pPr indent="0" marL="0">
              <a:buNone/>
            </a:pPr>
            <a:r>
              <a:rPr lang="en-US" sz="1342" b="1" dirty="0">
                <a:solidFill>
                  <a:srgbClr val="F59E0B"/>
                </a:solidFill>
                <a:latin typeface="Courier New" pitchFamily="34" charset="0"/>
                <a:ea typeface="Courier New" pitchFamily="34" charset="-122"/>
                <a:cs typeface="Courier New" pitchFamily="34" charset="-120"/>
              </a:rPr>
              <a:t>$ </a:t>
            </a:r>
            <a:pPr indent="0" marL="0">
              <a:buNone/>
            </a:pPr>
            <a:r>
              <a:rPr lang="en-US" sz="1342" dirty="0">
                <a:solidFill>
                  <a:srgbClr val="E8EAED"/>
                </a:solidFill>
                <a:latin typeface="Courier New" pitchFamily="34" charset="0"/>
                <a:ea typeface="Courier New" pitchFamily="34" charset="-122"/>
                <a:cs typeface="Courier New" pitchFamily="34" charset="-120"/>
              </a:rPr>
              <a:t>CHECKPOINTS=off python3 run_agent.py --input samples/flaky.json --retries 3</a:t>
            </a:r>
            <a:endParaRPr lang="en-US" sz="1342" dirty="0"/>
          </a:p>
        </p:txBody>
      </p:sp>
      <p:sp>
        <p:nvSpPr>
          <p:cNvPr id="9" name="Shape 7"/>
          <p:cNvSpPr/>
          <p:nvPr/>
        </p:nvSpPr>
        <p:spPr>
          <a:xfrm>
            <a:off x="365760" y="2651760"/>
            <a:ext cx="8412480" cy="868680"/>
          </a:xfrm>
          <a:prstGeom prst="roundRect">
            <a:avLst>
              <a:gd name="adj" fmla="val 8421"/>
            </a:avLst>
          </a:prstGeom>
          <a:solidFill>
            <a:srgbClr val="0F172A"/>
          </a:solidFill>
          <a:ln w="12700">
            <a:solidFill>
              <a:srgbClr val="0F172A"/>
            </a:solidFill>
            <a:prstDash val="solid"/>
          </a:ln>
        </p:spPr>
      </p:sp>
      <p:sp>
        <p:nvSpPr>
          <p:cNvPr id="10" name="Text 8"/>
          <p:cNvSpPr txBox="1"/>
          <p:nvPr/>
        </p:nvSpPr>
        <p:spPr>
          <a:xfrm>
            <a:off x="594360" y="2651760"/>
            <a:ext cx="8092440" cy="868680"/>
          </a:xfrm>
          <a:prstGeom prst="rect">
            <a:avLst/>
          </a:prstGeom>
          <a:noFill/>
          <a:ln/>
        </p:spPr>
        <p:txBody>
          <a:bodyPr wrap="square" lIns="0" tIns="0" rIns="0" bIns="0" rtlCol="0" anchor="ctr"/>
          <a:lstStyle/>
          <a:p>
            <a:pPr indent="0" marL="0">
              <a:buNone/>
            </a:pPr>
            <a:r>
              <a:rPr lang="en-US" sz="1360" b="1" dirty="0">
                <a:solidFill>
                  <a:srgbClr val="F59E0B"/>
                </a:solidFill>
                <a:latin typeface="Courier New" pitchFamily="34" charset="0"/>
                <a:ea typeface="Courier New" pitchFamily="34" charset="-122"/>
                <a:cs typeface="Courier New" pitchFamily="34" charset="-120"/>
              </a:rPr>
              <a:t>$ </a:t>
            </a:r>
            <a:pPr indent="0" marL="0">
              <a:buNone/>
            </a:pPr>
            <a:r>
              <a:rPr lang="en-US" sz="1360" dirty="0">
                <a:solidFill>
                  <a:srgbClr val="E8EAED"/>
                </a:solidFill>
                <a:latin typeface="Courier New" pitchFamily="34" charset="0"/>
                <a:ea typeface="Courier New" pitchFamily="34" charset="-122"/>
                <a:cs typeface="Courier New" pitchFamily="34" charset="-120"/>
              </a:rPr>
              <a:t>CHECKPOINTS=on python3 run_agent.py --input samples/flaky.json --retries 3</a:t>
            </a:r>
            <a:endParaRPr lang="en-US" sz="1360" dirty="0"/>
          </a:p>
        </p:txBody>
      </p:sp>
      <p:sp>
        <p:nvSpPr>
          <p:cNvPr id="11" name="Shape 9"/>
          <p:cNvSpPr/>
          <p:nvPr/>
        </p:nvSpPr>
        <p:spPr>
          <a:xfrm>
            <a:off x="457200" y="3703320"/>
            <a:ext cx="8229600" cy="1005840"/>
          </a:xfrm>
          <a:prstGeom prst="roundRect">
            <a:avLst>
              <a:gd name="adj" fmla="val 7273"/>
            </a:avLst>
          </a:prstGeom>
          <a:solidFill>
            <a:srgbClr val="111827"/>
          </a:solidFill>
          <a:ln w="12700">
            <a:solidFill>
              <a:srgbClr val="111827"/>
            </a:solidFill>
            <a:prstDash val="solid"/>
          </a:ln>
        </p:spPr>
      </p:sp>
      <p:sp>
        <p:nvSpPr>
          <p:cNvPr id="12" name="Text 10"/>
          <p:cNvSpPr txBox="1"/>
          <p:nvPr/>
        </p:nvSpPr>
        <p:spPr>
          <a:xfrm>
            <a:off x="731520" y="3703320"/>
            <a:ext cx="7680960" cy="1005840"/>
          </a:xfrm>
          <a:prstGeom prst="rect">
            <a:avLst/>
          </a:prstGeom>
          <a:noFill/>
          <a:ln/>
        </p:spPr>
        <p:txBody>
          <a:bodyPr wrap="square" lIns="0" tIns="0" rIns="0" bIns="0" rtlCol="0" anchor="ctr"/>
          <a:lstStyle/>
          <a:p>
            <a:pPr indent="0" marL="0">
              <a:buNone/>
            </a:pPr>
            <a:r>
              <a:rPr lang="en-US" sz="1450" b="1" dirty="0">
                <a:solidFill>
                  <a:srgbClr val="F59E0B"/>
                </a:solidFill>
                <a:latin typeface="Calibri" pitchFamily="34" charset="0"/>
                <a:ea typeface="Calibri" pitchFamily="34" charset="-122"/>
                <a:cs typeface="Calibri" pitchFamily="34" charset="-120"/>
              </a:rPr>
              <a:t>Two numbers. Same task, same retries, same answer. </a:t>
            </a:r>
            <a:pPr indent="0" marL="0">
              <a:buNone/>
            </a:pPr>
            <a:r>
              <a:rPr lang="en-US" sz="1450" dirty="0">
                <a:solidFill>
                  <a:srgbClr val="FFFFFF"/>
                </a:solidFill>
                <a:latin typeface="Calibri" pitchFamily="34" charset="0"/>
                <a:ea typeface="Calibri" pitchFamily="34" charset="-122"/>
                <a:cs typeface="Calibri" pitchFamily="34" charset="-120"/>
              </a:rPr>
              <a:t>Write both down; that pair is the clearest thing you can show anyone to explain what this module was for.</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5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Calculate your tax</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32</a:t>
            </a:r>
            <a:endParaRPr lang="en-US" sz="900" dirty="0"/>
          </a:p>
        </p:txBody>
      </p:sp>
      <p:sp>
        <p:nvSpPr>
          <p:cNvPr id="6" name="Text 4"/>
          <p:cNvSpPr txBox="1"/>
          <p:nvPr/>
        </p:nvSpPr>
        <p:spPr>
          <a:xfrm>
            <a:off x="457200" y="1188720"/>
            <a:ext cx="8229600" cy="5486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Write a small script that reads your recorded runs, sums total spend, sums spend on successful runs, and prints the difference as a percentage.</a:t>
            </a:r>
            <a:endParaRPr lang="en-US" sz="1400" dirty="0"/>
          </a:p>
        </p:txBody>
      </p:sp>
      <p:sp>
        <p:nvSpPr>
          <p:cNvPr id="7" name="Shape 5"/>
          <p:cNvSpPr/>
          <p:nvPr/>
        </p:nvSpPr>
        <p:spPr>
          <a:xfrm>
            <a:off x="365760" y="192024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92024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failed_run_tax.py --since 30d</a:t>
            </a:r>
            <a:endParaRPr lang="en-US" sz="1600" dirty="0"/>
          </a:p>
        </p:txBody>
      </p:sp>
      <p:sp>
        <p:nvSpPr>
          <p:cNvPr id="9" name="Shape 7"/>
          <p:cNvSpPr/>
          <p:nvPr/>
        </p:nvSpPr>
        <p:spPr>
          <a:xfrm>
            <a:off x="457200" y="3017520"/>
            <a:ext cx="8229600" cy="1371600"/>
          </a:xfrm>
          <a:prstGeom prst="roundRect">
            <a:avLst>
              <a:gd name="adj" fmla="val 5333"/>
            </a:avLst>
          </a:prstGeom>
          <a:solidFill>
            <a:srgbClr val="F3F4F6"/>
          </a:solidFill>
          <a:ln w="12700">
            <a:solidFill>
              <a:srgbClr val="F3F4F6"/>
            </a:solidFill>
            <a:prstDash val="solid"/>
          </a:ln>
        </p:spPr>
      </p:sp>
      <p:sp>
        <p:nvSpPr>
          <p:cNvPr id="10" name="Text 8"/>
          <p:cNvSpPr txBox="1"/>
          <p:nvPr/>
        </p:nvSpPr>
        <p:spPr>
          <a:xfrm>
            <a:off x="731520" y="3017520"/>
            <a:ext cx="7680960" cy="137160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That percentage is your number. Keep it. </a:t>
            </a:r>
            <a:endParaRPr lang="en-US" sz="1500" dirty="0"/>
          </a:p>
          <a:p>
            <a:pPr indent="0" marL="0">
              <a:buNone/>
            </a:pPr>
            <a:r>
              <a:rPr lang="en-US" sz="1500" dirty="0">
                <a:solidFill>
                  <a:srgbClr val="1F2937"/>
                </a:solidFill>
                <a:latin typeface="Calibri" pitchFamily="34" charset="0"/>
                <a:ea typeface="Calibri" pitchFamily="34" charset="-122"/>
                <a:cs typeface="Calibri" pitchFamily="34" charset="-120"/>
              </a:rPr>
              <a:t>In module six you will put it on a dashboard, and it becomes the thing you watch to know whether any of this is still working.</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RECAP</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module with the biggest saving in it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457200" y="1325880"/>
            <a:ext cx="4023360" cy="1280160"/>
          </a:xfrm>
          <a:prstGeom prst="roundRect">
            <a:avLst>
              <a:gd name="adj" fmla="val 5714"/>
            </a:avLst>
          </a:prstGeom>
          <a:solidFill>
            <a:srgbClr val="F3F4F6"/>
          </a:solidFill>
          <a:ln w="12700">
            <a:solidFill>
              <a:srgbClr val="F3F4F6"/>
            </a:solidFill>
            <a:prstDash val="solid"/>
          </a:ln>
        </p:spPr>
      </p:sp>
      <p:sp>
        <p:nvSpPr>
          <p:cNvPr id="7" name="Shape 5"/>
          <p:cNvSpPr/>
          <p:nvPr/>
        </p:nvSpPr>
        <p:spPr>
          <a:xfrm>
            <a:off x="685800" y="1554480"/>
            <a:ext cx="411480" cy="411480"/>
          </a:xfrm>
          <a:prstGeom prst="ellipse">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776326" y="1645006"/>
            <a:ext cx="230429" cy="230429"/>
          </a:xfrm>
          <a:prstGeom prst="rect">
            <a:avLst/>
          </a:prstGeom>
        </p:spPr>
      </p:pic>
      <p:sp>
        <p:nvSpPr>
          <p:cNvPr id="9" name="Text 6"/>
          <p:cNvSpPr txBox="1"/>
          <p:nvPr/>
        </p:nvSpPr>
        <p:spPr>
          <a:xfrm>
            <a:off x="1280160" y="152704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ceiling from your data</a:t>
            </a:r>
            <a:endParaRPr lang="en-US" sz="1500" dirty="0"/>
          </a:p>
        </p:txBody>
      </p:sp>
      <p:sp>
        <p:nvSpPr>
          <p:cNvPr id="10" name="Text 7"/>
          <p:cNvSpPr txBox="1"/>
          <p:nvPr/>
        </p:nvSpPr>
        <p:spPr>
          <a:xfrm>
            <a:off x="1280160" y="187452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It stops after a number of steps you chose from your own successful runs.</a:t>
            </a:r>
            <a:endParaRPr lang="en-US" sz="1200" dirty="0"/>
          </a:p>
        </p:txBody>
      </p:sp>
      <p:sp>
        <p:nvSpPr>
          <p:cNvPr id="11" name="Shape 8"/>
          <p:cNvSpPr/>
          <p:nvPr/>
        </p:nvSpPr>
        <p:spPr>
          <a:xfrm>
            <a:off x="4663440" y="1325880"/>
            <a:ext cx="4023360" cy="1280160"/>
          </a:xfrm>
          <a:prstGeom prst="roundRect">
            <a:avLst>
              <a:gd name="adj" fmla="val 5714"/>
            </a:avLst>
          </a:prstGeom>
          <a:solidFill>
            <a:srgbClr val="F3F4F6"/>
          </a:solidFill>
          <a:ln w="12700">
            <a:solidFill>
              <a:srgbClr val="F3F4F6"/>
            </a:solidFill>
            <a:prstDash val="solid"/>
          </a:ln>
        </p:spPr>
      </p:sp>
      <p:sp>
        <p:nvSpPr>
          <p:cNvPr id="12" name="Shape 9"/>
          <p:cNvSpPr/>
          <p:nvPr/>
        </p:nvSpPr>
        <p:spPr>
          <a:xfrm>
            <a:off x="4892040" y="1554480"/>
            <a:ext cx="411480" cy="411480"/>
          </a:xfrm>
          <a:prstGeom prst="ellipse">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4982566" y="1645006"/>
            <a:ext cx="230429" cy="230429"/>
          </a:xfrm>
          <a:prstGeom prst="rect">
            <a:avLst/>
          </a:prstGeom>
        </p:spPr>
      </p:pic>
      <p:sp>
        <p:nvSpPr>
          <p:cNvPr id="14" name="Text 10"/>
          <p:cNvSpPr txBox="1"/>
          <p:nvPr/>
        </p:nvSpPr>
        <p:spPr>
          <a:xfrm>
            <a:off x="5486400" y="152704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It notices repetition</a:t>
            </a:r>
            <a:endParaRPr lang="en-US" sz="1500" dirty="0"/>
          </a:p>
        </p:txBody>
      </p:sp>
      <p:sp>
        <p:nvSpPr>
          <p:cNvPr id="15" name="Text 11"/>
          <p:cNvSpPr txBox="1"/>
          <p:nvPr/>
        </p:nvSpPr>
        <p:spPr>
          <a:xfrm>
            <a:off x="5486400" y="187452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simple loop detector stops it early, before the ceiling has to.</a:t>
            </a:r>
            <a:endParaRPr lang="en-US" sz="1200" dirty="0"/>
          </a:p>
        </p:txBody>
      </p:sp>
      <p:sp>
        <p:nvSpPr>
          <p:cNvPr id="16" name="Shape 12"/>
          <p:cNvSpPr/>
          <p:nvPr/>
        </p:nvSpPr>
        <p:spPr>
          <a:xfrm>
            <a:off x="457200" y="2788920"/>
            <a:ext cx="4023360" cy="1280160"/>
          </a:xfrm>
          <a:prstGeom prst="roundRect">
            <a:avLst>
              <a:gd name="adj" fmla="val 5714"/>
            </a:avLst>
          </a:prstGeom>
          <a:solidFill>
            <a:srgbClr val="F3F4F6"/>
          </a:solidFill>
          <a:ln w="12700">
            <a:solidFill>
              <a:srgbClr val="F3F4F6"/>
            </a:solidFill>
            <a:prstDash val="solid"/>
          </a:ln>
        </p:spPr>
      </p:sp>
      <p:sp>
        <p:nvSpPr>
          <p:cNvPr id="17" name="Shape 13"/>
          <p:cNvSpPr/>
          <p:nvPr/>
        </p:nvSpPr>
        <p:spPr>
          <a:xfrm>
            <a:off x="685800" y="3017520"/>
            <a:ext cx="411480" cy="411480"/>
          </a:xfrm>
          <a:prstGeom prst="ellipse">
            <a:avLst/>
          </a:prstGeom>
          <a:solidFill>
            <a:srgbClr val="B45309"/>
          </a:solidFill>
          <a:ln w="12700">
            <a:solidFill>
              <a:srgbClr val="B45309"/>
            </a:solidFill>
            <a:prstDash val="solid"/>
          </a:ln>
        </p:spPr>
      </p:sp>
      <p:pic>
        <p:nvPicPr>
          <p:cNvPr id="18" name="Image 2" descr="preencoded.png">    </p:cNvPr>
          <p:cNvPicPr>
            <a:picLocks noChangeAspect="1"/>
          </p:cNvPicPr>
          <p:nvPr/>
        </p:nvPicPr>
        <p:blipFill>
          <a:blip r:embed="rId3"/>
          <a:stretch>
            <a:fillRect/>
          </a:stretch>
        </p:blipFill>
        <p:spPr>
          <a:xfrm>
            <a:off x="776326" y="3108046"/>
            <a:ext cx="230429" cy="230429"/>
          </a:xfrm>
          <a:prstGeom prst="rect">
            <a:avLst/>
          </a:prstGeom>
        </p:spPr>
      </p:pic>
      <p:sp>
        <p:nvSpPr>
          <p:cNvPr id="19" name="Text 14"/>
          <p:cNvSpPr txBox="1"/>
          <p:nvPr/>
        </p:nvSpPr>
        <p:spPr>
          <a:xfrm>
            <a:off x="1280160" y="299008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Finished work is written down</a:t>
            </a:r>
            <a:endParaRPr lang="en-US" sz="1500" dirty="0"/>
          </a:p>
        </p:txBody>
      </p:sp>
      <p:sp>
        <p:nvSpPr>
          <p:cNvPr id="20" name="Text 15"/>
          <p:cNvSpPr txBox="1"/>
          <p:nvPr/>
        </p:nvSpPr>
        <p:spPr>
          <a:xfrm>
            <a:off x="1280160" y="333756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restart does not begin at zero any more.</a:t>
            </a:r>
            <a:endParaRPr lang="en-US" sz="1200" dirty="0"/>
          </a:p>
        </p:txBody>
      </p:sp>
      <p:sp>
        <p:nvSpPr>
          <p:cNvPr id="21" name="Shape 16"/>
          <p:cNvSpPr/>
          <p:nvPr/>
        </p:nvSpPr>
        <p:spPr>
          <a:xfrm>
            <a:off x="4663440" y="2788920"/>
            <a:ext cx="4023360" cy="1280160"/>
          </a:xfrm>
          <a:prstGeom prst="roundRect">
            <a:avLst>
              <a:gd name="adj" fmla="val 5714"/>
            </a:avLst>
          </a:prstGeom>
          <a:solidFill>
            <a:srgbClr val="F3F4F6"/>
          </a:solidFill>
          <a:ln w="12700">
            <a:solidFill>
              <a:srgbClr val="F3F4F6"/>
            </a:solidFill>
            <a:prstDash val="solid"/>
          </a:ln>
        </p:spPr>
      </p:sp>
      <p:sp>
        <p:nvSpPr>
          <p:cNvPr id="22" name="Shape 17"/>
          <p:cNvSpPr/>
          <p:nvPr/>
        </p:nvSpPr>
        <p:spPr>
          <a:xfrm>
            <a:off x="4892040" y="3017520"/>
            <a:ext cx="411480" cy="411480"/>
          </a:xfrm>
          <a:prstGeom prst="ellipse">
            <a:avLst/>
          </a:prstGeom>
          <a:solidFill>
            <a:srgbClr val="B45309"/>
          </a:solidFill>
          <a:ln w="12700">
            <a:solidFill>
              <a:srgbClr val="B45309"/>
            </a:solidFill>
            <a:prstDash val="solid"/>
          </a:ln>
        </p:spPr>
      </p:sp>
      <p:pic>
        <p:nvPicPr>
          <p:cNvPr id="23" name="Image 3" descr="preencoded.png">    </p:cNvPr>
          <p:cNvPicPr>
            <a:picLocks noChangeAspect="1"/>
          </p:cNvPicPr>
          <p:nvPr/>
        </p:nvPicPr>
        <p:blipFill>
          <a:blip r:embed="rId4"/>
          <a:stretch>
            <a:fillRect/>
          </a:stretch>
        </p:blipFill>
        <p:spPr>
          <a:xfrm>
            <a:off x="4982566" y="3108046"/>
            <a:ext cx="230429" cy="230429"/>
          </a:xfrm>
          <a:prstGeom prst="rect">
            <a:avLst/>
          </a:prstGeom>
        </p:spPr>
      </p:pic>
      <p:sp>
        <p:nvSpPr>
          <p:cNvPr id="24" name="Text 18"/>
          <p:cNvSpPr txBox="1"/>
          <p:nvPr/>
        </p:nvSpPr>
        <p:spPr>
          <a:xfrm>
            <a:off x="5486400" y="299008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You know the waste</a:t>
            </a:r>
            <a:endParaRPr lang="en-US" sz="1500" dirty="0"/>
          </a:p>
        </p:txBody>
      </p:sp>
      <p:sp>
        <p:nvSpPr>
          <p:cNvPr id="25" name="Text 19"/>
          <p:cNvSpPr txBox="1"/>
          <p:nvPr/>
        </p:nvSpPr>
        <p:spPr>
          <a:xfrm>
            <a:off x="5486400" y="333756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 have a percentage for the money that bought nothing.</a:t>
            </a:r>
            <a:endParaRPr lang="en-US" sz="1200" dirty="0"/>
          </a:p>
        </p:txBody>
      </p:sp>
      <p:sp>
        <p:nvSpPr>
          <p:cNvPr id="26" name="Text 20"/>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700" b="1" i="1" dirty="0">
                <a:solidFill>
                  <a:srgbClr val="B45309"/>
                </a:solidFill>
                <a:latin typeface="Cambria" pitchFamily="34" charset="0"/>
                <a:ea typeface="Cambria" pitchFamily="34" charset="-122"/>
                <a:cs typeface="Cambria" pitchFamily="34" charset="-120"/>
              </a:rPr>
              <a:t>None of it made a single answer worse.</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WHAT IS STILL MISSING</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4</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34</a:t>
            </a:r>
            <a:endParaRPr lang="en-US" sz="900" dirty="0"/>
          </a:p>
        </p:txBody>
      </p:sp>
      <p:sp>
        <p:nvSpPr>
          <p:cNvPr id="5" name="Text 3"/>
          <p:cNvSpPr txBox="1"/>
          <p:nvPr/>
        </p:nvSpPr>
        <p:spPr>
          <a:xfrm>
            <a:off x="457200" y="1005840"/>
            <a:ext cx="8229600" cy="128016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Every number that depends on</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success is still an estimate.</a:t>
            </a:r>
            <a:endParaRPr lang="en-US" sz="3200" dirty="0"/>
          </a:p>
        </p:txBody>
      </p:sp>
      <p:sp>
        <p:nvSpPr>
          <p:cNvPr id="6" name="Text 4"/>
          <p:cNvSpPr txBox="1"/>
          <p:nvPr/>
        </p:nvSpPr>
        <p:spPr>
          <a:xfrm>
            <a:off x="457200" y="2377440"/>
            <a:ext cx="7863840" cy="822960"/>
          </a:xfrm>
          <a:prstGeom prst="rect">
            <a:avLst/>
          </a:prstGeom>
          <a:noFill/>
          <a:ln/>
        </p:spPr>
        <p:txBody>
          <a:bodyPr wrap="square" lIns="0" tIns="0" rIns="0" bIns="0" rtlCol="0" anchor="t"/>
          <a:lstStyle/>
          <a:p>
            <a:pPr indent="0" marL="0">
              <a:buNone/>
            </a:pPr>
            <a:r>
              <a:rPr lang="en-US" sz="1600" dirty="0">
                <a:solidFill>
                  <a:srgbClr val="9CA3AF"/>
                </a:solidFill>
                <a:latin typeface="Calibri" pitchFamily="34" charset="0"/>
                <a:ea typeface="Calibri" pitchFamily="34" charset="-122"/>
                <a:cs typeface="Calibri" pitchFamily="34" charset="-120"/>
              </a:rPr>
              <a:t>You have been calculating the failed-run tax using whatever you have for a result. But in module two we set that label to unknown and promised to come back to it.</a:t>
            </a:r>
            <a:endParaRPr lang="en-US" sz="1600" dirty="0"/>
          </a:p>
        </p:txBody>
      </p:sp>
      <p:sp>
        <p:nvSpPr>
          <p:cNvPr id="7" name="Text 5"/>
          <p:cNvSpPr txBox="1"/>
          <p:nvPr/>
        </p:nvSpPr>
        <p:spPr>
          <a:xfrm>
            <a:off x="457200" y="3246120"/>
            <a:ext cx="7863840" cy="914400"/>
          </a:xfrm>
          <a:prstGeom prst="rect">
            <a:avLst/>
          </a:prstGeom>
          <a:noFill/>
          <a:ln/>
        </p:spPr>
        <p:txBody>
          <a:bodyPr wrap="square" lIns="0" tIns="0" rIns="0" bIns="0" rtlCol="0" anchor="t"/>
          <a:lstStyle/>
          <a:p>
            <a:pPr indent="0" marL="0">
              <a:buNone/>
            </a:pPr>
            <a:r>
              <a:rPr lang="en-US" sz="1500" b="1" dirty="0">
                <a:solidFill>
                  <a:srgbClr val="F59E0B"/>
                </a:solidFill>
                <a:latin typeface="Calibri" pitchFamily="34" charset="0"/>
                <a:ea typeface="Calibri" pitchFamily="34" charset="-122"/>
                <a:cs typeface="Calibri" pitchFamily="34" charset="-120"/>
              </a:rPr>
              <a:t>What counts as success? A run that finished without crashing? One that produced an answer? One that produced a correct answer? Three different questions, three different numbers.</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NEXT · MODULE 5 OF 6</a:t>
            </a:r>
            <a:endParaRPr lang="en-US" sz="1100" dirty="0"/>
          </a:p>
        </p:txBody>
      </p:sp>
      <p:sp>
        <p:nvSpPr>
          <p:cNvPr id="3" name="Text 1"/>
          <p:cNvSpPr txBox="1"/>
          <p:nvPr/>
        </p:nvSpPr>
        <p:spPr>
          <a:xfrm>
            <a:off x="548640" y="1463040"/>
            <a:ext cx="8046720" cy="91440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What counts as success?</a:t>
            </a:r>
            <a:endParaRPr lang="en-US" sz="4200" dirty="0"/>
          </a:p>
        </p:txBody>
      </p:sp>
      <p:sp>
        <p:nvSpPr>
          <p:cNvPr id="4" name="Text 2"/>
          <p:cNvSpPr txBox="1"/>
          <p:nvPr/>
        </p:nvSpPr>
        <p:spPr>
          <a:xfrm>
            <a:off x="548640" y="2514600"/>
            <a:ext cx="7132320" cy="82296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Cost per successful task, and the genuinely difficult part: defining what successful means.</a:t>
            </a:r>
            <a:endParaRPr lang="en-US" sz="1800" dirty="0"/>
          </a:p>
        </p:txBody>
      </p:sp>
      <p:sp>
        <p:nvSpPr>
          <p:cNvPr id="5" name="Text 3"/>
          <p:cNvSpPr txBox="1"/>
          <p:nvPr/>
        </p:nvSpPr>
        <p:spPr>
          <a:xfrm>
            <a:off x="548640" y="3931920"/>
            <a:ext cx="5943600" cy="365760"/>
          </a:xfrm>
          <a:prstGeom prst="rect">
            <a:avLst/>
          </a:prstGeom>
          <a:noFill/>
          <a:ln/>
        </p:spPr>
        <p:txBody>
          <a:bodyPr wrap="square" lIns="0" tIns="0" rIns="0" bIns="0" rtlCol="0" anchor="t"/>
          <a:lstStyle/>
          <a:p>
            <a:pPr indent="0" marL="0">
              <a:buNone/>
            </a:pPr>
            <a:r>
              <a:rPr lang="en-US" sz="1600" i="1" dirty="0">
                <a:solidFill>
                  <a:srgbClr val="F59E0B"/>
                </a:solidFill>
                <a:latin typeface="Cambria" pitchFamily="34" charset="0"/>
                <a:ea typeface="Cambria" pitchFamily="34" charset="-122"/>
                <a:cs typeface="Cambria" pitchFamily="34" charset="-120"/>
              </a:rPr>
              <a:t>Ceiling  ·  Detection  ·  Save points  ·  The tax</a:t>
            </a:r>
            <a:endParaRPr lang="en-US" sz="1600" dirty="0"/>
          </a:p>
        </p:txBody>
      </p:sp>
      <p:sp>
        <p:nvSpPr>
          <p:cNvPr id="6" name="Text 4"/>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Emmanuel Naweji  ·  github.com/Here2ServeU/agent-cost-control</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A</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Exercises: do these before Module 5</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457200" y="1325880"/>
            <a:ext cx="1938528"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21792"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01</a:t>
            </a:r>
            <a:endParaRPr lang="en-US" sz="2000" dirty="0"/>
          </a:p>
        </p:txBody>
      </p:sp>
      <p:sp>
        <p:nvSpPr>
          <p:cNvPr id="8" name="Text 6"/>
          <p:cNvSpPr txBox="1"/>
          <p:nvPr/>
        </p:nvSpPr>
        <p:spPr>
          <a:xfrm>
            <a:off x="621792" y="180136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Find your step distribution</a:t>
            </a:r>
            <a:endParaRPr lang="en-US" sz="1150" dirty="0"/>
          </a:p>
        </p:txBody>
      </p:sp>
      <p:sp>
        <p:nvSpPr>
          <p:cNvPr id="9" name="Text 7"/>
          <p:cNvSpPr txBox="1"/>
          <p:nvPr/>
        </p:nvSpPr>
        <p:spPr>
          <a:xfrm>
            <a:off x="621792" y="214884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Count the steps each successful run used. Find the number covering 95 of every 100.</a:t>
            </a:r>
            <a:endParaRPr lang="en-US" sz="900" dirty="0"/>
          </a:p>
        </p:txBody>
      </p:sp>
      <p:sp>
        <p:nvSpPr>
          <p:cNvPr id="10" name="Shape 8"/>
          <p:cNvSpPr/>
          <p:nvPr/>
        </p:nvSpPr>
        <p:spPr>
          <a:xfrm>
            <a:off x="2542032" y="1325880"/>
            <a:ext cx="1938528"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2706624"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02</a:t>
            </a:r>
            <a:endParaRPr lang="en-US" sz="2000" dirty="0"/>
          </a:p>
        </p:txBody>
      </p:sp>
      <p:sp>
        <p:nvSpPr>
          <p:cNvPr id="12" name="Text 10"/>
          <p:cNvSpPr txBox="1"/>
          <p:nvPr/>
        </p:nvSpPr>
        <p:spPr>
          <a:xfrm>
            <a:off x="2706624" y="180136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Pick a ceiling, name the cost</a:t>
            </a:r>
            <a:endParaRPr lang="en-US" sz="1150" dirty="0"/>
          </a:p>
        </p:txBody>
      </p:sp>
      <p:sp>
        <p:nvSpPr>
          <p:cNvPr id="13" name="Text 11"/>
          <p:cNvSpPr txBox="1"/>
          <p:nvPr/>
        </p:nvSpPr>
        <p:spPr>
          <a:xfrm>
            <a:off x="2706624" y="214884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Then write down how many real tasks it would have blocked last month, and say it out loud.</a:t>
            </a:r>
            <a:endParaRPr lang="en-US" sz="900" dirty="0"/>
          </a:p>
        </p:txBody>
      </p:sp>
      <p:sp>
        <p:nvSpPr>
          <p:cNvPr id="14" name="Shape 12"/>
          <p:cNvSpPr/>
          <p:nvPr/>
        </p:nvSpPr>
        <p:spPr>
          <a:xfrm>
            <a:off x="4626864" y="1325880"/>
            <a:ext cx="1938528"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4791456"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03</a:t>
            </a:r>
            <a:endParaRPr lang="en-US" sz="2000" dirty="0"/>
          </a:p>
        </p:txBody>
      </p:sp>
      <p:sp>
        <p:nvSpPr>
          <p:cNvPr id="16" name="Text 14"/>
          <p:cNvSpPr txBox="1"/>
          <p:nvPr/>
        </p:nvSpPr>
        <p:spPr>
          <a:xfrm>
            <a:off x="4791456" y="180136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Build the step limit</a:t>
            </a:r>
            <a:endParaRPr lang="en-US" sz="1150" dirty="0"/>
          </a:p>
        </p:txBody>
      </p:sp>
      <p:sp>
        <p:nvSpPr>
          <p:cNvPr id="17" name="Text 15"/>
          <p:cNvSpPr txBox="1"/>
          <p:nvPr/>
        </p:nvSpPr>
        <p:spPr>
          <a:xfrm>
            <a:off x="4791456" y="214884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Counter plus check. The stop message must distinguish a step limit from a budget cap.</a:t>
            </a:r>
            <a:endParaRPr lang="en-US" sz="900" dirty="0"/>
          </a:p>
        </p:txBody>
      </p:sp>
      <p:sp>
        <p:nvSpPr>
          <p:cNvPr id="18" name="Shape 16"/>
          <p:cNvSpPr/>
          <p:nvPr/>
        </p:nvSpPr>
        <p:spPr>
          <a:xfrm>
            <a:off x="6711696" y="1325880"/>
            <a:ext cx="1938528"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876288"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04</a:t>
            </a:r>
            <a:endParaRPr lang="en-US" sz="2000" dirty="0"/>
          </a:p>
        </p:txBody>
      </p:sp>
      <p:sp>
        <p:nvSpPr>
          <p:cNvPr id="20" name="Text 18"/>
          <p:cNvSpPr txBox="1"/>
          <p:nvPr/>
        </p:nvSpPr>
        <p:spPr>
          <a:xfrm>
            <a:off x="6876288" y="180136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Detect the simple loop</a:t>
            </a:r>
            <a:endParaRPr lang="en-US" sz="1150" dirty="0"/>
          </a:p>
        </p:txBody>
      </p:sp>
      <p:sp>
        <p:nvSpPr>
          <p:cNvPr id="21" name="Text 19"/>
          <p:cNvSpPr txBox="1"/>
          <p:nvPr/>
        </p:nvSpPr>
        <p:spPr>
          <a:xfrm>
            <a:off x="6876288" y="214884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Keep the last few calls as strings. Confirm your detector catches the loop before the ceiling does.</a:t>
            </a:r>
            <a:endParaRPr lang="en-US" sz="900" dirty="0"/>
          </a:p>
        </p:txBody>
      </p:sp>
      <p:sp>
        <p:nvSpPr>
          <p:cNvPr id="22" name="Shape 20"/>
          <p:cNvSpPr/>
          <p:nvPr/>
        </p:nvSpPr>
        <p:spPr>
          <a:xfrm>
            <a:off x="457200" y="2971800"/>
            <a:ext cx="1938528"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621792"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05</a:t>
            </a:r>
            <a:endParaRPr lang="en-US" sz="2000" dirty="0"/>
          </a:p>
        </p:txBody>
      </p:sp>
      <p:sp>
        <p:nvSpPr>
          <p:cNvPr id="24" name="Text 22"/>
          <p:cNvSpPr txBox="1"/>
          <p:nvPr/>
        </p:nvSpPr>
        <p:spPr>
          <a:xfrm>
            <a:off x="621792" y="344728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List what is safe to resume</a:t>
            </a:r>
            <a:endParaRPr lang="en-US" sz="1150" dirty="0"/>
          </a:p>
        </p:txBody>
      </p:sp>
      <p:sp>
        <p:nvSpPr>
          <p:cNvPr id="25" name="Text 23"/>
          <p:cNvSpPr txBox="1"/>
          <p:nvPr/>
        </p:nvSpPr>
        <p:spPr>
          <a:xfrm>
            <a:off x="621792" y="379476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One line per step. Reading is safe; sending, writing, charging, deleting are not.</a:t>
            </a:r>
            <a:endParaRPr lang="en-US" sz="900" dirty="0"/>
          </a:p>
        </p:txBody>
      </p:sp>
      <p:sp>
        <p:nvSpPr>
          <p:cNvPr id="26" name="Shape 24"/>
          <p:cNvSpPr/>
          <p:nvPr/>
        </p:nvSpPr>
        <p:spPr>
          <a:xfrm>
            <a:off x="2542032" y="2971800"/>
            <a:ext cx="1938528"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2706624"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06</a:t>
            </a:r>
            <a:endParaRPr lang="en-US" sz="2000" dirty="0"/>
          </a:p>
        </p:txBody>
      </p:sp>
      <p:sp>
        <p:nvSpPr>
          <p:cNvPr id="28" name="Text 26"/>
          <p:cNvSpPr txBox="1"/>
          <p:nvPr/>
        </p:nvSpPr>
        <p:spPr>
          <a:xfrm>
            <a:off x="2706624" y="344728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Build checkpoints</a:t>
            </a:r>
            <a:endParaRPr lang="en-US" sz="1150" dirty="0"/>
          </a:p>
        </p:txBody>
      </p:sp>
      <p:sp>
        <p:nvSpPr>
          <p:cNvPr id="29" name="Text 27"/>
          <p:cNvSpPr txBox="1"/>
          <p:nvPr/>
        </p:nvSpPr>
        <p:spPr>
          <a:xfrm>
            <a:off x="2706624" y="379476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Run ID, step number, results. Stop partway, restart with the same run ID, confirm it skips ahead.</a:t>
            </a:r>
            <a:endParaRPr lang="en-US" sz="900" dirty="0"/>
          </a:p>
        </p:txBody>
      </p:sp>
      <p:sp>
        <p:nvSpPr>
          <p:cNvPr id="30" name="Shape 28"/>
          <p:cNvSpPr/>
          <p:nvPr/>
        </p:nvSpPr>
        <p:spPr>
          <a:xfrm>
            <a:off x="4626864" y="2971800"/>
            <a:ext cx="1938528" cy="1481328"/>
          </a:xfrm>
          <a:prstGeom prst="roundRect">
            <a:avLst>
              <a:gd name="adj" fmla="val 4938"/>
            </a:avLst>
          </a:prstGeom>
          <a:solidFill>
            <a:srgbClr val="F3F4F6"/>
          </a:solidFill>
          <a:ln w="12700">
            <a:solidFill>
              <a:srgbClr val="F3F4F6"/>
            </a:solidFill>
            <a:prstDash val="solid"/>
          </a:ln>
        </p:spPr>
      </p:sp>
      <p:sp>
        <p:nvSpPr>
          <p:cNvPr id="31" name="Text 29"/>
          <p:cNvSpPr txBox="1"/>
          <p:nvPr/>
        </p:nvSpPr>
        <p:spPr>
          <a:xfrm>
            <a:off x="4791456"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07</a:t>
            </a:r>
            <a:endParaRPr lang="en-US" sz="2000" dirty="0"/>
          </a:p>
        </p:txBody>
      </p:sp>
      <p:sp>
        <p:nvSpPr>
          <p:cNvPr id="32" name="Text 30"/>
          <p:cNvSpPr txBox="1"/>
          <p:nvPr/>
        </p:nvSpPr>
        <p:spPr>
          <a:xfrm>
            <a:off x="4791456" y="344728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Prove the saving</a:t>
            </a:r>
            <a:endParaRPr lang="en-US" sz="1150" dirty="0"/>
          </a:p>
        </p:txBody>
      </p:sp>
      <p:sp>
        <p:nvSpPr>
          <p:cNvPr id="33" name="Text 31"/>
          <p:cNvSpPr txBox="1"/>
          <p:nvPr/>
        </p:nvSpPr>
        <p:spPr>
          <a:xfrm>
            <a:off x="4791456" y="379476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The same flaky task with checkpoints off and on. Keep both costs.</a:t>
            </a:r>
            <a:endParaRPr lang="en-US" sz="900" dirty="0"/>
          </a:p>
        </p:txBody>
      </p:sp>
      <p:sp>
        <p:nvSpPr>
          <p:cNvPr id="34" name="Shape 32"/>
          <p:cNvSpPr/>
          <p:nvPr/>
        </p:nvSpPr>
        <p:spPr>
          <a:xfrm>
            <a:off x="6711696" y="2971800"/>
            <a:ext cx="1938528" cy="1481328"/>
          </a:xfrm>
          <a:prstGeom prst="roundRect">
            <a:avLst>
              <a:gd name="adj" fmla="val 4938"/>
            </a:avLst>
          </a:prstGeom>
          <a:solidFill>
            <a:srgbClr val="111827"/>
          </a:solidFill>
          <a:ln w="12700">
            <a:solidFill>
              <a:srgbClr val="111827"/>
            </a:solidFill>
            <a:prstDash val="solid"/>
          </a:ln>
        </p:spPr>
      </p:sp>
      <p:sp>
        <p:nvSpPr>
          <p:cNvPr id="35" name="Text 33"/>
          <p:cNvSpPr txBox="1"/>
          <p:nvPr/>
        </p:nvSpPr>
        <p:spPr>
          <a:xfrm>
            <a:off x="6876288" y="3090672"/>
            <a:ext cx="731520" cy="365760"/>
          </a:xfrm>
          <a:prstGeom prst="rect">
            <a:avLst/>
          </a:prstGeom>
          <a:noFill/>
          <a:ln/>
        </p:spPr>
        <p:txBody>
          <a:bodyPr wrap="square" lIns="0" tIns="0" rIns="0" bIns="0" rtlCol="0" anchor="t"/>
          <a:lstStyle/>
          <a:p>
            <a:pPr indent="0" marL="0">
              <a:buNone/>
            </a:pPr>
            <a:r>
              <a:rPr lang="en-US" sz="2000" b="1" dirty="0">
                <a:solidFill>
                  <a:srgbClr val="F59E0B"/>
                </a:solidFill>
                <a:latin typeface="Cambria" pitchFamily="34" charset="0"/>
                <a:ea typeface="Cambria" pitchFamily="34" charset="-122"/>
                <a:cs typeface="Cambria" pitchFamily="34" charset="-120"/>
              </a:rPr>
              <a:t>08</a:t>
            </a:r>
            <a:endParaRPr lang="en-US" sz="2000" dirty="0"/>
          </a:p>
        </p:txBody>
      </p:sp>
      <p:sp>
        <p:nvSpPr>
          <p:cNvPr id="36" name="Text 34"/>
          <p:cNvSpPr txBox="1"/>
          <p:nvPr/>
        </p:nvSpPr>
        <p:spPr>
          <a:xfrm>
            <a:off x="6876288" y="3447288"/>
            <a:ext cx="1691640" cy="32004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Calculate your failed-run tax</a:t>
            </a:r>
            <a:endParaRPr lang="en-US" sz="1150" dirty="0"/>
          </a:p>
        </p:txBody>
      </p:sp>
      <p:sp>
        <p:nvSpPr>
          <p:cNvPr id="37" name="Text 35"/>
          <p:cNvSpPr txBox="1"/>
          <p:nvPr/>
        </p:nvSpPr>
        <p:spPr>
          <a:xfrm>
            <a:off x="6876288" y="3794760"/>
            <a:ext cx="1664208" cy="621792"/>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Total spend minus spend on successful runs, as a percentage. Write it down.</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the waste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457200" y="1325880"/>
            <a:ext cx="2606040"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4008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01</a:t>
            </a:r>
            <a:endParaRPr lang="en-US" sz="1100" dirty="0"/>
          </a:p>
        </p:txBody>
      </p:sp>
      <p:sp>
        <p:nvSpPr>
          <p:cNvPr id="8" name="Text 6"/>
          <p:cNvSpPr txBox="1"/>
          <p:nvPr/>
        </p:nvSpPr>
        <p:spPr>
          <a:xfrm>
            <a:off x="64008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Paying twice</a:t>
            </a:r>
            <a:endParaRPr lang="en-US" sz="1300" dirty="0"/>
          </a:p>
        </p:txBody>
      </p:sp>
      <p:sp>
        <p:nvSpPr>
          <p:cNvPr id="9" name="Text 7"/>
          <p:cNvSpPr txBox="1"/>
          <p:nvPr/>
        </p:nvSpPr>
        <p:spPr>
          <a:xfrm>
            <a:off x="64008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 retry starts from the beginning, not where it stopped. Three attempts at a 12-step task can cost 30 steps.</a:t>
            </a:r>
            <a:endParaRPr lang="en-US" sz="1000" dirty="0"/>
          </a:p>
        </p:txBody>
      </p:sp>
      <p:sp>
        <p:nvSpPr>
          <p:cNvPr id="10" name="Shape 8"/>
          <p:cNvSpPr/>
          <p:nvPr/>
        </p:nvSpPr>
        <p:spPr>
          <a:xfrm>
            <a:off x="3246120" y="1325880"/>
            <a:ext cx="2606040"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342900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02</a:t>
            </a:r>
            <a:endParaRPr lang="en-US" sz="1100" dirty="0"/>
          </a:p>
        </p:txBody>
      </p:sp>
      <p:sp>
        <p:nvSpPr>
          <p:cNvPr id="12" name="Text 10"/>
          <p:cNvSpPr txBox="1"/>
          <p:nvPr/>
        </p:nvSpPr>
        <p:spPr>
          <a:xfrm>
            <a:off x="342900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Loop</a:t>
            </a:r>
            <a:endParaRPr lang="en-US" sz="1300" dirty="0"/>
          </a:p>
        </p:txBody>
      </p:sp>
      <p:sp>
        <p:nvSpPr>
          <p:cNvPr id="13" name="Text 11"/>
          <p:cNvSpPr txBox="1"/>
          <p:nvPr/>
        </p:nvSpPr>
        <p:spPr>
          <a:xfrm>
            <a:off x="342900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The agent keeps going without getting closer to finishing; money spent on work that was never going to succeed.</a:t>
            </a:r>
            <a:endParaRPr lang="en-US" sz="1000" dirty="0"/>
          </a:p>
        </p:txBody>
      </p:sp>
      <p:sp>
        <p:nvSpPr>
          <p:cNvPr id="14" name="Shape 12"/>
          <p:cNvSpPr/>
          <p:nvPr/>
        </p:nvSpPr>
        <p:spPr>
          <a:xfrm>
            <a:off x="6035040" y="1325880"/>
            <a:ext cx="2606040"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621792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03</a:t>
            </a:r>
            <a:endParaRPr lang="en-US" sz="1100" dirty="0"/>
          </a:p>
        </p:txBody>
      </p:sp>
      <p:sp>
        <p:nvSpPr>
          <p:cNvPr id="16" name="Text 14"/>
          <p:cNvSpPr txBox="1"/>
          <p:nvPr/>
        </p:nvSpPr>
        <p:spPr>
          <a:xfrm>
            <a:off x="621792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Stuck loop</a:t>
            </a:r>
            <a:endParaRPr lang="en-US" sz="1300" dirty="0"/>
          </a:p>
        </p:txBody>
      </p:sp>
      <p:sp>
        <p:nvSpPr>
          <p:cNvPr id="17" name="Text 15"/>
          <p:cNvSpPr txBox="1"/>
          <p:nvPr/>
        </p:nvSpPr>
        <p:spPr>
          <a:xfrm>
            <a:off x="621792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The same call, over and over, identically. The easy one: catch it by remembering the last few calls.</a:t>
            </a:r>
            <a:endParaRPr lang="en-US" sz="1000" dirty="0"/>
          </a:p>
        </p:txBody>
      </p:sp>
      <p:sp>
        <p:nvSpPr>
          <p:cNvPr id="18" name="Shape 16"/>
          <p:cNvSpPr/>
          <p:nvPr/>
        </p:nvSpPr>
        <p:spPr>
          <a:xfrm>
            <a:off x="457200" y="2971800"/>
            <a:ext cx="2606040"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4008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64008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Bouncing loop</a:t>
            </a:r>
            <a:endParaRPr lang="en-US" sz="1300" dirty="0"/>
          </a:p>
        </p:txBody>
      </p:sp>
      <p:sp>
        <p:nvSpPr>
          <p:cNvPr id="21" name="Text 19"/>
          <p:cNvSpPr txBox="1"/>
          <p:nvPr/>
        </p:nvSpPr>
        <p:spPr>
          <a:xfrm>
            <a:off x="64008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Flipping between two things forever. Looks like progress because no single call repeats.</a:t>
            </a:r>
            <a:endParaRPr lang="en-US" sz="1000" dirty="0"/>
          </a:p>
        </p:txBody>
      </p:sp>
      <p:sp>
        <p:nvSpPr>
          <p:cNvPr id="22" name="Shape 20"/>
          <p:cNvSpPr/>
          <p:nvPr/>
        </p:nvSpPr>
        <p:spPr>
          <a:xfrm>
            <a:off x="3246120" y="2971800"/>
            <a:ext cx="2606040"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342900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05</a:t>
            </a:r>
            <a:endParaRPr lang="en-US" sz="1100" dirty="0"/>
          </a:p>
        </p:txBody>
      </p:sp>
      <p:sp>
        <p:nvSpPr>
          <p:cNvPr id="24" name="Text 22"/>
          <p:cNvSpPr txBox="1"/>
          <p:nvPr/>
        </p:nvSpPr>
        <p:spPr>
          <a:xfrm>
            <a:off x="342900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Drifting loop</a:t>
            </a:r>
            <a:endParaRPr lang="en-US" sz="1300" dirty="0"/>
          </a:p>
        </p:txBody>
      </p:sp>
      <p:sp>
        <p:nvSpPr>
          <p:cNvPr id="25" name="Text 23"/>
          <p:cNvSpPr txBox="1"/>
          <p:nvPr/>
        </p:nvSpPr>
        <p:spPr>
          <a:xfrm>
            <a:off x="342900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Always something slightly new, never finishing. No pattern to detect; only a step limit catches it.</a:t>
            </a:r>
            <a:endParaRPr lang="en-US" sz="1000" dirty="0"/>
          </a:p>
        </p:txBody>
      </p:sp>
      <p:sp>
        <p:nvSpPr>
          <p:cNvPr id="26" name="Shape 24"/>
          <p:cNvSpPr/>
          <p:nvPr/>
        </p:nvSpPr>
        <p:spPr>
          <a:xfrm>
            <a:off x="6035040" y="2971800"/>
            <a:ext cx="2606040"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621792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06</a:t>
            </a:r>
            <a:endParaRPr lang="en-US" sz="1100" dirty="0"/>
          </a:p>
        </p:txBody>
      </p:sp>
      <p:sp>
        <p:nvSpPr>
          <p:cNvPr id="28" name="Text 26"/>
          <p:cNvSpPr txBox="1"/>
          <p:nvPr/>
        </p:nvSpPr>
        <p:spPr>
          <a:xfrm>
            <a:off x="621792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Step limit (ceiling)</a:t>
            </a:r>
            <a:endParaRPr lang="en-US" sz="1300" dirty="0"/>
          </a:p>
        </p:txBody>
      </p:sp>
      <p:sp>
        <p:nvSpPr>
          <p:cNvPr id="29" name="Text 27"/>
          <p:cNvSpPr txBox="1"/>
          <p:nvPr/>
        </p:nvSpPr>
        <p:spPr>
          <a:xfrm>
            <a:off x="621792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Stop after this many steps, regardless. Pick it from your own data, and state what it would block.</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the fixes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457200" y="1325880"/>
            <a:ext cx="2606040"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4008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07</a:t>
            </a:r>
            <a:endParaRPr lang="en-US" sz="1100" dirty="0"/>
          </a:p>
        </p:txBody>
      </p:sp>
      <p:sp>
        <p:nvSpPr>
          <p:cNvPr id="8" name="Text 6"/>
          <p:cNvSpPr txBox="1"/>
          <p:nvPr/>
        </p:nvSpPr>
        <p:spPr>
          <a:xfrm>
            <a:off x="64008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Why you need both</a:t>
            </a:r>
            <a:endParaRPr lang="en-US" sz="1300" dirty="0"/>
          </a:p>
        </p:txBody>
      </p:sp>
      <p:sp>
        <p:nvSpPr>
          <p:cNvPr id="9" name="Text 7"/>
          <p:cNvSpPr txBox="1"/>
          <p:nvPr/>
        </p:nvSpPr>
        <p:spPr>
          <a:xfrm>
            <a:off x="64008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Detection catches patterns you can describe. A ceiling catches everything else, including shapes you have not met.</a:t>
            </a:r>
            <a:endParaRPr lang="en-US" sz="1000" dirty="0"/>
          </a:p>
        </p:txBody>
      </p:sp>
      <p:sp>
        <p:nvSpPr>
          <p:cNvPr id="10" name="Shape 8"/>
          <p:cNvSpPr/>
          <p:nvPr/>
        </p:nvSpPr>
        <p:spPr>
          <a:xfrm>
            <a:off x="3246120" y="1325880"/>
            <a:ext cx="2606040"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342900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08</a:t>
            </a:r>
            <a:endParaRPr lang="en-US" sz="1100" dirty="0"/>
          </a:p>
        </p:txBody>
      </p:sp>
      <p:sp>
        <p:nvSpPr>
          <p:cNvPr id="12" name="Text 10"/>
          <p:cNvSpPr txBox="1"/>
          <p:nvPr/>
        </p:nvSpPr>
        <p:spPr>
          <a:xfrm>
            <a:off x="342900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Checkpoint (save point)</a:t>
            </a:r>
            <a:endParaRPr lang="en-US" sz="1300" dirty="0"/>
          </a:p>
        </p:txBody>
      </p:sp>
      <p:sp>
        <p:nvSpPr>
          <p:cNvPr id="13" name="Text 11"/>
          <p:cNvSpPr txBox="1"/>
          <p:nvPr/>
        </p:nvSpPr>
        <p:spPr>
          <a:xfrm>
            <a:off x="342900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Finished work written down outside the program, so a restart does not begin at zero.</a:t>
            </a:r>
            <a:endParaRPr lang="en-US" sz="1000" dirty="0"/>
          </a:p>
        </p:txBody>
      </p:sp>
      <p:sp>
        <p:nvSpPr>
          <p:cNvPr id="14" name="Shape 12"/>
          <p:cNvSpPr/>
          <p:nvPr/>
        </p:nvSpPr>
        <p:spPr>
          <a:xfrm>
            <a:off x="6035040" y="1325880"/>
            <a:ext cx="2606040"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621792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09</a:t>
            </a:r>
            <a:endParaRPr lang="en-US" sz="1100" dirty="0"/>
          </a:p>
        </p:txBody>
      </p:sp>
      <p:sp>
        <p:nvSpPr>
          <p:cNvPr id="16" name="Text 14"/>
          <p:cNvSpPr txBox="1"/>
          <p:nvPr/>
        </p:nvSpPr>
        <p:spPr>
          <a:xfrm>
            <a:off x="621792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What to checkpoint</a:t>
            </a:r>
            <a:endParaRPr lang="en-US" sz="1300" dirty="0"/>
          </a:p>
        </p:txBody>
      </p:sp>
      <p:sp>
        <p:nvSpPr>
          <p:cNvPr id="17" name="Text 15"/>
          <p:cNvSpPr txBox="1"/>
          <p:nvPr/>
        </p:nvSpPr>
        <p:spPr>
          <a:xfrm>
            <a:off x="621792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Which step you reached, what you found, and the run ID. A file or a small table is enough.</a:t>
            </a:r>
            <a:endParaRPr lang="en-US" sz="1000" dirty="0"/>
          </a:p>
        </p:txBody>
      </p:sp>
      <p:sp>
        <p:nvSpPr>
          <p:cNvPr id="18" name="Shape 16"/>
          <p:cNvSpPr/>
          <p:nvPr/>
        </p:nvSpPr>
        <p:spPr>
          <a:xfrm>
            <a:off x="457200" y="2971800"/>
            <a:ext cx="2606040"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4008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10</a:t>
            </a:r>
            <a:endParaRPr lang="en-US" sz="1100" dirty="0"/>
          </a:p>
        </p:txBody>
      </p:sp>
      <p:sp>
        <p:nvSpPr>
          <p:cNvPr id="20" name="Text 18"/>
          <p:cNvSpPr txBox="1"/>
          <p:nvPr/>
        </p:nvSpPr>
        <p:spPr>
          <a:xfrm>
            <a:off x="64008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Safe to resume</a:t>
            </a:r>
            <a:endParaRPr lang="en-US" sz="1300" dirty="0"/>
          </a:p>
        </p:txBody>
      </p:sp>
      <p:sp>
        <p:nvSpPr>
          <p:cNvPr id="21" name="Text 19"/>
          <p:cNvSpPr txBox="1"/>
          <p:nvPr/>
        </p:nvSpPr>
        <p:spPr>
          <a:xfrm>
            <a:off x="64008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Steps that only read can run twice safely. Steps that send, write, charge or delete cannot.</a:t>
            </a:r>
            <a:endParaRPr lang="en-US" sz="1000" dirty="0"/>
          </a:p>
        </p:txBody>
      </p:sp>
      <p:sp>
        <p:nvSpPr>
          <p:cNvPr id="22" name="Shape 20"/>
          <p:cNvSpPr/>
          <p:nvPr/>
        </p:nvSpPr>
        <p:spPr>
          <a:xfrm>
            <a:off x="3246120" y="2971800"/>
            <a:ext cx="2606040"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342900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11</a:t>
            </a:r>
            <a:endParaRPr lang="en-US" sz="1100" dirty="0"/>
          </a:p>
        </p:txBody>
      </p:sp>
      <p:sp>
        <p:nvSpPr>
          <p:cNvPr id="24" name="Text 22"/>
          <p:cNvSpPr txBox="1"/>
          <p:nvPr/>
        </p:nvSpPr>
        <p:spPr>
          <a:xfrm>
            <a:off x="342900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The failed-run tax</a:t>
            </a:r>
            <a:endParaRPr lang="en-US" sz="1300" dirty="0"/>
          </a:p>
        </p:txBody>
      </p:sp>
      <p:sp>
        <p:nvSpPr>
          <p:cNvPr id="25" name="Text 23"/>
          <p:cNvSpPr txBox="1"/>
          <p:nvPr/>
        </p:nvSpPr>
        <p:spPr>
          <a:xfrm>
            <a:off x="342900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The share of spending that bought nothing: total spend minus spend on successful runs. Often 30 to 40 percent.</a:t>
            </a:r>
            <a:endParaRPr lang="en-US" sz="1000" dirty="0"/>
          </a:p>
        </p:txBody>
      </p:sp>
      <p:sp>
        <p:nvSpPr>
          <p:cNvPr id="26" name="Shape 24"/>
          <p:cNvSpPr/>
          <p:nvPr/>
        </p:nvSpPr>
        <p:spPr>
          <a:xfrm>
            <a:off x="6035040" y="2971800"/>
            <a:ext cx="2606040"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621792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12</a:t>
            </a:r>
            <a:endParaRPr lang="en-US" sz="1100" dirty="0"/>
          </a:p>
        </p:txBody>
      </p:sp>
      <p:sp>
        <p:nvSpPr>
          <p:cNvPr id="28" name="Text 26"/>
          <p:cNvSpPr txBox="1"/>
          <p:nvPr/>
        </p:nvSpPr>
        <p:spPr>
          <a:xfrm>
            <a:off x="621792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Fix this before models</a:t>
            </a:r>
            <a:endParaRPr lang="en-US" sz="1300" dirty="0"/>
          </a:p>
        </p:txBody>
      </p:sp>
      <p:sp>
        <p:nvSpPr>
          <p:cNvPr id="29" name="Text 27"/>
          <p:cNvSpPr txBox="1"/>
          <p:nvPr/>
        </p:nvSpPr>
        <p:spPr>
          <a:xfrm>
            <a:off x="621792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 cheaper model saves money and makes answers worse. Fixing the tax saves as much and makes them no worse.</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Running the samples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457200" y="1325880"/>
            <a:ext cx="8229600" cy="548640"/>
          </a:xfrm>
          <a:prstGeom prst="roundRect">
            <a:avLst>
              <a:gd name="adj" fmla="val 13333"/>
            </a:avLst>
          </a:prstGeom>
          <a:solidFill>
            <a:srgbClr val="F3F4F6"/>
          </a:solidFill>
          <a:ln w="12700">
            <a:solidFill>
              <a:srgbClr val="F3F4F6"/>
            </a:solidFill>
            <a:prstDash val="solid"/>
          </a:ln>
        </p:spPr>
      </p:sp>
      <p:sp>
        <p:nvSpPr>
          <p:cNvPr id="7" name="Text 5"/>
          <p:cNvSpPr txBox="1"/>
          <p:nvPr/>
        </p:nvSpPr>
        <p:spPr>
          <a:xfrm>
            <a:off x="594360" y="1325880"/>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MAX_STEPS=3 python3 run_agent.py …</a:t>
            </a:r>
            <a:endParaRPr lang="en-US" sz="850" dirty="0"/>
          </a:p>
        </p:txBody>
      </p:sp>
      <p:sp>
        <p:nvSpPr>
          <p:cNvPr id="8" name="Text 6"/>
          <p:cNvSpPr txBox="1"/>
          <p:nvPr/>
        </p:nvSpPr>
        <p:spPr>
          <a:xfrm>
            <a:off x="4023360" y="1325880"/>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Set the step ceiling for one command only, then run the agent.</a:t>
            </a:r>
            <a:endParaRPr lang="en-US" sz="1050" dirty="0"/>
          </a:p>
        </p:txBody>
      </p:sp>
      <p:sp>
        <p:nvSpPr>
          <p:cNvPr id="9" name="Shape 7"/>
          <p:cNvSpPr/>
          <p:nvPr/>
        </p:nvSpPr>
        <p:spPr>
          <a:xfrm>
            <a:off x="457200" y="1947672"/>
            <a:ext cx="8229600" cy="548640"/>
          </a:xfrm>
          <a:prstGeom prst="roundRect">
            <a:avLst>
              <a:gd name="adj" fmla="val 13333"/>
            </a:avLst>
          </a:prstGeom>
          <a:solidFill>
            <a:srgbClr val="FFFFFF"/>
          </a:solidFill>
          <a:ln w="12700">
            <a:solidFill>
              <a:srgbClr val="FFFFFF"/>
            </a:solidFill>
            <a:prstDash val="solid"/>
          </a:ln>
        </p:spPr>
      </p:sp>
      <p:sp>
        <p:nvSpPr>
          <p:cNvPr id="10" name="Text 8"/>
          <p:cNvSpPr txBox="1"/>
          <p:nvPr/>
        </p:nvSpPr>
        <p:spPr>
          <a:xfrm>
            <a:off x="594360" y="1947672"/>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--input samples/loop.json</a:t>
            </a:r>
            <a:endParaRPr lang="en-US" sz="850" dirty="0"/>
          </a:p>
        </p:txBody>
      </p:sp>
      <p:sp>
        <p:nvSpPr>
          <p:cNvPr id="11" name="Text 9"/>
          <p:cNvSpPr txBox="1"/>
          <p:nvPr/>
        </p:nvSpPr>
        <p:spPr>
          <a:xfrm>
            <a:off x="4023360" y="1947672"/>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 sample input that makes the agent repeat the same call, to test your detector.</a:t>
            </a:r>
            <a:endParaRPr lang="en-US" sz="1050" dirty="0"/>
          </a:p>
        </p:txBody>
      </p:sp>
      <p:sp>
        <p:nvSpPr>
          <p:cNvPr id="12" name="Shape 10"/>
          <p:cNvSpPr/>
          <p:nvPr/>
        </p:nvSpPr>
        <p:spPr>
          <a:xfrm>
            <a:off x="457200" y="2569464"/>
            <a:ext cx="8229600" cy="548640"/>
          </a:xfrm>
          <a:prstGeom prst="roundRect">
            <a:avLst>
              <a:gd name="adj" fmla="val 13333"/>
            </a:avLst>
          </a:prstGeom>
          <a:solidFill>
            <a:srgbClr val="F3F4F6"/>
          </a:solidFill>
          <a:ln w="12700">
            <a:solidFill>
              <a:srgbClr val="F3F4F6"/>
            </a:solidFill>
            <a:prstDash val="solid"/>
          </a:ln>
        </p:spPr>
      </p:sp>
      <p:sp>
        <p:nvSpPr>
          <p:cNvPr id="13" name="Text 11"/>
          <p:cNvSpPr txBox="1"/>
          <p:nvPr/>
        </p:nvSpPr>
        <p:spPr>
          <a:xfrm>
            <a:off x="594360" y="2569464"/>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--input samples/flaky.json</a:t>
            </a:r>
            <a:endParaRPr lang="en-US" sz="850" dirty="0"/>
          </a:p>
        </p:txBody>
      </p:sp>
      <p:sp>
        <p:nvSpPr>
          <p:cNvPr id="14" name="Text 12"/>
          <p:cNvSpPr txBox="1"/>
          <p:nvPr/>
        </p:nvSpPr>
        <p:spPr>
          <a:xfrm>
            <a:off x="4023360" y="2569464"/>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 sample that fails partway, so retries and checkpoints have something to work with.</a:t>
            </a:r>
            <a:endParaRPr lang="en-US" sz="1050" dirty="0"/>
          </a:p>
        </p:txBody>
      </p:sp>
      <p:sp>
        <p:nvSpPr>
          <p:cNvPr id="15" name="Shape 13"/>
          <p:cNvSpPr/>
          <p:nvPr/>
        </p:nvSpPr>
        <p:spPr>
          <a:xfrm>
            <a:off x="457200" y="3191256"/>
            <a:ext cx="8229600" cy="548640"/>
          </a:xfrm>
          <a:prstGeom prst="roundRect">
            <a:avLst>
              <a:gd name="adj" fmla="val 13333"/>
            </a:avLst>
          </a:prstGeom>
          <a:solidFill>
            <a:srgbClr val="FFFFFF"/>
          </a:solidFill>
          <a:ln w="12700">
            <a:solidFill>
              <a:srgbClr val="FFFFFF"/>
            </a:solidFill>
            <a:prstDash val="solid"/>
          </a:ln>
        </p:spPr>
      </p:sp>
      <p:sp>
        <p:nvSpPr>
          <p:cNvPr id="16" name="Text 14"/>
          <p:cNvSpPr txBox="1"/>
          <p:nvPr/>
        </p:nvSpPr>
        <p:spPr>
          <a:xfrm>
            <a:off x="594360" y="3191256"/>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--retries 3</a:t>
            </a:r>
            <a:endParaRPr lang="en-US" sz="850" dirty="0"/>
          </a:p>
        </p:txBody>
      </p:sp>
      <p:sp>
        <p:nvSpPr>
          <p:cNvPr id="17" name="Text 15"/>
          <p:cNvSpPr txBox="1"/>
          <p:nvPr/>
        </p:nvSpPr>
        <p:spPr>
          <a:xfrm>
            <a:off x="4023360" y="3191256"/>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 flag on the course script: try the task up to three times before giving up.</a:t>
            </a:r>
            <a:endParaRPr lang="en-US" sz="1050" dirty="0"/>
          </a:p>
        </p:txBody>
      </p:sp>
      <p:sp>
        <p:nvSpPr>
          <p:cNvPr id="18" name="Shape 16"/>
          <p:cNvSpPr/>
          <p:nvPr/>
        </p:nvSpPr>
        <p:spPr>
          <a:xfrm>
            <a:off x="457200" y="3813048"/>
            <a:ext cx="8229600" cy="548640"/>
          </a:xfrm>
          <a:prstGeom prst="roundRect">
            <a:avLst>
              <a:gd name="adj" fmla="val 13333"/>
            </a:avLst>
          </a:prstGeom>
          <a:solidFill>
            <a:srgbClr val="F3F4F6"/>
          </a:solidFill>
          <a:ln w="12700">
            <a:solidFill>
              <a:srgbClr val="F3F4F6"/>
            </a:solidFill>
            <a:prstDash val="solid"/>
          </a:ln>
        </p:spPr>
      </p:sp>
      <p:sp>
        <p:nvSpPr>
          <p:cNvPr id="19" name="Text 17"/>
          <p:cNvSpPr txBox="1"/>
          <p:nvPr/>
        </p:nvSpPr>
        <p:spPr>
          <a:xfrm>
            <a:off x="594360" y="3813048"/>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--run-id test-resume</a:t>
            </a:r>
            <a:endParaRPr lang="en-US" sz="850" dirty="0"/>
          </a:p>
        </p:txBody>
      </p:sp>
      <p:sp>
        <p:nvSpPr>
          <p:cNvPr id="20" name="Text 18"/>
          <p:cNvSpPr txBox="1"/>
          <p:nvPr/>
        </p:nvSpPr>
        <p:spPr>
          <a:xfrm>
            <a:off x="4023360" y="3813048"/>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Give the run a fixed name, so the second run finds the first run's checkpoint.</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Checking your work</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4</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457200" y="1325880"/>
            <a:ext cx="8229600" cy="548640"/>
          </a:xfrm>
          <a:prstGeom prst="roundRect">
            <a:avLst>
              <a:gd name="adj" fmla="val 13333"/>
            </a:avLst>
          </a:prstGeom>
          <a:solidFill>
            <a:srgbClr val="F3F4F6"/>
          </a:solidFill>
          <a:ln w="12700">
            <a:solidFill>
              <a:srgbClr val="F3F4F6"/>
            </a:solidFill>
            <a:prstDash val="solid"/>
          </a:ln>
        </p:spPr>
      </p:sp>
      <p:sp>
        <p:nvSpPr>
          <p:cNvPr id="7" name="Text 5"/>
          <p:cNvSpPr txBox="1"/>
          <p:nvPr/>
        </p:nvSpPr>
        <p:spPr>
          <a:xfrm>
            <a:off x="594360" y="1325880"/>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Control-C</a:t>
            </a:r>
            <a:endParaRPr lang="en-US" sz="850" dirty="0"/>
          </a:p>
        </p:txBody>
      </p:sp>
      <p:sp>
        <p:nvSpPr>
          <p:cNvPr id="8" name="Text 6"/>
          <p:cNvSpPr txBox="1"/>
          <p:nvPr/>
        </p:nvSpPr>
        <p:spPr>
          <a:xfrm>
            <a:off x="4023360" y="1325880"/>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Stop the running command by hand. Here it is how you interrupt a run partway through.</a:t>
            </a:r>
            <a:endParaRPr lang="en-US" sz="1050" dirty="0"/>
          </a:p>
        </p:txBody>
      </p:sp>
      <p:sp>
        <p:nvSpPr>
          <p:cNvPr id="9" name="Shape 7"/>
          <p:cNvSpPr/>
          <p:nvPr/>
        </p:nvSpPr>
        <p:spPr>
          <a:xfrm>
            <a:off x="457200" y="1947672"/>
            <a:ext cx="8229600" cy="548640"/>
          </a:xfrm>
          <a:prstGeom prst="roundRect">
            <a:avLst>
              <a:gd name="adj" fmla="val 13333"/>
            </a:avLst>
          </a:prstGeom>
          <a:solidFill>
            <a:srgbClr val="FFFFFF"/>
          </a:solidFill>
          <a:ln w="12700">
            <a:solidFill>
              <a:srgbClr val="FFFFFF"/>
            </a:solidFill>
            <a:prstDash val="solid"/>
          </a:ln>
        </p:spPr>
      </p:sp>
      <p:sp>
        <p:nvSpPr>
          <p:cNvPr id="10" name="Text 8"/>
          <p:cNvSpPr txBox="1"/>
          <p:nvPr/>
        </p:nvSpPr>
        <p:spPr>
          <a:xfrm>
            <a:off x="594360" y="1947672"/>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CHECKPOINTS=off   /   CHECKPOINTS=on</a:t>
            </a:r>
            <a:endParaRPr lang="en-US" sz="850" dirty="0"/>
          </a:p>
        </p:txBody>
      </p:sp>
      <p:sp>
        <p:nvSpPr>
          <p:cNvPr id="11" name="Text 9"/>
          <p:cNvSpPr txBox="1"/>
          <p:nvPr/>
        </p:nvSpPr>
        <p:spPr>
          <a:xfrm>
            <a:off x="4023360" y="1947672"/>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same task, twice, with save points disabled and enabled, so you can compare the cost.</a:t>
            </a:r>
            <a:endParaRPr lang="en-US" sz="1050" dirty="0"/>
          </a:p>
        </p:txBody>
      </p:sp>
      <p:sp>
        <p:nvSpPr>
          <p:cNvPr id="12" name="Shape 10"/>
          <p:cNvSpPr/>
          <p:nvPr/>
        </p:nvSpPr>
        <p:spPr>
          <a:xfrm>
            <a:off x="457200" y="2569464"/>
            <a:ext cx="8229600" cy="548640"/>
          </a:xfrm>
          <a:prstGeom prst="roundRect">
            <a:avLst>
              <a:gd name="adj" fmla="val 13333"/>
            </a:avLst>
          </a:prstGeom>
          <a:solidFill>
            <a:srgbClr val="F3F4F6"/>
          </a:solidFill>
          <a:ln w="12700">
            <a:solidFill>
              <a:srgbClr val="F3F4F6"/>
            </a:solidFill>
            <a:prstDash val="solid"/>
          </a:ln>
        </p:spPr>
      </p:sp>
      <p:sp>
        <p:nvSpPr>
          <p:cNvPr id="13" name="Text 11"/>
          <p:cNvSpPr txBox="1"/>
          <p:nvPr/>
        </p:nvSpPr>
        <p:spPr>
          <a:xfrm>
            <a:off x="594360" y="2569464"/>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python3 failed_run_tax.py --since 30d</a:t>
            </a:r>
            <a:endParaRPr lang="en-US" sz="850" dirty="0"/>
          </a:p>
        </p:txBody>
      </p:sp>
      <p:sp>
        <p:nvSpPr>
          <p:cNvPr id="14" name="Text 12"/>
          <p:cNvSpPr txBox="1"/>
          <p:nvPr/>
        </p:nvSpPr>
        <p:spPr>
          <a:xfrm>
            <a:off x="4023360" y="2569464"/>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Your own small script: read the last 30 days of runs and print the wasted percentage.</a:t>
            </a:r>
            <a:endParaRPr lang="en-US" sz="1050" dirty="0"/>
          </a:p>
        </p:txBody>
      </p:sp>
      <p:sp>
        <p:nvSpPr>
          <p:cNvPr id="15" name="Shape 13"/>
          <p:cNvSpPr/>
          <p:nvPr/>
        </p:nvSpPr>
        <p:spPr>
          <a:xfrm>
            <a:off x="457200" y="3191256"/>
            <a:ext cx="8229600" cy="548640"/>
          </a:xfrm>
          <a:prstGeom prst="roundRect">
            <a:avLst>
              <a:gd name="adj" fmla="val 13333"/>
            </a:avLst>
          </a:prstGeom>
          <a:solidFill>
            <a:srgbClr val="FFFFFF"/>
          </a:solidFill>
          <a:ln w="12700">
            <a:solidFill>
              <a:srgbClr val="FFFFFF"/>
            </a:solidFill>
            <a:prstDash val="solid"/>
          </a:ln>
        </p:spPr>
      </p:sp>
      <p:sp>
        <p:nvSpPr>
          <p:cNvPr id="16" name="Text 14"/>
          <p:cNvSpPr txBox="1"/>
          <p:nvPr/>
        </p:nvSpPr>
        <p:spPr>
          <a:xfrm>
            <a:off x="594360" y="3191256"/>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cat checkpoints.json   /   Get-Content</a:t>
            </a:r>
            <a:endParaRPr lang="en-US" sz="850" dirty="0"/>
          </a:p>
        </p:txBody>
      </p:sp>
      <p:sp>
        <p:nvSpPr>
          <p:cNvPr id="17" name="Text 15"/>
          <p:cNvSpPr txBox="1"/>
          <p:nvPr/>
        </p:nvSpPr>
        <p:spPr>
          <a:xfrm>
            <a:off x="4023360" y="3191256"/>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Print the checkpoint file to confirm the finished steps really were written down.</a:t>
            </a:r>
            <a:endParaRPr lang="en-US" sz="1050" dirty="0"/>
          </a:p>
        </p:txBody>
      </p:sp>
      <p:sp>
        <p:nvSpPr>
          <p:cNvPr id="18" name="Shape 16"/>
          <p:cNvSpPr/>
          <p:nvPr/>
        </p:nvSpPr>
        <p:spPr>
          <a:xfrm>
            <a:off x="457200" y="3813048"/>
            <a:ext cx="8229600" cy="548640"/>
          </a:xfrm>
          <a:prstGeom prst="roundRect">
            <a:avLst>
              <a:gd name="adj" fmla="val 13333"/>
            </a:avLst>
          </a:prstGeom>
          <a:solidFill>
            <a:srgbClr val="F3F4F6"/>
          </a:solidFill>
          <a:ln w="12700">
            <a:solidFill>
              <a:srgbClr val="F3F4F6"/>
            </a:solidFill>
            <a:prstDash val="solid"/>
          </a:ln>
        </p:spPr>
      </p:sp>
      <p:sp>
        <p:nvSpPr>
          <p:cNvPr id="19" name="Text 17"/>
          <p:cNvSpPr txBox="1"/>
          <p:nvPr/>
        </p:nvSpPr>
        <p:spPr>
          <a:xfrm>
            <a:off x="594360" y="3813048"/>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grep -c 'usage'</a:t>
            </a:r>
            <a:endParaRPr lang="en-US" sz="850" dirty="0"/>
          </a:p>
        </p:txBody>
      </p:sp>
      <p:sp>
        <p:nvSpPr>
          <p:cNvPr id="20" name="Text 18"/>
          <p:cNvSpPr txBox="1"/>
          <p:nvPr/>
        </p:nvSpPr>
        <p:spPr>
          <a:xfrm>
            <a:off x="4023360" y="3813048"/>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From module 1: count model calls, so you can compare the first run with the resumed one.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Loops, Retries, and the Cost of Failure</dc:title>
  <dc:subject>PptxGenJS Presentation</dc:subject>
  <dc:creator>Emmanuel Naweji</dc:creator>
  <cp:lastModifiedBy>Emmanuel Naweji</cp:lastModifiedBy>
  <cp:revision>1</cp:revision>
  <dcterms:created xsi:type="dcterms:W3CDTF">2026-09-23T17:31:26Z</dcterms:created>
  <dcterms:modified xsi:type="dcterms:W3CDTF">2026-09-23T17:31:26Z</dcterms:modified>
</cp:coreProperties>
</file>