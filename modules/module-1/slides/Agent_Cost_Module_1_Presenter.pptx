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 Script" id="{551fa5af-8d26-3583-828d-941345ab7963}">
          <p14:sldIdLst>
            <p14:sldId id="256"/>
            <p14:sldId id="257"/>
            <p14:sldId id="258"/>
          </p14:sldIdLst>
        </p14:section>
        <p14:section name="Setup · Script" id="{fed4842a-3245-f452-899c-e8c64d43e213}">
          <p14:sldIdLst>
            <p14:sldId id="259"/>
            <p14:sldId id="260"/>
          </p14:sldIdLst>
        </p14:section>
        <p14:section name="01 · Script" id="{df74bd4b-c381-befd-ee2a-83f4cff96379}">
          <p14:sldIdLst>
            <p14:sldId id="261"/>
            <p14:sldId id="262"/>
          </p14:sldIdLst>
        </p14:section>
        <p14:section name="01 · iPad" id="{a7b6993f-4058-0cd2-e1c2-c73eeb51a8c6}">
          <p14:sldIdLst>
            <p14:sldId id="263"/>
          </p14:sldIdLst>
        </p14:section>
        <p14:section name="01 · Script (cont.)" id="{973fae28-70a7-9eaa-bde5-9e3b55d172de}">
          <p14:sldIdLst>
            <p14:sldId id="264"/>
          </p14:sldIdLst>
        </p14:section>
        <p14:section name="02 · Script" id="{dfc0e471-086d-d943-bbd2-71461f9f7fc9}">
          <p14:sldIdLst>
            <p14:sldId id="265"/>
            <p14:sldId id="266"/>
          </p14:sldIdLst>
        </p14:section>
        <p14:section name="02 · iPad" id="{bcf0b35f-a415-f837-f0bb-f55a9cdc50f4}">
          <p14:sldIdLst>
            <p14:sldId id="267"/>
          </p14:sldIdLst>
        </p14:section>
        <p14:section name="03 · Script" id="{07ab44e6-8d46-9cd3-23ec-ff93bb0f14ed}">
          <p14:sldIdLst>
            <p14:sldId id="268"/>
            <p14:sldId id="269"/>
          </p14:sldIdLst>
        </p14:section>
        <p14:section name="03 · iPad" id="{822b8d9e-5424-68fb-7cc7-93735f0cf197}">
          <p14:sldIdLst>
            <p14:sldId id="270"/>
          </p14:sldIdLst>
        </p14:section>
        <p14:section name="04 · Script" id="{055966a4-684c-2026-e79a-9f1bad1ca8a5}">
          <p14:sldIdLst>
            <p14:sldId id="271"/>
            <p14:sldId id="272"/>
          </p14:sldIdLst>
        </p14:section>
        <p14:section name="04 · iPad" id="{29037fc9-bda7-288b-b8f7-3c371edbaaa7}">
          <p14:sldIdLst>
            <p14:sldId id="273"/>
          </p14:sldIdLst>
        </p14:section>
        <p14:section name="05 · Script" id="{65759fea-62fe-862b-57d0-53ef1cb417a0}">
          <p14:sldIdLst>
            <p14:sldId id="274"/>
            <p14:sldId id="275"/>
            <p14:sldId id="276"/>
          </p14:sldIdLst>
        </p14:section>
        <p14:section name="05 · iPad" id="{d1bce007-0d3e-6c4a-1541-2dcdba5fa5ee}">
          <p14:sldIdLst>
            <p14:sldId id="277"/>
          </p14:sldIdLst>
        </p14:section>
        <p14:section name="06 · Script" id="{38f279ec-326c-14a4-8ea4-e46846df6d38}">
          <p14:sldIdLst>
            <p14:sldId id="278"/>
            <p14:sldId id="279"/>
          </p14:sldIdLst>
        </p14:section>
        <p14:section name="06 · Terminal (VS Code)" id="{1bb3205f-2d6a-48b2-4cc2-2fe3c7f6f5d0}">
          <p14:sldIdLst>
            <p14:sldId id="280"/>
            <p14:sldId id="281"/>
            <p14:sldId id="282"/>
            <p14:sldId id="283"/>
            <p14:sldId id="284"/>
            <p14:sldId id="285"/>
            <p14:sldId id="286"/>
            <p14:sldId id="287"/>
          </p14:sldIdLst>
        </p14:section>
        <p14:section name="Wrap-up · Script" id="{a7516a87-e201-21b1-1dfd-572b11cb0275}">
          <p14:sldIdLst>
            <p14:sldId id="288"/>
            <p14:sldId id="289"/>
            <p14:sldId id="290"/>
          </p14:sldIdLst>
        </p14:section>
        <p14:section name="Appendix · Reference" id="{18df225d-a902-cba5-b183-44a624dbf465}">
          <p14:sldIdLst>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Agent Cost Is Different
Traditional compute cost scales with traffic. Agent cost scales with reasoning — and reasoning is unbounded unless you bound it. This module is the argument for everything that follows: what actually drives the number, why your existing tooling cannot see it, and which unit is the only one worth reporting.
[Presenter: Presenter Emmanuel Naweji · Runtime ~45 min · 6 sections · Course repo github.com/Here2ServeU/agent-cost-control]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compute cost scales with traffic. Agent cost scales with reasoning — and reasoning is unbounded unless you bound it. This module is the argument for everything that follows: what actually drives the number, why your existing tooling cannot see it, and which unit is the only one worth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at a glance. Sections 1–5 build the argument; section 6 is hands-on — you price your own agent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Before we type anything, make sure the machine is ready. On a Mac, install Homebrew from brew.sh, then brew install python git, and the VS Code cask. On Windows 11, winget already ships with the operating system: winget install Python.Python.3.12, Git.Git, and Microsoft.VisualStudioCode. Then check the versions print. On Windows the Python command is py; on a Mac it is python3. Everything else in this module assumes those three are installed and that you can open a terminal inside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If your machine is not set up yet, stop here and watch the video for your computer. The Mac one is youtu.be/8ZIiXg4XOY0; the Windows one is youtu.be/3e2-GRBibWc. Both walk you through Git, Python and Visual Studio Code from a blank machine, in order. The official pages underneath are there if you would rather read than watch, or if you hit something the video does not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with a failure, because it explains this entire course better than any definition would.
A team puts an agent into production. It processes records from a queue — reads one, reasons about it, calls a few tools, produces a result. It works. It has been working for weeks.
At twenty to midnight, a malformed record enters the queue. The agent reads it, tries to complete the task, fails, and retries. Which is exactly what it was built to do.
It retries again. And again. The record is malformed in a way that means it can never succeed, and nothing in the system knows that, so the agent does the only thing it knows how to do, roughly four hundred times an hour, for nine and a half hours.
At quarter past nine the next morning, somebody opens the provider dashboard for an unrelated reason and finds four thousand two hundred dollars of spend overnight.
Now here is the part I want you to sit with, because it's the part that matters.
Nothing alerted. Not one thing.
CPU was normal — the agent is I/O bound, it's waiting on API calls. Memory was flat. The error rate was zero, because from the service's point of view nothing errored: every API call returned two hundred. Latency looked fine. Uptime was a hundred percent. Every dashboard that team had was green for the entire nine and a half hours.
The agent was working exactly as designed. It was handed a task it could not complete, and it kept trying, because that is the behaviour they asked for.
Cost was the only signal that moved. And nothing was watching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timeline first, then the green dashboard row underneath — the contrast is the point.
SAY:
Let's draw that night, because the shape of it is the shape of the problem.
Every dashboard green. One line climbing. Nothing connecting them.
DRAW (full steps):
1.  Draw a horizontal timeline across the middle of your page with four marked points: 23:40, 23:41, 03:00, and 09:15.
2.  Label them in order: a malformed record enters the queue; the agent retries, and retries, and retries; still looping, nobody is awake; someone opens the provider dashboard.
3.  Above the timeline, draw a line climbing steadily from left to right, and label it spend. At the right-hand end write the number: four thousand two hundred dollars, in nine and a half hours.
4.  Underneath the timeline, draw a row of five small panels and label them CPU, Memory, Error rate, Latency, Uptime. Write a healthy value in each one — normal, normal, zero percent, p95 fine, a hundred percent. Shade all five green.
5.  At the bottom of the page write three lines: the agent was working exactly as designed; no exception was raised and no threshold was crossed, because nobody had set one; cost is the only signal that moved.
THEN SAY:
That row of green panels is the honest picture of most agent deployments right now. Every traditional signal is telling you the system is healthy, and every one of them is correct. They are measuring the wrong thing, because agent failure does not look like traditional failure. Traditional failure is loud and stops. Agent failure is quiet and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about that story before we move on. The instinct afterwards is always to blame the malformed record — to say the real problem was bad input validation.
It wasn't. Bad input is normal. Queues contain malformed records; that is a permanent condition of running software. You cannot validate your way out of this, because the next runaway will come from something you didn't anticipate.
The actual problem is that the system had no concept of what it was allowed to spend. There was no ceiling, nothing watching the rate, and no way to attribute the spend to the agent that caused it even after the fact.
That's what we're fixing across these six modules. Not better input handling — bounded, visible, attributable spend.
→  Next: why the number got that large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what actually drives that number, because the arithmetic is genuinely different from anything you've costed before.
For a traditional service, cost is roughly requests times cost-per-request. It's linear. Double the traffic, double the bill. You can capacity-plan it on a napkin, and everyone in this field has done exactly that a hundred times.
For an agent, the formula has four terms, and they multiply: requests, times steps, times tokens, times retries.
Take those one at a time. Requests you control — that's your traffic, same as always. Steps is how many times the agent loops through its reasoning cycle before it produces an answer, and that varies per request depending on how hard the task turns out to be. Tokens is how much text moves through the model on each of those steps. And retries multiplies whatever you had by however many attempts it takes.
The reason this matters isn't that the numbers are bigger. It's that three of those four terms are determined by the work itself rather than by you. You did not decide that this particular record would take nineteen steps instead of four. The agent decided, at runtime, based on input you don't control.
That's the structural difference. In traditional capacity planning, you own every variable. Here you own one of four.
And the retry term is the one that does the real damage, because a retry is not one more API call. It's the entire subtree again. Twelve steps became twenty-four. If it retries three times before giving up, you have paid for forty-eight steps and produced zero successful outcomes.
That last case is worth naming explicitly: you can spend four times the normal cost of a task and get nothing at all. There's no traditional analogue for that. A failed HTTP request costs you almost nothing. A failed agent run can cost you more than a successful one, because failure usually means it tried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Build the tree downward, then draw the retry boundary around the whole thing last.
SAY:
Let's draw the multiplication, because seeing it as a tree makes the retry problem obvious in a way the formula doesn't.
The dashed boundary is the retry. It encloses everything, and it goes back to the top.
DRAW (full steps):
1.  At the top of your page, write the formula in large letters: requests, times steps, times tokens, times retries.
2.  Underneath, draw a single circle and label it ONE REQUEST.
3.  Below that, draw a row of five smaller circles, numbered one to five, with lines connecting each one up to the request circle. Write TWELVE STEPS beside the row with a trailing ellipsis — we're only drawing five of them.
4.  Under each step circle, draw three tiny circles with short lines up to it. Label the row roughly two thousand four hundred tokens each.
5.  Now draw a dashed boundary around the entire step-and-token region — everything except the original request circle.
6.  Draw a dashed arrow from the bottom-right of that boundary, curving all the way around and back up to the request circle at the top. Label it: a retry is not one more call, it is this entire subtree again.
7.  At the bottom, draw three rows showing the same task three ways: succeeds first time, twelve steps, one outcome. Fails at step nine and retries once, twenty-four steps, one outcome. Fails three times then gives up, forty-eight steps, zero outcomes.
THEN SAY:
Those three rows are the whole module in miniature. Same task, same tokens per step, and the cost of getting one outcome ranges from twelve step-units to infinity — because the third row produced no outcome at all, so cost per outcome is undefined. We'll come back to that in module five, because it turns out to be the only honest way to report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question worth asking before we build anything: you already have cost tooling. Cloud billing dashboards, tagging, maybe an OpenCost or Kubecost deployment. Why doesn't any of it help?
Three reasons, and they're all structural rather than fixable by configuration.
First, the shape of the cost curve. Traditional compute cost correlates with traffic — that's the assumption every cost tool is built on. Agent cost correlates with reasoning difficulty, which does not track traffic at all. You can have a quiet afternoon with three requests that each took forty steps, and a busy one with four hundred requests that each took two. The quiet afternoon costs more. Every anomaly detector you own is watching the wrong axis.
Second, attribution. Your cloud bill shows one line item for the model provider. One. It cannot tell you which agent spent it, which team owns that agent, which customer the work was for, or whether the run succeeded. All of that context exists only inside your application, at the moment of the call, and if you don't capture it there it is gone forever.
Third, the provider console is better but still insufficient. It'll show you total tokens, usually broken down by API key and model. That gives you a crude split if you're disciplined about keys. What it cannot give you is run boundaries — it has no idea that these eleven calls were one logical task and those four were another — and it has no idea whether any of it produced a useful outcome.
So the honest position is: the data you need does not exist anywhere yet. Nobody is withholding it. It has to be created, at the call site, by you. That's module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Two charts side by side, then the three tooling boxes underneath.
SAY:
Let's draw the two cost curves side by side, and then what each tool can actually attribute.
Left is what every cost tool assumes. Right is what you actually have.
DRAW (full steps):
1.  Split the top of your page into two panels. Title the left TRADITIONAL COMPUTE, noted: cost scales with traffic. Title the right AGENT WORKLOAD, noted: cost scales with reasoning.
2.  In the left panel, draw a simple pair of axes with dollars going up and traffic going across, and draw a straight diagonal line rising steadily. Underneath write: predictable, linear, boring.
3.  In the right panel, draw the same axes, but draw a line that is mostly low with several sharp spikes reaching near the top, and no clear relationship to the horizontal axis. Underneath write: spiky, unbounded, uncorrelated.
4.  Below both, draw three boxes side by side. Title them YOUR CLOUD BILL, THE PROVIDER CONSOLE, and WHAT YOU NEED.
5.  Under the cloud bill write what it has — one line item for the provider — then a dividing line, then what it lacks: no per-agent, no per-team, no per-run.
6.  Under the provider console write: total tokens by API key. Then what it lacks: no business context, no run boundaries, no outcome.
7.  Under the third write: cost per run, per agent, per team — and cost per successful outcome. Colour this one differently from the other two.
THEN SAY:
That third box is what we're building toward, and I want to be clear that it isn't exotic. It's four labels and a counter. The reason almost nobody has it isn't difficulty — it's that agents arrived faster than the operational practice around them, and most teams are still assuming their existing cost tooling covers this. It doesn't, and the gap is invisible until the morning somebody opens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but consequential section, because this detail changes what you optimise and most people get it backwards.
Every model call has two token counts: input, which is everything you send, and output, which is everything the model generates. They're metered separately and priced differently — output typically costs three to five times the input rate, depending on the provider and model.
Now here's what's specific to agents. Agent calls are unusually input-heavy.
Think about what goes into one step. The system prompt, which for a capable agent is often long. The tool definitions, which are verbose — every tool's schema, every parameter description. The conversation history so far. And the current state of whatever it's working on.
And what comes back? Usually a single tool call. A short structured decision. Maybe two hundred tokens against two thousand two hundred going in.
So you have roughly a ten-to-one token ratio. But because output is priced three to five times higher, that is not a ten-to-one cost ratio — it's closer to two or three to one. Still input-dominated, but nothing like what the token counts alone suggest.
Which is exactly why you capture both counts separately from the very first line of instrumentation. Never infer one from the other, and never assume the ratio holds across different agents. A summarisation agent inverts it completely.
And there's one more thing, which is the piece that surprises people. That input number grows with every step.
Step one sends the system prompt, the tools, and the task. Step twelve sends the system prompt, the tools, the task, and eleven steps of accumulated history. So a twelve-step run does not cost twelve times step one. It costs substantially more, because the input side is growing as you go.
That has a practical consequence worth holding onto: long runs are superlinear. When we get to max-step ceilings in module four, this is the reason a ceiling of twenty is not merely twice as expensive as a ceiling of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two bars proportionally — the visual imbalance is the teaching.
SAY:
Let's draw one step by token type, and then the thing that makes long runs expensive.
Draw the bars to scale. The imbalance is the point.
DRAW (full steps):
1.  Draw a wide panel and title it: one agent step, by token type.
2.  Inside it, draw a long horizontal bar taking most of the width. Label it INPUT, and inside write what it contains: system prompt, tool definitions, history, and the conversation so far. Put a token count at the right-hand end — roughly two thousand two hundred.
3.  Underneath, draw a much shorter bar, maybe a twelfth of the width. Label it OUTPUT, and beside it write: one tool call, or a short decision. Put its count at the same right-hand position — roughly two hundred.
4.  Below that, draw two boxes side by side. In the left write: but output costs more — typically three to five times the input rate — so a ten-to-one token ratio is not a ten-to-one cost ratio.
5.  In the right write: which is why you measure — never assume the ratio, capture both counts separately from the first line of code.
6.  At the bottom, draw one final wide box and write: input grows with every step. Step one sends the prompt. Step twelve sends the prompt plus eleven steps of history. A long run does not cost twelve times step one — it costs considerably more.
THEN SAY:
That final box is the one to remember when someone proposes raising a step limit to improve success rates. It's often the right call — but it's a superlinear cost decision, not a linear one, and it should be made with that understood rather than discovered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conceptual section, and it's the one that determines whether the rest of this course produces anything useful.
You've got a pile of token counts. What number do you actually report? There are three candidates, and only one survives contact with a finance conversation.
Candidate one: cost per token. This is what the provider gives you, and on its own it is close to useless. Nobody buys tokens. It tells you nothing about whether the work was worth doing. Reporting cost per token to a business stakeholder is like reporting cost per CPU cycle — technically true, operationally meaningless.
Candidate two: cost per request. Better, and this is where most teams stop, because it maps onto how they've always thought about services. The problem is that it hides retries completely. Two requests with identical recorded cost might have produced one useful outcome and none at all, and cost per request cannot distinguish them.
Candidate three: cost per successful task. This is the one. It includes the failures in the denominator, and it maps directly onto something a business actually recognises — a resolved ticket, a processed document, a decision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why the difference is not academic.
Take one afternoon. A hundred requests. Sixty-two succeeded. Thirty-eight failed, and importantly they failed after consuming tokens — they didn't fail fast, they tried hard and gave up. Nineteen dollars spent in total.
Report cost per request: nineteen dollars over a hundred requests, four cents each. That sounds fine. Nobody in a review is going to blink at four cents.
Report cost per successful task: nineteen dollars over sixty-two successes, about nineteen cents. Nearly five times higher.
Same afternoon. Same money. Two numbers that lead to completely different conversations — and only one of them is true, in the sense of describing what you actually got for the spend.
This is also, incidentally, the number that makes the case for the rest of this course. When you cut your failure rate, cost per successful task falls even if total spend is unchanged. That's the improvement you can actually take to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Three cards across the top, then the worked afternoon underneath.
SAY:
Let's draw all three side by side, and then the same afternoon measured all three ways.
Three numbers, one afternoon. Only one of them is honest.
DRAW (full steps):
1.  Draw three tall cards across your page. Put a small marker at the top of each — a cross on the first, a tilde on the second, a tick on the third.
2.  Card one: COST PER TOKEN, noted what the provider gives you. Put a tiny figure in a dark box — three millionths of a dollar. Underneath write: useless on its own, nobody buys tokens, it tells you nothing about whether the work was worth it.
3.  Card two: COST PER REQUEST, noted what traditional ops assumes. Figure: four cents. Underneath: better, but it hides the retries — two requests with identical cost may have produced one outcome or none.
4.  Card three: COST PER SUCCESSFUL TASK, noted the only one that survives. Figure: nineteen cents. Underneath: includes the failures in the denominator, and maps directly to a business unit — a ticket, a document, a decision.
5.  Underneath all three, draw a wide box and write the worked example: a hundred requests, sixty-two succeeded, thirty-eight failed after consuming tokens, nineteen dollars spent.
6.  Then three lines: report cost per request and it looks like four cents, reasonable. Report cost per successful task and it is nineteen cents, nearly five times higher. Same afternoon, same money — only one of those numbers is true.
THEN SAY:
Keep this page. Module five builds this metric properly, including the genuinely hard part, which is defining what counts as success before you can measure it. But the argument for why it's worth the trouble is right here on this card, and it's the argument you'll need when someone asks why you're instrumenting all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instrumentation yet — that's module two. In this module we do it by hand, once, because the manual calculation is what makes the automated one meaningful later.
You need an agent to work with. Use your own if you have one. If not, clone the course repository, which has a deliberately uninstrumented agent with a known input that sends it into a loop — we'll be using that agent for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 TYPE THIS] Production note — Two terminals or one — doesn't matter here. The important beat is the pause after the second run, when the learner sees the gap.
Let's price two runs by hand and compare them.
$ git clone https://github.com/Here2ServeU/agent-cost-control &amp;&amp; cd agent-cost-control
Look at what's in here before running anything. There's an agent, a handful of sample inputs, and no cost instrumentation of any kind. That's deliberate — it's the state most agents are actually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 TYPE THIS]
$ export ANTHROPIC_API_KEY=your-key-here
Environment variable, not a config file. Same discipline as any other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 TYPE THIS]
$ python3 run_agent.py --input samples/normal.json --verbose
Verbose mode prints the raw usage block from each API response. Every major provider returns one, and it contains the two numbers we care about — input tokens and output tokens, per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 WORK IT OUT]
Now do the arithmetic by hand. Add up the input tokens across every call in that run. Then the output tokens. Then multiply each by the current per-token rate from your provider's pricing page, and add them together. Write the number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 TYPE THIS]
$ python3 run_agent.py --input samples/normal.json --verbose | grep -c 'usage'
That counts how many model calls the run made — your step count. Write that down too. You now have three numbers for a healthy run: steps, tokens,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 TYPE THIS]
Now the interesting one. The samples directory contains a record that the agent cannot successfully process. Run it — but put a hard timeout on the command, because the whole point is that it will not stop on its own.
$ timeout 120 python3 run_agent.py --input samples/malformed.json --verbose
Two minutes. That's all we're giving it, and I'd strongly encourage you not to remove that timeout out of curiosity — this is real money and the whole premise of the module is that it doesn't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 TYPE THIS]
$ timeout 120 python3 run_agent.py --input samples/malformed.json --verbose | grep -c 'usage'
Count the calls it made in two minutes. Do the same arithmetic. Then extrapolate: multiply by thirty to get an hour, and by the number of hours you'd realistically take to notice. Overnight is nine or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 WORK IT OUT]
That extrapolated number is the one to write down and keep. It's the cost of one unnoticed loop in your own environment, with your own agent and your own model — not my four thousand two hundred dollars, yours. Every control we build over the next five modules is measured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module one. No code was instrumented and nothing was capped — deliberately. What you have instead is the argument, and your own number attached to it.
To recap: agent cost multiplies rather than adds, and three of its four terms are decided by the work rather than by you. Your existing cost tooling is structurally unable to attribute any of it, because the context only exists at the call site. Input and output are priced differently, input dominates in agent workloads, and it grows with every step so long runs are superlinear. And of the three candidate units, only cost per successful task survives a real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I'd ask you to actually do before module two. Take your extrapolated overnight number to whoever owns the budget for your agent, and ask them a single question: is that an acceptable worst case?
The answer is almost always no, and it's usually the first time anyone has framed it that way. That conversation is what turns this from an engineering side-project into something with organisational support behind it — and support is what you'll want when module three starts adding limits that can block production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two makes all of this visible: instrumenting the agent so every run emits cost, tokens, and identity as a metric you can actually query. See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 Exercises. Full text:
1. Price one healthy run, by hand — Run the agent on a normal input with verbose output. Sum input and output tokens separately, multiply by current rates, and write down the total. Doing this manually once is what makes the automated version meaningful.
2. Count the steps — Count how many model calls that single run made. Divide your total cost by that number to get cost per step. Keep it — module 4 compares against it.
3. Measure the input/output ratio — For your own agent, compute the ratio of input to output tokens. Then compute the ratio of input COST to output cost. Note how different those two ratios are.
4. Watch input grow — Print the input token count for each step of a multi-step run. Plot them. Confirm for yourself that step twelve sends far more than step one — this is the superlinear effect, in your own data.
5. Run the loop, with a timeout — Run the malformed input under a hard 120-second timeout. Count the calls. Do not remove the timeout — that is real money and the point is already made.
6. Extrapolate your own number — From the two-minute sample, calculate the cost of an unnoticed overnight loop in YOUR environment. This number is the baseline for the entire course.
7. Compute all three units — Take any batch of runs you have. Compute cost per token, cost per request, and cost per successful task. Write down how different the last one is — for most agents it is 2–5× the cost per request.
8. Ask the budget question — Take your overnight number to whoever owns the spend and ask: is that an acceptable worst case? Record the answer. It is the organisational mandate for everything in modules 3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The multiplication problem — Agent cost = requests × steps × tokens × retries. Traditional cost adds; agent cost multiplies. Three of those four terms are determined by the work rather than by you.
02 Step — One pass through the agent's reasoning cycle — typically one model call plus any tool invocations it triggers. Step count varies per request based on task difficulty.
03 Retry as a subtree — A retry is not one additional call. It re-executes the entire step-and-token tree. Three retries on a twelve-step task is forty-eight steps for a possible zero outcomes.
04 Input tokens — Everything sent to the model: system prompt, tool definitions, conversation history, current state. In agent workloads this dominates — often 10:1 against output.
05 Output tokens — Everything the model generates. Typically priced 3–5× higher than input, so a 10:1 token ratio is closer to a 2–3:1 cost ratio.
06 Superlinear run cost — Input grows with every step, because each step resends the accumulated history. A twelve-step run costs considerably more than twelve times step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The usage block — The per-call token counts returned by every major provider's API response. The raw material for all cost instrumentation — and it is discarded by default.
08 Cost per token — What the provider reports. Useless in isolation — nobody buys tokens, and it says nothing about whether the work was worth doing.
09 Cost per request — Where most teams stop. Hides retries completely: two requests with identical cost may have produced one outcome or none.
10 Cost per successful task — Total spend divided by successful outcomes, with failures included in the numerator. The only unit that survives a finance conversation.
11 The attribution gap — Which agent, which team, which run, which outcome — this context exists only at the call site. If you do not capture it there it is permanently unrecoverable.
12 The quiet failure — Traditional failure is loud and stops. Agent failure is quiet and continues — every conventional health signal stays green while spend climbs.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youtu.be/8ZIiXg4XOY0" TargetMode="External"/><Relationship Id="rId2" Type="http://schemas.openxmlformats.org/officeDocument/2006/relationships/hyperlink" Target="https://youtu.be/3e2-GRBibWc" TargetMode="External"/><Relationship Id="rId3" Type="http://schemas.openxmlformats.org/officeDocument/2006/relationships/hyperlink" Target="https://python.org/downloads" TargetMode="External"/><Relationship Id="rId4" Type="http://schemas.openxmlformats.org/officeDocument/2006/relationships/hyperlink" Target="https://git-scm.com/downloads" TargetMode="External"/><Relationship Id="rId5" Type="http://schemas.openxmlformats.org/officeDocument/2006/relationships/hyperlink" Target="https://code.visualstudio.com/docs/getstarted/introvideos" TargetMode="External"/><Relationship Id="rId6" Type="http://schemas.openxmlformats.org/officeDocument/2006/relationships/hyperlink" Target="https://git-scm.com/videos"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274320"/>
          </a:xfrm>
          <a:prstGeom prst="rect">
            <a:avLst/>
          </a:prstGeom>
          <a:noFill/>
          <a:ln/>
        </p:spPr>
        <p:txBody>
          <a:bodyPr wrap="square" lIns="0" tIns="0" rIns="0" bIns="0"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MODULE 1 OF 6</a:t>
            </a:r>
            <a:endParaRPr lang="en-US" sz="1100" dirty="0"/>
          </a:p>
        </p:txBody>
      </p:sp>
      <p:sp>
        <p:nvSpPr>
          <p:cNvPr id="3" name="Text 1"/>
          <p:cNvSpPr txBox="1"/>
          <p:nvPr/>
        </p:nvSpPr>
        <p:spPr>
          <a:xfrm>
            <a:off x="548640" y="1234440"/>
            <a:ext cx="7772400" cy="15544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Why Agent Cost</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Is Different</a:t>
            </a:r>
            <a:endParaRPr lang="en-US" sz="4800" dirty="0"/>
          </a:p>
        </p:txBody>
      </p:sp>
      <p:sp>
        <p:nvSpPr>
          <p:cNvPr id="4" name="Text 2"/>
          <p:cNvSpPr txBox="1"/>
          <p:nvPr/>
        </p:nvSpPr>
        <p:spPr>
          <a:xfrm>
            <a:off x="548640" y="2880360"/>
            <a:ext cx="7772400" cy="457200"/>
          </a:xfrm>
          <a:prstGeom prst="rect">
            <a:avLst/>
          </a:prstGeom>
          <a:noFill/>
          <a:ln/>
        </p:spPr>
        <p:txBody>
          <a:bodyPr wrap="square" lIns="0" tIns="0" rIns="0" bIns="0" rtlCol="0" anchor="ctr"/>
          <a:lstStyle/>
          <a:p>
            <a:pPr indent="0" marL="0">
              <a:buNone/>
            </a:pPr>
            <a:r>
              <a:rPr lang="en-US" sz="1800" dirty="0">
                <a:solidFill>
                  <a:srgbClr val="9CA3AF"/>
                </a:solidFill>
                <a:latin typeface="Calibri" pitchFamily="34" charset="0"/>
                <a:ea typeface="Calibri" pitchFamily="34" charset="-122"/>
                <a:cs typeface="Calibri" pitchFamily="34" charset="-120"/>
              </a:rPr>
              <a:t>Traditional compute cost scales with traffic. </a:t>
            </a:r>
            <a:pPr indent="0" marL="0">
              <a:buNone/>
            </a:pPr>
            <a:r>
              <a:rPr lang="en-US" sz="1800" b="1" dirty="0">
                <a:solidFill>
                  <a:srgbClr val="FFFFFF"/>
                </a:solidFill>
                <a:latin typeface="Calibri" pitchFamily="34" charset="0"/>
                <a:ea typeface="Calibri" pitchFamily="34" charset="-122"/>
                <a:cs typeface="Calibri" pitchFamily="34" charset="-120"/>
              </a:rPr>
              <a:t>Agent cost scales with reasoning.</a:t>
            </a:r>
            <a:endParaRPr lang="en-US" sz="1800" dirty="0"/>
          </a:p>
        </p:txBody>
      </p:sp>
      <p:sp>
        <p:nvSpPr>
          <p:cNvPr id="5" name="Text 3"/>
          <p:cNvSpPr txBox="1"/>
          <p:nvPr/>
        </p:nvSpPr>
        <p:spPr>
          <a:xfrm>
            <a:off x="548640" y="3931920"/>
            <a:ext cx="1920240" cy="228600"/>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PRESENTER</a:t>
            </a:r>
            <a:endParaRPr lang="en-US" sz="900" dirty="0"/>
          </a:p>
        </p:txBody>
      </p:sp>
      <p:sp>
        <p:nvSpPr>
          <p:cNvPr id="6" name="Text 4"/>
          <p:cNvSpPr txBox="1"/>
          <p:nvPr/>
        </p:nvSpPr>
        <p:spPr>
          <a:xfrm>
            <a:off x="548640" y="4160520"/>
            <a:ext cx="192024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Emmanuel Naweji</a:t>
            </a:r>
            <a:endParaRPr lang="en-US" sz="1200" dirty="0"/>
          </a:p>
        </p:txBody>
      </p:sp>
      <p:sp>
        <p:nvSpPr>
          <p:cNvPr id="7" name="Text 5"/>
          <p:cNvSpPr txBox="1"/>
          <p:nvPr/>
        </p:nvSpPr>
        <p:spPr>
          <a:xfrm>
            <a:off x="2651760" y="3931920"/>
            <a:ext cx="1920240" cy="228600"/>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RUNTIME</a:t>
            </a:r>
            <a:endParaRPr lang="en-US" sz="900" dirty="0"/>
          </a:p>
        </p:txBody>
      </p:sp>
      <p:sp>
        <p:nvSpPr>
          <p:cNvPr id="8" name="Text 6"/>
          <p:cNvSpPr txBox="1"/>
          <p:nvPr/>
        </p:nvSpPr>
        <p:spPr>
          <a:xfrm>
            <a:off x="2651760" y="4160520"/>
            <a:ext cx="192024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~45 min · 6 sections</a:t>
            </a:r>
            <a:endParaRPr lang="en-US" sz="1200" dirty="0"/>
          </a:p>
        </p:txBody>
      </p:sp>
      <p:sp>
        <p:nvSpPr>
          <p:cNvPr id="9" name="Text 7"/>
          <p:cNvSpPr txBox="1"/>
          <p:nvPr/>
        </p:nvSpPr>
        <p:spPr>
          <a:xfrm>
            <a:off x="4754880" y="3931920"/>
            <a:ext cx="3840480" cy="228600"/>
          </a:xfrm>
          <a:prstGeom prst="rect">
            <a:avLst/>
          </a:prstGeom>
          <a:noFill/>
          <a:ln/>
        </p:spPr>
        <p:txBody>
          <a:bodyPr wrap="square" lIns="0" tIns="0" rIns="0" bIns="0"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COURSE REPO</a:t>
            </a:r>
            <a:endParaRPr lang="en-US" sz="900" dirty="0"/>
          </a:p>
        </p:txBody>
      </p:sp>
      <p:sp>
        <p:nvSpPr>
          <p:cNvPr id="10" name="Text 8"/>
          <p:cNvSpPr txBox="1"/>
          <p:nvPr/>
        </p:nvSpPr>
        <p:spPr>
          <a:xfrm>
            <a:off x="4754880" y="4160520"/>
            <a:ext cx="384048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github.com/Here2ServeU/agent-cost-control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THE ARGUMENT FOR EVERYTHING THAT FOLLOWS</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731520"/>
            <a:ext cx="8229600" cy="1371600"/>
          </a:xfrm>
          <a:prstGeom prst="rect">
            <a:avLst/>
          </a:prstGeom>
          <a:noFill/>
          <a:ln/>
        </p:spPr>
        <p:txBody>
          <a:bodyPr wrap="square" lIns="0" tIns="0" rIns="0" bIns="0" rtlCol="0" anchor="t"/>
          <a:lstStyle/>
          <a:p>
            <a:pPr indent="0" marL="0">
              <a:buNone/>
            </a:pPr>
            <a:r>
              <a:rPr lang="en-US" sz="3600" b="1" dirty="0">
                <a:solidFill>
                  <a:srgbClr val="111827"/>
                </a:solidFill>
                <a:latin typeface="Cambria" pitchFamily="34" charset="0"/>
                <a:ea typeface="Cambria" pitchFamily="34" charset="-122"/>
                <a:cs typeface="Cambria" pitchFamily="34" charset="-120"/>
              </a:rPr>
              <a:t>Reasoning is unbounded;</a:t>
            </a:r>
            <a:endParaRPr lang="en-US" sz="3600" dirty="0"/>
          </a:p>
          <a:p>
            <a:pPr indent="0" marL="0">
              <a:buNone/>
            </a:pPr>
            <a:r>
              <a:rPr lang="en-US" sz="3600" b="1" dirty="0">
                <a:solidFill>
                  <a:srgbClr val="111827"/>
                </a:solidFill>
                <a:latin typeface="Cambria" pitchFamily="34" charset="0"/>
                <a:ea typeface="Cambria" pitchFamily="34" charset="-122"/>
                <a:cs typeface="Cambria" pitchFamily="34" charset="-120"/>
              </a:rPr>
              <a:t>you have to bound it.</a:t>
            </a:r>
            <a:endParaRPr lang="en-US" sz="3600" dirty="0"/>
          </a:p>
        </p:txBody>
      </p:sp>
      <p:sp>
        <p:nvSpPr>
          <p:cNvPr id="6" name="Shape 4"/>
          <p:cNvSpPr/>
          <p:nvPr/>
        </p:nvSpPr>
        <p:spPr>
          <a:xfrm>
            <a:off x="457200" y="2514600"/>
            <a:ext cx="2606040" cy="1920240"/>
          </a:xfrm>
          <a:prstGeom prst="roundRect">
            <a:avLst>
              <a:gd name="adj" fmla="val 3810"/>
            </a:avLst>
          </a:prstGeom>
          <a:solidFill>
            <a:srgbClr val="F3F4F6"/>
          </a:solidFill>
          <a:ln w="12700">
            <a:solidFill>
              <a:srgbClr val="F3F4F6"/>
            </a:solidFill>
            <a:prstDash val="solid"/>
          </a:ln>
        </p:spPr>
      </p:sp>
      <p:sp>
        <p:nvSpPr>
          <p:cNvPr id="7" name="Text 5"/>
          <p:cNvSpPr txBox="1"/>
          <p:nvPr/>
        </p:nvSpPr>
        <p:spPr>
          <a:xfrm>
            <a:off x="685800" y="2697480"/>
            <a:ext cx="914400" cy="41148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01</a:t>
            </a:r>
            <a:endParaRPr lang="en-US" sz="2400" dirty="0"/>
          </a:p>
        </p:txBody>
      </p:sp>
      <p:sp>
        <p:nvSpPr>
          <p:cNvPr id="8" name="Text 6"/>
          <p:cNvSpPr txBox="1"/>
          <p:nvPr/>
        </p:nvSpPr>
        <p:spPr>
          <a:xfrm>
            <a:off x="685800" y="3108960"/>
            <a:ext cx="2194560" cy="50292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What drives the number</a:t>
            </a:r>
            <a:endParaRPr lang="en-US" sz="1500" dirty="0"/>
          </a:p>
        </p:txBody>
      </p:sp>
      <p:sp>
        <p:nvSpPr>
          <p:cNvPr id="9" name="Text 7"/>
          <p:cNvSpPr txBox="1"/>
          <p:nvPr/>
        </p:nvSpPr>
        <p:spPr>
          <a:xfrm>
            <a:off x="685800" y="3657600"/>
            <a:ext cx="219456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Cost multiplies across four terms; and the work decides three of them.</a:t>
            </a:r>
            <a:endParaRPr lang="en-US" sz="1200" dirty="0"/>
          </a:p>
        </p:txBody>
      </p:sp>
      <p:sp>
        <p:nvSpPr>
          <p:cNvPr id="10" name="Shape 8"/>
          <p:cNvSpPr/>
          <p:nvPr/>
        </p:nvSpPr>
        <p:spPr>
          <a:xfrm>
            <a:off x="3246120" y="2514600"/>
            <a:ext cx="2606040" cy="1920240"/>
          </a:xfrm>
          <a:prstGeom prst="roundRect">
            <a:avLst>
              <a:gd name="adj" fmla="val 3810"/>
            </a:avLst>
          </a:prstGeom>
          <a:solidFill>
            <a:srgbClr val="F3F4F6"/>
          </a:solidFill>
          <a:ln w="12700">
            <a:solidFill>
              <a:srgbClr val="F3F4F6"/>
            </a:solidFill>
            <a:prstDash val="solid"/>
          </a:ln>
        </p:spPr>
      </p:sp>
      <p:sp>
        <p:nvSpPr>
          <p:cNvPr id="11" name="Text 9"/>
          <p:cNvSpPr txBox="1"/>
          <p:nvPr/>
        </p:nvSpPr>
        <p:spPr>
          <a:xfrm>
            <a:off x="3474720" y="2697480"/>
            <a:ext cx="914400" cy="41148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02</a:t>
            </a:r>
            <a:endParaRPr lang="en-US" sz="2400" dirty="0"/>
          </a:p>
        </p:txBody>
      </p:sp>
      <p:sp>
        <p:nvSpPr>
          <p:cNvPr id="12" name="Text 10"/>
          <p:cNvSpPr txBox="1"/>
          <p:nvPr/>
        </p:nvSpPr>
        <p:spPr>
          <a:xfrm>
            <a:off x="3474720" y="3108960"/>
            <a:ext cx="2194560" cy="50292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Why your tools can't see it</a:t>
            </a:r>
            <a:endParaRPr lang="en-US" sz="1500" dirty="0"/>
          </a:p>
        </p:txBody>
      </p:sp>
      <p:sp>
        <p:nvSpPr>
          <p:cNvPr id="13" name="Text 11"/>
          <p:cNvSpPr txBox="1"/>
          <p:nvPr/>
        </p:nvSpPr>
        <p:spPr>
          <a:xfrm>
            <a:off x="3474720" y="3657600"/>
            <a:ext cx="219456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Bills and consoles have no agents, no runs, no outcomes.</a:t>
            </a:r>
            <a:endParaRPr lang="en-US" sz="1200" dirty="0"/>
          </a:p>
        </p:txBody>
      </p:sp>
      <p:sp>
        <p:nvSpPr>
          <p:cNvPr id="14" name="Shape 12"/>
          <p:cNvSpPr/>
          <p:nvPr/>
        </p:nvSpPr>
        <p:spPr>
          <a:xfrm>
            <a:off x="6035040" y="2514600"/>
            <a:ext cx="2606040" cy="1920240"/>
          </a:xfrm>
          <a:prstGeom prst="roundRect">
            <a:avLst>
              <a:gd name="adj" fmla="val 3810"/>
            </a:avLst>
          </a:prstGeom>
          <a:solidFill>
            <a:srgbClr val="F3F4F6"/>
          </a:solidFill>
          <a:ln w="12700">
            <a:solidFill>
              <a:srgbClr val="F3F4F6"/>
            </a:solidFill>
            <a:prstDash val="solid"/>
          </a:ln>
        </p:spPr>
      </p:sp>
      <p:sp>
        <p:nvSpPr>
          <p:cNvPr id="15" name="Text 13"/>
          <p:cNvSpPr txBox="1"/>
          <p:nvPr/>
        </p:nvSpPr>
        <p:spPr>
          <a:xfrm>
            <a:off x="6263640" y="2697480"/>
            <a:ext cx="914400" cy="41148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03</a:t>
            </a:r>
            <a:endParaRPr lang="en-US" sz="2400" dirty="0"/>
          </a:p>
        </p:txBody>
      </p:sp>
      <p:sp>
        <p:nvSpPr>
          <p:cNvPr id="16" name="Text 14"/>
          <p:cNvSpPr txBox="1"/>
          <p:nvPr/>
        </p:nvSpPr>
        <p:spPr>
          <a:xfrm>
            <a:off x="6263640" y="3108960"/>
            <a:ext cx="2194560" cy="50292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only unit worth reporting</a:t>
            </a:r>
            <a:endParaRPr lang="en-US" sz="1500" dirty="0"/>
          </a:p>
        </p:txBody>
      </p:sp>
      <p:sp>
        <p:nvSpPr>
          <p:cNvPr id="17" name="Text 15"/>
          <p:cNvSpPr txBox="1"/>
          <p:nvPr/>
        </p:nvSpPr>
        <p:spPr>
          <a:xfrm>
            <a:off x="6263640" y="3657600"/>
            <a:ext cx="219456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Cost per successful task: failures included.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SECTIONS AT A GLANCE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sections, one argument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325880"/>
            <a:ext cx="2606040" cy="1325880"/>
          </a:xfrm>
          <a:prstGeom prst="roundRect">
            <a:avLst>
              <a:gd name="adj" fmla="val 5517"/>
            </a:avLst>
          </a:prstGeom>
          <a:solidFill>
            <a:srgbClr val="F3F4F6"/>
          </a:solidFill>
          <a:ln w="12700">
            <a:solidFill>
              <a:srgbClr val="F3F4F6"/>
            </a:solidFill>
            <a:prstDash val="solid"/>
          </a:ln>
        </p:spPr>
      </p:sp>
      <p:sp>
        <p:nvSpPr>
          <p:cNvPr id="7" name="Text 5"/>
          <p:cNvSpPr txBox="1"/>
          <p:nvPr/>
        </p:nvSpPr>
        <p:spPr>
          <a:xfrm>
            <a:off x="685800" y="150876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01</a:t>
            </a:r>
            <a:endParaRPr lang="en-US" sz="2800" dirty="0"/>
          </a:p>
        </p:txBody>
      </p:sp>
      <p:sp>
        <p:nvSpPr>
          <p:cNvPr id="8" name="Text 6"/>
          <p:cNvSpPr txBox="1"/>
          <p:nvPr/>
        </p:nvSpPr>
        <p:spPr>
          <a:xfrm>
            <a:off x="1920240" y="157276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9" name="Text 7"/>
          <p:cNvSpPr txBox="1"/>
          <p:nvPr/>
        </p:nvSpPr>
        <p:spPr>
          <a:xfrm>
            <a:off x="685800" y="2057400"/>
            <a:ext cx="2194560" cy="5029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3am Runaway</a:t>
            </a:r>
            <a:endParaRPr lang="en-US" sz="1400" dirty="0"/>
          </a:p>
        </p:txBody>
      </p:sp>
      <p:sp>
        <p:nvSpPr>
          <p:cNvPr id="10" name="Shape 8"/>
          <p:cNvSpPr/>
          <p:nvPr/>
        </p:nvSpPr>
        <p:spPr>
          <a:xfrm>
            <a:off x="3246120" y="1325880"/>
            <a:ext cx="2606040" cy="1325880"/>
          </a:xfrm>
          <a:prstGeom prst="roundRect">
            <a:avLst>
              <a:gd name="adj" fmla="val 5517"/>
            </a:avLst>
          </a:prstGeom>
          <a:solidFill>
            <a:srgbClr val="F3F4F6"/>
          </a:solidFill>
          <a:ln w="12700">
            <a:solidFill>
              <a:srgbClr val="F3F4F6"/>
            </a:solidFill>
            <a:prstDash val="solid"/>
          </a:ln>
        </p:spPr>
      </p:sp>
      <p:sp>
        <p:nvSpPr>
          <p:cNvPr id="11" name="Text 9"/>
          <p:cNvSpPr txBox="1"/>
          <p:nvPr/>
        </p:nvSpPr>
        <p:spPr>
          <a:xfrm>
            <a:off x="3474720" y="150876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02</a:t>
            </a:r>
            <a:endParaRPr lang="en-US" sz="2800" dirty="0"/>
          </a:p>
        </p:txBody>
      </p:sp>
      <p:sp>
        <p:nvSpPr>
          <p:cNvPr id="12" name="Text 10"/>
          <p:cNvSpPr txBox="1"/>
          <p:nvPr/>
        </p:nvSpPr>
        <p:spPr>
          <a:xfrm>
            <a:off x="4709160" y="157276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~9 min</a:t>
            </a:r>
            <a:endParaRPr lang="en-US" sz="1100" dirty="0"/>
          </a:p>
        </p:txBody>
      </p:sp>
      <p:sp>
        <p:nvSpPr>
          <p:cNvPr id="13" name="Text 11"/>
          <p:cNvSpPr txBox="1"/>
          <p:nvPr/>
        </p:nvSpPr>
        <p:spPr>
          <a:xfrm>
            <a:off x="3474720" y="2057400"/>
            <a:ext cx="2194560" cy="5029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Multiplication Problem</a:t>
            </a:r>
            <a:endParaRPr lang="en-US" sz="1400" dirty="0"/>
          </a:p>
        </p:txBody>
      </p:sp>
      <p:sp>
        <p:nvSpPr>
          <p:cNvPr id="14" name="Shape 12"/>
          <p:cNvSpPr/>
          <p:nvPr/>
        </p:nvSpPr>
        <p:spPr>
          <a:xfrm>
            <a:off x="6035040" y="1325880"/>
            <a:ext cx="2606040" cy="1325880"/>
          </a:xfrm>
          <a:prstGeom prst="roundRect">
            <a:avLst>
              <a:gd name="adj" fmla="val 5517"/>
            </a:avLst>
          </a:prstGeom>
          <a:solidFill>
            <a:srgbClr val="F3F4F6"/>
          </a:solidFill>
          <a:ln w="12700">
            <a:solidFill>
              <a:srgbClr val="F3F4F6"/>
            </a:solidFill>
            <a:prstDash val="solid"/>
          </a:ln>
        </p:spPr>
      </p:sp>
      <p:sp>
        <p:nvSpPr>
          <p:cNvPr id="15" name="Text 13"/>
          <p:cNvSpPr txBox="1"/>
          <p:nvPr/>
        </p:nvSpPr>
        <p:spPr>
          <a:xfrm>
            <a:off x="6263640" y="150876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03</a:t>
            </a:r>
            <a:endParaRPr lang="en-US" sz="2800" dirty="0"/>
          </a:p>
        </p:txBody>
      </p:sp>
      <p:sp>
        <p:nvSpPr>
          <p:cNvPr id="16" name="Text 14"/>
          <p:cNvSpPr txBox="1"/>
          <p:nvPr/>
        </p:nvSpPr>
        <p:spPr>
          <a:xfrm>
            <a:off x="7498080" y="157276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17" name="Text 15"/>
          <p:cNvSpPr txBox="1"/>
          <p:nvPr/>
        </p:nvSpPr>
        <p:spPr>
          <a:xfrm>
            <a:off x="6263640" y="2057400"/>
            <a:ext cx="2194560" cy="5029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Why Your Cloud Bill Cannot See This</a:t>
            </a:r>
            <a:endParaRPr lang="en-US" sz="1400" dirty="0"/>
          </a:p>
        </p:txBody>
      </p:sp>
      <p:sp>
        <p:nvSpPr>
          <p:cNvPr id="18" name="Shape 16"/>
          <p:cNvSpPr/>
          <p:nvPr/>
        </p:nvSpPr>
        <p:spPr>
          <a:xfrm>
            <a:off x="457200" y="2834640"/>
            <a:ext cx="2606040" cy="1325880"/>
          </a:xfrm>
          <a:prstGeom prst="roundRect">
            <a:avLst>
              <a:gd name="adj" fmla="val 5517"/>
            </a:avLst>
          </a:prstGeom>
          <a:solidFill>
            <a:srgbClr val="F3F4F6"/>
          </a:solidFill>
          <a:ln w="12700">
            <a:solidFill>
              <a:srgbClr val="F3F4F6"/>
            </a:solidFill>
            <a:prstDash val="solid"/>
          </a:ln>
        </p:spPr>
      </p:sp>
      <p:sp>
        <p:nvSpPr>
          <p:cNvPr id="19" name="Text 17"/>
          <p:cNvSpPr txBox="1"/>
          <p:nvPr/>
        </p:nvSpPr>
        <p:spPr>
          <a:xfrm>
            <a:off x="685800" y="301752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04</a:t>
            </a:r>
            <a:endParaRPr lang="en-US" sz="2800" dirty="0"/>
          </a:p>
        </p:txBody>
      </p:sp>
      <p:sp>
        <p:nvSpPr>
          <p:cNvPr id="20" name="Text 18"/>
          <p:cNvSpPr txBox="1"/>
          <p:nvPr/>
        </p:nvSpPr>
        <p:spPr>
          <a:xfrm>
            <a:off x="1920240" y="308152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21" name="Text 19"/>
          <p:cNvSpPr txBox="1"/>
          <p:nvPr/>
        </p:nvSpPr>
        <p:spPr>
          <a:xfrm>
            <a:off x="685800" y="3566160"/>
            <a:ext cx="2194560" cy="5029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Input vs Output Tokens</a:t>
            </a:r>
            <a:endParaRPr lang="en-US" sz="1400" dirty="0"/>
          </a:p>
        </p:txBody>
      </p:sp>
      <p:sp>
        <p:nvSpPr>
          <p:cNvPr id="22" name="Shape 20"/>
          <p:cNvSpPr/>
          <p:nvPr/>
        </p:nvSpPr>
        <p:spPr>
          <a:xfrm>
            <a:off x="3246120" y="2834640"/>
            <a:ext cx="2606040" cy="1325880"/>
          </a:xfrm>
          <a:prstGeom prst="roundRect">
            <a:avLst>
              <a:gd name="adj" fmla="val 5517"/>
            </a:avLst>
          </a:prstGeom>
          <a:solidFill>
            <a:srgbClr val="F3F4F6"/>
          </a:solidFill>
          <a:ln w="12700">
            <a:solidFill>
              <a:srgbClr val="F3F4F6"/>
            </a:solidFill>
            <a:prstDash val="solid"/>
          </a:ln>
        </p:spPr>
      </p:sp>
      <p:sp>
        <p:nvSpPr>
          <p:cNvPr id="23" name="Text 21"/>
          <p:cNvSpPr txBox="1"/>
          <p:nvPr/>
        </p:nvSpPr>
        <p:spPr>
          <a:xfrm>
            <a:off x="3474720" y="301752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05</a:t>
            </a:r>
            <a:endParaRPr lang="en-US" sz="2800" dirty="0"/>
          </a:p>
        </p:txBody>
      </p:sp>
      <p:sp>
        <p:nvSpPr>
          <p:cNvPr id="24" name="Text 22"/>
          <p:cNvSpPr txBox="1"/>
          <p:nvPr/>
        </p:nvSpPr>
        <p:spPr>
          <a:xfrm>
            <a:off x="4709160" y="308152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25" name="Text 23"/>
          <p:cNvSpPr txBox="1"/>
          <p:nvPr/>
        </p:nvSpPr>
        <p:spPr>
          <a:xfrm>
            <a:off x="3474720" y="3566160"/>
            <a:ext cx="2194560" cy="5029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What Counts as a Unit</a:t>
            </a:r>
            <a:endParaRPr lang="en-US" sz="1400" dirty="0"/>
          </a:p>
        </p:txBody>
      </p:sp>
      <p:sp>
        <p:nvSpPr>
          <p:cNvPr id="26" name="Shape 24"/>
          <p:cNvSpPr/>
          <p:nvPr/>
        </p:nvSpPr>
        <p:spPr>
          <a:xfrm>
            <a:off x="6035040" y="2834640"/>
            <a:ext cx="2606040" cy="1325880"/>
          </a:xfrm>
          <a:prstGeom prst="roundRect">
            <a:avLst>
              <a:gd name="adj" fmla="val 5517"/>
            </a:avLst>
          </a:prstGeom>
          <a:solidFill>
            <a:srgbClr val="111827"/>
          </a:solidFill>
          <a:ln w="12700">
            <a:solidFill>
              <a:srgbClr val="111827"/>
            </a:solidFill>
            <a:prstDash val="solid"/>
          </a:ln>
        </p:spPr>
      </p:sp>
      <p:sp>
        <p:nvSpPr>
          <p:cNvPr id="27" name="Text 25"/>
          <p:cNvSpPr txBox="1"/>
          <p:nvPr/>
        </p:nvSpPr>
        <p:spPr>
          <a:xfrm>
            <a:off x="6263640" y="3017520"/>
            <a:ext cx="914400" cy="457200"/>
          </a:xfrm>
          <a:prstGeom prst="rect">
            <a:avLst/>
          </a:prstGeom>
          <a:noFill/>
          <a:ln/>
        </p:spPr>
        <p:txBody>
          <a:bodyPr wrap="square" lIns="0" tIns="0" rIns="0" bIns="0" rtlCol="0" anchor="t"/>
          <a:lstStyle/>
          <a:p>
            <a:pPr indent="0" marL="0">
              <a:buNone/>
            </a:pPr>
            <a:r>
              <a:rPr lang="en-US" sz="2800" b="1" dirty="0">
                <a:solidFill>
                  <a:srgbClr val="F59E0B"/>
                </a:solidFill>
                <a:latin typeface="Cambria" pitchFamily="34" charset="0"/>
                <a:ea typeface="Cambria" pitchFamily="34" charset="-122"/>
                <a:cs typeface="Cambria" pitchFamily="34" charset="-120"/>
              </a:rPr>
              <a:t>06</a:t>
            </a:r>
            <a:endParaRPr lang="en-US" sz="2800" dirty="0"/>
          </a:p>
        </p:txBody>
      </p:sp>
      <p:sp>
        <p:nvSpPr>
          <p:cNvPr id="28" name="Text 26"/>
          <p:cNvSpPr txBox="1"/>
          <p:nvPr/>
        </p:nvSpPr>
        <p:spPr>
          <a:xfrm>
            <a:off x="7498080" y="3081528"/>
            <a:ext cx="960120" cy="274320"/>
          </a:xfrm>
          <a:prstGeom prst="rect">
            <a:avLst/>
          </a:prstGeom>
          <a:noFill/>
          <a:ln/>
        </p:spPr>
        <p:txBody>
          <a:bodyPr wrap="square" lIns="0" tIns="0" rIns="0" bIns="0" rtlCol="0" anchor="t"/>
          <a:lstStyle/>
          <a:p>
            <a:pPr algn="r" indent="0" marL="0">
              <a:buNone/>
            </a:pPr>
            <a:r>
              <a:rPr lang="en-US" sz="1100" dirty="0">
                <a:solidFill>
                  <a:srgbClr val="9CA3AF"/>
                </a:solidFill>
                <a:latin typeface="Calibri" pitchFamily="34" charset="0"/>
                <a:ea typeface="Calibri" pitchFamily="34" charset="-122"/>
                <a:cs typeface="Calibri" pitchFamily="34" charset="-120"/>
              </a:rPr>
              <a:t>~8 min</a:t>
            </a:r>
            <a:endParaRPr lang="en-US" sz="1100" dirty="0"/>
          </a:p>
        </p:txBody>
      </p:sp>
      <p:sp>
        <p:nvSpPr>
          <p:cNvPr id="29" name="Text 27"/>
          <p:cNvSpPr txBox="1"/>
          <p:nvPr/>
        </p:nvSpPr>
        <p:spPr>
          <a:xfrm>
            <a:off x="6263640" y="3566160"/>
            <a:ext cx="2194560" cy="5029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Build It: Price Your Own Agent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what you need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Ten minutes once, and every command in this module will run. Pick your side.</a:t>
            </a:r>
            <a:endParaRPr lang="en-US" sz="1400" dirty="0"/>
          </a:p>
        </p:txBody>
      </p:sp>
      <p:sp>
        <p:nvSpPr>
          <p:cNvPr id="7" name="Shape 5"/>
          <p:cNvSpPr/>
          <p:nvPr/>
        </p:nvSpPr>
        <p:spPr>
          <a:xfrm>
            <a:off x="457200" y="1600200"/>
            <a:ext cx="4023360" cy="2148840"/>
          </a:xfrm>
          <a:prstGeom prst="roundRect">
            <a:avLst>
              <a:gd name="adj" fmla="val 3404"/>
            </a:avLst>
          </a:prstGeom>
          <a:solidFill>
            <a:srgbClr val="F3F4F6"/>
          </a:solidFill>
          <a:ln w="12700">
            <a:solidFill>
              <a:srgbClr val="F3F4F6"/>
            </a:solidFill>
            <a:prstDash val="solid"/>
          </a:ln>
        </p:spPr>
      </p:sp>
      <p:sp>
        <p:nvSpPr>
          <p:cNvPr id="8" name="Text 6"/>
          <p:cNvSpPr txBox="1"/>
          <p:nvPr/>
        </p:nvSpPr>
        <p:spPr>
          <a:xfrm>
            <a:off x="685800" y="1737360"/>
            <a:ext cx="3566160" cy="274320"/>
          </a:xfrm>
          <a:prstGeom prst="rect">
            <a:avLst/>
          </a:prstGeom>
          <a:noFill/>
          <a:ln/>
        </p:spPr>
        <p:txBody>
          <a:bodyPr wrap="square" lIns="0" tIns="0" rIns="0" bIns="0" rtlCol="0" anchor="t"/>
          <a:lstStyle/>
          <a:p>
            <a:pPr indent="0" marL="0">
              <a:buNone/>
            </a:pPr>
            <a:r>
              <a:rPr lang="en-US" sz="1100" b="1" spc="100" kern="0" dirty="0">
                <a:solidFill>
                  <a:srgbClr val="1D4ED8"/>
                </a:solidFill>
                <a:latin typeface="Calibri" pitchFamily="34" charset="0"/>
                <a:ea typeface="Calibri" pitchFamily="34" charset="-122"/>
                <a:cs typeface="Calibri" pitchFamily="34" charset="-120"/>
              </a:rPr>
              <a:t>macOS  ·  TERMINAL</a:t>
            </a:r>
            <a:endParaRPr lang="en-US" sz="1100" dirty="0"/>
          </a:p>
        </p:txBody>
      </p:sp>
      <p:sp>
        <p:nvSpPr>
          <p:cNvPr id="9" name="Shape 7"/>
          <p:cNvSpPr/>
          <p:nvPr/>
        </p:nvSpPr>
        <p:spPr>
          <a:xfrm>
            <a:off x="685800" y="2057400"/>
            <a:ext cx="3566160" cy="1508760"/>
          </a:xfrm>
          <a:prstGeom prst="roundRect">
            <a:avLst>
              <a:gd name="adj" fmla="val 4848"/>
            </a:avLst>
          </a:prstGeom>
          <a:solidFill>
            <a:srgbClr val="0F172A"/>
          </a:solidFill>
          <a:ln w="12700">
            <a:solidFill>
              <a:srgbClr val="0F172A"/>
            </a:solidFill>
            <a:prstDash val="solid"/>
          </a:ln>
        </p:spPr>
      </p:sp>
      <p:sp>
        <p:nvSpPr>
          <p:cNvPr id="10" name="Text 8"/>
          <p:cNvSpPr txBox="1"/>
          <p:nvPr/>
        </p:nvSpPr>
        <p:spPr>
          <a:xfrm>
            <a:off x="86868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install Homebrew first: brew.sh</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python 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--cask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python3 --version &amp;&amp; git --version</a:t>
            </a:r>
            <a:endParaRPr lang="en-US" sz="950" dirty="0"/>
          </a:p>
        </p:txBody>
      </p:sp>
      <p:sp>
        <p:nvSpPr>
          <p:cNvPr id="11" name="Shape 9"/>
          <p:cNvSpPr/>
          <p:nvPr/>
        </p:nvSpPr>
        <p:spPr>
          <a:xfrm>
            <a:off x="4663440" y="1600200"/>
            <a:ext cx="4023360" cy="2148840"/>
          </a:xfrm>
          <a:prstGeom prst="roundRect">
            <a:avLst>
              <a:gd name="adj" fmla="val 3404"/>
            </a:avLst>
          </a:prstGeom>
          <a:solidFill>
            <a:srgbClr val="F3F4F6"/>
          </a:solidFill>
          <a:ln w="12700">
            <a:solidFill>
              <a:srgbClr val="F3F4F6"/>
            </a:solidFill>
            <a:prstDash val="solid"/>
          </a:ln>
        </p:spPr>
      </p:sp>
      <p:sp>
        <p:nvSpPr>
          <p:cNvPr id="12" name="Text 10"/>
          <p:cNvSpPr txBox="1"/>
          <p:nvPr/>
        </p:nvSpPr>
        <p:spPr>
          <a:xfrm>
            <a:off x="4892040" y="1737360"/>
            <a:ext cx="3566160" cy="274320"/>
          </a:xfrm>
          <a:prstGeom prst="rect">
            <a:avLst/>
          </a:prstGeom>
          <a:noFill/>
          <a:ln/>
        </p:spPr>
        <p:txBody>
          <a:bodyPr wrap="square" lIns="0" tIns="0" rIns="0" bIns="0" rtlCol="0" anchor="t"/>
          <a:lstStyle/>
          <a:p>
            <a:pPr indent="0" marL="0">
              <a:buNone/>
            </a:pPr>
            <a:r>
              <a:rPr lang="en-US" sz="1100" b="1" spc="100" kern="0" dirty="0">
                <a:solidFill>
                  <a:srgbClr val="6D28D9"/>
                </a:solidFill>
                <a:latin typeface="Calibri" pitchFamily="34" charset="0"/>
                <a:ea typeface="Calibri" pitchFamily="34" charset="-122"/>
                <a:cs typeface="Calibri" pitchFamily="34" charset="-120"/>
              </a:rPr>
              <a:t>WINDOWS  ·  POWERSHELL</a:t>
            </a:r>
            <a:endParaRPr lang="en-US" sz="1100" dirty="0"/>
          </a:p>
        </p:txBody>
      </p:sp>
      <p:sp>
        <p:nvSpPr>
          <p:cNvPr id="13" name="Shape 11"/>
          <p:cNvSpPr/>
          <p:nvPr/>
        </p:nvSpPr>
        <p:spPr>
          <a:xfrm>
            <a:off x="4892040" y="2057400"/>
            <a:ext cx="3566160" cy="1508760"/>
          </a:xfrm>
          <a:prstGeom prst="roundRect">
            <a:avLst>
              <a:gd name="adj" fmla="val 4848"/>
            </a:avLst>
          </a:prstGeom>
          <a:solidFill>
            <a:srgbClr val="0F172A"/>
          </a:solidFill>
          <a:ln w="12700">
            <a:solidFill>
              <a:srgbClr val="0F172A"/>
            </a:solidFill>
            <a:prstDash val="solid"/>
          </a:ln>
        </p:spPr>
      </p:sp>
      <p:sp>
        <p:nvSpPr>
          <p:cNvPr id="14" name="Text 12"/>
          <p:cNvSpPr txBox="1"/>
          <p:nvPr/>
        </p:nvSpPr>
        <p:spPr>
          <a:xfrm>
            <a:off x="507492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winget ships with Windows 11</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Python.Python.3.12</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Git.Git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Microsoft.VisualStudioCode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py --version; git --version</a:t>
            </a:r>
            <a:endParaRPr lang="en-US" sz="950" dirty="0"/>
          </a:p>
        </p:txBody>
      </p:sp>
      <p:sp>
        <p:nvSpPr>
          <p:cNvPr id="15" name="Text 13"/>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MODULE 1 NEEDS</a:t>
            </a:r>
            <a:endParaRPr lang="en-US" sz="1000" dirty="0"/>
          </a:p>
        </p:txBody>
      </p:sp>
      <p:sp>
        <p:nvSpPr>
          <p:cNvPr id="16" name="Shape 14"/>
          <p:cNvSpPr/>
          <p:nvPr/>
        </p:nvSpPr>
        <p:spPr>
          <a:xfrm>
            <a:off x="457200" y="4114800"/>
            <a:ext cx="2606040" cy="594360"/>
          </a:xfrm>
          <a:prstGeom prst="roundRect">
            <a:avLst>
              <a:gd name="adj" fmla="val 12308"/>
            </a:avLst>
          </a:prstGeom>
          <a:solidFill>
            <a:srgbClr val="ECFDF5"/>
          </a:solidFill>
          <a:ln w="12700">
            <a:solidFill>
              <a:srgbClr val="ECFDF5"/>
            </a:solidFill>
            <a:prstDash val="solid"/>
          </a:ln>
        </p:spPr>
      </p:sp>
      <p:sp>
        <p:nvSpPr>
          <p:cNvPr id="17" name="Text 15"/>
          <p:cNvSpPr txBox="1"/>
          <p:nvPr/>
        </p:nvSpPr>
        <p:spPr>
          <a:xfrm>
            <a:off x="64008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Python 3</a:t>
            </a:r>
            <a:endParaRPr lang="en-US" sz="1150" dirty="0"/>
          </a:p>
        </p:txBody>
      </p:sp>
      <p:sp>
        <p:nvSpPr>
          <p:cNvPr id="18" name="Text 16"/>
          <p:cNvSpPr txBox="1"/>
          <p:nvPr/>
        </p:nvSpPr>
        <p:spPr>
          <a:xfrm>
            <a:off x="64008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python3 / py on Windows</a:t>
            </a:r>
            <a:endParaRPr lang="en-US" sz="950" dirty="0"/>
          </a:p>
        </p:txBody>
      </p:sp>
      <p:sp>
        <p:nvSpPr>
          <p:cNvPr id="19" name="Shape 17"/>
          <p:cNvSpPr/>
          <p:nvPr/>
        </p:nvSpPr>
        <p:spPr>
          <a:xfrm>
            <a:off x="3246120" y="4114800"/>
            <a:ext cx="2606040" cy="594360"/>
          </a:xfrm>
          <a:prstGeom prst="roundRect">
            <a:avLst>
              <a:gd name="adj" fmla="val 12308"/>
            </a:avLst>
          </a:prstGeom>
          <a:solidFill>
            <a:srgbClr val="ECFDF5"/>
          </a:solidFill>
          <a:ln w="12700">
            <a:solidFill>
              <a:srgbClr val="ECFDF5"/>
            </a:solidFill>
            <a:prstDash val="solid"/>
          </a:ln>
        </p:spPr>
      </p:sp>
      <p:sp>
        <p:nvSpPr>
          <p:cNvPr id="20" name="Text 18"/>
          <p:cNvSpPr txBox="1"/>
          <p:nvPr/>
        </p:nvSpPr>
        <p:spPr>
          <a:xfrm>
            <a:off x="342900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Git</a:t>
            </a:r>
            <a:endParaRPr lang="en-US" sz="1150" dirty="0"/>
          </a:p>
        </p:txBody>
      </p:sp>
      <p:sp>
        <p:nvSpPr>
          <p:cNvPr id="21" name="Text 19"/>
          <p:cNvSpPr txBox="1"/>
          <p:nvPr/>
        </p:nvSpPr>
        <p:spPr>
          <a:xfrm>
            <a:off x="342900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to clone the course repo</a:t>
            </a:r>
            <a:endParaRPr lang="en-US" sz="950" dirty="0"/>
          </a:p>
        </p:txBody>
      </p:sp>
      <p:sp>
        <p:nvSpPr>
          <p:cNvPr id="22" name="Shape 20"/>
          <p:cNvSpPr/>
          <p:nvPr/>
        </p:nvSpPr>
        <p:spPr>
          <a:xfrm>
            <a:off x="6035040" y="4114800"/>
            <a:ext cx="2606040" cy="594360"/>
          </a:xfrm>
          <a:prstGeom prst="roundRect">
            <a:avLst>
              <a:gd name="adj" fmla="val 12308"/>
            </a:avLst>
          </a:prstGeom>
          <a:solidFill>
            <a:srgbClr val="ECFDF5"/>
          </a:solidFill>
          <a:ln w="12700">
            <a:solidFill>
              <a:srgbClr val="ECFDF5"/>
            </a:solidFill>
            <a:prstDash val="solid"/>
          </a:ln>
        </p:spPr>
      </p:sp>
      <p:sp>
        <p:nvSpPr>
          <p:cNvPr id="23" name="Text 21"/>
          <p:cNvSpPr txBox="1"/>
          <p:nvPr/>
        </p:nvSpPr>
        <p:spPr>
          <a:xfrm>
            <a:off x="621792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A terminal</a:t>
            </a:r>
            <a:endParaRPr lang="en-US" sz="1150" dirty="0"/>
          </a:p>
        </p:txBody>
      </p:sp>
      <p:sp>
        <p:nvSpPr>
          <p:cNvPr id="24" name="Text 22"/>
          <p:cNvSpPr txBox="1"/>
          <p:nvPr/>
        </p:nvSpPr>
        <p:spPr>
          <a:xfrm>
            <a:off x="621792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the one inside VS Code is fine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these before you install anything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457200" y="1143000"/>
            <a:ext cx="8229600" cy="3200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Two short videos take you from a blank machine to Git, Python and VS Code installed. Pick the one for your computer.</a:t>
            </a:r>
            <a:endParaRPr lang="en-US" sz="1300" dirty="0"/>
          </a:p>
        </p:txBody>
      </p:sp>
      <p:sp>
        <p:nvSpPr>
          <p:cNvPr id="7" name="Shape 5"/>
          <p:cNvSpPr/>
          <p:nvPr/>
        </p:nvSpPr>
        <p:spPr>
          <a:xfrm>
            <a:off x="457200" y="1554480"/>
            <a:ext cx="402336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737360"/>
            <a:ext cx="1143000" cy="292608"/>
          </a:xfrm>
          <a:prstGeom prst="roundRect">
            <a:avLst>
              <a:gd name="adj" fmla="val 50000"/>
            </a:avLst>
          </a:prstGeom>
          <a:solidFill>
            <a:srgbClr val="1D4ED8"/>
          </a:solidFill>
          <a:ln w="12700">
            <a:solidFill>
              <a:srgbClr val="1D4ED8"/>
            </a:solidFill>
            <a:prstDash val="solid"/>
          </a:ln>
        </p:spPr>
      </p:sp>
      <p:sp>
        <p:nvSpPr>
          <p:cNvPr id="9" name="Text 7"/>
          <p:cNvSpPr txBox="1"/>
          <p:nvPr/>
        </p:nvSpPr>
        <p:spPr>
          <a:xfrm>
            <a:off x="68580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macOS</a:t>
            </a:r>
            <a:endParaRPr lang="en-US" sz="950" dirty="0"/>
          </a:p>
        </p:txBody>
      </p:sp>
      <p:sp>
        <p:nvSpPr>
          <p:cNvPr id="10" name="Text 8"/>
          <p:cNvSpPr txBox="1"/>
          <p:nvPr/>
        </p:nvSpPr>
        <p:spPr>
          <a:xfrm>
            <a:off x="68580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a Mac</a:t>
            </a:r>
            <a:endParaRPr lang="en-US" sz="1400" dirty="0"/>
          </a:p>
        </p:txBody>
      </p:sp>
      <p:sp>
        <p:nvSpPr>
          <p:cNvPr id="11" name="Text 9">
            <a:hlinkClick r:id="rId1" tooltip=""/>
          </p:cNvPr>
          <p:cNvSpPr txBox="1"/>
          <p:nvPr/>
        </p:nvSpPr>
        <p:spPr>
          <a:xfrm>
            <a:off x="685800" y="2560320"/>
            <a:ext cx="3566160" cy="274320"/>
          </a:xfrm>
          <a:prstGeom prst="rect">
            <a:avLst/>
          </a:prstGeom>
          <a:noFill/>
          <a:ln/>
        </p:spPr>
        <p:txBody>
          <a:bodyPr wrap="square" lIns="0" tIns="0" rIns="0" bIns="0" rtlCol="0" anchor="ctr"/>
          <a:lstStyle/>
          <a:p>
            <a:pPr indent="0" marL="0">
              <a:buNone/>
            </a:pPr>
            <a:r>
              <a:rPr lang="en-US" sz="1100" u="sng" dirty="0">
                <a:solidFill>
                  <a:srgbClr val="1D4E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https://youtu.be/8ZIiXg4XOY0</a:t>
            </a:r>
            <a:endParaRPr lang="en-US" sz="1100" dirty="0"/>
          </a:p>
        </p:txBody>
      </p:sp>
      <p:sp>
        <p:nvSpPr>
          <p:cNvPr id="12" name="Shape 10"/>
          <p:cNvSpPr/>
          <p:nvPr/>
        </p:nvSpPr>
        <p:spPr>
          <a:xfrm>
            <a:off x="4663440" y="1554480"/>
            <a:ext cx="4023360" cy="1371600"/>
          </a:xfrm>
          <a:prstGeom prst="roundRect">
            <a:avLst>
              <a:gd name="adj" fmla="val 5333"/>
            </a:avLst>
          </a:prstGeom>
          <a:solidFill>
            <a:srgbClr val="F3F4F6"/>
          </a:solidFill>
          <a:ln w="12700">
            <a:solidFill>
              <a:srgbClr val="F3F4F6"/>
            </a:solidFill>
            <a:prstDash val="solid"/>
          </a:ln>
        </p:spPr>
      </p:sp>
      <p:sp>
        <p:nvSpPr>
          <p:cNvPr id="13" name="Shape 11"/>
          <p:cNvSpPr/>
          <p:nvPr/>
        </p:nvSpPr>
        <p:spPr>
          <a:xfrm>
            <a:off x="4892040" y="1737360"/>
            <a:ext cx="1143000" cy="292608"/>
          </a:xfrm>
          <a:prstGeom prst="roundRect">
            <a:avLst>
              <a:gd name="adj" fmla="val 50000"/>
            </a:avLst>
          </a:prstGeom>
          <a:solidFill>
            <a:srgbClr val="6D28D9"/>
          </a:solidFill>
          <a:ln w="12700">
            <a:solidFill>
              <a:srgbClr val="6D28D9"/>
            </a:solidFill>
            <a:prstDash val="solid"/>
          </a:ln>
        </p:spPr>
      </p:sp>
      <p:sp>
        <p:nvSpPr>
          <p:cNvPr id="14" name="Text 12"/>
          <p:cNvSpPr txBox="1"/>
          <p:nvPr/>
        </p:nvSpPr>
        <p:spPr>
          <a:xfrm>
            <a:off x="489204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WINDOWS</a:t>
            </a:r>
            <a:endParaRPr lang="en-US" sz="950" dirty="0"/>
          </a:p>
        </p:txBody>
      </p:sp>
      <p:sp>
        <p:nvSpPr>
          <p:cNvPr id="15" name="Text 13"/>
          <p:cNvSpPr txBox="1"/>
          <p:nvPr/>
        </p:nvSpPr>
        <p:spPr>
          <a:xfrm>
            <a:off x="489204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Windows</a:t>
            </a:r>
            <a:endParaRPr lang="en-US" sz="1400" dirty="0"/>
          </a:p>
        </p:txBody>
      </p:sp>
      <p:sp>
        <p:nvSpPr>
          <p:cNvPr id="16" name="Text 14">
            <a:hlinkClick r:id="rId2" tooltip=""/>
          </p:cNvPr>
          <p:cNvSpPr txBox="1"/>
          <p:nvPr/>
        </p:nvSpPr>
        <p:spPr>
          <a:xfrm>
            <a:off x="4892040" y="2560320"/>
            <a:ext cx="3566160" cy="274320"/>
          </a:xfrm>
          <a:prstGeom prst="rect">
            <a:avLst/>
          </a:prstGeom>
          <a:noFill/>
          <a:ln/>
        </p:spPr>
        <p:txBody>
          <a:bodyPr wrap="square" lIns="0" tIns="0" rIns="0" bIns="0" rtlCol="0" anchor="ctr"/>
          <a:lstStyle/>
          <a:p>
            <a:pPr indent="0" marL="0">
              <a:buNone/>
            </a:pPr>
            <a:r>
              <a:rPr lang="en-US" sz="1100" u="sng" dirty="0">
                <a:solidFill>
                  <a:srgbClr val="6D28D9"/>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https://youtu.be/3e2-GRBibWc</a:t>
            </a:r>
            <a:endParaRPr lang="en-US" sz="1100" dirty="0"/>
          </a:p>
        </p:txBody>
      </p:sp>
      <p:sp>
        <p:nvSpPr>
          <p:cNvPr id="17" name="Text 15"/>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OFFICIAL PAGES, IF YOU PREFER TO READ</a:t>
            </a:r>
            <a:endParaRPr lang="en-US" sz="950" dirty="0"/>
          </a:p>
        </p:txBody>
      </p:sp>
      <p:sp>
        <p:nvSpPr>
          <p:cNvPr id="18" name="Shape 16"/>
          <p:cNvSpPr/>
          <p:nvPr/>
        </p:nvSpPr>
        <p:spPr>
          <a:xfrm>
            <a:off x="457200" y="3429000"/>
            <a:ext cx="4023360" cy="566928"/>
          </a:xfrm>
          <a:prstGeom prst="roundRect">
            <a:avLst>
              <a:gd name="adj" fmla="val 12903"/>
            </a:avLst>
          </a:prstGeom>
          <a:solidFill>
            <a:srgbClr val="F3F4F6"/>
          </a:solidFill>
          <a:ln w="12700">
            <a:solidFill>
              <a:srgbClr val="F3F4F6"/>
            </a:solidFill>
            <a:prstDash val="solid"/>
          </a:ln>
        </p:spPr>
      </p:sp>
      <p:sp>
        <p:nvSpPr>
          <p:cNvPr id="19" name="Text 17"/>
          <p:cNvSpPr txBox="1"/>
          <p:nvPr/>
        </p:nvSpPr>
        <p:spPr>
          <a:xfrm>
            <a:off x="65836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Install Python</a:t>
            </a:r>
            <a:endParaRPr lang="en-US" sz="1150" dirty="0"/>
          </a:p>
        </p:txBody>
      </p:sp>
      <p:sp>
        <p:nvSpPr>
          <p:cNvPr id="20" name="Text 18"/>
          <p:cNvSpPr txBox="1"/>
          <p:nvPr/>
        </p:nvSpPr>
        <p:spPr>
          <a:xfrm>
            <a:off x="65836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downloads, Mac and Windows</a:t>
            </a:r>
            <a:endParaRPr lang="en-US" sz="900" dirty="0"/>
          </a:p>
        </p:txBody>
      </p:sp>
      <p:sp>
        <p:nvSpPr>
          <p:cNvPr id="21" name="Text 19">
            <a:hlinkClick r:id="rId3" tooltip=""/>
          </p:cNvPr>
          <p:cNvSpPr txBox="1"/>
          <p:nvPr/>
        </p:nvSpPr>
        <p:spPr>
          <a:xfrm>
            <a:off x="269748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python.org/downloads</a:t>
            </a:r>
            <a:endParaRPr lang="en-US" sz="800" dirty="0"/>
          </a:p>
        </p:txBody>
      </p:sp>
      <p:sp>
        <p:nvSpPr>
          <p:cNvPr id="22" name="Shape 20"/>
          <p:cNvSpPr/>
          <p:nvPr/>
        </p:nvSpPr>
        <p:spPr>
          <a:xfrm>
            <a:off x="4663440" y="3429000"/>
            <a:ext cx="4023360" cy="566928"/>
          </a:xfrm>
          <a:prstGeom prst="roundRect">
            <a:avLst>
              <a:gd name="adj" fmla="val 12903"/>
            </a:avLst>
          </a:prstGeom>
          <a:solidFill>
            <a:srgbClr val="F3F4F6"/>
          </a:solidFill>
          <a:ln w="12700">
            <a:solidFill>
              <a:srgbClr val="F3F4F6"/>
            </a:solidFill>
            <a:prstDash val="solid"/>
          </a:ln>
        </p:spPr>
      </p:sp>
      <p:sp>
        <p:nvSpPr>
          <p:cNvPr id="23" name="Text 21"/>
          <p:cNvSpPr txBox="1"/>
          <p:nvPr/>
        </p:nvSpPr>
        <p:spPr>
          <a:xfrm>
            <a:off x="486460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Install Git</a:t>
            </a:r>
            <a:endParaRPr lang="en-US" sz="1150" dirty="0"/>
          </a:p>
        </p:txBody>
      </p:sp>
      <p:sp>
        <p:nvSpPr>
          <p:cNvPr id="24" name="Text 22"/>
          <p:cNvSpPr txBox="1"/>
          <p:nvPr/>
        </p:nvSpPr>
        <p:spPr>
          <a:xfrm>
            <a:off x="486460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downloads, Mac and Windows</a:t>
            </a:r>
            <a:endParaRPr lang="en-US" sz="900" dirty="0"/>
          </a:p>
        </p:txBody>
      </p:sp>
      <p:sp>
        <p:nvSpPr>
          <p:cNvPr id="25" name="Text 23">
            <a:hlinkClick r:id="rId4" tooltip=""/>
          </p:cNvPr>
          <p:cNvSpPr txBox="1"/>
          <p:nvPr/>
        </p:nvSpPr>
        <p:spPr>
          <a:xfrm>
            <a:off x="690372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git-scm.com/downloads</a:t>
            </a:r>
            <a:endParaRPr lang="en-US" sz="800" dirty="0"/>
          </a:p>
        </p:txBody>
      </p:sp>
      <p:sp>
        <p:nvSpPr>
          <p:cNvPr id="26" name="Shape 24"/>
          <p:cNvSpPr/>
          <p:nvPr/>
        </p:nvSpPr>
        <p:spPr>
          <a:xfrm>
            <a:off x="457200" y="4087368"/>
            <a:ext cx="4023360" cy="566928"/>
          </a:xfrm>
          <a:prstGeom prst="roundRect">
            <a:avLst>
              <a:gd name="adj" fmla="val 12903"/>
            </a:avLst>
          </a:prstGeom>
          <a:solidFill>
            <a:srgbClr val="F3F4F6"/>
          </a:solidFill>
          <a:ln w="12700">
            <a:solidFill>
              <a:srgbClr val="F3F4F6"/>
            </a:solidFill>
            <a:prstDash val="solid"/>
          </a:ln>
        </p:spPr>
      </p:sp>
      <p:sp>
        <p:nvSpPr>
          <p:cNvPr id="27" name="Text 25"/>
          <p:cNvSpPr txBox="1"/>
          <p:nvPr/>
        </p:nvSpPr>
        <p:spPr>
          <a:xfrm>
            <a:off x="65836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VS Code intro videos</a:t>
            </a:r>
            <a:endParaRPr lang="en-US" sz="1150" dirty="0"/>
          </a:p>
        </p:txBody>
      </p:sp>
      <p:sp>
        <p:nvSpPr>
          <p:cNvPr id="28" name="Text 26"/>
          <p:cNvSpPr txBox="1"/>
          <p:nvPr/>
        </p:nvSpPr>
        <p:spPr>
          <a:xfrm>
            <a:off x="65836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 official video series</a:t>
            </a:r>
            <a:endParaRPr lang="en-US" sz="900" dirty="0"/>
          </a:p>
        </p:txBody>
      </p:sp>
      <p:sp>
        <p:nvSpPr>
          <p:cNvPr id="29" name="Text 27">
            <a:hlinkClick r:id="rId5" tooltip=""/>
          </p:cNvPr>
          <p:cNvSpPr txBox="1"/>
          <p:nvPr/>
        </p:nvSpPr>
        <p:spPr>
          <a:xfrm>
            <a:off x="269748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code.visualstudio.com/docs/getstarted/introvideos</a:t>
            </a:r>
            <a:endParaRPr lang="en-US" sz="800" dirty="0"/>
          </a:p>
        </p:txBody>
      </p:sp>
      <p:sp>
        <p:nvSpPr>
          <p:cNvPr id="30" name="Shape 28"/>
          <p:cNvSpPr/>
          <p:nvPr/>
        </p:nvSpPr>
        <p:spPr>
          <a:xfrm>
            <a:off x="4663440" y="4087368"/>
            <a:ext cx="4023360" cy="566928"/>
          </a:xfrm>
          <a:prstGeom prst="roundRect">
            <a:avLst>
              <a:gd name="adj" fmla="val 12903"/>
            </a:avLst>
          </a:prstGeom>
          <a:solidFill>
            <a:srgbClr val="F3F4F6"/>
          </a:solidFill>
          <a:ln w="12700">
            <a:solidFill>
              <a:srgbClr val="F3F4F6"/>
            </a:solidFill>
            <a:prstDash val="solid"/>
          </a:ln>
        </p:spPr>
      </p:sp>
      <p:sp>
        <p:nvSpPr>
          <p:cNvPr id="31" name="Text 29"/>
          <p:cNvSpPr txBox="1"/>
          <p:nvPr/>
        </p:nvSpPr>
        <p:spPr>
          <a:xfrm>
            <a:off x="486460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Git basics videos</a:t>
            </a:r>
            <a:endParaRPr lang="en-US" sz="1150" dirty="0"/>
          </a:p>
        </p:txBody>
      </p:sp>
      <p:sp>
        <p:nvSpPr>
          <p:cNvPr id="32" name="Text 30"/>
          <p:cNvSpPr txBox="1"/>
          <p:nvPr/>
        </p:nvSpPr>
        <p:spPr>
          <a:xfrm>
            <a:off x="486460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Four short official videos</a:t>
            </a:r>
            <a:endParaRPr lang="en-US" sz="900" dirty="0"/>
          </a:p>
        </p:txBody>
      </p:sp>
      <p:sp>
        <p:nvSpPr>
          <p:cNvPr id="33" name="Text 31">
            <a:hlinkClick r:id="rId6" tooltip=""/>
          </p:cNvPr>
          <p:cNvSpPr txBox="1"/>
          <p:nvPr/>
        </p:nvSpPr>
        <p:spPr>
          <a:xfrm>
            <a:off x="690372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git-scm.com/videos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91440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548640" y="228600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3am Runaway</a:t>
            </a:r>
            <a:endParaRPr lang="en-US" sz="3600" dirty="0"/>
          </a:p>
        </p:txBody>
      </p:sp>
      <p:sp>
        <p:nvSpPr>
          <p:cNvPr id="4" name="Text 2"/>
          <p:cNvSpPr txBox="1"/>
          <p:nvPr/>
        </p:nvSpPr>
        <p:spPr>
          <a:xfrm>
            <a:off x="548640" y="31546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THE 3AM RUNAWAY</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One malformed record. One long night.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457200" y="1371600"/>
            <a:ext cx="1920240" cy="1508760"/>
          </a:xfrm>
          <a:prstGeom prst="roundRect">
            <a:avLst>
              <a:gd name="adj" fmla="val 4848"/>
            </a:avLst>
          </a:prstGeom>
          <a:solidFill>
            <a:srgbClr val="F3F4F6"/>
          </a:solidFill>
          <a:ln w="12700">
            <a:solidFill>
              <a:srgbClr val="F3F4F6"/>
            </a:solidFill>
            <a:prstDash val="solid"/>
          </a:ln>
        </p:spPr>
      </p:sp>
      <p:sp>
        <p:nvSpPr>
          <p:cNvPr id="7" name="Text 5"/>
          <p:cNvSpPr txBox="1"/>
          <p:nvPr/>
        </p:nvSpPr>
        <p:spPr>
          <a:xfrm>
            <a:off x="640080" y="1508760"/>
            <a:ext cx="1645920" cy="64008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23:40</a:t>
            </a:r>
            <a:endParaRPr lang="en-US" sz="3000" dirty="0"/>
          </a:p>
        </p:txBody>
      </p:sp>
      <p:sp>
        <p:nvSpPr>
          <p:cNvPr id="8" name="Text 6"/>
          <p:cNvSpPr txBox="1"/>
          <p:nvPr/>
        </p:nvSpPr>
        <p:spPr>
          <a:xfrm>
            <a:off x="640080" y="2194560"/>
            <a:ext cx="160020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malformed record enters the queue</a:t>
            </a:r>
            <a:endParaRPr lang="en-US" sz="1200" dirty="0"/>
          </a:p>
        </p:txBody>
      </p:sp>
      <p:sp>
        <p:nvSpPr>
          <p:cNvPr id="9" name="Shape 7"/>
          <p:cNvSpPr/>
          <p:nvPr/>
        </p:nvSpPr>
        <p:spPr>
          <a:xfrm>
            <a:off x="2560320" y="1371600"/>
            <a:ext cx="1920240" cy="1508760"/>
          </a:xfrm>
          <a:prstGeom prst="roundRect">
            <a:avLst>
              <a:gd name="adj" fmla="val 4848"/>
            </a:avLst>
          </a:prstGeom>
          <a:solidFill>
            <a:srgbClr val="F3F4F6"/>
          </a:solidFill>
          <a:ln w="12700">
            <a:solidFill>
              <a:srgbClr val="F3F4F6"/>
            </a:solidFill>
            <a:prstDash val="solid"/>
          </a:ln>
        </p:spPr>
      </p:sp>
      <p:sp>
        <p:nvSpPr>
          <p:cNvPr id="10" name="Text 8"/>
          <p:cNvSpPr txBox="1"/>
          <p:nvPr/>
        </p:nvSpPr>
        <p:spPr>
          <a:xfrm>
            <a:off x="2743200" y="1508760"/>
            <a:ext cx="1645920" cy="640080"/>
          </a:xfrm>
          <a:prstGeom prst="rect">
            <a:avLst/>
          </a:prstGeom>
          <a:noFill/>
          <a:ln/>
        </p:spPr>
        <p:txBody>
          <a:bodyPr wrap="square" lIns="0" tIns="0" rIns="0" bIns="0" rtlCol="0" anchor="t"/>
          <a:lstStyle/>
          <a:p>
            <a:pPr indent="0" marL="0">
              <a:buNone/>
            </a:pPr>
            <a:r>
              <a:rPr lang="en-US" sz="3000" b="1" dirty="0">
                <a:solidFill>
                  <a:srgbClr val="B45309"/>
                </a:solidFill>
                <a:latin typeface="Cambria" pitchFamily="34" charset="0"/>
                <a:ea typeface="Cambria" pitchFamily="34" charset="-122"/>
                <a:cs typeface="Cambria" pitchFamily="34" charset="-120"/>
              </a:rPr>
              <a:t>~400</a:t>
            </a:r>
            <a:endParaRPr lang="en-US" sz="3000" dirty="0"/>
          </a:p>
        </p:txBody>
      </p:sp>
      <p:sp>
        <p:nvSpPr>
          <p:cNvPr id="11" name="Text 9"/>
          <p:cNvSpPr txBox="1"/>
          <p:nvPr/>
        </p:nvSpPr>
        <p:spPr>
          <a:xfrm>
            <a:off x="2743200" y="2194560"/>
            <a:ext cx="160020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retries an hour</a:t>
            </a:r>
            <a:endParaRPr lang="en-US" sz="1200" dirty="0"/>
          </a:p>
        </p:txBody>
      </p:sp>
      <p:sp>
        <p:nvSpPr>
          <p:cNvPr id="12" name="Shape 10"/>
          <p:cNvSpPr/>
          <p:nvPr/>
        </p:nvSpPr>
        <p:spPr>
          <a:xfrm>
            <a:off x="4663440" y="1371600"/>
            <a:ext cx="1920240" cy="1508760"/>
          </a:xfrm>
          <a:prstGeom prst="roundRect">
            <a:avLst>
              <a:gd name="adj" fmla="val 4848"/>
            </a:avLst>
          </a:prstGeom>
          <a:solidFill>
            <a:srgbClr val="F3F4F6"/>
          </a:solidFill>
          <a:ln w="12700">
            <a:solidFill>
              <a:srgbClr val="F3F4F6"/>
            </a:solidFill>
            <a:prstDash val="solid"/>
          </a:ln>
        </p:spPr>
      </p:sp>
      <p:sp>
        <p:nvSpPr>
          <p:cNvPr id="13" name="Text 11"/>
          <p:cNvSpPr txBox="1"/>
          <p:nvPr/>
        </p:nvSpPr>
        <p:spPr>
          <a:xfrm>
            <a:off x="4846320" y="1508760"/>
            <a:ext cx="1645920" cy="640080"/>
          </a:xfrm>
          <a:prstGeom prst="rect">
            <a:avLst/>
          </a:prstGeom>
          <a:noFill/>
          <a:ln/>
        </p:spPr>
        <p:txBody>
          <a:bodyPr wrap="square" lIns="0" tIns="0" rIns="0" bIns="0" rtlCol="0" anchor="t"/>
          <a:lstStyle/>
          <a:p>
            <a:pPr indent="0" marL="0">
              <a:buNone/>
            </a:pPr>
            <a:r>
              <a:rPr lang="en-US" sz="3000" b="1" dirty="0">
                <a:solidFill>
                  <a:srgbClr val="B45309"/>
                </a:solidFill>
                <a:latin typeface="Cambria" pitchFamily="34" charset="0"/>
                <a:ea typeface="Cambria" pitchFamily="34" charset="-122"/>
                <a:cs typeface="Cambria" pitchFamily="34" charset="-120"/>
              </a:rPr>
              <a:t>9.5 hrs</a:t>
            </a:r>
            <a:endParaRPr lang="en-US" sz="3000" dirty="0"/>
          </a:p>
        </p:txBody>
      </p:sp>
      <p:sp>
        <p:nvSpPr>
          <p:cNvPr id="14" name="Text 12"/>
          <p:cNvSpPr txBox="1"/>
          <p:nvPr/>
        </p:nvSpPr>
        <p:spPr>
          <a:xfrm>
            <a:off x="4846320" y="2194560"/>
            <a:ext cx="160020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before anyone noticed</a:t>
            </a:r>
            <a:endParaRPr lang="en-US" sz="1200" dirty="0"/>
          </a:p>
        </p:txBody>
      </p:sp>
      <p:sp>
        <p:nvSpPr>
          <p:cNvPr id="15" name="Shape 13"/>
          <p:cNvSpPr/>
          <p:nvPr/>
        </p:nvSpPr>
        <p:spPr>
          <a:xfrm>
            <a:off x="6766560" y="1371600"/>
            <a:ext cx="1920240" cy="1508760"/>
          </a:xfrm>
          <a:prstGeom prst="roundRect">
            <a:avLst>
              <a:gd name="adj" fmla="val 4848"/>
            </a:avLst>
          </a:prstGeom>
          <a:solidFill>
            <a:srgbClr val="FEF2F2"/>
          </a:solidFill>
          <a:ln w="12700">
            <a:solidFill>
              <a:srgbClr val="FEF2F2"/>
            </a:solidFill>
            <a:prstDash val="solid"/>
          </a:ln>
        </p:spPr>
      </p:sp>
      <p:sp>
        <p:nvSpPr>
          <p:cNvPr id="16" name="Text 14"/>
          <p:cNvSpPr txBox="1"/>
          <p:nvPr/>
        </p:nvSpPr>
        <p:spPr>
          <a:xfrm>
            <a:off x="6949440" y="1508760"/>
            <a:ext cx="1645920" cy="640080"/>
          </a:xfrm>
          <a:prstGeom prst="rect">
            <a:avLst/>
          </a:prstGeom>
          <a:noFill/>
          <a:ln/>
        </p:spPr>
        <p:txBody>
          <a:bodyPr wrap="square" lIns="0" tIns="0" rIns="0" bIns="0" rtlCol="0" anchor="t"/>
          <a:lstStyle/>
          <a:p>
            <a:pPr indent="0" marL="0">
              <a:buNone/>
            </a:pPr>
            <a:r>
              <a:rPr lang="en-US" sz="3000" b="1" dirty="0">
                <a:solidFill>
                  <a:srgbClr val="B91C1C"/>
                </a:solidFill>
                <a:latin typeface="Cambria" pitchFamily="34" charset="0"/>
                <a:ea typeface="Cambria" pitchFamily="34" charset="-122"/>
                <a:cs typeface="Cambria" pitchFamily="34" charset="-120"/>
              </a:rPr>
              <a:t>$4,200</a:t>
            </a:r>
            <a:endParaRPr lang="en-US" sz="3000" dirty="0"/>
          </a:p>
        </p:txBody>
      </p:sp>
      <p:sp>
        <p:nvSpPr>
          <p:cNvPr id="17" name="Text 15"/>
          <p:cNvSpPr txBox="1"/>
          <p:nvPr/>
        </p:nvSpPr>
        <p:spPr>
          <a:xfrm>
            <a:off x="6949440" y="2194560"/>
            <a:ext cx="160020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of overnight spend</a:t>
            </a:r>
            <a:endParaRPr lang="en-US" sz="1200" dirty="0"/>
          </a:p>
        </p:txBody>
      </p:sp>
      <p:sp>
        <p:nvSpPr>
          <p:cNvPr id="18" name="Shape 16"/>
          <p:cNvSpPr/>
          <p:nvPr/>
        </p:nvSpPr>
        <p:spPr>
          <a:xfrm>
            <a:off x="457200" y="3108960"/>
            <a:ext cx="8229600" cy="1371600"/>
          </a:xfrm>
          <a:prstGeom prst="roundRect">
            <a:avLst>
              <a:gd name="adj" fmla="val 5333"/>
            </a:avLst>
          </a:prstGeom>
          <a:solidFill>
            <a:srgbClr val="111827"/>
          </a:solidFill>
          <a:ln w="12700">
            <a:solidFill>
              <a:srgbClr val="111827"/>
            </a:solidFill>
            <a:prstDash val="solid"/>
          </a:ln>
        </p:spPr>
      </p:sp>
      <p:sp>
        <p:nvSpPr>
          <p:cNvPr id="19" name="Text 17"/>
          <p:cNvSpPr txBox="1"/>
          <p:nvPr/>
        </p:nvSpPr>
        <p:spPr>
          <a:xfrm>
            <a:off x="731520" y="3108960"/>
            <a:ext cx="2194560" cy="1371600"/>
          </a:xfrm>
          <a:prstGeom prst="rect">
            <a:avLst/>
          </a:prstGeom>
          <a:noFill/>
          <a:ln/>
        </p:spPr>
        <p:txBody>
          <a:bodyPr wrap="square" lIns="0" tIns="0" rIns="0" bIns="0" rtlCol="0" anchor="ctr"/>
          <a:lstStyle/>
          <a:p>
            <a:pPr indent="0" marL="0">
              <a:buNone/>
            </a:pPr>
            <a:r>
              <a:rPr lang="en-US" sz="4000" b="1" dirty="0">
                <a:solidFill>
                  <a:srgbClr val="FCA5A5"/>
                </a:solidFill>
                <a:latin typeface="Cambria" pitchFamily="34" charset="0"/>
                <a:ea typeface="Cambria" pitchFamily="34" charset="-122"/>
                <a:cs typeface="Cambria" pitchFamily="34" charset="-120"/>
              </a:rPr>
              <a:t>0 alerts</a:t>
            </a:r>
            <a:endParaRPr lang="en-US" sz="4000" dirty="0"/>
          </a:p>
        </p:txBody>
      </p:sp>
      <p:sp>
        <p:nvSpPr>
          <p:cNvPr id="20" name="Text 18"/>
          <p:cNvSpPr txBox="1"/>
          <p:nvPr/>
        </p:nvSpPr>
        <p:spPr>
          <a:xfrm>
            <a:off x="3017520" y="3108960"/>
            <a:ext cx="5394960" cy="13716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Every dashboard stayed green. </a:t>
            </a:r>
            <a:endParaRPr lang="en-US" sz="1400" dirty="0"/>
          </a:p>
          <a:p>
            <a:pPr indent="0" marL="0">
              <a:buNone/>
            </a:pPr>
            <a:r>
              <a:rPr lang="en-US" sz="1400" dirty="0">
                <a:solidFill>
                  <a:srgbClr val="9CA3AF"/>
                </a:solidFill>
                <a:latin typeface="Calibri" pitchFamily="34" charset="0"/>
                <a:ea typeface="Calibri" pitchFamily="34" charset="-122"/>
                <a:cs typeface="Calibri" pitchFamily="34" charset="-120"/>
              </a:rPr>
              <a:t>The agent was working exactly as designed. Cost was the only signal that moved; and nothing was watching it.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01 · The 3am Runaway</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night</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timeline first, then the green dashboard row underneath; the contrast is the point.</a:t>
            </a:r>
            <a:endParaRPr lang="en-US" sz="1050" dirty="0"/>
          </a:p>
        </p:txBody>
      </p:sp>
      <p:sp>
        <p:nvSpPr>
          <p:cNvPr id="11" name="Text 7"/>
          <p:cNvSpPr txBox="1"/>
          <p:nvPr/>
        </p:nvSpPr>
        <p:spPr>
          <a:xfrm>
            <a:off x="457200" y="1554480"/>
            <a:ext cx="4160520" cy="30632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Timeline across the middle: 23:40 · 23:41 · 03:00 · 09:15</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Label: record enters queue · agent retries, and retries · still looping, nobody awake · someone opens the dashboard</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Above: a spend line climbing left → right. Right end: $4,200 in 9.5 hours</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Below: five green panels: CPU normal · Memory normal · Error 0% · p95 fine · Uptime 100%</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Bottom, three lines: working as designed · no threshold crossed (none set) · cost is the only signal that moved</a:t>
            </a:r>
            <a:endParaRPr lang="en-US" sz="1100" dirty="0"/>
          </a:p>
        </p:txBody>
      </p:sp>
      <p:sp>
        <p:nvSpPr>
          <p:cNvPr id="12" name="Shape 8"/>
          <p:cNvSpPr/>
          <p:nvPr/>
        </p:nvSpPr>
        <p:spPr>
          <a:xfrm>
            <a:off x="4846320" y="1554480"/>
            <a:ext cx="3840480" cy="2353142"/>
          </a:xfrm>
          <a:prstGeom prst="roundRect">
            <a:avLst>
              <a:gd name="adj" fmla="val 310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983480" y="1609344"/>
            <a:ext cx="2743200" cy="201168"/>
          </a:xfrm>
          <a:prstGeom prst="rect">
            <a:avLst/>
          </a:prstGeom>
          <a:noFill/>
          <a:ln/>
        </p:spPr>
        <p:txBody>
          <a:bodyPr wrap="square" lIns="0" tIns="0" rIns="0" bIns="0" rtlCol="0" anchor="t"/>
          <a:lstStyle/>
          <a:p>
            <a:pPr indent="0" marL="0">
              <a:buNone/>
            </a:pPr>
            <a:r>
              <a:rPr lang="en-US" sz="800" b="1" spc="200" kern="0" dirty="0">
                <a:solidFill>
                  <a:srgbClr val="9CA3AF"/>
                </a:solidFill>
                <a:latin typeface="Calibri" pitchFamily="34" charset="0"/>
                <a:ea typeface="Calibri" pitchFamily="34" charset="-122"/>
                <a:cs typeface="Calibri" pitchFamily="34" charset="-120"/>
              </a:rPr>
              <a:t>FINISHED PANEL</a:t>
            </a:r>
            <a:endParaRPr lang="en-US" sz="800" dirty="0"/>
          </a:p>
        </p:txBody>
      </p:sp>
      <p:pic>
        <p:nvPicPr>
          <p:cNvPr id="14" name="Image 2" descr="preencoded.png">    </p:cNvPr>
          <p:cNvPicPr>
            <a:picLocks noChangeAspect="1"/>
          </p:cNvPicPr>
          <p:nvPr/>
        </p:nvPicPr>
        <p:blipFill>
          <a:blip r:embed="rId3"/>
          <a:stretch>
            <a:fillRect/>
          </a:stretch>
        </p:blipFill>
        <p:spPr>
          <a:xfrm>
            <a:off x="4892040" y="1828800"/>
            <a:ext cx="3749040" cy="1987382"/>
          </a:xfrm>
          <a:prstGeom prst="rect">
            <a:avLst/>
          </a:prstGeom>
        </p:spPr>
      </p:pic>
      <p:sp>
        <p:nvSpPr>
          <p:cNvPr id="15" name="Text 10"/>
          <p:cNvSpPr txBox="1"/>
          <p:nvPr/>
        </p:nvSpPr>
        <p:spPr>
          <a:xfrm>
            <a:off x="4846320" y="3999062"/>
            <a:ext cx="3840480" cy="618658"/>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Say: “Every dashboard green. One line climbing. Nothing connecting them.”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THE 3AM RUNAWAY</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Don't blame the malformed record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
        <p:nvSpPr>
          <p:cNvPr id="6" name="Text 4"/>
          <p:cNvSpPr txBox="1"/>
          <p:nvPr/>
        </p:nvSpPr>
        <p:spPr>
          <a:xfrm>
            <a:off x="457200" y="1371600"/>
            <a:ext cx="3291840" cy="146304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Bad input is normal. Queues contain malformed records; that is a permanent condition of running software. The next runaway will come from something you didn't anticipate.</a:t>
            </a:r>
            <a:endParaRPr lang="en-US" sz="1500" dirty="0"/>
          </a:p>
        </p:txBody>
      </p:sp>
      <p:sp>
        <p:nvSpPr>
          <p:cNvPr id="7" name="Text 5"/>
          <p:cNvSpPr txBox="1"/>
          <p:nvPr/>
        </p:nvSpPr>
        <p:spPr>
          <a:xfrm>
            <a:off x="457200" y="3017520"/>
            <a:ext cx="3291840" cy="914400"/>
          </a:xfrm>
          <a:prstGeom prst="rect">
            <a:avLst/>
          </a:prstGeom>
          <a:noFill/>
          <a:ln/>
        </p:spPr>
        <p:txBody>
          <a:bodyPr wrap="square" lIns="0" tIns="0" rIns="0" bIns="0" rtlCol="0" anchor="t"/>
          <a:lstStyle/>
          <a:p>
            <a:pPr indent="0" marL="0">
              <a:buNone/>
            </a:pPr>
            <a:r>
              <a:rPr lang="en-US" sz="1800" b="1" i="1" dirty="0">
                <a:solidFill>
                  <a:srgbClr val="B45309"/>
                </a:solidFill>
                <a:latin typeface="Cambria" pitchFamily="34" charset="0"/>
                <a:ea typeface="Cambria" pitchFamily="34" charset="-122"/>
                <a:cs typeface="Cambria" pitchFamily="34" charset="-120"/>
              </a:rPr>
              <a:t>The system had no concept of what it was allowed to spend.</a:t>
            </a:r>
            <a:endParaRPr lang="en-US" sz="1800" dirty="0"/>
          </a:p>
        </p:txBody>
      </p:sp>
      <p:sp>
        <p:nvSpPr>
          <p:cNvPr id="8" name="Shape 6"/>
          <p:cNvSpPr/>
          <p:nvPr/>
        </p:nvSpPr>
        <p:spPr>
          <a:xfrm>
            <a:off x="4206240" y="1325880"/>
            <a:ext cx="4480560" cy="914400"/>
          </a:xfrm>
          <a:prstGeom prst="roundRect">
            <a:avLst>
              <a:gd name="adj" fmla="val 8000"/>
            </a:avLst>
          </a:prstGeom>
          <a:solidFill>
            <a:srgbClr val="F3F4F6"/>
          </a:solidFill>
          <a:ln w="12700">
            <a:solidFill>
              <a:srgbClr val="F3F4F6"/>
            </a:solidFill>
            <a:prstDash val="solid"/>
          </a:ln>
        </p:spPr>
      </p:sp>
      <p:sp>
        <p:nvSpPr>
          <p:cNvPr id="9" name="Shape 7"/>
          <p:cNvSpPr/>
          <p:nvPr/>
        </p:nvSpPr>
        <p:spPr>
          <a:xfrm>
            <a:off x="4434840" y="1508760"/>
            <a:ext cx="548640" cy="548640"/>
          </a:xfrm>
          <a:prstGeom prst="ellipse">
            <a:avLst/>
          </a:prstGeom>
          <a:solidFill>
            <a:srgbClr val="111827"/>
          </a:solidFill>
          <a:ln w="12700">
            <a:solidFill>
              <a:srgbClr val="111827"/>
            </a:solidFill>
            <a:prstDash val="solid"/>
          </a:ln>
        </p:spPr>
      </p:sp>
      <p:pic>
        <p:nvPicPr>
          <p:cNvPr id="10" name="Image 0" descr="preencoded.png">    </p:cNvPr>
          <p:cNvPicPr>
            <a:picLocks noChangeAspect="1"/>
          </p:cNvPicPr>
          <p:nvPr/>
        </p:nvPicPr>
        <p:blipFill>
          <a:blip r:embed="rId1"/>
          <a:stretch>
            <a:fillRect/>
          </a:stretch>
        </p:blipFill>
        <p:spPr>
          <a:xfrm>
            <a:off x="4555541" y="1629461"/>
            <a:ext cx="307238" cy="307238"/>
          </a:xfrm>
          <a:prstGeom prst="rect">
            <a:avLst/>
          </a:prstGeom>
        </p:spPr>
      </p:pic>
      <p:sp>
        <p:nvSpPr>
          <p:cNvPr id="11" name="Text 8"/>
          <p:cNvSpPr txBox="1"/>
          <p:nvPr/>
        </p:nvSpPr>
        <p:spPr>
          <a:xfrm>
            <a:off x="5166360" y="1472184"/>
            <a:ext cx="329184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Bounded</a:t>
            </a:r>
            <a:endParaRPr lang="en-US" sz="1600" dirty="0"/>
          </a:p>
        </p:txBody>
      </p:sp>
      <p:sp>
        <p:nvSpPr>
          <p:cNvPr id="12" name="Text 9"/>
          <p:cNvSpPr txBox="1"/>
          <p:nvPr/>
        </p:nvSpPr>
        <p:spPr>
          <a:xfrm>
            <a:off x="5166360" y="1801368"/>
            <a:ext cx="3383280" cy="3200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spend ceiling the agent cannot cross.</a:t>
            </a:r>
            <a:endParaRPr lang="en-US" sz="1200" dirty="0"/>
          </a:p>
        </p:txBody>
      </p:sp>
      <p:sp>
        <p:nvSpPr>
          <p:cNvPr id="13" name="Shape 10"/>
          <p:cNvSpPr/>
          <p:nvPr/>
        </p:nvSpPr>
        <p:spPr>
          <a:xfrm>
            <a:off x="4206240" y="2404872"/>
            <a:ext cx="4480560" cy="914400"/>
          </a:xfrm>
          <a:prstGeom prst="roundRect">
            <a:avLst>
              <a:gd name="adj" fmla="val 8000"/>
            </a:avLst>
          </a:prstGeom>
          <a:solidFill>
            <a:srgbClr val="F3F4F6"/>
          </a:solidFill>
          <a:ln w="12700">
            <a:solidFill>
              <a:srgbClr val="F3F4F6"/>
            </a:solidFill>
            <a:prstDash val="solid"/>
          </a:ln>
        </p:spPr>
      </p:sp>
      <p:sp>
        <p:nvSpPr>
          <p:cNvPr id="14" name="Shape 11"/>
          <p:cNvSpPr/>
          <p:nvPr/>
        </p:nvSpPr>
        <p:spPr>
          <a:xfrm>
            <a:off x="4434840" y="2587752"/>
            <a:ext cx="548640" cy="548640"/>
          </a:xfrm>
          <a:prstGeom prst="ellipse">
            <a:avLst/>
          </a:prstGeom>
          <a:solidFill>
            <a:srgbClr val="1D4ED8"/>
          </a:solidFill>
          <a:ln w="12700">
            <a:solidFill>
              <a:srgbClr val="1D4ED8"/>
            </a:solidFill>
            <a:prstDash val="solid"/>
          </a:ln>
        </p:spPr>
      </p:sp>
      <p:pic>
        <p:nvPicPr>
          <p:cNvPr id="15" name="Image 1" descr="preencoded.png">    </p:cNvPr>
          <p:cNvPicPr>
            <a:picLocks noChangeAspect="1"/>
          </p:cNvPicPr>
          <p:nvPr/>
        </p:nvPicPr>
        <p:blipFill>
          <a:blip r:embed="rId2"/>
          <a:stretch>
            <a:fillRect/>
          </a:stretch>
        </p:blipFill>
        <p:spPr>
          <a:xfrm>
            <a:off x="4555541" y="2708453"/>
            <a:ext cx="307238" cy="307238"/>
          </a:xfrm>
          <a:prstGeom prst="rect">
            <a:avLst/>
          </a:prstGeom>
        </p:spPr>
      </p:pic>
      <p:sp>
        <p:nvSpPr>
          <p:cNvPr id="16" name="Text 12"/>
          <p:cNvSpPr txBox="1"/>
          <p:nvPr/>
        </p:nvSpPr>
        <p:spPr>
          <a:xfrm>
            <a:off x="5166360" y="2551176"/>
            <a:ext cx="329184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Visible</a:t>
            </a:r>
            <a:endParaRPr lang="en-US" sz="1600" dirty="0"/>
          </a:p>
        </p:txBody>
      </p:sp>
      <p:sp>
        <p:nvSpPr>
          <p:cNvPr id="17" name="Text 13"/>
          <p:cNvSpPr txBox="1"/>
          <p:nvPr/>
        </p:nvSpPr>
        <p:spPr>
          <a:xfrm>
            <a:off x="5166360" y="2880360"/>
            <a:ext cx="3383280" cy="3200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Something watching the rate of spend.</a:t>
            </a:r>
            <a:endParaRPr lang="en-US" sz="1200" dirty="0"/>
          </a:p>
        </p:txBody>
      </p:sp>
      <p:sp>
        <p:nvSpPr>
          <p:cNvPr id="18" name="Shape 14"/>
          <p:cNvSpPr/>
          <p:nvPr/>
        </p:nvSpPr>
        <p:spPr>
          <a:xfrm>
            <a:off x="4206240" y="3483864"/>
            <a:ext cx="4480560" cy="914400"/>
          </a:xfrm>
          <a:prstGeom prst="roundRect">
            <a:avLst>
              <a:gd name="adj" fmla="val 8000"/>
            </a:avLst>
          </a:prstGeom>
          <a:solidFill>
            <a:srgbClr val="F3F4F6"/>
          </a:solidFill>
          <a:ln w="12700">
            <a:solidFill>
              <a:srgbClr val="F3F4F6"/>
            </a:solidFill>
            <a:prstDash val="solid"/>
          </a:ln>
        </p:spPr>
      </p:sp>
      <p:sp>
        <p:nvSpPr>
          <p:cNvPr id="19" name="Shape 15"/>
          <p:cNvSpPr/>
          <p:nvPr/>
        </p:nvSpPr>
        <p:spPr>
          <a:xfrm>
            <a:off x="4434840" y="3666744"/>
            <a:ext cx="548640" cy="548640"/>
          </a:xfrm>
          <a:prstGeom prst="ellipse">
            <a:avLst/>
          </a:prstGeom>
          <a:solidFill>
            <a:srgbClr val="047857"/>
          </a:solidFill>
          <a:ln w="12700">
            <a:solidFill>
              <a:srgbClr val="047857"/>
            </a:solidFill>
            <a:prstDash val="solid"/>
          </a:ln>
        </p:spPr>
      </p:sp>
      <p:pic>
        <p:nvPicPr>
          <p:cNvPr id="20" name="Image 2" descr="preencoded.png">    </p:cNvPr>
          <p:cNvPicPr>
            <a:picLocks noChangeAspect="1"/>
          </p:cNvPicPr>
          <p:nvPr/>
        </p:nvPicPr>
        <p:blipFill>
          <a:blip r:embed="rId3"/>
          <a:stretch>
            <a:fillRect/>
          </a:stretch>
        </p:blipFill>
        <p:spPr>
          <a:xfrm>
            <a:off x="4555541" y="3787445"/>
            <a:ext cx="307238" cy="307238"/>
          </a:xfrm>
          <a:prstGeom prst="rect">
            <a:avLst/>
          </a:prstGeom>
        </p:spPr>
      </p:pic>
      <p:sp>
        <p:nvSpPr>
          <p:cNvPr id="21" name="Text 16"/>
          <p:cNvSpPr txBox="1"/>
          <p:nvPr/>
        </p:nvSpPr>
        <p:spPr>
          <a:xfrm>
            <a:off x="5166360" y="3630168"/>
            <a:ext cx="329184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Attributable</a:t>
            </a:r>
            <a:endParaRPr lang="en-US" sz="1600" dirty="0"/>
          </a:p>
        </p:txBody>
      </p:sp>
      <p:sp>
        <p:nvSpPr>
          <p:cNvPr id="22" name="Text 17"/>
          <p:cNvSpPr txBox="1"/>
          <p:nvPr/>
        </p:nvSpPr>
        <p:spPr>
          <a:xfrm>
            <a:off x="5166360" y="3959352"/>
            <a:ext cx="3383280" cy="3200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dollar traced to the agent that spent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91440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548640" y="228600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Multiplication Problem</a:t>
            </a:r>
            <a:endParaRPr lang="en-US" sz="3600" dirty="0"/>
          </a:p>
        </p:txBody>
      </p:sp>
      <p:sp>
        <p:nvSpPr>
          <p:cNvPr id="4" name="Text 2"/>
          <p:cNvSpPr txBox="1"/>
          <p:nvPr/>
        </p:nvSpPr>
        <p:spPr>
          <a:xfrm>
            <a:off x="548640" y="31546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~9 min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THE MULTIPLICATION PROBLEM</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Traditional cost adds. Agent cost multiplies.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
        <p:nvSpPr>
          <p:cNvPr id="6" name="Text 4"/>
          <p:cNvSpPr txBox="1"/>
          <p:nvPr/>
        </p:nvSpPr>
        <p:spPr>
          <a:xfrm>
            <a:off x="457200" y="1325880"/>
            <a:ext cx="1828800" cy="22860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TRADITIONAL</a:t>
            </a:r>
            <a:endParaRPr lang="en-US" sz="1000" dirty="0"/>
          </a:p>
        </p:txBody>
      </p:sp>
      <p:sp>
        <p:nvSpPr>
          <p:cNvPr id="7" name="Shape 5"/>
          <p:cNvSpPr/>
          <p:nvPr/>
        </p:nvSpPr>
        <p:spPr>
          <a:xfrm>
            <a:off x="457200" y="1572768"/>
            <a:ext cx="8229600" cy="502920"/>
          </a:xfrm>
          <a:prstGeom prst="roundRect">
            <a:avLst>
              <a:gd name="adj" fmla="val 14545"/>
            </a:avLst>
          </a:prstGeom>
          <a:solidFill>
            <a:srgbClr val="F3F4F6"/>
          </a:solidFill>
          <a:ln w="12700">
            <a:solidFill>
              <a:srgbClr val="F3F4F6"/>
            </a:solidFill>
            <a:prstDash val="solid"/>
          </a:ln>
        </p:spPr>
      </p:sp>
      <p:sp>
        <p:nvSpPr>
          <p:cNvPr id="8" name="Text 6"/>
          <p:cNvSpPr txBox="1"/>
          <p:nvPr/>
        </p:nvSpPr>
        <p:spPr>
          <a:xfrm>
            <a:off x="685800" y="1572768"/>
            <a:ext cx="5486400" cy="502920"/>
          </a:xfrm>
          <a:prstGeom prst="rect">
            <a:avLst/>
          </a:prstGeom>
          <a:noFill/>
          <a:ln/>
        </p:spPr>
        <p:txBody>
          <a:bodyPr wrap="square" lIns="0" tIns="0" rIns="0" bIns="0" rtlCol="0" anchor="ctr"/>
          <a:lstStyle/>
          <a:p>
            <a:pPr indent="0" marL="0">
              <a:buNone/>
            </a:pPr>
            <a:r>
              <a:rPr lang="en-US" sz="1500" dirty="0">
                <a:solidFill>
                  <a:srgbClr val="1F2937"/>
                </a:solidFill>
                <a:latin typeface="Courier New" pitchFamily="34" charset="0"/>
                <a:ea typeface="Courier New" pitchFamily="34" charset="-122"/>
                <a:cs typeface="Courier New" pitchFamily="34" charset="-120"/>
              </a:rPr>
              <a:t>requests  ×  cost per request</a:t>
            </a:r>
            <a:endParaRPr lang="en-US" sz="1500" dirty="0"/>
          </a:p>
        </p:txBody>
      </p:sp>
      <p:sp>
        <p:nvSpPr>
          <p:cNvPr id="9" name="Text 7"/>
          <p:cNvSpPr txBox="1"/>
          <p:nvPr/>
        </p:nvSpPr>
        <p:spPr>
          <a:xfrm>
            <a:off x="5943600" y="1572768"/>
            <a:ext cx="2560320" cy="502920"/>
          </a:xfrm>
          <a:prstGeom prst="rect">
            <a:avLst/>
          </a:prstGeom>
          <a:noFill/>
          <a:ln/>
        </p:spPr>
        <p:txBody>
          <a:bodyPr wrap="square" lIns="0" tIns="0" rIns="0" bIns="0" rtlCol="0" anchor="ctr"/>
          <a:lstStyle/>
          <a:p>
            <a:pPr algn="r" indent="0" marL="0">
              <a:buNone/>
            </a:pPr>
            <a:r>
              <a:rPr lang="en-US" sz="1200" i="1" dirty="0">
                <a:solidFill>
                  <a:srgbClr val="6B7280"/>
                </a:solidFill>
                <a:latin typeface="Calibri" pitchFamily="34" charset="0"/>
                <a:ea typeface="Calibri" pitchFamily="34" charset="-122"/>
                <a:cs typeface="Calibri" pitchFamily="34" charset="-120"/>
              </a:rPr>
              <a:t>linear · napkin math</a:t>
            </a:r>
            <a:endParaRPr lang="en-US" sz="1200" dirty="0"/>
          </a:p>
        </p:txBody>
      </p:sp>
      <p:sp>
        <p:nvSpPr>
          <p:cNvPr id="10" name="Text 8"/>
          <p:cNvSpPr txBox="1"/>
          <p:nvPr/>
        </p:nvSpPr>
        <p:spPr>
          <a:xfrm>
            <a:off x="457200" y="2240280"/>
            <a:ext cx="1828800" cy="228600"/>
          </a:xfrm>
          <a:prstGeom prst="rect">
            <a:avLst/>
          </a:prstGeom>
          <a:noFill/>
          <a:ln/>
        </p:spPr>
        <p:txBody>
          <a:bodyPr wrap="square" lIns="0" tIns="0" rIns="0" bIns="0" rtlCol="0" anchor="t"/>
          <a:lstStyle/>
          <a:p>
            <a:pPr indent="0" marL="0">
              <a:buNone/>
            </a:pPr>
            <a:r>
              <a:rPr lang="en-US" sz="1000" b="1" spc="200" kern="0" dirty="0">
                <a:solidFill>
                  <a:srgbClr val="B45309"/>
                </a:solidFill>
                <a:latin typeface="Calibri" pitchFamily="34" charset="0"/>
                <a:ea typeface="Calibri" pitchFamily="34" charset="-122"/>
                <a:cs typeface="Calibri" pitchFamily="34" charset="-120"/>
              </a:rPr>
              <a:t>AGENT</a:t>
            </a:r>
            <a:endParaRPr lang="en-US" sz="1000" dirty="0"/>
          </a:p>
        </p:txBody>
      </p:sp>
      <p:sp>
        <p:nvSpPr>
          <p:cNvPr id="11" name="Shape 9"/>
          <p:cNvSpPr/>
          <p:nvPr/>
        </p:nvSpPr>
        <p:spPr>
          <a:xfrm>
            <a:off x="457200" y="2487168"/>
            <a:ext cx="8229600" cy="640080"/>
          </a:xfrm>
          <a:prstGeom prst="roundRect">
            <a:avLst>
              <a:gd name="adj" fmla="val 11429"/>
            </a:avLst>
          </a:prstGeom>
          <a:solidFill>
            <a:srgbClr val="111827"/>
          </a:solidFill>
          <a:ln w="12700">
            <a:solidFill>
              <a:srgbClr val="111827"/>
            </a:solidFill>
            <a:prstDash val="solid"/>
          </a:ln>
        </p:spPr>
      </p:sp>
      <p:sp>
        <p:nvSpPr>
          <p:cNvPr id="12" name="Text 10"/>
          <p:cNvSpPr txBox="1"/>
          <p:nvPr/>
        </p:nvSpPr>
        <p:spPr>
          <a:xfrm>
            <a:off x="457200" y="2487168"/>
            <a:ext cx="8229600" cy="640080"/>
          </a:xfrm>
          <a:prstGeom prst="rect">
            <a:avLst/>
          </a:prstGeom>
          <a:noFill/>
          <a:ln/>
        </p:spPr>
        <p:txBody>
          <a:bodyPr wrap="square" lIns="0" tIns="0" rIns="0" bIns="0" rtlCol="0" anchor="ctr"/>
          <a:lstStyle/>
          <a:p>
            <a:pPr algn="ctr" indent="0" marL="0">
              <a:buNone/>
            </a:pPr>
            <a:r>
              <a:rPr lang="en-US" sz="2200" b="1" dirty="0">
                <a:solidFill>
                  <a:srgbClr val="93C5FD"/>
                </a:solidFill>
                <a:latin typeface="Courier New" pitchFamily="34" charset="0"/>
                <a:ea typeface="Courier New" pitchFamily="34" charset="-122"/>
                <a:cs typeface="Courier New" pitchFamily="34" charset="-120"/>
              </a:rPr>
              <a:t>requests</a:t>
            </a:r>
            <a:pPr algn="ctr" indent="0" marL="0">
              <a:buNone/>
            </a:pPr>
            <a:r>
              <a:rPr lang="en-US" sz="2200" b="1" dirty="0">
                <a:solidFill>
                  <a:srgbClr val="6B7280"/>
                </a:solidFill>
                <a:latin typeface="Courier New" pitchFamily="34" charset="0"/>
                <a:ea typeface="Courier New" pitchFamily="34" charset="-122"/>
                <a:cs typeface="Courier New" pitchFamily="34" charset="-120"/>
              </a:rPr>
              <a:t>  ×  </a:t>
            </a:r>
            <a:pPr algn="ctr" indent="0" marL="0">
              <a:buNone/>
            </a:pPr>
            <a:r>
              <a:rPr lang="en-US" sz="2200" b="1" dirty="0">
                <a:solidFill>
                  <a:srgbClr val="F59E0B"/>
                </a:solidFill>
                <a:latin typeface="Courier New" pitchFamily="34" charset="0"/>
                <a:ea typeface="Courier New" pitchFamily="34" charset="-122"/>
                <a:cs typeface="Courier New" pitchFamily="34" charset="-120"/>
              </a:rPr>
              <a:t>steps</a:t>
            </a:r>
            <a:pPr algn="ctr" indent="0" marL="0">
              <a:buNone/>
            </a:pPr>
            <a:r>
              <a:rPr lang="en-US" sz="2200" b="1" dirty="0">
                <a:solidFill>
                  <a:srgbClr val="6B7280"/>
                </a:solidFill>
                <a:latin typeface="Courier New" pitchFamily="34" charset="0"/>
                <a:ea typeface="Courier New" pitchFamily="34" charset="-122"/>
                <a:cs typeface="Courier New" pitchFamily="34" charset="-120"/>
              </a:rPr>
              <a:t>  ×  </a:t>
            </a:r>
            <a:pPr algn="ctr" indent="0" marL="0">
              <a:buNone/>
            </a:pPr>
            <a:r>
              <a:rPr lang="en-US" sz="2200" b="1" dirty="0">
                <a:solidFill>
                  <a:srgbClr val="C4B5FD"/>
                </a:solidFill>
                <a:latin typeface="Courier New" pitchFamily="34" charset="0"/>
                <a:ea typeface="Courier New" pitchFamily="34" charset="-122"/>
                <a:cs typeface="Courier New" pitchFamily="34" charset="-120"/>
              </a:rPr>
              <a:t>tokens</a:t>
            </a:r>
            <a:pPr algn="ctr" indent="0" marL="0">
              <a:buNone/>
            </a:pPr>
            <a:r>
              <a:rPr lang="en-US" sz="2200" b="1" dirty="0">
                <a:solidFill>
                  <a:srgbClr val="6B7280"/>
                </a:solidFill>
                <a:latin typeface="Courier New" pitchFamily="34" charset="0"/>
                <a:ea typeface="Courier New" pitchFamily="34" charset="-122"/>
                <a:cs typeface="Courier New" pitchFamily="34" charset="-120"/>
              </a:rPr>
              <a:t>  ×  </a:t>
            </a:r>
            <a:pPr algn="ctr" indent="0" marL="0">
              <a:buNone/>
            </a:pPr>
            <a:r>
              <a:rPr lang="en-US" sz="2200" b="1" dirty="0">
                <a:solidFill>
                  <a:srgbClr val="FCA5A5"/>
                </a:solidFill>
                <a:latin typeface="Courier New" pitchFamily="34" charset="0"/>
                <a:ea typeface="Courier New" pitchFamily="34" charset="-122"/>
                <a:cs typeface="Courier New" pitchFamily="34" charset="-120"/>
              </a:rPr>
              <a:t>retries</a:t>
            </a:r>
            <a:endParaRPr lang="en-US" sz="2200" dirty="0"/>
          </a:p>
        </p:txBody>
      </p:sp>
      <p:sp>
        <p:nvSpPr>
          <p:cNvPr id="13" name="Text 11"/>
          <p:cNvSpPr txBox="1"/>
          <p:nvPr/>
        </p:nvSpPr>
        <p:spPr>
          <a:xfrm>
            <a:off x="457200" y="3337560"/>
            <a:ext cx="1920240" cy="201168"/>
          </a:xfrm>
          <a:prstGeom prst="rect">
            <a:avLst/>
          </a:prstGeom>
          <a:noFill/>
          <a:ln/>
        </p:spPr>
        <p:txBody>
          <a:bodyPr wrap="square" lIns="0" tIns="0" rIns="0" bIns="0" rtlCol="0" anchor="t"/>
          <a:lstStyle/>
          <a:p>
            <a:pPr indent="0" marL="0">
              <a:buNone/>
            </a:pPr>
            <a:r>
              <a:rPr lang="en-US" sz="900" b="1" spc="100" kern="0" dirty="0">
                <a:solidFill>
                  <a:srgbClr val="1D4ED8"/>
                </a:solidFill>
                <a:latin typeface="Calibri" pitchFamily="34" charset="0"/>
                <a:ea typeface="Calibri" pitchFamily="34" charset="-122"/>
                <a:cs typeface="Calibri" pitchFamily="34" charset="-120"/>
              </a:rPr>
              <a:t>YOU CONTROL</a:t>
            </a:r>
            <a:endParaRPr lang="en-US" sz="900" dirty="0"/>
          </a:p>
        </p:txBody>
      </p:sp>
      <p:sp>
        <p:nvSpPr>
          <p:cNvPr id="14" name="Text 12"/>
          <p:cNvSpPr txBox="1"/>
          <p:nvPr/>
        </p:nvSpPr>
        <p:spPr>
          <a:xfrm>
            <a:off x="457200" y="3566160"/>
            <a:ext cx="1920240" cy="292608"/>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Requests</a:t>
            </a:r>
            <a:endParaRPr lang="en-US" sz="1500" dirty="0"/>
          </a:p>
        </p:txBody>
      </p:sp>
      <p:sp>
        <p:nvSpPr>
          <p:cNvPr id="15" name="Text 13"/>
          <p:cNvSpPr txBox="1"/>
          <p:nvPr/>
        </p:nvSpPr>
        <p:spPr>
          <a:xfrm>
            <a:off x="457200" y="3858768"/>
            <a:ext cx="1874520" cy="64008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Your traffic. Same as always.</a:t>
            </a:r>
            <a:endParaRPr lang="en-US" sz="1100" dirty="0"/>
          </a:p>
        </p:txBody>
      </p:sp>
      <p:sp>
        <p:nvSpPr>
          <p:cNvPr id="16" name="Text 14"/>
          <p:cNvSpPr txBox="1"/>
          <p:nvPr/>
        </p:nvSpPr>
        <p:spPr>
          <a:xfrm>
            <a:off x="2560320" y="3337560"/>
            <a:ext cx="192024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THE WORK DECIDES</a:t>
            </a:r>
            <a:endParaRPr lang="en-US" sz="900" dirty="0"/>
          </a:p>
        </p:txBody>
      </p:sp>
      <p:sp>
        <p:nvSpPr>
          <p:cNvPr id="17" name="Text 15"/>
          <p:cNvSpPr txBox="1"/>
          <p:nvPr/>
        </p:nvSpPr>
        <p:spPr>
          <a:xfrm>
            <a:off x="2560320" y="3566160"/>
            <a:ext cx="1920240" cy="292608"/>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Steps</a:t>
            </a:r>
            <a:endParaRPr lang="en-US" sz="1500" dirty="0"/>
          </a:p>
        </p:txBody>
      </p:sp>
      <p:sp>
        <p:nvSpPr>
          <p:cNvPr id="18" name="Text 16"/>
          <p:cNvSpPr txBox="1"/>
          <p:nvPr/>
        </p:nvSpPr>
        <p:spPr>
          <a:xfrm>
            <a:off x="2560320" y="3858768"/>
            <a:ext cx="1874520" cy="64008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Reasoning loops per request: set by task difficulty.</a:t>
            </a:r>
            <a:endParaRPr lang="en-US" sz="1100" dirty="0"/>
          </a:p>
        </p:txBody>
      </p:sp>
      <p:sp>
        <p:nvSpPr>
          <p:cNvPr id="19" name="Text 17"/>
          <p:cNvSpPr txBox="1"/>
          <p:nvPr/>
        </p:nvSpPr>
        <p:spPr>
          <a:xfrm>
            <a:off x="4663440" y="3337560"/>
            <a:ext cx="1920240" cy="201168"/>
          </a:xfrm>
          <a:prstGeom prst="rect">
            <a:avLst/>
          </a:prstGeom>
          <a:noFill/>
          <a:ln/>
        </p:spPr>
        <p:txBody>
          <a:bodyPr wrap="square" lIns="0" tIns="0" rIns="0" bIns="0" rtlCol="0" anchor="t"/>
          <a:lstStyle/>
          <a:p>
            <a:pPr indent="0" marL="0">
              <a:buNone/>
            </a:pPr>
            <a:r>
              <a:rPr lang="en-US" sz="900" b="1" spc="100" kern="0" dirty="0">
                <a:solidFill>
                  <a:srgbClr val="6D28D9"/>
                </a:solidFill>
                <a:latin typeface="Calibri" pitchFamily="34" charset="0"/>
                <a:ea typeface="Calibri" pitchFamily="34" charset="-122"/>
                <a:cs typeface="Calibri" pitchFamily="34" charset="-120"/>
              </a:rPr>
              <a:t>THE WORK DECIDES</a:t>
            </a:r>
            <a:endParaRPr lang="en-US" sz="900" dirty="0"/>
          </a:p>
        </p:txBody>
      </p:sp>
      <p:sp>
        <p:nvSpPr>
          <p:cNvPr id="20" name="Text 18"/>
          <p:cNvSpPr txBox="1"/>
          <p:nvPr/>
        </p:nvSpPr>
        <p:spPr>
          <a:xfrm>
            <a:off x="4663440" y="3566160"/>
            <a:ext cx="1920240" cy="292608"/>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Tokens</a:t>
            </a:r>
            <a:endParaRPr lang="en-US" sz="1500" dirty="0"/>
          </a:p>
        </p:txBody>
      </p:sp>
      <p:sp>
        <p:nvSpPr>
          <p:cNvPr id="21" name="Text 19"/>
          <p:cNvSpPr txBox="1"/>
          <p:nvPr/>
        </p:nvSpPr>
        <p:spPr>
          <a:xfrm>
            <a:off x="4663440" y="3858768"/>
            <a:ext cx="1874520" cy="64008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Text through the model on every step.</a:t>
            </a:r>
            <a:endParaRPr lang="en-US" sz="1100" dirty="0"/>
          </a:p>
        </p:txBody>
      </p:sp>
      <p:sp>
        <p:nvSpPr>
          <p:cNvPr id="22" name="Text 20"/>
          <p:cNvSpPr txBox="1"/>
          <p:nvPr/>
        </p:nvSpPr>
        <p:spPr>
          <a:xfrm>
            <a:off x="6766560" y="3337560"/>
            <a:ext cx="1920240" cy="201168"/>
          </a:xfrm>
          <a:prstGeom prst="rect">
            <a:avLst/>
          </a:prstGeom>
          <a:noFill/>
          <a:ln/>
        </p:spPr>
        <p:txBody>
          <a:bodyPr wrap="square" lIns="0" tIns="0" rIns="0" bIns="0" rtlCol="0" anchor="t"/>
          <a:lstStyle/>
          <a:p>
            <a:pPr indent="0" marL="0">
              <a:buNone/>
            </a:pPr>
            <a:r>
              <a:rPr lang="en-US" sz="900" b="1" spc="100" kern="0" dirty="0">
                <a:solidFill>
                  <a:srgbClr val="B91C1C"/>
                </a:solidFill>
                <a:latin typeface="Calibri" pitchFamily="34" charset="0"/>
                <a:ea typeface="Calibri" pitchFamily="34" charset="-122"/>
                <a:cs typeface="Calibri" pitchFamily="34" charset="-120"/>
              </a:rPr>
              <a:t>THE WORK DECIDES</a:t>
            </a:r>
            <a:endParaRPr lang="en-US" sz="900" dirty="0"/>
          </a:p>
        </p:txBody>
      </p:sp>
      <p:sp>
        <p:nvSpPr>
          <p:cNvPr id="23" name="Text 21"/>
          <p:cNvSpPr txBox="1"/>
          <p:nvPr/>
        </p:nvSpPr>
        <p:spPr>
          <a:xfrm>
            <a:off x="6766560" y="3566160"/>
            <a:ext cx="1920240" cy="292608"/>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Retries</a:t>
            </a:r>
            <a:endParaRPr lang="en-US" sz="1500" dirty="0"/>
          </a:p>
        </p:txBody>
      </p:sp>
      <p:sp>
        <p:nvSpPr>
          <p:cNvPr id="24" name="Text 22"/>
          <p:cNvSpPr txBox="1"/>
          <p:nvPr/>
        </p:nvSpPr>
        <p:spPr>
          <a:xfrm>
            <a:off x="6766560" y="3858768"/>
            <a:ext cx="1874520" cy="64008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Multiplies everything above it.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02 · The Multiplication Problem</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multiplication tree</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Build the tree downward, then draw the retry boundary around the whole thing last.</a:t>
            </a:r>
            <a:endParaRPr lang="en-US" sz="1050" dirty="0"/>
          </a:p>
        </p:txBody>
      </p:sp>
      <p:sp>
        <p:nvSpPr>
          <p:cNvPr id="11" name="Text 7"/>
          <p:cNvSpPr txBox="1"/>
          <p:nvPr/>
        </p:nvSpPr>
        <p:spPr>
          <a:xfrm>
            <a:off x="457200" y="1554480"/>
            <a:ext cx="4160520" cy="30632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Top, large: requests × steps × tokens × retries</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One circle: ONE REQUEST</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Below: five step circles connected up to it: “12 STEPS …”</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Three tiny token circles under each step: “~2,400 tokens each”</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Dashed boundary around the whole step-and-token region</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Dashed arrow curving back up to the request: “a retry is this entire subtree again”</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Bottom, three rows: 12 steps → 1 outcome · 24 steps → 1 outcome · 48 steps → 0 outcomes</a:t>
            </a:r>
            <a:endParaRPr lang="en-US" sz="1100" dirty="0"/>
          </a:p>
        </p:txBody>
      </p:sp>
      <p:sp>
        <p:nvSpPr>
          <p:cNvPr id="12" name="Shape 8"/>
          <p:cNvSpPr/>
          <p:nvPr/>
        </p:nvSpPr>
        <p:spPr>
          <a:xfrm>
            <a:off x="4846320" y="1554480"/>
            <a:ext cx="3840480" cy="2639990"/>
          </a:xfrm>
          <a:prstGeom prst="roundRect">
            <a:avLst>
              <a:gd name="adj" fmla="val 2771"/>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983480" y="1609344"/>
            <a:ext cx="2743200" cy="201168"/>
          </a:xfrm>
          <a:prstGeom prst="rect">
            <a:avLst/>
          </a:prstGeom>
          <a:noFill/>
          <a:ln/>
        </p:spPr>
        <p:txBody>
          <a:bodyPr wrap="square" lIns="0" tIns="0" rIns="0" bIns="0" rtlCol="0" anchor="t"/>
          <a:lstStyle/>
          <a:p>
            <a:pPr indent="0" marL="0">
              <a:buNone/>
            </a:pPr>
            <a:r>
              <a:rPr lang="en-US" sz="800" b="1" spc="200" kern="0" dirty="0">
                <a:solidFill>
                  <a:srgbClr val="9CA3AF"/>
                </a:solidFill>
                <a:latin typeface="Calibri" pitchFamily="34" charset="0"/>
                <a:ea typeface="Calibri" pitchFamily="34" charset="-122"/>
                <a:cs typeface="Calibri" pitchFamily="34" charset="-120"/>
              </a:rPr>
              <a:t>FINISHED PANEL</a:t>
            </a:r>
            <a:endParaRPr lang="en-US" sz="800" dirty="0"/>
          </a:p>
        </p:txBody>
      </p:sp>
      <p:pic>
        <p:nvPicPr>
          <p:cNvPr id="14" name="Image 2" descr="preencoded.png">    </p:cNvPr>
          <p:cNvPicPr>
            <a:picLocks noChangeAspect="1"/>
          </p:cNvPicPr>
          <p:nvPr/>
        </p:nvPicPr>
        <p:blipFill>
          <a:blip r:embed="rId3"/>
          <a:stretch>
            <a:fillRect/>
          </a:stretch>
        </p:blipFill>
        <p:spPr>
          <a:xfrm>
            <a:off x="4892040" y="1828800"/>
            <a:ext cx="3749040" cy="2274230"/>
          </a:xfrm>
          <a:prstGeom prst="rect">
            <a:avLst/>
          </a:prstGeom>
        </p:spPr>
      </p:pic>
      <p:sp>
        <p:nvSpPr>
          <p:cNvPr id="15" name="Text 10"/>
          <p:cNvSpPr txBox="1"/>
          <p:nvPr/>
        </p:nvSpPr>
        <p:spPr>
          <a:xfrm>
            <a:off x="4846320" y="4285910"/>
            <a:ext cx="3840480" cy="33181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Say: “The dashed boundary is the retry. It encloses everything, and it goes back to the top.”</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91440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548640" y="228600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Why Your Cloud Bill Cannot See This</a:t>
            </a:r>
            <a:endParaRPr lang="en-US" sz="3600" dirty="0"/>
          </a:p>
        </p:txBody>
      </p:sp>
      <p:sp>
        <p:nvSpPr>
          <p:cNvPr id="4" name="Text 2"/>
          <p:cNvSpPr txBox="1"/>
          <p:nvPr/>
        </p:nvSpPr>
        <p:spPr>
          <a:xfrm>
            <a:off x="548640" y="31546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WHY YOUR CLOUD BILL CANNOT SEE THIS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structural blind spots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14</a:t>
            </a:r>
            <a:endParaRPr lang="en-US" sz="900" dirty="0"/>
          </a:p>
        </p:txBody>
      </p:sp>
      <p:sp>
        <p:nvSpPr>
          <p:cNvPr id="6" name="Text 4"/>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None of these are fixable by configuration.</a:t>
            </a:r>
            <a:endParaRPr lang="en-US" sz="1300" dirty="0"/>
          </a:p>
        </p:txBody>
      </p:sp>
      <p:sp>
        <p:nvSpPr>
          <p:cNvPr id="7" name="Shape 5"/>
          <p:cNvSpPr/>
          <p:nvPr/>
        </p:nvSpPr>
        <p:spPr>
          <a:xfrm>
            <a:off x="457200" y="1600200"/>
            <a:ext cx="2606040" cy="2880360"/>
          </a:xfrm>
          <a:prstGeom prst="roundRect">
            <a:avLst>
              <a:gd name="adj" fmla="val 2807"/>
            </a:avLst>
          </a:prstGeom>
          <a:solidFill>
            <a:srgbClr val="F3F4F6"/>
          </a:solidFill>
          <a:ln w="12700">
            <a:solidFill>
              <a:srgbClr val="F3F4F6"/>
            </a:solidFill>
            <a:prstDash val="solid"/>
          </a:ln>
        </p:spPr>
      </p:sp>
      <p:sp>
        <p:nvSpPr>
          <p:cNvPr id="8" name="Shape 6"/>
          <p:cNvSpPr/>
          <p:nvPr/>
        </p:nvSpPr>
        <p:spPr>
          <a:xfrm>
            <a:off x="685800" y="1783080"/>
            <a:ext cx="502920" cy="502920"/>
          </a:xfrm>
          <a:prstGeom prst="ellipse">
            <a:avLst/>
          </a:prstGeom>
          <a:solidFill>
            <a:srgbClr val="111827"/>
          </a:solidFill>
          <a:ln w="12700">
            <a:solidFill>
              <a:srgbClr val="111827"/>
            </a:solidFill>
            <a:prstDash val="solid"/>
          </a:ln>
        </p:spPr>
      </p:sp>
      <p:pic>
        <p:nvPicPr>
          <p:cNvPr id="9" name="Image 0" descr="preencoded.png">    </p:cNvPr>
          <p:cNvPicPr>
            <a:picLocks noChangeAspect="1"/>
          </p:cNvPicPr>
          <p:nvPr/>
        </p:nvPicPr>
        <p:blipFill>
          <a:blip r:embed="rId1"/>
          <a:stretch>
            <a:fillRect/>
          </a:stretch>
        </p:blipFill>
        <p:spPr>
          <a:xfrm>
            <a:off x="796442" y="1893722"/>
            <a:ext cx="281635" cy="281635"/>
          </a:xfrm>
          <a:prstGeom prst="rect">
            <a:avLst/>
          </a:prstGeom>
        </p:spPr>
      </p:pic>
      <p:sp>
        <p:nvSpPr>
          <p:cNvPr id="10" name="Text 7"/>
          <p:cNvSpPr txBox="1"/>
          <p:nvPr/>
        </p:nvSpPr>
        <p:spPr>
          <a:xfrm>
            <a:off x="685800" y="2423160"/>
            <a:ext cx="219456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shape of the curve</a:t>
            </a:r>
            <a:endParaRPr lang="en-US" sz="1500" dirty="0"/>
          </a:p>
        </p:txBody>
      </p:sp>
      <p:sp>
        <p:nvSpPr>
          <p:cNvPr id="11" name="Text 8"/>
          <p:cNvSpPr txBox="1"/>
          <p:nvPr/>
        </p:nvSpPr>
        <p:spPr>
          <a:xfrm>
            <a:off x="685800" y="2788920"/>
            <a:ext cx="2194560" cy="1600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Cost tools assume cost tracks traffic. Agent cost tracks reasoning difficulty; every anomaly detector is watching the wrong axis.</a:t>
            </a:r>
            <a:endParaRPr lang="en-US" sz="1200" dirty="0"/>
          </a:p>
        </p:txBody>
      </p:sp>
      <p:sp>
        <p:nvSpPr>
          <p:cNvPr id="12" name="Shape 9"/>
          <p:cNvSpPr/>
          <p:nvPr/>
        </p:nvSpPr>
        <p:spPr>
          <a:xfrm>
            <a:off x="3246120" y="1600200"/>
            <a:ext cx="2606040" cy="2880360"/>
          </a:xfrm>
          <a:prstGeom prst="roundRect">
            <a:avLst>
              <a:gd name="adj" fmla="val 2807"/>
            </a:avLst>
          </a:prstGeom>
          <a:solidFill>
            <a:srgbClr val="F3F4F6"/>
          </a:solidFill>
          <a:ln w="12700">
            <a:solidFill>
              <a:srgbClr val="F3F4F6"/>
            </a:solidFill>
            <a:prstDash val="solid"/>
          </a:ln>
        </p:spPr>
      </p:sp>
      <p:sp>
        <p:nvSpPr>
          <p:cNvPr id="13" name="Shape 10"/>
          <p:cNvSpPr/>
          <p:nvPr/>
        </p:nvSpPr>
        <p:spPr>
          <a:xfrm>
            <a:off x="3474720" y="1783080"/>
            <a:ext cx="502920" cy="502920"/>
          </a:xfrm>
          <a:prstGeom prst="ellipse">
            <a:avLst/>
          </a:prstGeom>
          <a:solidFill>
            <a:srgbClr val="B45309"/>
          </a:solidFill>
          <a:ln w="12700">
            <a:solidFill>
              <a:srgbClr val="B45309"/>
            </a:solidFill>
            <a:prstDash val="solid"/>
          </a:ln>
        </p:spPr>
      </p:sp>
      <p:pic>
        <p:nvPicPr>
          <p:cNvPr id="14" name="Image 1" descr="preencoded.png">    </p:cNvPr>
          <p:cNvPicPr>
            <a:picLocks noChangeAspect="1"/>
          </p:cNvPicPr>
          <p:nvPr/>
        </p:nvPicPr>
        <p:blipFill>
          <a:blip r:embed="rId2"/>
          <a:stretch>
            <a:fillRect/>
          </a:stretch>
        </p:blipFill>
        <p:spPr>
          <a:xfrm>
            <a:off x="3585362" y="1893722"/>
            <a:ext cx="281635" cy="281635"/>
          </a:xfrm>
          <a:prstGeom prst="rect">
            <a:avLst/>
          </a:prstGeom>
        </p:spPr>
      </p:pic>
      <p:sp>
        <p:nvSpPr>
          <p:cNvPr id="15" name="Text 11"/>
          <p:cNvSpPr txBox="1"/>
          <p:nvPr/>
        </p:nvSpPr>
        <p:spPr>
          <a:xfrm>
            <a:off x="3474720" y="2423160"/>
            <a:ext cx="219456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Attribution</a:t>
            </a:r>
            <a:endParaRPr lang="en-US" sz="1500" dirty="0"/>
          </a:p>
        </p:txBody>
      </p:sp>
      <p:sp>
        <p:nvSpPr>
          <p:cNvPr id="16" name="Text 12"/>
          <p:cNvSpPr txBox="1"/>
          <p:nvPr/>
        </p:nvSpPr>
        <p:spPr>
          <a:xfrm>
            <a:off x="3474720" y="2788920"/>
            <a:ext cx="2194560" cy="1600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Your bill has one line item for the provider. Which agent, team, customer or outcome? That context exists only in your app, at the call.</a:t>
            </a:r>
            <a:endParaRPr lang="en-US" sz="1200" dirty="0"/>
          </a:p>
        </p:txBody>
      </p:sp>
      <p:sp>
        <p:nvSpPr>
          <p:cNvPr id="17" name="Shape 13"/>
          <p:cNvSpPr/>
          <p:nvPr/>
        </p:nvSpPr>
        <p:spPr>
          <a:xfrm>
            <a:off x="6035040" y="1600200"/>
            <a:ext cx="2606040" cy="2880360"/>
          </a:xfrm>
          <a:prstGeom prst="roundRect">
            <a:avLst>
              <a:gd name="adj" fmla="val 2807"/>
            </a:avLst>
          </a:prstGeom>
          <a:solidFill>
            <a:srgbClr val="F3F4F6"/>
          </a:solidFill>
          <a:ln w="12700">
            <a:solidFill>
              <a:srgbClr val="F3F4F6"/>
            </a:solidFill>
            <a:prstDash val="solid"/>
          </a:ln>
        </p:spPr>
      </p:sp>
      <p:sp>
        <p:nvSpPr>
          <p:cNvPr id="18" name="Shape 14"/>
          <p:cNvSpPr/>
          <p:nvPr/>
        </p:nvSpPr>
        <p:spPr>
          <a:xfrm>
            <a:off x="6263640" y="1783080"/>
            <a:ext cx="502920" cy="502920"/>
          </a:xfrm>
          <a:prstGeom prst="ellipse">
            <a:avLst/>
          </a:prstGeom>
          <a:solidFill>
            <a:srgbClr val="1D4ED8"/>
          </a:solidFill>
          <a:ln w="12700">
            <a:solidFill>
              <a:srgbClr val="1D4ED8"/>
            </a:solidFill>
            <a:prstDash val="solid"/>
          </a:ln>
        </p:spPr>
      </p:sp>
      <p:pic>
        <p:nvPicPr>
          <p:cNvPr id="19" name="Image 2" descr="preencoded.png">    </p:cNvPr>
          <p:cNvPicPr>
            <a:picLocks noChangeAspect="1"/>
          </p:cNvPicPr>
          <p:nvPr/>
        </p:nvPicPr>
        <p:blipFill>
          <a:blip r:embed="rId3"/>
          <a:stretch>
            <a:fillRect/>
          </a:stretch>
        </p:blipFill>
        <p:spPr>
          <a:xfrm>
            <a:off x="6374282" y="1893722"/>
            <a:ext cx="281635" cy="281635"/>
          </a:xfrm>
          <a:prstGeom prst="rect">
            <a:avLst/>
          </a:prstGeom>
        </p:spPr>
      </p:pic>
      <p:sp>
        <p:nvSpPr>
          <p:cNvPr id="20" name="Text 15"/>
          <p:cNvSpPr txBox="1"/>
          <p:nvPr/>
        </p:nvSpPr>
        <p:spPr>
          <a:xfrm>
            <a:off x="6263640" y="2423160"/>
            <a:ext cx="219456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provider console</a:t>
            </a:r>
            <a:endParaRPr lang="en-US" sz="1500" dirty="0"/>
          </a:p>
        </p:txBody>
      </p:sp>
      <p:sp>
        <p:nvSpPr>
          <p:cNvPr id="21" name="Text 16"/>
          <p:cNvSpPr txBox="1"/>
          <p:nvPr/>
        </p:nvSpPr>
        <p:spPr>
          <a:xfrm>
            <a:off x="6263640" y="2788920"/>
            <a:ext cx="2194560" cy="1600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Tokens by API key and model; but no run boundaries, and no idea whether any of it produced a useful outcome.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15</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03 · Why Your Cloud Bill Cannot See This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two curves and three boxes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Two charts side by side, then the three tooling boxes underneath.</a:t>
            </a:r>
            <a:endParaRPr lang="en-US" sz="1050" dirty="0"/>
          </a:p>
        </p:txBody>
      </p:sp>
      <p:sp>
        <p:nvSpPr>
          <p:cNvPr id="11" name="Text 7"/>
          <p:cNvSpPr txBox="1"/>
          <p:nvPr/>
        </p:nvSpPr>
        <p:spPr>
          <a:xfrm>
            <a:off x="457200" y="1554480"/>
            <a:ext cx="4160520" cy="30632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Two panels: TRADITIONAL COMPUTE (scales with traffic) · AGENT WORKLOAD (scales with reasoning)</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Left: $ vs traffic, straight rising line: “predictable, linear, boring”</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Right: same axes, low line with sharp spikes: “spiky, unbounded, uncorrelated”</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Below: YOUR CLOUD BILL · THE PROVIDER CONSOLE · WHAT YOU NEED</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Bill: one provider line item | no per-agent, per-team, per-run</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Console: tokens by API key | no context, no run boundaries, no outcome</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What you need (different colour): cost per run, agent, team; and per successful outcome</a:t>
            </a:r>
            <a:endParaRPr lang="en-US" sz="1100" dirty="0"/>
          </a:p>
        </p:txBody>
      </p:sp>
      <p:sp>
        <p:nvSpPr>
          <p:cNvPr id="12" name="Shape 8"/>
          <p:cNvSpPr/>
          <p:nvPr/>
        </p:nvSpPr>
        <p:spPr>
          <a:xfrm>
            <a:off x="4846320" y="1554480"/>
            <a:ext cx="3840480" cy="2416819"/>
          </a:xfrm>
          <a:prstGeom prst="roundRect">
            <a:avLst>
              <a:gd name="adj" fmla="val 302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983480" y="1609344"/>
            <a:ext cx="2743200" cy="201168"/>
          </a:xfrm>
          <a:prstGeom prst="rect">
            <a:avLst/>
          </a:prstGeom>
          <a:noFill/>
          <a:ln/>
        </p:spPr>
        <p:txBody>
          <a:bodyPr wrap="square" lIns="0" tIns="0" rIns="0" bIns="0" rtlCol="0" anchor="t"/>
          <a:lstStyle/>
          <a:p>
            <a:pPr indent="0" marL="0">
              <a:buNone/>
            </a:pPr>
            <a:r>
              <a:rPr lang="en-US" sz="800" b="1" spc="200" kern="0" dirty="0">
                <a:solidFill>
                  <a:srgbClr val="9CA3AF"/>
                </a:solidFill>
                <a:latin typeface="Calibri" pitchFamily="34" charset="0"/>
                <a:ea typeface="Calibri" pitchFamily="34" charset="-122"/>
                <a:cs typeface="Calibri" pitchFamily="34" charset="-120"/>
              </a:rPr>
              <a:t>FINISHED PANEL</a:t>
            </a:r>
            <a:endParaRPr lang="en-US" sz="800" dirty="0"/>
          </a:p>
        </p:txBody>
      </p:sp>
      <p:pic>
        <p:nvPicPr>
          <p:cNvPr id="14" name="Image 2" descr="preencoded.png">    </p:cNvPr>
          <p:cNvPicPr>
            <a:picLocks noChangeAspect="1"/>
          </p:cNvPicPr>
          <p:nvPr/>
        </p:nvPicPr>
        <p:blipFill>
          <a:blip r:embed="rId3"/>
          <a:stretch>
            <a:fillRect/>
          </a:stretch>
        </p:blipFill>
        <p:spPr>
          <a:xfrm>
            <a:off x="4892040" y="1828800"/>
            <a:ext cx="3749040" cy="2051059"/>
          </a:xfrm>
          <a:prstGeom prst="rect">
            <a:avLst/>
          </a:prstGeom>
        </p:spPr>
      </p:pic>
      <p:sp>
        <p:nvSpPr>
          <p:cNvPr id="15" name="Text 10"/>
          <p:cNvSpPr txBox="1"/>
          <p:nvPr/>
        </p:nvSpPr>
        <p:spPr>
          <a:xfrm>
            <a:off x="4846320" y="4062739"/>
            <a:ext cx="3840480" cy="554981"/>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Say: “Left is what every cost tool assumes. Right is what you actually have.”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91440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548640" y="228600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Input vs Output Tokens</a:t>
            </a:r>
            <a:endParaRPr lang="en-US" sz="3600" dirty="0"/>
          </a:p>
        </p:txBody>
      </p:sp>
      <p:sp>
        <p:nvSpPr>
          <p:cNvPr id="4" name="Text 2"/>
          <p:cNvSpPr txBox="1"/>
          <p:nvPr/>
        </p:nvSpPr>
        <p:spPr>
          <a:xfrm>
            <a:off x="548640" y="31546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INPUT VS OUTPUT TOKENS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Most people get this backwards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457200" y="1371600"/>
            <a:ext cx="2606040" cy="1417320"/>
          </a:xfrm>
          <a:prstGeom prst="roundRect">
            <a:avLst>
              <a:gd name="adj" fmla="val 5161"/>
            </a:avLst>
          </a:prstGeom>
          <a:solidFill>
            <a:srgbClr val="EFF6FF"/>
          </a:solidFill>
          <a:ln w="12700">
            <a:solidFill>
              <a:srgbClr val="EFF6FF"/>
            </a:solidFill>
            <a:prstDash val="solid"/>
          </a:ln>
        </p:spPr>
      </p:sp>
      <p:sp>
        <p:nvSpPr>
          <p:cNvPr id="7" name="Text 5"/>
          <p:cNvSpPr txBox="1"/>
          <p:nvPr/>
        </p:nvSpPr>
        <p:spPr>
          <a:xfrm>
            <a:off x="685800" y="1508760"/>
            <a:ext cx="2194560" cy="640080"/>
          </a:xfrm>
          <a:prstGeom prst="rect">
            <a:avLst/>
          </a:prstGeom>
          <a:noFill/>
          <a:ln/>
        </p:spPr>
        <p:txBody>
          <a:bodyPr wrap="square" lIns="0" tIns="0" rIns="0" bIns="0" rtlCol="0" anchor="t"/>
          <a:lstStyle/>
          <a:p>
            <a:pPr indent="0" marL="0">
              <a:buNone/>
            </a:pPr>
            <a:r>
              <a:rPr lang="en-US" sz="3400" b="1" dirty="0">
                <a:solidFill>
                  <a:srgbClr val="1D4ED8"/>
                </a:solidFill>
                <a:latin typeface="Cambria" pitchFamily="34" charset="0"/>
                <a:ea typeface="Cambria" pitchFamily="34" charset="-122"/>
                <a:cs typeface="Cambria" pitchFamily="34" charset="-120"/>
              </a:rPr>
              <a:t>10 : 1</a:t>
            </a:r>
            <a:endParaRPr lang="en-US" sz="3400" dirty="0"/>
          </a:p>
        </p:txBody>
      </p:sp>
      <p:sp>
        <p:nvSpPr>
          <p:cNvPr id="8" name="Text 6"/>
          <p:cNvSpPr txBox="1"/>
          <p:nvPr/>
        </p:nvSpPr>
        <p:spPr>
          <a:xfrm>
            <a:off x="685800" y="2194560"/>
            <a:ext cx="219456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input : output tokens in a typical agent step</a:t>
            </a:r>
            <a:endParaRPr lang="en-US" sz="1200" dirty="0"/>
          </a:p>
        </p:txBody>
      </p:sp>
      <p:sp>
        <p:nvSpPr>
          <p:cNvPr id="9" name="Shape 7"/>
          <p:cNvSpPr/>
          <p:nvPr/>
        </p:nvSpPr>
        <p:spPr>
          <a:xfrm>
            <a:off x="3246120" y="1371600"/>
            <a:ext cx="2606040" cy="1417320"/>
          </a:xfrm>
          <a:prstGeom prst="roundRect">
            <a:avLst>
              <a:gd name="adj" fmla="val 5161"/>
            </a:avLst>
          </a:prstGeom>
          <a:solidFill>
            <a:srgbClr val="FFFBEB"/>
          </a:solidFill>
          <a:ln w="12700">
            <a:solidFill>
              <a:srgbClr val="FFFBEB"/>
            </a:solidFill>
            <a:prstDash val="solid"/>
          </a:ln>
        </p:spPr>
      </p:sp>
      <p:sp>
        <p:nvSpPr>
          <p:cNvPr id="10" name="Text 8"/>
          <p:cNvSpPr txBox="1"/>
          <p:nvPr/>
        </p:nvSpPr>
        <p:spPr>
          <a:xfrm>
            <a:off x="3474720" y="1508760"/>
            <a:ext cx="2194560" cy="640080"/>
          </a:xfrm>
          <a:prstGeom prst="rect">
            <a:avLst/>
          </a:prstGeom>
          <a:noFill/>
          <a:ln/>
        </p:spPr>
        <p:txBody>
          <a:bodyPr wrap="square" lIns="0" tIns="0" rIns="0" bIns="0" rtlCol="0" anchor="t"/>
          <a:lstStyle/>
          <a:p>
            <a:pPr indent="0" marL="0">
              <a:buNone/>
            </a:pPr>
            <a:r>
              <a:rPr lang="en-US" sz="3400" b="1" dirty="0">
                <a:solidFill>
                  <a:srgbClr val="B45309"/>
                </a:solidFill>
                <a:latin typeface="Cambria" pitchFamily="34" charset="0"/>
                <a:ea typeface="Cambria" pitchFamily="34" charset="-122"/>
                <a:cs typeface="Cambria" pitchFamily="34" charset="-120"/>
              </a:rPr>
              <a:t>3–5×</a:t>
            </a:r>
            <a:endParaRPr lang="en-US" sz="3400" dirty="0"/>
          </a:p>
        </p:txBody>
      </p:sp>
      <p:sp>
        <p:nvSpPr>
          <p:cNvPr id="11" name="Text 9"/>
          <p:cNvSpPr txBox="1"/>
          <p:nvPr/>
        </p:nvSpPr>
        <p:spPr>
          <a:xfrm>
            <a:off x="3474720" y="2194560"/>
            <a:ext cx="219456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output price vs input price</a:t>
            </a:r>
            <a:endParaRPr lang="en-US" sz="1200" dirty="0"/>
          </a:p>
        </p:txBody>
      </p:sp>
      <p:sp>
        <p:nvSpPr>
          <p:cNvPr id="12" name="Shape 10"/>
          <p:cNvSpPr/>
          <p:nvPr/>
        </p:nvSpPr>
        <p:spPr>
          <a:xfrm>
            <a:off x="6035040" y="1371600"/>
            <a:ext cx="2606040" cy="1417320"/>
          </a:xfrm>
          <a:prstGeom prst="roundRect">
            <a:avLst>
              <a:gd name="adj" fmla="val 5161"/>
            </a:avLst>
          </a:prstGeom>
          <a:solidFill>
            <a:srgbClr val="ECFDF5"/>
          </a:solidFill>
          <a:ln w="12700">
            <a:solidFill>
              <a:srgbClr val="ECFDF5"/>
            </a:solidFill>
            <a:prstDash val="solid"/>
          </a:ln>
        </p:spPr>
      </p:sp>
      <p:sp>
        <p:nvSpPr>
          <p:cNvPr id="13" name="Text 11"/>
          <p:cNvSpPr txBox="1"/>
          <p:nvPr/>
        </p:nvSpPr>
        <p:spPr>
          <a:xfrm>
            <a:off x="6263640" y="1508760"/>
            <a:ext cx="2194560" cy="640080"/>
          </a:xfrm>
          <a:prstGeom prst="rect">
            <a:avLst/>
          </a:prstGeom>
          <a:noFill/>
          <a:ln/>
        </p:spPr>
        <p:txBody>
          <a:bodyPr wrap="square" lIns="0" tIns="0" rIns="0" bIns="0" rtlCol="0" anchor="t"/>
          <a:lstStyle/>
          <a:p>
            <a:pPr indent="0" marL="0">
              <a:buNone/>
            </a:pPr>
            <a:r>
              <a:rPr lang="en-US" sz="3400" b="1" dirty="0">
                <a:solidFill>
                  <a:srgbClr val="047857"/>
                </a:solidFill>
                <a:latin typeface="Cambria" pitchFamily="34" charset="0"/>
                <a:ea typeface="Cambria" pitchFamily="34" charset="-122"/>
                <a:cs typeface="Cambria" pitchFamily="34" charset="-120"/>
              </a:rPr>
              <a:t>2–3 : 1</a:t>
            </a:r>
            <a:endParaRPr lang="en-US" sz="3400" dirty="0"/>
          </a:p>
        </p:txBody>
      </p:sp>
      <p:sp>
        <p:nvSpPr>
          <p:cNvPr id="14" name="Text 12"/>
          <p:cNvSpPr txBox="1"/>
          <p:nvPr/>
        </p:nvSpPr>
        <p:spPr>
          <a:xfrm>
            <a:off x="6263640" y="2194560"/>
            <a:ext cx="219456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actual cost ratio</a:t>
            </a:r>
            <a:endParaRPr lang="en-US" sz="1200" dirty="0"/>
          </a:p>
        </p:txBody>
      </p:sp>
      <p:sp>
        <p:nvSpPr>
          <p:cNvPr id="15" name="Shape 13"/>
          <p:cNvSpPr/>
          <p:nvPr/>
        </p:nvSpPr>
        <p:spPr>
          <a:xfrm>
            <a:off x="457200" y="3063240"/>
            <a:ext cx="4023360" cy="1417320"/>
          </a:xfrm>
          <a:prstGeom prst="roundRect">
            <a:avLst>
              <a:gd name="adj" fmla="val 5161"/>
            </a:avLst>
          </a:prstGeom>
          <a:solidFill>
            <a:srgbClr val="F3F4F6"/>
          </a:solidFill>
          <a:ln w="12700">
            <a:solidFill>
              <a:srgbClr val="F3F4F6"/>
            </a:solidFill>
            <a:prstDash val="solid"/>
          </a:ln>
        </p:spPr>
      </p:sp>
      <p:sp>
        <p:nvSpPr>
          <p:cNvPr id="16" name="Text 14"/>
          <p:cNvSpPr txBox="1"/>
          <p:nvPr/>
        </p:nvSpPr>
        <p:spPr>
          <a:xfrm>
            <a:off x="685800" y="3200400"/>
            <a:ext cx="365760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Capture both counts, separately</a:t>
            </a:r>
            <a:endParaRPr lang="en-US" sz="1500" dirty="0"/>
          </a:p>
        </p:txBody>
      </p:sp>
      <p:sp>
        <p:nvSpPr>
          <p:cNvPr id="17" name="Text 15"/>
          <p:cNvSpPr txBox="1"/>
          <p:nvPr/>
        </p:nvSpPr>
        <p:spPr>
          <a:xfrm>
            <a:off x="685800" y="3566160"/>
            <a:ext cx="361188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Never infer one from the other. A summarisation agent inverts the ratio completely.</a:t>
            </a:r>
            <a:endParaRPr lang="en-US" sz="1200" dirty="0"/>
          </a:p>
        </p:txBody>
      </p:sp>
      <p:sp>
        <p:nvSpPr>
          <p:cNvPr id="18" name="Shape 16"/>
          <p:cNvSpPr/>
          <p:nvPr/>
        </p:nvSpPr>
        <p:spPr>
          <a:xfrm>
            <a:off x="4663440" y="3063240"/>
            <a:ext cx="4023360" cy="1417320"/>
          </a:xfrm>
          <a:prstGeom prst="roundRect">
            <a:avLst>
              <a:gd name="adj" fmla="val 5161"/>
            </a:avLst>
          </a:prstGeom>
          <a:solidFill>
            <a:srgbClr val="111827"/>
          </a:solidFill>
          <a:ln w="12700">
            <a:solidFill>
              <a:srgbClr val="111827"/>
            </a:solidFill>
            <a:prstDash val="solid"/>
          </a:ln>
        </p:spPr>
      </p:sp>
      <p:sp>
        <p:nvSpPr>
          <p:cNvPr id="19" name="Text 17"/>
          <p:cNvSpPr txBox="1"/>
          <p:nvPr/>
        </p:nvSpPr>
        <p:spPr>
          <a:xfrm>
            <a:off x="4892040" y="3200400"/>
            <a:ext cx="3657600" cy="320040"/>
          </a:xfrm>
          <a:prstGeom prst="rect">
            <a:avLst/>
          </a:prstGeom>
          <a:noFill/>
          <a:ln/>
        </p:spPr>
        <p:txBody>
          <a:bodyPr wrap="square" lIns="0" tIns="0" rIns="0" bIns="0" rtlCol="0" anchor="t"/>
          <a:lstStyle/>
          <a:p>
            <a:pPr indent="0" marL="0">
              <a:buNone/>
            </a:pPr>
            <a:r>
              <a:rPr lang="en-US" sz="1500" b="1" dirty="0">
                <a:solidFill>
                  <a:srgbClr val="F59E0B"/>
                </a:solidFill>
                <a:latin typeface="Calibri" pitchFamily="34" charset="0"/>
                <a:ea typeface="Calibri" pitchFamily="34" charset="-122"/>
                <a:cs typeface="Calibri" pitchFamily="34" charset="-120"/>
              </a:rPr>
              <a:t>Input grows with every step</a:t>
            </a:r>
            <a:endParaRPr lang="en-US" sz="1500" dirty="0"/>
          </a:p>
        </p:txBody>
      </p:sp>
      <p:sp>
        <p:nvSpPr>
          <p:cNvPr id="20" name="Text 18"/>
          <p:cNvSpPr txBox="1"/>
          <p:nvPr/>
        </p:nvSpPr>
        <p:spPr>
          <a:xfrm>
            <a:off x="4892040" y="3566160"/>
            <a:ext cx="3611880" cy="822960"/>
          </a:xfrm>
          <a:prstGeom prst="rect">
            <a:avLst/>
          </a:prstGeom>
          <a:noFill/>
          <a:ln/>
        </p:spPr>
        <p:txBody>
          <a:bodyPr wrap="square" lIns="0" tIns="0" rIns="0" bIns="0" rtlCol="0" anchor="t"/>
          <a:lstStyle/>
          <a:p>
            <a:pPr indent="0" marL="0">
              <a:buNone/>
            </a:pPr>
            <a:r>
              <a:rPr lang="en-US" sz="1200" dirty="0">
                <a:solidFill>
                  <a:srgbClr val="9CA3AF"/>
                </a:solidFill>
                <a:latin typeface="Calibri" pitchFamily="34" charset="0"/>
                <a:ea typeface="Calibri" pitchFamily="34" charset="-122"/>
                <a:cs typeface="Calibri" pitchFamily="34" charset="-120"/>
              </a:rPr>
              <a:t>Step 12 resends everything from steps 1–11. Long runs are superlinear; a 20-step ceiling is not just 2× a 10-step one.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18</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04 · Input vs Output Tokens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one step, by token type</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two bars proportionally; the visual imbalance is the teaching.</a:t>
            </a:r>
            <a:endParaRPr lang="en-US" sz="1050" dirty="0"/>
          </a:p>
        </p:txBody>
      </p:sp>
      <p:sp>
        <p:nvSpPr>
          <p:cNvPr id="11" name="Text 7"/>
          <p:cNvSpPr txBox="1"/>
          <p:nvPr/>
        </p:nvSpPr>
        <p:spPr>
          <a:xfrm>
            <a:off x="457200" y="1554480"/>
            <a:ext cx="4160520" cy="30632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Wide panel: “one agent step, by token type”</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Long INPUT bar: system prompt, tool definitions, history, conversation: ~2,200</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Short OUTPUT bar, ~1/12 the width: one tool call or short decision: ~200</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Left box: output costs 3–5× input, so 10:1 tokens ≠ 10:1 cost</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Right box: which is why you measure: capture both counts from line one</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Bottom: input grows every step; step 12 = prompt + 11 steps of history</a:t>
            </a:r>
            <a:endParaRPr lang="en-US" sz="1100" dirty="0"/>
          </a:p>
        </p:txBody>
      </p:sp>
      <p:sp>
        <p:nvSpPr>
          <p:cNvPr id="12" name="Shape 8"/>
          <p:cNvSpPr/>
          <p:nvPr/>
        </p:nvSpPr>
        <p:spPr>
          <a:xfrm>
            <a:off x="4846320" y="1554480"/>
            <a:ext cx="3840480" cy="2290108"/>
          </a:xfrm>
          <a:prstGeom prst="roundRect">
            <a:avLst>
              <a:gd name="adj" fmla="val 319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983480" y="1609344"/>
            <a:ext cx="2743200" cy="201168"/>
          </a:xfrm>
          <a:prstGeom prst="rect">
            <a:avLst/>
          </a:prstGeom>
          <a:noFill/>
          <a:ln/>
        </p:spPr>
        <p:txBody>
          <a:bodyPr wrap="square" lIns="0" tIns="0" rIns="0" bIns="0" rtlCol="0" anchor="t"/>
          <a:lstStyle/>
          <a:p>
            <a:pPr indent="0" marL="0">
              <a:buNone/>
            </a:pPr>
            <a:r>
              <a:rPr lang="en-US" sz="800" b="1" spc="200" kern="0" dirty="0">
                <a:solidFill>
                  <a:srgbClr val="9CA3AF"/>
                </a:solidFill>
                <a:latin typeface="Calibri" pitchFamily="34" charset="0"/>
                <a:ea typeface="Calibri" pitchFamily="34" charset="-122"/>
                <a:cs typeface="Calibri" pitchFamily="34" charset="-120"/>
              </a:rPr>
              <a:t>FINISHED PANEL</a:t>
            </a:r>
            <a:endParaRPr lang="en-US" sz="800" dirty="0"/>
          </a:p>
        </p:txBody>
      </p:sp>
      <p:pic>
        <p:nvPicPr>
          <p:cNvPr id="14" name="Image 2" descr="preencoded.png">    </p:cNvPr>
          <p:cNvPicPr>
            <a:picLocks noChangeAspect="1"/>
          </p:cNvPicPr>
          <p:nvPr/>
        </p:nvPicPr>
        <p:blipFill>
          <a:blip r:embed="rId3"/>
          <a:stretch>
            <a:fillRect/>
          </a:stretch>
        </p:blipFill>
        <p:spPr>
          <a:xfrm>
            <a:off x="4892040" y="1828800"/>
            <a:ext cx="3749040" cy="1924348"/>
          </a:xfrm>
          <a:prstGeom prst="rect">
            <a:avLst/>
          </a:prstGeom>
        </p:spPr>
      </p:pic>
      <p:sp>
        <p:nvSpPr>
          <p:cNvPr id="15" name="Text 10"/>
          <p:cNvSpPr txBox="1"/>
          <p:nvPr/>
        </p:nvSpPr>
        <p:spPr>
          <a:xfrm>
            <a:off x="4846320" y="3936028"/>
            <a:ext cx="3840480" cy="681692"/>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Say: “Draw the bars to scale. The imbalance is the point.”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91440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548640" y="228600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What Counts as a Unit</a:t>
            </a:r>
            <a:endParaRPr lang="en-US" sz="3600" dirty="0"/>
          </a:p>
        </p:txBody>
      </p:sp>
      <p:sp>
        <p:nvSpPr>
          <p:cNvPr id="4" name="Text 2"/>
          <p:cNvSpPr txBox="1"/>
          <p:nvPr/>
        </p:nvSpPr>
        <p:spPr>
          <a:xfrm>
            <a:off x="548640" y="31546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WHAT COUNTS AS A UNIT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candidates. Only one survives finance.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457200" y="1371600"/>
            <a:ext cx="8229600" cy="914400"/>
          </a:xfrm>
          <a:prstGeom prst="roundRect">
            <a:avLst>
              <a:gd name="adj" fmla="val 8000"/>
            </a:avLst>
          </a:prstGeom>
          <a:solidFill>
            <a:srgbClr val="FEF2F2"/>
          </a:solidFill>
          <a:ln w="12700">
            <a:solidFill>
              <a:srgbClr val="FEF2F2"/>
            </a:solidFill>
            <a:prstDash val="solid"/>
          </a:ln>
        </p:spPr>
      </p:sp>
      <p:sp>
        <p:nvSpPr>
          <p:cNvPr id="7" name="Shape 5"/>
          <p:cNvSpPr/>
          <p:nvPr/>
        </p:nvSpPr>
        <p:spPr>
          <a:xfrm>
            <a:off x="685800" y="1591056"/>
            <a:ext cx="475488" cy="475488"/>
          </a:xfrm>
          <a:prstGeom prst="ellipse">
            <a:avLst/>
          </a:prstGeom>
          <a:solidFill>
            <a:srgbClr val="FFFFFF"/>
          </a:solidFill>
          <a:ln w="19050">
            <a:solidFill>
              <a:srgbClr val="B91C1C"/>
            </a:solidFill>
            <a:prstDash val="solid"/>
          </a:ln>
        </p:spPr>
      </p:sp>
      <p:pic>
        <p:nvPicPr>
          <p:cNvPr id="8" name="Image 0" descr="preencoded.png">    </p:cNvPr>
          <p:cNvPicPr>
            <a:picLocks noChangeAspect="1"/>
          </p:cNvPicPr>
          <p:nvPr/>
        </p:nvPicPr>
        <p:blipFill>
          <a:blip r:embed="rId1"/>
          <a:stretch>
            <a:fillRect/>
          </a:stretch>
        </p:blipFill>
        <p:spPr>
          <a:xfrm>
            <a:off x="804672" y="1709928"/>
            <a:ext cx="237744" cy="237744"/>
          </a:xfrm>
          <a:prstGeom prst="rect">
            <a:avLst/>
          </a:prstGeom>
        </p:spPr>
      </p:pic>
      <p:sp>
        <p:nvSpPr>
          <p:cNvPr id="9" name="Text 6"/>
          <p:cNvSpPr txBox="1"/>
          <p:nvPr/>
        </p:nvSpPr>
        <p:spPr>
          <a:xfrm>
            <a:off x="1417320" y="1371600"/>
            <a:ext cx="2651760" cy="914400"/>
          </a:xfrm>
          <a:prstGeom prst="rect">
            <a:avLst/>
          </a:prstGeom>
          <a:noFill/>
          <a:ln/>
        </p:spPr>
        <p:txBody>
          <a:bodyPr wrap="square" lIns="0" tIns="0" rIns="0" bIns="0" rtlCol="0" anchor="ctr"/>
          <a:lstStyle/>
          <a:p>
            <a:pPr indent="0" marL="0">
              <a:buNone/>
            </a:pPr>
            <a:r>
              <a:rPr lang="en-US" sz="1700" b="1" dirty="0">
                <a:solidFill>
                  <a:srgbClr val="B91C1C"/>
                </a:solidFill>
                <a:latin typeface="Calibri" pitchFamily="34" charset="0"/>
                <a:ea typeface="Calibri" pitchFamily="34" charset="-122"/>
                <a:cs typeface="Calibri" pitchFamily="34" charset="-120"/>
              </a:rPr>
              <a:t>Cost per token</a:t>
            </a:r>
            <a:endParaRPr lang="en-US" sz="1700" dirty="0"/>
          </a:p>
        </p:txBody>
      </p:sp>
      <p:sp>
        <p:nvSpPr>
          <p:cNvPr id="10" name="Text 7"/>
          <p:cNvSpPr txBox="1"/>
          <p:nvPr/>
        </p:nvSpPr>
        <p:spPr>
          <a:xfrm>
            <a:off x="4114800" y="1371600"/>
            <a:ext cx="4389120" cy="9144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What the provider gives you. Nobody buys tokens; like reporting cost per CPU cycle.</a:t>
            </a:r>
            <a:endParaRPr lang="en-US" sz="1300" dirty="0"/>
          </a:p>
        </p:txBody>
      </p:sp>
      <p:sp>
        <p:nvSpPr>
          <p:cNvPr id="11" name="Shape 8"/>
          <p:cNvSpPr/>
          <p:nvPr/>
        </p:nvSpPr>
        <p:spPr>
          <a:xfrm>
            <a:off x="457200" y="2450592"/>
            <a:ext cx="8229600" cy="914400"/>
          </a:xfrm>
          <a:prstGeom prst="roundRect">
            <a:avLst>
              <a:gd name="adj" fmla="val 8000"/>
            </a:avLst>
          </a:prstGeom>
          <a:solidFill>
            <a:srgbClr val="FFFBEB"/>
          </a:solidFill>
          <a:ln w="12700">
            <a:solidFill>
              <a:srgbClr val="FFFBEB"/>
            </a:solidFill>
            <a:prstDash val="solid"/>
          </a:ln>
        </p:spPr>
      </p:sp>
      <p:sp>
        <p:nvSpPr>
          <p:cNvPr id="12" name="Shape 9"/>
          <p:cNvSpPr/>
          <p:nvPr/>
        </p:nvSpPr>
        <p:spPr>
          <a:xfrm>
            <a:off x="685800" y="2670048"/>
            <a:ext cx="475488" cy="475488"/>
          </a:xfrm>
          <a:prstGeom prst="ellipse">
            <a:avLst/>
          </a:prstGeom>
          <a:solidFill>
            <a:srgbClr val="FFFFFF"/>
          </a:solidFill>
          <a:ln w="1905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804672" y="2788920"/>
            <a:ext cx="237744" cy="237744"/>
          </a:xfrm>
          <a:prstGeom prst="rect">
            <a:avLst/>
          </a:prstGeom>
        </p:spPr>
      </p:pic>
      <p:sp>
        <p:nvSpPr>
          <p:cNvPr id="14" name="Text 10"/>
          <p:cNvSpPr txBox="1"/>
          <p:nvPr/>
        </p:nvSpPr>
        <p:spPr>
          <a:xfrm>
            <a:off x="1417320" y="2450592"/>
            <a:ext cx="2651760" cy="914400"/>
          </a:xfrm>
          <a:prstGeom prst="rect">
            <a:avLst/>
          </a:prstGeom>
          <a:noFill/>
          <a:ln/>
        </p:spPr>
        <p:txBody>
          <a:bodyPr wrap="square" lIns="0" tIns="0" rIns="0" bIns="0" rtlCol="0" anchor="ctr"/>
          <a:lstStyle/>
          <a:p>
            <a:pPr indent="0" marL="0">
              <a:buNone/>
            </a:pPr>
            <a:r>
              <a:rPr lang="en-US" sz="1700" b="1" dirty="0">
                <a:solidFill>
                  <a:srgbClr val="B45309"/>
                </a:solidFill>
                <a:latin typeface="Calibri" pitchFamily="34" charset="0"/>
                <a:ea typeface="Calibri" pitchFamily="34" charset="-122"/>
                <a:cs typeface="Calibri" pitchFamily="34" charset="-120"/>
              </a:rPr>
              <a:t>Cost per request</a:t>
            </a:r>
            <a:endParaRPr lang="en-US" sz="1700" dirty="0"/>
          </a:p>
        </p:txBody>
      </p:sp>
      <p:sp>
        <p:nvSpPr>
          <p:cNvPr id="15" name="Text 11"/>
          <p:cNvSpPr txBox="1"/>
          <p:nvPr/>
        </p:nvSpPr>
        <p:spPr>
          <a:xfrm>
            <a:off x="4114800" y="2450592"/>
            <a:ext cx="4389120" cy="9144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Where most teams stop. It hides retries completely.</a:t>
            </a:r>
            <a:endParaRPr lang="en-US" sz="1300" dirty="0"/>
          </a:p>
        </p:txBody>
      </p:sp>
      <p:sp>
        <p:nvSpPr>
          <p:cNvPr id="16" name="Shape 12"/>
          <p:cNvSpPr/>
          <p:nvPr/>
        </p:nvSpPr>
        <p:spPr>
          <a:xfrm>
            <a:off x="457200" y="3529584"/>
            <a:ext cx="8229600" cy="914400"/>
          </a:xfrm>
          <a:prstGeom prst="roundRect">
            <a:avLst>
              <a:gd name="adj" fmla="val 8000"/>
            </a:avLst>
          </a:prstGeom>
          <a:solidFill>
            <a:srgbClr val="ECFDF5"/>
          </a:solidFill>
          <a:ln w="12700">
            <a:solidFill>
              <a:srgbClr val="ECFDF5"/>
            </a:solidFill>
            <a:prstDash val="solid"/>
          </a:ln>
        </p:spPr>
      </p:sp>
      <p:sp>
        <p:nvSpPr>
          <p:cNvPr id="17" name="Shape 13"/>
          <p:cNvSpPr/>
          <p:nvPr/>
        </p:nvSpPr>
        <p:spPr>
          <a:xfrm>
            <a:off x="685800" y="3749040"/>
            <a:ext cx="475488" cy="475488"/>
          </a:xfrm>
          <a:prstGeom prst="ellipse">
            <a:avLst/>
          </a:prstGeom>
          <a:solidFill>
            <a:srgbClr val="FFFFFF"/>
          </a:solidFill>
          <a:ln w="19050">
            <a:solidFill>
              <a:srgbClr val="047857"/>
            </a:solidFill>
            <a:prstDash val="solid"/>
          </a:ln>
        </p:spPr>
      </p:sp>
      <p:pic>
        <p:nvPicPr>
          <p:cNvPr id="18" name="Image 2" descr="preencoded.png">    </p:cNvPr>
          <p:cNvPicPr>
            <a:picLocks noChangeAspect="1"/>
          </p:cNvPicPr>
          <p:nvPr/>
        </p:nvPicPr>
        <p:blipFill>
          <a:blip r:embed="rId3"/>
          <a:stretch>
            <a:fillRect/>
          </a:stretch>
        </p:blipFill>
        <p:spPr>
          <a:xfrm>
            <a:off x="804672" y="3867912"/>
            <a:ext cx="237744" cy="237744"/>
          </a:xfrm>
          <a:prstGeom prst="rect">
            <a:avLst/>
          </a:prstGeom>
        </p:spPr>
      </p:pic>
      <p:sp>
        <p:nvSpPr>
          <p:cNvPr id="19" name="Text 14"/>
          <p:cNvSpPr txBox="1"/>
          <p:nvPr/>
        </p:nvSpPr>
        <p:spPr>
          <a:xfrm>
            <a:off x="1417320" y="3529584"/>
            <a:ext cx="2651760" cy="914400"/>
          </a:xfrm>
          <a:prstGeom prst="rect">
            <a:avLst/>
          </a:prstGeom>
          <a:noFill/>
          <a:ln/>
        </p:spPr>
        <p:txBody>
          <a:bodyPr wrap="square" lIns="0" tIns="0" rIns="0" bIns="0" rtlCol="0" anchor="ctr"/>
          <a:lstStyle/>
          <a:p>
            <a:pPr indent="0" marL="0">
              <a:buNone/>
            </a:pPr>
            <a:r>
              <a:rPr lang="en-US" sz="1700" b="1" dirty="0">
                <a:solidFill>
                  <a:srgbClr val="047857"/>
                </a:solidFill>
                <a:latin typeface="Calibri" pitchFamily="34" charset="0"/>
                <a:ea typeface="Calibri" pitchFamily="34" charset="-122"/>
                <a:cs typeface="Calibri" pitchFamily="34" charset="-120"/>
              </a:rPr>
              <a:t>Cost per successful task</a:t>
            </a:r>
            <a:endParaRPr lang="en-US" sz="1700" dirty="0"/>
          </a:p>
        </p:txBody>
      </p:sp>
      <p:sp>
        <p:nvSpPr>
          <p:cNvPr id="20" name="Text 15"/>
          <p:cNvSpPr txBox="1"/>
          <p:nvPr/>
        </p:nvSpPr>
        <p:spPr>
          <a:xfrm>
            <a:off x="4114800" y="3529584"/>
            <a:ext cx="4389120" cy="9144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Failures in the denominator. Maps to a ticket, a document, a decision.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WHAT COUNTS AS A UNIT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Same afternoon. Same money. Two stories.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21</a:t>
            </a:r>
            <a:endParaRPr lang="en-US" sz="900" dirty="0"/>
          </a:p>
        </p:txBody>
      </p:sp>
      <p:sp>
        <p:nvSpPr>
          <p:cNvPr id="6" name="Text 4"/>
          <p:cNvSpPr txBox="1"/>
          <p:nvPr/>
        </p:nvSpPr>
        <p:spPr>
          <a:xfrm>
            <a:off x="457200" y="1371600"/>
            <a:ext cx="1097280" cy="548640"/>
          </a:xfrm>
          <a:prstGeom prst="rect">
            <a:avLst/>
          </a:prstGeom>
          <a:noFill/>
          <a:ln/>
        </p:spPr>
        <p:txBody>
          <a:bodyPr wrap="square" lIns="0" tIns="0" rIns="0" bIns="0" rtlCol="0" anchor="ctr"/>
          <a:lstStyle/>
          <a:p>
            <a:pPr indent="0" marL="0">
              <a:buNone/>
            </a:pPr>
            <a:r>
              <a:rPr lang="en-US" sz="2800" b="1" dirty="0">
                <a:solidFill>
                  <a:srgbClr val="111827"/>
                </a:solidFill>
                <a:latin typeface="Cambria" pitchFamily="34" charset="0"/>
                <a:ea typeface="Cambria" pitchFamily="34" charset="-122"/>
                <a:cs typeface="Cambria" pitchFamily="34" charset="-120"/>
              </a:rPr>
              <a:t>100</a:t>
            </a:r>
            <a:endParaRPr lang="en-US" sz="2800" dirty="0"/>
          </a:p>
        </p:txBody>
      </p:sp>
      <p:sp>
        <p:nvSpPr>
          <p:cNvPr id="7" name="Text 5"/>
          <p:cNvSpPr txBox="1"/>
          <p:nvPr/>
        </p:nvSpPr>
        <p:spPr>
          <a:xfrm>
            <a:off x="1600200" y="1371600"/>
            <a:ext cx="2103120" cy="5486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requests</a:t>
            </a:r>
            <a:endParaRPr lang="en-US" sz="1300" dirty="0"/>
          </a:p>
        </p:txBody>
      </p:sp>
      <p:sp>
        <p:nvSpPr>
          <p:cNvPr id="8" name="Text 6"/>
          <p:cNvSpPr txBox="1"/>
          <p:nvPr/>
        </p:nvSpPr>
        <p:spPr>
          <a:xfrm>
            <a:off x="457200" y="2103120"/>
            <a:ext cx="1097280" cy="548640"/>
          </a:xfrm>
          <a:prstGeom prst="rect">
            <a:avLst/>
          </a:prstGeom>
          <a:noFill/>
          <a:ln/>
        </p:spPr>
        <p:txBody>
          <a:bodyPr wrap="square" lIns="0" tIns="0" rIns="0" bIns="0" rtlCol="0" anchor="ctr"/>
          <a:lstStyle/>
          <a:p>
            <a:pPr indent="0" marL="0">
              <a:buNone/>
            </a:pPr>
            <a:r>
              <a:rPr lang="en-US" sz="2800" b="1" dirty="0">
                <a:solidFill>
                  <a:srgbClr val="111827"/>
                </a:solidFill>
                <a:latin typeface="Cambria" pitchFamily="34" charset="0"/>
                <a:ea typeface="Cambria" pitchFamily="34" charset="-122"/>
                <a:cs typeface="Cambria" pitchFamily="34" charset="-120"/>
              </a:rPr>
              <a:t>62</a:t>
            </a:r>
            <a:endParaRPr lang="en-US" sz="2800" dirty="0"/>
          </a:p>
        </p:txBody>
      </p:sp>
      <p:sp>
        <p:nvSpPr>
          <p:cNvPr id="9" name="Text 7"/>
          <p:cNvSpPr txBox="1"/>
          <p:nvPr/>
        </p:nvSpPr>
        <p:spPr>
          <a:xfrm>
            <a:off x="1600200" y="2103120"/>
            <a:ext cx="2103120" cy="5486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succeeded</a:t>
            </a:r>
            <a:endParaRPr lang="en-US" sz="1300" dirty="0"/>
          </a:p>
        </p:txBody>
      </p:sp>
      <p:sp>
        <p:nvSpPr>
          <p:cNvPr id="10" name="Text 8"/>
          <p:cNvSpPr txBox="1"/>
          <p:nvPr/>
        </p:nvSpPr>
        <p:spPr>
          <a:xfrm>
            <a:off x="457200" y="2834640"/>
            <a:ext cx="1097280" cy="548640"/>
          </a:xfrm>
          <a:prstGeom prst="rect">
            <a:avLst/>
          </a:prstGeom>
          <a:noFill/>
          <a:ln/>
        </p:spPr>
        <p:txBody>
          <a:bodyPr wrap="square" lIns="0" tIns="0" rIns="0" bIns="0" rtlCol="0" anchor="ctr"/>
          <a:lstStyle/>
          <a:p>
            <a:pPr indent="0" marL="0">
              <a:buNone/>
            </a:pPr>
            <a:r>
              <a:rPr lang="en-US" sz="2800" b="1" dirty="0">
                <a:solidFill>
                  <a:srgbClr val="B91C1C"/>
                </a:solidFill>
                <a:latin typeface="Cambria" pitchFamily="34" charset="0"/>
                <a:ea typeface="Cambria" pitchFamily="34" charset="-122"/>
                <a:cs typeface="Cambria" pitchFamily="34" charset="-120"/>
              </a:rPr>
              <a:t>38</a:t>
            </a:r>
            <a:endParaRPr lang="en-US" sz="2800" dirty="0"/>
          </a:p>
        </p:txBody>
      </p:sp>
      <p:sp>
        <p:nvSpPr>
          <p:cNvPr id="11" name="Text 9"/>
          <p:cNvSpPr txBox="1"/>
          <p:nvPr/>
        </p:nvSpPr>
        <p:spPr>
          <a:xfrm>
            <a:off x="1600200" y="2834640"/>
            <a:ext cx="2103120" cy="5486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failed after consuming tokens</a:t>
            </a:r>
            <a:endParaRPr lang="en-US" sz="1300" dirty="0"/>
          </a:p>
        </p:txBody>
      </p:sp>
      <p:sp>
        <p:nvSpPr>
          <p:cNvPr id="12" name="Text 10"/>
          <p:cNvSpPr txBox="1"/>
          <p:nvPr/>
        </p:nvSpPr>
        <p:spPr>
          <a:xfrm>
            <a:off x="457200" y="3566160"/>
            <a:ext cx="1097280" cy="548640"/>
          </a:xfrm>
          <a:prstGeom prst="rect">
            <a:avLst/>
          </a:prstGeom>
          <a:noFill/>
          <a:ln/>
        </p:spPr>
        <p:txBody>
          <a:bodyPr wrap="square" lIns="0" tIns="0" rIns="0" bIns="0" rtlCol="0" anchor="ctr"/>
          <a:lstStyle/>
          <a:p>
            <a:pPr indent="0" marL="0">
              <a:buNone/>
            </a:pPr>
            <a:r>
              <a:rPr lang="en-US" sz="2800" b="1" dirty="0">
                <a:solidFill>
                  <a:srgbClr val="111827"/>
                </a:solidFill>
                <a:latin typeface="Cambria" pitchFamily="34" charset="0"/>
                <a:ea typeface="Cambria" pitchFamily="34" charset="-122"/>
                <a:cs typeface="Cambria" pitchFamily="34" charset="-120"/>
              </a:rPr>
              <a:t>$19</a:t>
            </a:r>
            <a:endParaRPr lang="en-US" sz="2800" dirty="0"/>
          </a:p>
        </p:txBody>
      </p:sp>
      <p:sp>
        <p:nvSpPr>
          <p:cNvPr id="13" name="Text 11"/>
          <p:cNvSpPr txBox="1"/>
          <p:nvPr/>
        </p:nvSpPr>
        <p:spPr>
          <a:xfrm>
            <a:off x="1600200" y="3566160"/>
            <a:ext cx="2103120" cy="5486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spent in total</a:t>
            </a:r>
            <a:endParaRPr lang="en-US" sz="1300" dirty="0"/>
          </a:p>
        </p:txBody>
      </p:sp>
      <p:sp>
        <p:nvSpPr>
          <p:cNvPr id="14" name="Shape 12"/>
          <p:cNvSpPr/>
          <p:nvPr/>
        </p:nvSpPr>
        <p:spPr>
          <a:xfrm>
            <a:off x="3931920" y="1371600"/>
            <a:ext cx="2286000" cy="2057400"/>
          </a:xfrm>
          <a:prstGeom prst="roundRect">
            <a:avLst>
              <a:gd name="adj" fmla="val 3556"/>
            </a:avLst>
          </a:prstGeom>
          <a:solidFill>
            <a:srgbClr val="F3F4F6"/>
          </a:solidFill>
          <a:ln w="12700">
            <a:solidFill>
              <a:srgbClr val="F3F4F6"/>
            </a:solidFill>
            <a:prstDash val="solid"/>
          </a:ln>
        </p:spPr>
      </p:sp>
      <p:sp>
        <p:nvSpPr>
          <p:cNvPr id="15" name="Text 13"/>
          <p:cNvSpPr txBox="1"/>
          <p:nvPr/>
        </p:nvSpPr>
        <p:spPr>
          <a:xfrm>
            <a:off x="4114800" y="1554480"/>
            <a:ext cx="1920240" cy="228600"/>
          </a:xfrm>
          <a:prstGeom prst="rect">
            <a:avLst/>
          </a:prstGeom>
          <a:noFill/>
          <a:ln/>
        </p:spPr>
        <p:txBody>
          <a:bodyPr wrap="square" lIns="0" tIns="0" rIns="0" bIns="0" rtlCol="0" anchor="t"/>
          <a:lstStyle/>
          <a:p>
            <a:pPr indent="0" marL="0">
              <a:buNone/>
            </a:pPr>
            <a:r>
              <a:rPr lang="en-US" sz="1000" b="1" spc="100" kern="0" dirty="0">
                <a:solidFill>
                  <a:srgbClr val="6B7280"/>
                </a:solidFill>
                <a:latin typeface="Calibri" pitchFamily="34" charset="0"/>
                <a:ea typeface="Calibri" pitchFamily="34" charset="-122"/>
                <a:cs typeface="Calibri" pitchFamily="34" charset="-120"/>
              </a:rPr>
              <a:t>COST PER REQUEST</a:t>
            </a:r>
            <a:endParaRPr lang="en-US" sz="1000" dirty="0"/>
          </a:p>
        </p:txBody>
      </p:sp>
      <p:sp>
        <p:nvSpPr>
          <p:cNvPr id="16" name="Text 14"/>
          <p:cNvSpPr txBox="1"/>
          <p:nvPr/>
        </p:nvSpPr>
        <p:spPr>
          <a:xfrm>
            <a:off x="4114800" y="1828800"/>
            <a:ext cx="1920240" cy="868680"/>
          </a:xfrm>
          <a:prstGeom prst="rect">
            <a:avLst/>
          </a:prstGeom>
          <a:noFill/>
          <a:ln/>
        </p:spPr>
        <p:txBody>
          <a:bodyPr wrap="square" lIns="0" tIns="0" rIns="0" bIns="0" rtlCol="0" anchor="t"/>
          <a:lstStyle/>
          <a:p>
            <a:pPr indent="0" marL="0">
              <a:buNone/>
            </a:pPr>
            <a:r>
              <a:rPr lang="en-US" sz="5400" b="1" dirty="0">
                <a:solidFill>
                  <a:srgbClr val="6B7280"/>
                </a:solidFill>
                <a:latin typeface="Cambria" pitchFamily="34" charset="0"/>
                <a:ea typeface="Cambria" pitchFamily="34" charset="-122"/>
                <a:cs typeface="Cambria" pitchFamily="34" charset="-120"/>
              </a:rPr>
              <a:t>4¢</a:t>
            </a:r>
            <a:endParaRPr lang="en-US" sz="5400" dirty="0"/>
          </a:p>
        </p:txBody>
      </p:sp>
      <p:sp>
        <p:nvSpPr>
          <p:cNvPr id="17" name="Text 15"/>
          <p:cNvSpPr txBox="1"/>
          <p:nvPr/>
        </p:nvSpPr>
        <p:spPr>
          <a:xfrm>
            <a:off x="4114800" y="2697480"/>
            <a:ext cx="1920240" cy="59436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$19 ÷ 100 requests</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“Sounds fine.”</a:t>
            </a:r>
            <a:endParaRPr lang="en-US" sz="1100" dirty="0"/>
          </a:p>
        </p:txBody>
      </p:sp>
      <p:sp>
        <p:nvSpPr>
          <p:cNvPr id="18" name="Shape 16"/>
          <p:cNvSpPr/>
          <p:nvPr/>
        </p:nvSpPr>
        <p:spPr>
          <a:xfrm>
            <a:off x="6400800" y="1371600"/>
            <a:ext cx="2286000" cy="2057400"/>
          </a:xfrm>
          <a:prstGeom prst="roundRect">
            <a:avLst>
              <a:gd name="adj" fmla="val 3556"/>
            </a:avLst>
          </a:prstGeom>
          <a:solidFill>
            <a:srgbClr val="111827"/>
          </a:solidFill>
          <a:ln w="12700">
            <a:solidFill>
              <a:srgbClr val="111827"/>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6583680" y="1554480"/>
            <a:ext cx="2011680" cy="228600"/>
          </a:xfrm>
          <a:prstGeom prst="rect">
            <a:avLst/>
          </a:prstGeom>
          <a:noFill/>
          <a:ln/>
        </p:spPr>
        <p:txBody>
          <a:bodyPr wrap="square" lIns="0" tIns="0" rIns="0" bIns="0" rtlCol="0" anchor="t"/>
          <a:lstStyle/>
          <a:p>
            <a:pPr indent="0" marL="0">
              <a:buNone/>
            </a:pPr>
            <a:r>
              <a:rPr lang="en-US" sz="1000" b="1" spc="100" kern="0" dirty="0">
                <a:solidFill>
                  <a:srgbClr val="34D399"/>
                </a:solidFill>
                <a:latin typeface="Calibri" pitchFamily="34" charset="0"/>
                <a:ea typeface="Calibri" pitchFamily="34" charset="-122"/>
                <a:cs typeface="Calibri" pitchFamily="34" charset="-120"/>
              </a:rPr>
              <a:t>COST PER SUCCESSFUL TASK</a:t>
            </a:r>
            <a:endParaRPr lang="en-US" sz="1000" dirty="0"/>
          </a:p>
        </p:txBody>
      </p:sp>
      <p:sp>
        <p:nvSpPr>
          <p:cNvPr id="20" name="Text 18"/>
          <p:cNvSpPr txBox="1"/>
          <p:nvPr/>
        </p:nvSpPr>
        <p:spPr>
          <a:xfrm>
            <a:off x="6583680" y="1828800"/>
            <a:ext cx="1920240" cy="86868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19¢</a:t>
            </a:r>
            <a:endParaRPr lang="en-US" sz="5400" dirty="0"/>
          </a:p>
        </p:txBody>
      </p:sp>
      <p:sp>
        <p:nvSpPr>
          <p:cNvPr id="21" name="Text 19"/>
          <p:cNvSpPr txBox="1"/>
          <p:nvPr/>
        </p:nvSpPr>
        <p:spPr>
          <a:xfrm>
            <a:off x="6583680" y="2697480"/>
            <a:ext cx="2011680" cy="594360"/>
          </a:xfrm>
          <a:prstGeom prst="rect">
            <a:avLst/>
          </a:prstGeom>
          <a:noFill/>
          <a:ln/>
        </p:spPr>
        <p:txBody>
          <a:bodyPr wrap="square" lIns="0" tIns="0" rIns="0" bIns="0" rtlCol="0" anchor="t"/>
          <a:lstStyle/>
          <a:p>
            <a:pPr indent="0" marL="0">
              <a:buNone/>
            </a:pPr>
            <a:r>
              <a:rPr lang="en-US" sz="1100" dirty="0">
                <a:solidFill>
                  <a:srgbClr val="9CA3AF"/>
                </a:solidFill>
                <a:latin typeface="Calibri" pitchFamily="34" charset="0"/>
                <a:ea typeface="Calibri" pitchFamily="34" charset="-122"/>
                <a:cs typeface="Calibri" pitchFamily="34" charset="-120"/>
              </a:rPr>
              <a:t>$19 ÷ 62 successes</a:t>
            </a:r>
            <a:endParaRPr lang="en-US" sz="1100" dirty="0"/>
          </a:p>
          <a:p>
            <a:pPr indent="0" marL="0">
              <a:buNone/>
            </a:pPr>
            <a:r>
              <a:rPr lang="en-US" sz="1100" dirty="0">
                <a:solidFill>
                  <a:srgbClr val="9CA3AF"/>
                </a:solidFill>
                <a:latin typeface="Calibri" pitchFamily="34" charset="0"/>
                <a:ea typeface="Calibri" pitchFamily="34" charset="-122"/>
                <a:cs typeface="Calibri" pitchFamily="34" charset="-120"/>
              </a:rPr>
              <a:t>Nearly 5× higher; and true.</a:t>
            </a:r>
            <a:endParaRPr lang="en-US" sz="1100" dirty="0"/>
          </a:p>
        </p:txBody>
      </p:sp>
      <p:sp>
        <p:nvSpPr>
          <p:cNvPr id="22" name="Shape 20"/>
          <p:cNvSpPr/>
          <p:nvPr/>
        </p:nvSpPr>
        <p:spPr>
          <a:xfrm>
            <a:off x="3931920" y="3657600"/>
            <a:ext cx="4754880" cy="868680"/>
          </a:xfrm>
          <a:prstGeom prst="roundRect">
            <a:avLst>
              <a:gd name="adj" fmla="val 8421"/>
            </a:avLst>
          </a:prstGeom>
          <a:solidFill>
            <a:srgbClr val="ECFDF5"/>
          </a:solidFill>
          <a:ln w="12700">
            <a:solidFill>
              <a:srgbClr val="ECFDF5"/>
            </a:solidFill>
            <a:prstDash val="solid"/>
          </a:ln>
        </p:spPr>
      </p:sp>
      <p:sp>
        <p:nvSpPr>
          <p:cNvPr id="23" name="Text 21"/>
          <p:cNvSpPr txBox="1"/>
          <p:nvPr/>
        </p:nvSpPr>
        <p:spPr>
          <a:xfrm>
            <a:off x="4114800" y="3657600"/>
            <a:ext cx="4434840" cy="86868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Why it matters: </a:t>
            </a:r>
            <a:pPr indent="0" marL="0">
              <a:buNone/>
            </a:pPr>
            <a:r>
              <a:rPr lang="en-US" sz="1200" dirty="0">
                <a:solidFill>
                  <a:srgbClr val="1F2937"/>
                </a:solidFill>
                <a:latin typeface="Calibri" pitchFamily="34" charset="0"/>
                <a:ea typeface="Calibri" pitchFamily="34" charset="-122"/>
                <a:cs typeface="Calibri" pitchFamily="34" charset="-120"/>
              </a:rPr>
              <a:t>cut your failure rate and cost per successful task falls; even if total spend is unchanged. That's the improvement you can take to someone.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2">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22</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05 · What Counts as a Unit</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three cards and the afternoon</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Three cards across the top, then the worked afternoon underneath.</a:t>
            </a:r>
            <a:endParaRPr lang="en-US" sz="1050" dirty="0"/>
          </a:p>
        </p:txBody>
      </p:sp>
      <p:sp>
        <p:nvSpPr>
          <p:cNvPr id="11" name="Text 7"/>
          <p:cNvSpPr txBox="1"/>
          <p:nvPr/>
        </p:nvSpPr>
        <p:spPr>
          <a:xfrm>
            <a:off x="457200" y="1554480"/>
            <a:ext cx="4160520" cy="30632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Three tall cards, markers on top: ✗ · ~ · ✓</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COST PER TOKEN: $0.000003; useless on its own</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COST PER REQUEST: $0.04; hides the retries</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COST PER SUCCESSFUL TASK: $0.19; failures in the denominator</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Wide box: 100 requests · 62 succeeded · 38 failed · $19 spent</a:t>
            </a:r>
            <a:endParaRPr lang="en-US" sz="1100" dirty="0"/>
          </a:p>
          <a:p>
            <a:pPr marL="342900" indent="-342900">
              <a:spcAft>
                <a:spcPts val="500"/>
              </a:spcAft>
              <a:buSzPct val="100000"/>
              <a:buFont typeface="+mj-lt"/>
              <a:buAutoNum type="arabicPeriod" startAt="1"/>
            </a:pPr>
            <a:r>
              <a:rPr lang="en-US" sz="1100" dirty="0">
                <a:solidFill>
                  <a:srgbClr val="1F2937"/>
                </a:solidFill>
                <a:latin typeface="Calibri" pitchFamily="34" charset="0"/>
                <a:ea typeface="Calibri" pitchFamily="34" charset="-122"/>
                <a:cs typeface="Calibri" pitchFamily="34" charset="-120"/>
              </a:rPr>
              <a:t>Three lines: 4¢ looks reasonable · 19¢ is ~5× higher · only one is true</a:t>
            </a:r>
            <a:endParaRPr lang="en-US" sz="1100" dirty="0"/>
          </a:p>
        </p:txBody>
      </p:sp>
      <p:sp>
        <p:nvSpPr>
          <p:cNvPr id="12" name="Shape 8"/>
          <p:cNvSpPr/>
          <p:nvPr/>
        </p:nvSpPr>
        <p:spPr>
          <a:xfrm>
            <a:off x="4846320" y="1554480"/>
            <a:ext cx="3840480" cy="2416819"/>
          </a:xfrm>
          <a:prstGeom prst="roundRect">
            <a:avLst>
              <a:gd name="adj" fmla="val 302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983480" y="1609344"/>
            <a:ext cx="2743200" cy="201168"/>
          </a:xfrm>
          <a:prstGeom prst="rect">
            <a:avLst/>
          </a:prstGeom>
          <a:noFill/>
          <a:ln/>
        </p:spPr>
        <p:txBody>
          <a:bodyPr wrap="square" lIns="0" tIns="0" rIns="0" bIns="0" rtlCol="0" anchor="t"/>
          <a:lstStyle/>
          <a:p>
            <a:pPr indent="0" marL="0">
              <a:buNone/>
            </a:pPr>
            <a:r>
              <a:rPr lang="en-US" sz="800" b="1" spc="200" kern="0" dirty="0">
                <a:solidFill>
                  <a:srgbClr val="9CA3AF"/>
                </a:solidFill>
                <a:latin typeface="Calibri" pitchFamily="34" charset="0"/>
                <a:ea typeface="Calibri" pitchFamily="34" charset="-122"/>
                <a:cs typeface="Calibri" pitchFamily="34" charset="-120"/>
              </a:rPr>
              <a:t>FINISHED PANEL</a:t>
            </a:r>
            <a:endParaRPr lang="en-US" sz="800" dirty="0"/>
          </a:p>
        </p:txBody>
      </p:sp>
      <p:pic>
        <p:nvPicPr>
          <p:cNvPr id="14" name="Image 2" descr="preencoded.png">    </p:cNvPr>
          <p:cNvPicPr>
            <a:picLocks noChangeAspect="1"/>
          </p:cNvPicPr>
          <p:nvPr/>
        </p:nvPicPr>
        <p:blipFill>
          <a:blip r:embed="rId3"/>
          <a:stretch>
            <a:fillRect/>
          </a:stretch>
        </p:blipFill>
        <p:spPr>
          <a:xfrm>
            <a:off x="4892040" y="1828800"/>
            <a:ext cx="3749040" cy="2051059"/>
          </a:xfrm>
          <a:prstGeom prst="rect">
            <a:avLst/>
          </a:prstGeom>
        </p:spPr>
      </p:pic>
      <p:sp>
        <p:nvSpPr>
          <p:cNvPr id="15" name="Text 10"/>
          <p:cNvSpPr txBox="1"/>
          <p:nvPr/>
        </p:nvSpPr>
        <p:spPr>
          <a:xfrm>
            <a:off x="4846320" y="4062739"/>
            <a:ext cx="3840480" cy="554981"/>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Say: “Three numbers, one afternoon. Only one of them is honest.”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91440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548640" y="228600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Build It: Price Your Own Agent</a:t>
            </a:r>
            <a:endParaRPr lang="en-US" sz="3600" dirty="0"/>
          </a:p>
        </p:txBody>
      </p:sp>
      <p:sp>
        <p:nvSpPr>
          <p:cNvPr id="4" name="Text 2"/>
          <p:cNvSpPr txBox="1"/>
          <p:nvPr/>
        </p:nvSpPr>
        <p:spPr>
          <a:xfrm>
            <a:off x="548640" y="31546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PRICE YOUR OWN AGENT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Do it by hand, once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24</a:t>
            </a:r>
            <a:endParaRPr lang="en-US" sz="900" dirty="0"/>
          </a:p>
        </p:txBody>
      </p:sp>
      <p:sp>
        <p:nvSpPr>
          <p:cNvPr id="6" name="Text 4"/>
          <p:cNvSpPr txBox="1"/>
          <p:nvPr/>
        </p:nvSpPr>
        <p:spPr>
          <a:xfrm>
            <a:off x="457200" y="1280160"/>
            <a:ext cx="4754880" cy="100584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No instrumentation yet; that's Module 2. The manual calculation is what makes the automated one meaningful later.</a:t>
            </a:r>
            <a:endParaRPr lang="en-US" sz="1600" dirty="0"/>
          </a:p>
        </p:txBody>
      </p:sp>
      <p:sp>
        <p:nvSpPr>
          <p:cNvPr id="7" name="Shape 5"/>
          <p:cNvSpPr/>
          <p:nvPr/>
        </p:nvSpPr>
        <p:spPr>
          <a:xfrm>
            <a:off x="457200" y="2468880"/>
            <a:ext cx="4754880" cy="868680"/>
          </a:xfrm>
          <a:prstGeom prst="roundRect">
            <a:avLst>
              <a:gd name="adj" fmla="val 8421"/>
            </a:avLst>
          </a:prstGeom>
          <a:solidFill>
            <a:srgbClr val="F3F4F6"/>
          </a:solidFill>
          <a:ln w="12700">
            <a:solidFill>
              <a:srgbClr val="F3F4F6"/>
            </a:solidFill>
            <a:prstDash val="solid"/>
          </a:ln>
        </p:spPr>
      </p:sp>
      <p:sp>
        <p:nvSpPr>
          <p:cNvPr id="8" name="Text 6"/>
          <p:cNvSpPr txBox="1"/>
          <p:nvPr/>
        </p:nvSpPr>
        <p:spPr>
          <a:xfrm>
            <a:off x="685800" y="2587752"/>
            <a:ext cx="438912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Use your own agent</a:t>
            </a:r>
            <a:endParaRPr lang="en-US" sz="1400" dirty="0"/>
          </a:p>
        </p:txBody>
      </p:sp>
      <p:sp>
        <p:nvSpPr>
          <p:cNvPr id="9" name="Text 7"/>
          <p:cNvSpPr txBox="1"/>
          <p:nvPr/>
        </p:nvSpPr>
        <p:spPr>
          <a:xfrm>
            <a:off x="685800" y="2880360"/>
            <a:ext cx="4389120" cy="41148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if you have one</a:t>
            </a:r>
            <a:endParaRPr lang="en-US" sz="1150" dirty="0"/>
          </a:p>
        </p:txBody>
      </p:sp>
      <p:sp>
        <p:nvSpPr>
          <p:cNvPr id="10" name="Shape 8"/>
          <p:cNvSpPr/>
          <p:nvPr/>
        </p:nvSpPr>
        <p:spPr>
          <a:xfrm>
            <a:off x="457200" y="3474720"/>
            <a:ext cx="4754880" cy="868680"/>
          </a:xfrm>
          <a:prstGeom prst="roundRect">
            <a:avLst>
              <a:gd name="adj" fmla="val 8421"/>
            </a:avLst>
          </a:prstGeom>
          <a:solidFill>
            <a:srgbClr val="F3F4F6"/>
          </a:solidFill>
          <a:ln w="12700">
            <a:solidFill>
              <a:srgbClr val="F3F4F6"/>
            </a:solidFill>
            <a:prstDash val="solid"/>
          </a:ln>
        </p:spPr>
      </p:sp>
      <p:sp>
        <p:nvSpPr>
          <p:cNvPr id="11" name="Text 9"/>
          <p:cNvSpPr txBox="1"/>
          <p:nvPr/>
        </p:nvSpPr>
        <p:spPr>
          <a:xfrm>
            <a:off x="685800" y="3593592"/>
            <a:ext cx="438912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Or clone the course repo</a:t>
            </a:r>
            <a:endParaRPr lang="en-US" sz="1400" dirty="0"/>
          </a:p>
        </p:txBody>
      </p:sp>
      <p:sp>
        <p:nvSpPr>
          <p:cNvPr id="12" name="Text 10"/>
          <p:cNvSpPr txBox="1"/>
          <p:nvPr/>
        </p:nvSpPr>
        <p:spPr>
          <a:xfrm>
            <a:off x="685800" y="3886200"/>
            <a:ext cx="4389120" cy="41148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a deliberately uninstrumented agent, plus an input that sends it into a loop</a:t>
            </a:r>
            <a:endParaRPr lang="en-US" sz="1150" dirty="0"/>
          </a:p>
        </p:txBody>
      </p:sp>
      <p:sp>
        <p:nvSpPr>
          <p:cNvPr id="13" name="Shape 11"/>
          <p:cNvSpPr/>
          <p:nvPr/>
        </p:nvSpPr>
        <p:spPr>
          <a:xfrm>
            <a:off x="5577840" y="1280160"/>
            <a:ext cx="3108960" cy="3200400"/>
          </a:xfrm>
          <a:prstGeom prst="roundRect">
            <a:avLst>
              <a:gd name="adj" fmla="val 2353"/>
            </a:avLst>
          </a:prstGeom>
          <a:solidFill>
            <a:srgbClr val="111827"/>
          </a:solidFill>
          <a:ln w="12700">
            <a:solidFill>
              <a:srgbClr val="111827"/>
            </a:solidFill>
            <a:prstDash val="solid"/>
          </a:ln>
        </p:spPr>
      </p:sp>
      <p:pic>
        <p:nvPicPr>
          <p:cNvPr id="14" name="Image 0" descr="preencoded.png">    </p:cNvPr>
          <p:cNvPicPr>
            <a:picLocks noChangeAspect="1"/>
          </p:cNvPicPr>
          <p:nvPr/>
        </p:nvPicPr>
        <p:blipFill>
          <a:blip r:embed="rId1"/>
          <a:stretch>
            <a:fillRect/>
          </a:stretch>
        </p:blipFill>
        <p:spPr>
          <a:xfrm>
            <a:off x="5852160" y="1554480"/>
            <a:ext cx="457200" cy="457200"/>
          </a:xfrm>
          <a:prstGeom prst="rect">
            <a:avLst/>
          </a:prstGeom>
        </p:spPr>
      </p:pic>
      <p:sp>
        <p:nvSpPr>
          <p:cNvPr id="15" name="Text 12"/>
          <p:cNvSpPr txBox="1"/>
          <p:nvPr/>
        </p:nvSpPr>
        <p:spPr>
          <a:xfrm>
            <a:off x="5852160" y="2240280"/>
            <a:ext cx="2743200" cy="109728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github.com/</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Here2ServeU/</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agent-cost-control</a:t>
            </a:r>
            <a:endParaRPr lang="en-US" sz="1400" dirty="0"/>
          </a:p>
        </p:txBody>
      </p:sp>
      <p:sp>
        <p:nvSpPr>
          <p:cNvPr id="16" name="Text 13"/>
          <p:cNvSpPr txBox="1"/>
          <p:nvPr/>
        </p:nvSpPr>
        <p:spPr>
          <a:xfrm>
            <a:off x="5852160" y="3566160"/>
            <a:ext cx="2651760" cy="640080"/>
          </a:xfrm>
          <a:prstGeom prst="rect">
            <a:avLst/>
          </a:prstGeom>
          <a:noFill/>
          <a:ln/>
        </p:spPr>
        <p:txBody>
          <a:bodyPr wrap="square" lIns="0" tIns="0" rIns="0" bIns="0" rtlCol="0" anchor="t"/>
          <a:lstStyle/>
          <a:p>
            <a:pPr indent="0" marL="0">
              <a:buNone/>
            </a:pPr>
            <a:r>
              <a:rPr lang="en-US" sz="1200" dirty="0">
                <a:solidFill>
                  <a:srgbClr val="9CA3AF"/>
                </a:solidFill>
                <a:latin typeface="Calibri" pitchFamily="34" charset="0"/>
                <a:ea typeface="Calibri" pitchFamily="34" charset="-122"/>
                <a:cs typeface="Calibri" pitchFamily="34" charset="-120"/>
              </a:rPr>
              <a:t>The same agent is used for the whole course.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1 OF 8</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Clone the course agent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365760" y="132588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325880"/>
            <a:ext cx="8092440" cy="868680"/>
          </a:xfrm>
          <a:prstGeom prst="rect">
            <a:avLst/>
          </a:prstGeom>
          <a:noFill/>
          <a:ln/>
        </p:spPr>
        <p:txBody>
          <a:bodyPr wrap="square" lIns="0" tIns="0" rIns="0" bIns="0" rtlCol="0" anchor="ctr"/>
          <a:lstStyle/>
          <a:p>
            <a:pPr indent="0" marL="0">
              <a:buNone/>
            </a:pPr>
            <a:r>
              <a:rPr lang="en-US" sz="1188" b="1" dirty="0">
                <a:solidFill>
                  <a:srgbClr val="F59E0B"/>
                </a:solidFill>
                <a:latin typeface="Courier New" pitchFamily="34" charset="0"/>
                <a:ea typeface="Courier New" pitchFamily="34" charset="-122"/>
                <a:cs typeface="Courier New" pitchFamily="34" charset="-120"/>
              </a:rPr>
              <a:t>$ </a:t>
            </a:r>
            <a:pPr indent="0" marL="0">
              <a:buNone/>
            </a:pPr>
            <a:r>
              <a:rPr lang="en-US" sz="1188" dirty="0">
                <a:solidFill>
                  <a:srgbClr val="E8EAED"/>
                </a:solidFill>
                <a:latin typeface="Courier New" pitchFamily="34" charset="0"/>
                <a:ea typeface="Courier New" pitchFamily="34" charset="-122"/>
                <a:cs typeface="Courier New" pitchFamily="34" charset="-120"/>
              </a:rPr>
              <a:t>git clone https://github.com/Here2ServeU/agent-cost-control &amp;&amp; cd agent-cost-control</a:t>
            </a:r>
            <a:endParaRPr lang="en-US" sz="1188" dirty="0"/>
          </a:p>
        </p:txBody>
      </p:sp>
      <p:sp>
        <p:nvSpPr>
          <p:cNvPr id="8" name="Shape 6"/>
          <p:cNvSpPr/>
          <p:nvPr/>
        </p:nvSpPr>
        <p:spPr>
          <a:xfrm>
            <a:off x="457200" y="2423160"/>
            <a:ext cx="4846320" cy="2103120"/>
          </a:xfrm>
          <a:prstGeom prst="roundRect">
            <a:avLst>
              <a:gd name="adj" fmla="val 3478"/>
            </a:avLst>
          </a:prstGeom>
          <a:solidFill>
            <a:srgbClr val="F3F4F6"/>
          </a:solidFill>
          <a:ln w="12700">
            <a:solidFill>
              <a:srgbClr val="F3F4F6"/>
            </a:solidFill>
            <a:prstDash val="solid"/>
          </a:ln>
        </p:spPr>
      </p:sp>
      <p:sp>
        <p:nvSpPr>
          <p:cNvPr id="9" name="Text 7"/>
          <p:cNvSpPr txBox="1"/>
          <p:nvPr/>
        </p:nvSpPr>
        <p:spPr>
          <a:xfrm>
            <a:off x="685800" y="2606040"/>
            <a:ext cx="4434840" cy="10972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Look at what's in here before running anything. There's an agent, a handful of sample inputs, and no cost instrumentation of any kind.</a:t>
            </a:r>
            <a:endParaRPr lang="en-US" sz="1500" dirty="0"/>
          </a:p>
        </p:txBody>
      </p:sp>
      <p:sp>
        <p:nvSpPr>
          <p:cNvPr id="10" name="Text 8"/>
          <p:cNvSpPr txBox="1"/>
          <p:nvPr/>
        </p:nvSpPr>
        <p:spPr>
          <a:xfrm>
            <a:off x="685800" y="3749040"/>
            <a:ext cx="4434840" cy="548640"/>
          </a:xfrm>
          <a:prstGeom prst="rect">
            <a:avLst/>
          </a:prstGeom>
          <a:noFill/>
          <a:ln/>
        </p:spPr>
        <p:txBody>
          <a:bodyPr wrap="square" lIns="0" tIns="0" rIns="0" bIns="0" rtlCol="0" anchor="t"/>
          <a:lstStyle/>
          <a:p>
            <a:pPr indent="0" marL="0">
              <a:buNone/>
            </a:pPr>
            <a:r>
              <a:rPr lang="en-US" sz="1400" b="1" i="1" dirty="0">
                <a:solidFill>
                  <a:srgbClr val="B45309"/>
                </a:solidFill>
                <a:latin typeface="Calibri" pitchFamily="34" charset="0"/>
                <a:ea typeface="Calibri" pitchFamily="34" charset="-122"/>
                <a:cs typeface="Calibri" pitchFamily="34" charset="-120"/>
              </a:rPr>
              <a:t>That's deliberate; it's the state most agents are actually in.</a:t>
            </a:r>
            <a:endParaRPr lang="en-US" sz="1400" dirty="0"/>
          </a:p>
        </p:txBody>
      </p:sp>
      <p:sp>
        <p:nvSpPr>
          <p:cNvPr id="11" name="Shape 9"/>
          <p:cNvSpPr/>
          <p:nvPr/>
        </p:nvSpPr>
        <p:spPr>
          <a:xfrm>
            <a:off x="5577840" y="2423160"/>
            <a:ext cx="3108960" cy="64008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5760720" y="2487168"/>
            <a:ext cx="283464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An agent</a:t>
            </a:r>
            <a:endParaRPr lang="en-US" sz="1300" dirty="0"/>
          </a:p>
        </p:txBody>
      </p:sp>
      <p:sp>
        <p:nvSpPr>
          <p:cNvPr id="13" name="Text 11"/>
          <p:cNvSpPr txBox="1"/>
          <p:nvPr/>
        </p:nvSpPr>
        <p:spPr>
          <a:xfrm>
            <a:off x="5760720" y="2761488"/>
            <a:ext cx="2834640" cy="256032"/>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used for the whole course</a:t>
            </a:r>
            <a:endParaRPr lang="en-US" sz="1100" dirty="0"/>
          </a:p>
        </p:txBody>
      </p:sp>
      <p:sp>
        <p:nvSpPr>
          <p:cNvPr id="14" name="Shape 12"/>
          <p:cNvSpPr/>
          <p:nvPr/>
        </p:nvSpPr>
        <p:spPr>
          <a:xfrm>
            <a:off x="5577840" y="3154680"/>
            <a:ext cx="3108960" cy="64008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5760720" y="3218688"/>
            <a:ext cx="283464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Sample inputs</a:t>
            </a:r>
            <a:endParaRPr lang="en-US" sz="1300" dirty="0"/>
          </a:p>
        </p:txBody>
      </p:sp>
      <p:sp>
        <p:nvSpPr>
          <p:cNvPr id="16" name="Text 14"/>
          <p:cNvSpPr txBox="1"/>
          <p:nvPr/>
        </p:nvSpPr>
        <p:spPr>
          <a:xfrm>
            <a:off x="5760720" y="3493008"/>
            <a:ext cx="2834640" cy="256032"/>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one normal, one malformed</a:t>
            </a:r>
            <a:endParaRPr lang="en-US" sz="1100" dirty="0"/>
          </a:p>
        </p:txBody>
      </p:sp>
      <p:sp>
        <p:nvSpPr>
          <p:cNvPr id="17" name="Shape 15"/>
          <p:cNvSpPr/>
          <p:nvPr/>
        </p:nvSpPr>
        <p:spPr>
          <a:xfrm>
            <a:off x="5577840" y="3886200"/>
            <a:ext cx="3108960" cy="64008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8" name="Text 16"/>
          <p:cNvSpPr txBox="1"/>
          <p:nvPr/>
        </p:nvSpPr>
        <p:spPr>
          <a:xfrm>
            <a:off x="5760720" y="3950208"/>
            <a:ext cx="283464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No instrumentation</a:t>
            </a:r>
            <a:endParaRPr lang="en-US" sz="1300" dirty="0"/>
          </a:p>
        </p:txBody>
      </p:sp>
      <p:sp>
        <p:nvSpPr>
          <p:cNvPr id="19" name="Text 17"/>
          <p:cNvSpPr txBox="1"/>
          <p:nvPr/>
        </p:nvSpPr>
        <p:spPr>
          <a:xfrm>
            <a:off x="5760720" y="4224528"/>
            <a:ext cx="2834640" cy="256032"/>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nothing measures cost yet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2 OF 8</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Set your API key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26</a:t>
            </a:r>
            <a:endParaRPr lang="en-US" sz="900" dirty="0"/>
          </a:p>
        </p:txBody>
      </p:sp>
      <p:sp>
        <p:nvSpPr>
          <p:cNvPr id="6" name="Shape 4"/>
          <p:cNvSpPr/>
          <p:nvPr/>
        </p:nvSpPr>
        <p:spPr>
          <a:xfrm>
            <a:off x="365760" y="132588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32588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export ANTHROPIC_API_KEY=your-key-here</a:t>
            </a:r>
            <a:endParaRPr lang="en-US" sz="1600" dirty="0"/>
          </a:p>
        </p:txBody>
      </p:sp>
      <p:sp>
        <p:nvSpPr>
          <p:cNvPr id="8" name="Shape 6"/>
          <p:cNvSpPr/>
          <p:nvPr/>
        </p:nvSpPr>
        <p:spPr>
          <a:xfrm>
            <a:off x="457200" y="2423160"/>
            <a:ext cx="8229600" cy="1005840"/>
          </a:xfrm>
          <a:prstGeom prst="roundRect">
            <a:avLst>
              <a:gd name="adj" fmla="val 7273"/>
            </a:avLst>
          </a:prstGeom>
          <a:solidFill>
            <a:srgbClr val="F3F4F6"/>
          </a:solidFill>
          <a:ln w="12700">
            <a:solidFill>
              <a:srgbClr val="F3F4F6"/>
            </a:solidFill>
            <a:prstDash val="solid"/>
          </a:ln>
        </p:spPr>
      </p:sp>
      <p:sp>
        <p:nvSpPr>
          <p:cNvPr id="9" name="Text 7"/>
          <p:cNvSpPr txBox="1"/>
          <p:nvPr/>
        </p:nvSpPr>
        <p:spPr>
          <a:xfrm>
            <a:off x="731520" y="2423160"/>
            <a:ext cx="7680960" cy="100584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Environment variable, not a config file. Same discipline as any other credential.</a:t>
            </a:r>
            <a:endParaRPr lang="en-US" sz="1700" dirty="0"/>
          </a:p>
        </p:txBody>
      </p:sp>
      <p:sp>
        <p:nvSpPr>
          <p:cNvPr id="10" name="Text 8"/>
          <p:cNvSpPr txBox="1"/>
          <p:nvPr/>
        </p:nvSpPr>
        <p:spPr>
          <a:xfrm>
            <a:off x="457200" y="3794760"/>
            <a:ext cx="8229600" cy="365760"/>
          </a:xfrm>
          <a:prstGeom prst="rect">
            <a:avLst/>
          </a:prstGeom>
          <a:noFill/>
          <a:ln/>
        </p:spPr>
        <p:txBody>
          <a:bodyPr wrap="square" lIns="0" tIns="0" rIns="0" bIns="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Next: one healthy run, priced by hand.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3 OF 8</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Run a healthy input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365760" y="132588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32588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samples/normal.json --verbose</a:t>
            </a:r>
            <a:endParaRPr lang="en-US" sz="1600" dirty="0"/>
          </a:p>
        </p:txBody>
      </p:sp>
      <p:sp>
        <p:nvSpPr>
          <p:cNvPr id="8" name="Text 6"/>
          <p:cNvSpPr txBox="1"/>
          <p:nvPr/>
        </p:nvSpPr>
        <p:spPr>
          <a:xfrm>
            <a:off x="457200" y="2423160"/>
            <a:ext cx="8229600" cy="54864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Verbose mode prints the raw usage block from each API response. Every major provider returns one.</a:t>
            </a:r>
            <a:endParaRPr lang="en-US" sz="1500" dirty="0"/>
          </a:p>
        </p:txBody>
      </p:sp>
      <p:sp>
        <p:nvSpPr>
          <p:cNvPr id="9" name="Shape 7"/>
          <p:cNvSpPr/>
          <p:nvPr/>
        </p:nvSpPr>
        <p:spPr>
          <a:xfrm>
            <a:off x="457200" y="3063240"/>
            <a:ext cx="4023360" cy="1234440"/>
          </a:xfrm>
          <a:prstGeom prst="roundRect">
            <a:avLst>
              <a:gd name="adj" fmla="val 5926"/>
            </a:avLst>
          </a:prstGeom>
          <a:solidFill>
            <a:srgbClr val="EFF6FF"/>
          </a:solidFill>
          <a:ln w="12700">
            <a:solidFill>
              <a:srgbClr val="EFF6FF"/>
            </a:solidFill>
            <a:prstDash val="solid"/>
          </a:ln>
        </p:spPr>
      </p:sp>
      <p:sp>
        <p:nvSpPr>
          <p:cNvPr id="10" name="Text 8"/>
          <p:cNvSpPr txBox="1"/>
          <p:nvPr/>
        </p:nvSpPr>
        <p:spPr>
          <a:xfrm>
            <a:off x="685800" y="3246120"/>
            <a:ext cx="3657600" cy="411480"/>
          </a:xfrm>
          <a:prstGeom prst="rect">
            <a:avLst/>
          </a:prstGeom>
          <a:noFill/>
          <a:ln/>
        </p:spPr>
        <p:txBody>
          <a:bodyPr wrap="square" lIns="0" tIns="0" rIns="0" bIns="0" rtlCol="0" anchor="t"/>
          <a:lstStyle/>
          <a:p>
            <a:pPr indent="0" marL="0">
              <a:buNone/>
            </a:pPr>
            <a:r>
              <a:rPr lang="en-US" sz="1900" b="1" dirty="0">
                <a:solidFill>
                  <a:srgbClr val="1D4ED8"/>
                </a:solidFill>
                <a:latin typeface="Courier New" pitchFamily="34" charset="0"/>
                <a:ea typeface="Courier New" pitchFamily="34" charset="-122"/>
                <a:cs typeface="Courier New" pitchFamily="34" charset="-120"/>
              </a:rPr>
              <a:t>input_tokens</a:t>
            </a:r>
            <a:endParaRPr lang="en-US" sz="1900" dirty="0"/>
          </a:p>
        </p:txBody>
      </p:sp>
      <p:sp>
        <p:nvSpPr>
          <p:cNvPr id="11" name="Text 9"/>
          <p:cNvSpPr txBox="1"/>
          <p:nvPr/>
        </p:nvSpPr>
        <p:spPr>
          <a:xfrm>
            <a:off x="685800" y="3703320"/>
            <a:ext cx="3657600" cy="3657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everything sent on that call</a:t>
            </a:r>
            <a:endParaRPr lang="en-US" sz="1250" dirty="0"/>
          </a:p>
        </p:txBody>
      </p:sp>
      <p:sp>
        <p:nvSpPr>
          <p:cNvPr id="12" name="Shape 10"/>
          <p:cNvSpPr/>
          <p:nvPr/>
        </p:nvSpPr>
        <p:spPr>
          <a:xfrm>
            <a:off x="4663440" y="3063240"/>
            <a:ext cx="4023360" cy="1234440"/>
          </a:xfrm>
          <a:prstGeom prst="roundRect">
            <a:avLst>
              <a:gd name="adj" fmla="val 5926"/>
            </a:avLst>
          </a:prstGeom>
          <a:solidFill>
            <a:srgbClr val="FFFBEB"/>
          </a:solidFill>
          <a:ln w="12700">
            <a:solidFill>
              <a:srgbClr val="FFFBEB"/>
            </a:solidFill>
            <a:prstDash val="solid"/>
          </a:ln>
        </p:spPr>
      </p:sp>
      <p:sp>
        <p:nvSpPr>
          <p:cNvPr id="13" name="Text 11"/>
          <p:cNvSpPr txBox="1"/>
          <p:nvPr/>
        </p:nvSpPr>
        <p:spPr>
          <a:xfrm>
            <a:off x="4892040" y="3246120"/>
            <a:ext cx="3657600" cy="411480"/>
          </a:xfrm>
          <a:prstGeom prst="rect">
            <a:avLst/>
          </a:prstGeom>
          <a:noFill/>
          <a:ln/>
        </p:spPr>
        <p:txBody>
          <a:bodyPr wrap="square" lIns="0" tIns="0" rIns="0" bIns="0" rtlCol="0" anchor="t"/>
          <a:lstStyle/>
          <a:p>
            <a:pPr indent="0" marL="0">
              <a:buNone/>
            </a:pPr>
            <a:r>
              <a:rPr lang="en-US" sz="1900" b="1" dirty="0">
                <a:solidFill>
                  <a:srgbClr val="B45309"/>
                </a:solidFill>
                <a:latin typeface="Courier New" pitchFamily="34" charset="0"/>
                <a:ea typeface="Courier New" pitchFamily="34" charset="-122"/>
                <a:cs typeface="Courier New" pitchFamily="34" charset="-120"/>
              </a:rPr>
              <a:t>output_tokens</a:t>
            </a:r>
            <a:endParaRPr lang="en-US" sz="1900" dirty="0"/>
          </a:p>
        </p:txBody>
      </p:sp>
      <p:sp>
        <p:nvSpPr>
          <p:cNvPr id="14" name="Text 12"/>
          <p:cNvSpPr txBox="1"/>
          <p:nvPr/>
        </p:nvSpPr>
        <p:spPr>
          <a:xfrm>
            <a:off x="4892040" y="3703320"/>
            <a:ext cx="3657600" cy="3657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everything the model generated</a:t>
            </a:r>
            <a:endParaRPr lang="en-US" sz="1250" dirty="0"/>
          </a:p>
        </p:txBody>
      </p:sp>
      <p:sp>
        <p:nvSpPr>
          <p:cNvPr id="15" name="Text 13"/>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The two numbers we care about; one per call.</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4 OF 8</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Do the arithmetic by hand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No command for this one. Pen and paper, or a calculator.</a:t>
            </a:r>
            <a:endParaRPr lang="en-US" sz="1300" dirty="0"/>
          </a:p>
        </p:txBody>
      </p:sp>
      <p:sp>
        <p:nvSpPr>
          <p:cNvPr id="7" name="Shape 5"/>
          <p:cNvSpPr/>
          <p:nvPr/>
        </p:nvSpPr>
        <p:spPr>
          <a:xfrm>
            <a:off x="457200" y="1645920"/>
            <a:ext cx="8229600" cy="685800"/>
          </a:xfrm>
          <a:prstGeom prst="roundRect">
            <a:avLst>
              <a:gd name="adj" fmla="val 10667"/>
            </a:avLst>
          </a:prstGeom>
          <a:solidFill>
            <a:srgbClr val="F3F4F6"/>
          </a:solidFill>
          <a:ln w="12700">
            <a:solidFill>
              <a:srgbClr val="F3F4F6"/>
            </a:solidFill>
            <a:prstDash val="solid"/>
          </a:ln>
        </p:spPr>
      </p:sp>
      <p:sp>
        <p:nvSpPr>
          <p:cNvPr id="8" name="Text 6"/>
          <p:cNvSpPr txBox="1"/>
          <p:nvPr/>
        </p:nvSpPr>
        <p:spPr>
          <a:xfrm>
            <a:off x="685800" y="1645920"/>
            <a:ext cx="457200" cy="68580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1</a:t>
            </a:r>
            <a:endParaRPr lang="en-US" sz="2400" dirty="0"/>
          </a:p>
        </p:txBody>
      </p:sp>
      <p:sp>
        <p:nvSpPr>
          <p:cNvPr id="9" name="Text 7"/>
          <p:cNvSpPr txBox="1"/>
          <p:nvPr/>
        </p:nvSpPr>
        <p:spPr>
          <a:xfrm>
            <a:off x="1234440" y="1645920"/>
            <a:ext cx="3291840" cy="68580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Add up the input tokens</a:t>
            </a:r>
            <a:endParaRPr lang="en-US" sz="1600" dirty="0"/>
          </a:p>
        </p:txBody>
      </p:sp>
      <p:sp>
        <p:nvSpPr>
          <p:cNvPr id="10" name="Text 8"/>
          <p:cNvSpPr txBox="1"/>
          <p:nvPr/>
        </p:nvSpPr>
        <p:spPr>
          <a:xfrm>
            <a:off x="4663440" y="1645920"/>
            <a:ext cx="3840480" cy="6858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across every call in that run</a:t>
            </a:r>
            <a:endParaRPr lang="en-US" sz="1300" dirty="0"/>
          </a:p>
        </p:txBody>
      </p:sp>
      <p:sp>
        <p:nvSpPr>
          <p:cNvPr id="11" name="Shape 9"/>
          <p:cNvSpPr/>
          <p:nvPr/>
        </p:nvSpPr>
        <p:spPr>
          <a:xfrm>
            <a:off x="457200" y="2423160"/>
            <a:ext cx="8229600" cy="685800"/>
          </a:xfrm>
          <a:prstGeom prst="roundRect">
            <a:avLst>
              <a:gd name="adj" fmla="val 10667"/>
            </a:avLst>
          </a:prstGeom>
          <a:solidFill>
            <a:srgbClr val="F3F4F6"/>
          </a:solidFill>
          <a:ln w="12700">
            <a:solidFill>
              <a:srgbClr val="F3F4F6"/>
            </a:solidFill>
            <a:prstDash val="solid"/>
          </a:ln>
        </p:spPr>
      </p:sp>
      <p:sp>
        <p:nvSpPr>
          <p:cNvPr id="12" name="Text 10"/>
          <p:cNvSpPr txBox="1"/>
          <p:nvPr/>
        </p:nvSpPr>
        <p:spPr>
          <a:xfrm>
            <a:off x="685800" y="2423160"/>
            <a:ext cx="457200" cy="68580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2</a:t>
            </a:r>
            <a:endParaRPr lang="en-US" sz="2400" dirty="0"/>
          </a:p>
        </p:txBody>
      </p:sp>
      <p:sp>
        <p:nvSpPr>
          <p:cNvPr id="13" name="Text 11"/>
          <p:cNvSpPr txBox="1"/>
          <p:nvPr/>
        </p:nvSpPr>
        <p:spPr>
          <a:xfrm>
            <a:off x="1234440" y="2423160"/>
            <a:ext cx="3291840" cy="68580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Add up the output tokens</a:t>
            </a:r>
            <a:endParaRPr lang="en-US" sz="1600" dirty="0"/>
          </a:p>
        </p:txBody>
      </p:sp>
      <p:sp>
        <p:nvSpPr>
          <p:cNvPr id="14" name="Text 12"/>
          <p:cNvSpPr txBox="1"/>
          <p:nvPr/>
        </p:nvSpPr>
        <p:spPr>
          <a:xfrm>
            <a:off x="4663440" y="2423160"/>
            <a:ext cx="3840480" cy="6858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keep them separate: they're priced differently</a:t>
            </a:r>
            <a:endParaRPr lang="en-US" sz="1300" dirty="0"/>
          </a:p>
        </p:txBody>
      </p:sp>
      <p:sp>
        <p:nvSpPr>
          <p:cNvPr id="15" name="Shape 13"/>
          <p:cNvSpPr/>
          <p:nvPr/>
        </p:nvSpPr>
        <p:spPr>
          <a:xfrm>
            <a:off x="457200" y="3200400"/>
            <a:ext cx="8229600" cy="685800"/>
          </a:xfrm>
          <a:prstGeom prst="roundRect">
            <a:avLst>
              <a:gd name="adj" fmla="val 10667"/>
            </a:avLst>
          </a:prstGeom>
          <a:solidFill>
            <a:srgbClr val="F3F4F6"/>
          </a:solidFill>
          <a:ln w="12700">
            <a:solidFill>
              <a:srgbClr val="F3F4F6"/>
            </a:solidFill>
            <a:prstDash val="solid"/>
          </a:ln>
        </p:spPr>
      </p:sp>
      <p:sp>
        <p:nvSpPr>
          <p:cNvPr id="16" name="Text 14"/>
          <p:cNvSpPr txBox="1"/>
          <p:nvPr/>
        </p:nvSpPr>
        <p:spPr>
          <a:xfrm>
            <a:off x="685800" y="3200400"/>
            <a:ext cx="457200" cy="68580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3</a:t>
            </a:r>
            <a:endParaRPr lang="en-US" sz="2400" dirty="0"/>
          </a:p>
        </p:txBody>
      </p:sp>
      <p:sp>
        <p:nvSpPr>
          <p:cNvPr id="17" name="Text 15"/>
          <p:cNvSpPr txBox="1"/>
          <p:nvPr/>
        </p:nvSpPr>
        <p:spPr>
          <a:xfrm>
            <a:off x="1234440" y="3200400"/>
            <a:ext cx="3291840" cy="68580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Multiply each by its rate</a:t>
            </a:r>
            <a:endParaRPr lang="en-US" sz="1600" dirty="0"/>
          </a:p>
        </p:txBody>
      </p:sp>
      <p:sp>
        <p:nvSpPr>
          <p:cNvPr id="18" name="Text 16"/>
          <p:cNvSpPr txBox="1"/>
          <p:nvPr/>
        </p:nvSpPr>
        <p:spPr>
          <a:xfrm>
            <a:off x="4663440" y="3200400"/>
            <a:ext cx="3840480" cy="6858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from your provider's current pricing page</a:t>
            </a:r>
            <a:endParaRPr lang="en-US" sz="1300" dirty="0"/>
          </a:p>
        </p:txBody>
      </p:sp>
      <p:sp>
        <p:nvSpPr>
          <p:cNvPr id="19" name="Shape 17"/>
          <p:cNvSpPr/>
          <p:nvPr/>
        </p:nvSpPr>
        <p:spPr>
          <a:xfrm>
            <a:off x="457200" y="3977640"/>
            <a:ext cx="8229600" cy="685800"/>
          </a:xfrm>
          <a:prstGeom prst="roundRect">
            <a:avLst>
              <a:gd name="adj" fmla="val 10667"/>
            </a:avLst>
          </a:prstGeom>
          <a:solidFill>
            <a:srgbClr val="111827"/>
          </a:solidFill>
          <a:ln w="12700">
            <a:solidFill>
              <a:srgbClr val="111827"/>
            </a:solidFill>
            <a:prstDash val="solid"/>
          </a:ln>
        </p:spPr>
      </p:sp>
      <p:sp>
        <p:nvSpPr>
          <p:cNvPr id="20" name="Text 18"/>
          <p:cNvSpPr txBox="1"/>
          <p:nvPr/>
        </p:nvSpPr>
        <p:spPr>
          <a:xfrm>
            <a:off x="685800" y="3977640"/>
            <a:ext cx="457200" cy="685800"/>
          </a:xfrm>
          <a:prstGeom prst="rect">
            <a:avLst/>
          </a:prstGeom>
          <a:noFill/>
          <a:ln/>
        </p:spPr>
        <p:txBody>
          <a:bodyPr wrap="square" lIns="0" tIns="0" rIns="0" bIns="0" rtlCol="0" anchor="ctr"/>
          <a:lstStyle/>
          <a:p>
            <a:pPr indent="0" marL="0">
              <a:buNone/>
            </a:pPr>
            <a:r>
              <a:rPr lang="en-US" sz="2400" b="1" dirty="0">
                <a:solidFill>
                  <a:srgbClr val="F59E0B"/>
                </a:solidFill>
                <a:latin typeface="Cambria" pitchFamily="34" charset="0"/>
                <a:ea typeface="Cambria" pitchFamily="34" charset="-122"/>
                <a:cs typeface="Cambria" pitchFamily="34" charset="-120"/>
              </a:rPr>
              <a:t>4</a:t>
            </a:r>
            <a:endParaRPr lang="en-US" sz="2400" dirty="0"/>
          </a:p>
        </p:txBody>
      </p:sp>
      <p:sp>
        <p:nvSpPr>
          <p:cNvPr id="21" name="Text 19"/>
          <p:cNvSpPr txBox="1"/>
          <p:nvPr/>
        </p:nvSpPr>
        <p:spPr>
          <a:xfrm>
            <a:off x="1234440" y="3977640"/>
            <a:ext cx="3291840" cy="6858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Add the two together</a:t>
            </a:r>
            <a:endParaRPr lang="en-US" sz="1600" dirty="0"/>
          </a:p>
        </p:txBody>
      </p:sp>
      <p:sp>
        <p:nvSpPr>
          <p:cNvPr id="22" name="Text 20"/>
          <p:cNvSpPr txBox="1"/>
          <p:nvPr/>
        </p:nvSpPr>
        <p:spPr>
          <a:xfrm>
            <a:off x="4663440" y="3977640"/>
            <a:ext cx="3840480" cy="68580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write the number down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5 OF 8</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Count the model calls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365760" y="132588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325880"/>
            <a:ext cx="8092440" cy="868680"/>
          </a:xfrm>
          <a:prstGeom prst="rect">
            <a:avLst/>
          </a:prstGeom>
          <a:noFill/>
          <a:ln/>
        </p:spPr>
        <p:txBody>
          <a:bodyPr wrap="square" lIns="0" tIns="0" rIns="0" bIns="0" rtlCol="0" anchor="ctr"/>
          <a:lstStyle/>
          <a:p>
            <a:pPr indent="0" marL="0">
              <a:buNone/>
            </a:pPr>
            <a:r>
              <a:rPr lang="en-US" sz="1310" b="1" dirty="0">
                <a:solidFill>
                  <a:srgbClr val="F59E0B"/>
                </a:solidFill>
                <a:latin typeface="Courier New" pitchFamily="34" charset="0"/>
                <a:ea typeface="Courier New" pitchFamily="34" charset="-122"/>
                <a:cs typeface="Courier New" pitchFamily="34" charset="-120"/>
              </a:rPr>
              <a:t>$ </a:t>
            </a:r>
            <a:pPr indent="0" marL="0">
              <a:buNone/>
            </a:pPr>
            <a:r>
              <a:rPr lang="en-US" sz="1310" dirty="0">
                <a:solidFill>
                  <a:srgbClr val="E8EAED"/>
                </a:solidFill>
                <a:latin typeface="Courier New" pitchFamily="34" charset="0"/>
                <a:ea typeface="Courier New" pitchFamily="34" charset="-122"/>
                <a:cs typeface="Courier New" pitchFamily="34" charset="-120"/>
              </a:rPr>
              <a:t>python3 run_agent.py --input samples/normal.json --verbose | grep -c 'usage'</a:t>
            </a:r>
            <a:endParaRPr lang="en-US" sz="1310" dirty="0"/>
          </a:p>
        </p:txBody>
      </p:sp>
      <p:sp>
        <p:nvSpPr>
          <p:cNvPr id="8" name="Text 6"/>
          <p:cNvSpPr txBox="1"/>
          <p:nvPr/>
        </p:nvSpPr>
        <p:spPr>
          <a:xfrm>
            <a:off x="457200" y="2423160"/>
            <a:ext cx="8229600" cy="45720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That counts how many model calls the run made: your step count. Write that down too.</a:t>
            </a:r>
            <a:endParaRPr lang="en-US" sz="1500" dirty="0"/>
          </a:p>
        </p:txBody>
      </p:sp>
      <p:sp>
        <p:nvSpPr>
          <p:cNvPr id="9" name="Text 7"/>
          <p:cNvSpPr txBox="1"/>
          <p:nvPr/>
        </p:nvSpPr>
        <p:spPr>
          <a:xfrm>
            <a:off x="457200" y="2971800"/>
            <a:ext cx="82296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YOU NOW HAVE THREE NUMBERS FOR A HEALTHY RUN</a:t>
            </a:r>
            <a:endParaRPr lang="en-US" sz="1000" dirty="0"/>
          </a:p>
        </p:txBody>
      </p:sp>
      <p:sp>
        <p:nvSpPr>
          <p:cNvPr id="10" name="Shape 8"/>
          <p:cNvSpPr/>
          <p:nvPr/>
        </p:nvSpPr>
        <p:spPr>
          <a:xfrm>
            <a:off x="457200" y="3291840"/>
            <a:ext cx="2606040" cy="1005840"/>
          </a:xfrm>
          <a:prstGeom prst="roundRect">
            <a:avLst>
              <a:gd name="adj" fmla="val 7273"/>
            </a:avLst>
          </a:prstGeom>
          <a:solidFill>
            <a:srgbClr val="F3F4F6"/>
          </a:solidFill>
          <a:ln w="12700">
            <a:solidFill>
              <a:srgbClr val="F3F4F6"/>
            </a:solidFill>
            <a:prstDash val="solid"/>
          </a:ln>
        </p:spPr>
      </p:sp>
      <p:sp>
        <p:nvSpPr>
          <p:cNvPr id="11" name="Text 9"/>
          <p:cNvSpPr txBox="1"/>
          <p:nvPr/>
        </p:nvSpPr>
        <p:spPr>
          <a:xfrm>
            <a:off x="457200" y="3291840"/>
            <a:ext cx="2606040" cy="1005840"/>
          </a:xfrm>
          <a:prstGeom prst="rect">
            <a:avLst/>
          </a:prstGeom>
          <a:noFill/>
          <a:ln/>
        </p:spPr>
        <p:txBody>
          <a:bodyPr wrap="square" lIns="0" tIns="0" rIns="0" bIns="0" rtlCol="0" anchor="ctr"/>
          <a:lstStyle/>
          <a:p>
            <a:pPr algn="ctr" indent="0" marL="0">
              <a:buNone/>
            </a:pPr>
            <a:r>
              <a:rPr lang="en-US" sz="2400" b="1" dirty="0">
                <a:solidFill>
                  <a:srgbClr val="111827"/>
                </a:solidFill>
                <a:latin typeface="Cambria" pitchFamily="34" charset="0"/>
                <a:ea typeface="Cambria" pitchFamily="34" charset="-122"/>
                <a:cs typeface="Cambria" pitchFamily="34" charset="-120"/>
              </a:rPr>
              <a:t>Steps</a:t>
            </a:r>
            <a:endParaRPr lang="en-US" sz="2400" dirty="0"/>
          </a:p>
        </p:txBody>
      </p:sp>
      <p:sp>
        <p:nvSpPr>
          <p:cNvPr id="12" name="Shape 10"/>
          <p:cNvSpPr/>
          <p:nvPr/>
        </p:nvSpPr>
        <p:spPr>
          <a:xfrm>
            <a:off x="3246120" y="3291840"/>
            <a:ext cx="2606040" cy="1005840"/>
          </a:xfrm>
          <a:prstGeom prst="roundRect">
            <a:avLst>
              <a:gd name="adj" fmla="val 7273"/>
            </a:avLst>
          </a:prstGeom>
          <a:solidFill>
            <a:srgbClr val="F3F4F6"/>
          </a:solidFill>
          <a:ln w="12700">
            <a:solidFill>
              <a:srgbClr val="F3F4F6"/>
            </a:solidFill>
            <a:prstDash val="solid"/>
          </a:ln>
        </p:spPr>
      </p:sp>
      <p:sp>
        <p:nvSpPr>
          <p:cNvPr id="13" name="Text 11"/>
          <p:cNvSpPr txBox="1"/>
          <p:nvPr/>
        </p:nvSpPr>
        <p:spPr>
          <a:xfrm>
            <a:off x="3246120" y="3291840"/>
            <a:ext cx="2606040" cy="1005840"/>
          </a:xfrm>
          <a:prstGeom prst="rect">
            <a:avLst/>
          </a:prstGeom>
          <a:noFill/>
          <a:ln/>
        </p:spPr>
        <p:txBody>
          <a:bodyPr wrap="square" lIns="0" tIns="0" rIns="0" bIns="0" rtlCol="0" anchor="ctr"/>
          <a:lstStyle/>
          <a:p>
            <a:pPr algn="ctr" indent="0" marL="0">
              <a:buNone/>
            </a:pPr>
            <a:r>
              <a:rPr lang="en-US" sz="2400" b="1" dirty="0">
                <a:solidFill>
                  <a:srgbClr val="111827"/>
                </a:solidFill>
                <a:latin typeface="Cambria" pitchFamily="34" charset="0"/>
                <a:ea typeface="Cambria" pitchFamily="34" charset="-122"/>
                <a:cs typeface="Cambria" pitchFamily="34" charset="-120"/>
              </a:rPr>
              <a:t>Tokens</a:t>
            </a:r>
            <a:endParaRPr lang="en-US" sz="2400" dirty="0"/>
          </a:p>
        </p:txBody>
      </p:sp>
      <p:sp>
        <p:nvSpPr>
          <p:cNvPr id="14" name="Shape 12"/>
          <p:cNvSpPr/>
          <p:nvPr/>
        </p:nvSpPr>
        <p:spPr>
          <a:xfrm>
            <a:off x="6035040" y="3291840"/>
            <a:ext cx="2606040" cy="1005840"/>
          </a:xfrm>
          <a:prstGeom prst="roundRect">
            <a:avLst>
              <a:gd name="adj" fmla="val 7273"/>
            </a:avLst>
          </a:prstGeom>
          <a:solidFill>
            <a:srgbClr val="F3F4F6"/>
          </a:solidFill>
          <a:ln w="12700">
            <a:solidFill>
              <a:srgbClr val="F3F4F6"/>
            </a:solidFill>
            <a:prstDash val="solid"/>
          </a:ln>
        </p:spPr>
      </p:sp>
      <p:sp>
        <p:nvSpPr>
          <p:cNvPr id="15" name="Text 13"/>
          <p:cNvSpPr txBox="1"/>
          <p:nvPr/>
        </p:nvSpPr>
        <p:spPr>
          <a:xfrm>
            <a:off x="6035040" y="3291840"/>
            <a:ext cx="2606040" cy="1005840"/>
          </a:xfrm>
          <a:prstGeom prst="rect">
            <a:avLst/>
          </a:prstGeom>
          <a:noFill/>
          <a:ln/>
        </p:spPr>
        <p:txBody>
          <a:bodyPr wrap="square" lIns="0" tIns="0" rIns="0" bIns="0" rtlCol="0" anchor="ctr"/>
          <a:lstStyle/>
          <a:p>
            <a:pPr algn="ctr" indent="0" marL="0">
              <a:buNone/>
            </a:pPr>
            <a:r>
              <a:rPr lang="en-US" sz="2400" b="1" dirty="0">
                <a:solidFill>
                  <a:srgbClr val="111827"/>
                </a:solidFill>
                <a:latin typeface="Cambria" pitchFamily="34" charset="0"/>
                <a:ea typeface="Cambria" pitchFamily="34" charset="-122"/>
                <a:cs typeface="Cambria" pitchFamily="34" charset="-120"/>
              </a:rPr>
              <a:t>Cost</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6 OF 8</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Run the one that cannot finish</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365760" y="132588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325880"/>
            <a:ext cx="8092440" cy="868680"/>
          </a:xfrm>
          <a:prstGeom prst="rect">
            <a:avLst/>
          </a:prstGeom>
          <a:noFill/>
          <a:ln/>
        </p:spPr>
        <p:txBody>
          <a:bodyPr wrap="square" lIns="0" tIns="0" rIns="0" bIns="0" rtlCol="0" anchor="ctr"/>
          <a:lstStyle/>
          <a:p>
            <a:pPr indent="0" marL="0">
              <a:buNone/>
            </a:pPr>
            <a:r>
              <a:rPr lang="en-US" sz="1363" b="1" dirty="0">
                <a:solidFill>
                  <a:srgbClr val="F59E0B"/>
                </a:solidFill>
                <a:latin typeface="Courier New" pitchFamily="34" charset="0"/>
                <a:ea typeface="Courier New" pitchFamily="34" charset="-122"/>
                <a:cs typeface="Courier New" pitchFamily="34" charset="-120"/>
              </a:rPr>
              <a:t>$ </a:t>
            </a:r>
            <a:pPr indent="0" marL="0">
              <a:buNone/>
            </a:pPr>
            <a:r>
              <a:rPr lang="en-US" sz="1363" dirty="0">
                <a:solidFill>
                  <a:srgbClr val="E8EAED"/>
                </a:solidFill>
                <a:latin typeface="Courier New" pitchFamily="34" charset="0"/>
                <a:ea typeface="Courier New" pitchFamily="34" charset="-122"/>
                <a:cs typeface="Courier New" pitchFamily="34" charset="-120"/>
              </a:rPr>
              <a:t>timeout 120 python3 run_agent.py --input samples/malformed.json --verbose</a:t>
            </a:r>
            <a:endParaRPr lang="en-US" sz="1363" dirty="0"/>
          </a:p>
        </p:txBody>
      </p:sp>
      <p:sp>
        <p:nvSpPr>
          <p:cNvPr id="8" name="Text 6"/>
          <p:cNvSpPr txBox="1"/>
          <p:nvPr/>
        </p:nvSpPr>
        <p:spPr>
          <a:xfrm>
            <a:off x="457200" y="2423160"/>
            <a:ext cx="8229600" cy="68580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The samples directory contains a record the agent cannot successfully process. Put a hard timeout on it; the whole point is that it will not stop on its own.</a:t>
            </a:r>
            <a:endParaRPr lang="en-US" sz="1500" dirty="0"/>
          </a:p>
        </p:txBody>
      </p:sp>
      <p:sp>
        <p:nvSpPr>
          <p:cNvPr id="9" name="Shape 7"/>
          <p:cNvSpPr/>
          <p:nvPr/>
        </p:nvSpPr>
        <p:spPr>
          <a:xfrm>
            <a:off x="457200" y="3246120"/>
            <a:ext cx="8229600" cy="1051560"/>
          </a:xfrm>
          <a:prstGeom prst="roundRect">
            <a:avLst>
              <a:gd name="adj" fmla="val 6957"/>
            </a:avLst>
          </a:prstGeom>
          <a:solidFill>
            <a:srgbClr val="FEF2F2"/>
          </a:solidFill>
          <a:ln w="12700">
            <a:solidFill>
              <a:srgbClr val="FEF2F2"/>
            </a:solidFill>
            <a:prstDash val="solid"/>
          </a:ln>
        </p:spPr>
      </p:sp>
      <p:pic>
        <p:nvPicPr>
          <p:cNvPr id="10" name="Image 0" descr="preencoded.png">    </p:cNvPr>
          <p:cNvPicPr>
            <a:picLocks noChangeAspect="1"/>
          </p:cNvPicPr>
          <p:nvPr/>
        </p:nvPicPr>
        <p:blipFill>
          <a:blip r:embed="rId1"/>
          <a:stretch>
            <a:fillRect/>
          </a:stretch>
        </p:blipFill>
        <p:spPr>
          <a:xfrm>
            <a:off x="731520" y="3538728"/>
            <a:ext cx="411480" cy="411480"/>
          </a:xfrm>
          <a:prstGeom prst="rect">
            <a:avLst/>
          </a:prstGeom>
        </p:spPr>
      </p:pic>
      <p:sp>
        <p:nvSpPr>
          <p:cNvPr id="11" name="Text 8"/>
          <p:cNvSpPr txBox="1"/>
          <p:nvPr/>
        </p:nvSpPr>
        <p:spPr>
          <a:xfrm>
            <a:off x="1325880" y="3246120"/>
            <a:ext cx="7132320" cy="1051560"/>
          </a:xfrm>
          <a:prstGeom prst="rect">
            <a:avLst/>
          </a:prstGeom>
          <a:noFill/>
          <a:ln/>
        </p:spPr>
        <p:txBody>
          <a:bodyPr wrap="square" lIns="0" tIns="0" rIns="0" bIns="0" rtlCol="0" anchor="ctr"/>
          <a:lstStyle/>
          <a:p>
            <a:pPr indent="0" marL="0">
              <a:buNone/>
            </a:pPr>
            <a:r>
              <a:rPr lang="en-US" sz="1500" b="1" dirty="0">
                <a:solidFill>
                  <a:srgbClr val="B91C1C"/>
                </a:solidFill>
                <a:latin typeface="Calibri" pitchFamily="34" charset="0"/>
                <a:ea typeface="Calibri" pitchFamily="34" charset="-122"/>
                <a:cs typeface="Calibri" pitchFamily="34" charset="-120"/>
              </a:rPr>
              <a:t>Two minutes. That's all we're giving it. </a:t>
            </a:r>
            <a:pPr indent="0" marL="0">
              <a:buNone/>
            </a:pPr>
            <a:r>
              <a:rPr lang="en-US" sz="1500" dirty="0">
                <a:solidFill>
                  <a:srgbClr val="1F2937"/>
                </a:solidFill>
                <a:latin typeface="Calibri" pitchFamily="34" charset="0"/>
                <a:ea typeface="Calibri" pitchFamily="34" charset="-122"/>
                <a:cs typeface="Calibri" pitchFamily="34" charset="-120"/>
              </a:rPr>
              <a:t>Don't remove the timeout out of curiosity; this is real money.</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7 OF 8</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Count the calls it made in two minutes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365760" y="132588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325880"/>
            <a:ext cx="8092440" cy="868680"/>
          </a:xfrm>
          <a:prstGeom prst="rect">
            <a:avLst/>
          </a:prstGeom>
          <a:noFill/>
          <a:ln/>
        </p:spPr>
        <p:txBody>
          <a:bodyPr wrap="square" lIns="0" tIns="0" rIns="0" bIns="0" rtlCol="0" anchor="ctr"/>
          <a:lstStyle/>
          <a:p>
            <a:pPr indent="0" marL="0">
              <a:buNone/>
            </a:pPr>
            <a:r>
              <a:rPr lang="en-US" sz="1099" b="1" dirty="0">
                <a:solidFill>
                  <a:srgbClr val="F59E0B"/>
                </a:solidFill>
                <a:latin typeface="Courier New" pitchFamily="34" charset="0"/>
                <a:ea typeface="Courier New" pitchFamily="34" charset="-122"/>
                <a:cs typeface="Courier New" pitchFamily="34" charset="-120"/>
              </a:rPr>
              <a:t>$ </a:t>
            </a:r>
            <a:pPr indent="0" marL="0">
              <a:buNone/>
            </a:pPr>
            <a:r>
              <a:rPr lang="en-US" sz="1099" dirty="0">
                <a:solidFill>
                  <a:srgbClr val="E8EAED"/>
                </a:solidFill>
                <a:latin typeface="Courier New" pitchFamily="34" charset="0"/>
                <a:ea typeface="Courier New" pitchFamily="34" charset="-122"/>
                <a:cs typeface="Courier New" pitchFamily="34" charset="-120"/>
              </a:rPr>
              <a:t>timeout 120 python3 run_agent.py --input samples/malformed.json --verbose | grep -c 'usage'</a:t>
            </a:r>
            <a:endParaRPr lang="en-US" sz="1099" dirty="0"/>
          </a:p>
        </p:txBody>
      </p:sp>
      <p:sp>
        <p:nvSpPr>
          <p:cNvPr id="8" name="Text 6"/>
          <p:cNvSpPr txBox="1"/>
          <p:nvPr/>
        </p:nvSpPr>
        <p:spPr>
          <a:xfrm>
            <a:off x="457200" y="2423160"/>
            <a:ext cx="8229600" cy="6400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Same arithmetic as the healthy run: tokens in, tokens out, times the rates. That gives you the cost of two minutes of looping.</a:t>
            </a:r>
            <a:endParaRPr lang="en-US" sz="1500" dirty="0"/>
          </a:p>
        </p:txBody>
      </p:sp>
      <p:sp>
        <p:nvSpPr>
          <p:cNvPr id="9" name="Shape 7"/>
          <p:cNvSpPr/>
          <p:nvPr/>
        </p:nvSpPr>
        <p:spPr>
          <a:xfrm>
            <a:off x="457200" y="3200400"/>
            <a:ext cx="8229600" cy="1097280"/>
          </a:xfrm>
          <a:prstGeom prst="roundRect">
            <a:avLst>
              <a:gd name="adj" fmla="val 6667"/>
            </a:avLst>
          </a:prstGeom>
          <a:solidFill>
            <a:srgbClr val="F3F4F6"/>
          </a:solidFill>
          <a:ln w="12700">
            <a:solidFill>
              <a:srgbClr val="F3F4F6"/>
            </a:solidFill>
            <a:prstDash val="solid"/>
          </a:ln>
        </p:spPr>
      </p:sp>
      <p:sp>
        <p:nvSpPr>
          <p:cNvPr id="10" name="Text 8"/>
          <p:cNvSpPr txBox="1"/>
          <p:nvPr/>
        </p:nvSpPr>
        <p:spPr>
          <a:xfrm>
            <a:off x="731520" y="3200400"/>
            <a:ext cx="7680960" cy="109728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Then extrapolate it; that's the next slide.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8 OF 8</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Extrapolate your own $4,200</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457200" y="1417320"/>
            <a:ext cx="1920240" cy="1325880"/>
          </a:xfrm>
          <a:prstGeom prst="roundRect">
            <a:avLst>
              <a:gd name="adj" fmla="val 5517"/>
            </a:avLst>
          </a:prstGeom>
          <a:solidFill>
            <a:srgbClr val="F3F4F6"/>
          </a:solidFill>
          <a:ln w="12700">
            <a:solidFill>
              <a:srgbClr val="F3F4F6"/>
            </a:solidFill>
            <a:prstDash val="solid"/>
          </a:ln>
        </p:spPr>
      </p:sp>
      <p:sp>
        <p:nvSpPr>
          <p:cNvPr id="7" name="Text 5"/>
          <p:cNvSpPr txBox="1"/>
          <p:nvPr/>
        </p:nvSpPr>
        <p:spPr>
          <a:xfrm>
            <a:off x="640080" y="1600200"/>
            <a:ext cx="1645920" cy="457200"/>
          </a:xfrm>
          <a:prstGeom prst="rect">
            <a:avLst/>
          </a:prstGeom>
          <a:noFill/>
          <a:ln/>
        </p:spPr>
        <p:txBody>
          <a:bodyPr wrap="square" lIns="0" tIns="0" rIns="0" bIns="0" rtlCol="0" anchor="t"/>
          <a:lstStyle/>
          <a:p>
            <a:pPr indent="0" marL="0">
              <a:buNone/>
            </a:pPr>
            <a:r>
              <a:rPr lang="en-US" sz="2000" b="1" dirty="0">
                <a:solidFill>
                  <a:srgbClr val="111827"/>
                </a:solidFill>
                <a:latin typeface="Cambria" pitchFamily="34" charset="0"/>
                <a:ea typeface="Cambria" pitchFamily="34" charset="-122"/>
                <a:cs typeface="Cambria" pitchFamily="34" charset="-120"/>
              </a:rPr>
              <a:t>Calls in 2 min</a:t>
            </a:r>
            <a:endParaRPr lang="en-US" sz="2000" dirty="0"/>
          </a:p>
        </p:txBody>
      </p:sp>
      <p:sp>
        <p:nvSpPr>
          <p:cNvPr id="8" name="Text 6"/>
          <p:cNvSpPr txBox="1"/>
          <p:nvPr/>
        </p:nvSpPr>
        <p:spPr>
          <a:xfrm>
            <a:off x="640080" y="2103120"/>
            <a:ext cx="164592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 cost per call</a:t>
            </a:r>
            <a:endParaRPr lang="en-US" sz="1150" dirty="0"/>
          </a:p>
        </p:txBody>
      </p:sp>
      <p:sp>
        <p:nvSpPr>
          <p:cNvPr id="9" name="Shape 7"/>
          <p:cNvSpPr/>
          <p:nvPr/>
        </p:nvSpPr>
        <p:spPr>
          <a:xfrm>
            <a:off x="2560320" y="1417320"/>
            <a:ext cx="1920240" cy="1325880"/>
          </a:xfrm>
          <a:prstGeom prst="roundRect">
            <a:avLst>
              <a:gd name="adj" fmla="val 5517"/>
            </a:avLst>
          </a:prstGeom>
          <a:solidFill>
            <a:srgbClr val="F3F4F6"/>
          </a:solidFill>
          <a:ln w="12700">
            <a:solidFill>
              <a:srgbClr val="F3F4F6"/>
            </a:solidFill>
            <a:prstDash val="solid"/>
          </a:ln>
        </p:spPr>
      </p:sp>
      <p:sp>
        <p:nvSpPr>
          <p:cNvPr id="10" name="Text 8"/>
          <p:cNvSpPr txBox="1"/>
          <p:nvPr/>
        </p:nvSpPr>
        <p:spPr>
          <a:xfrm>
            <a:off x="2743200" y="1600200"/>
            <a:ext cx="1645920" cy="457200"/>
          </a:xfrm>
          <a:prstGeom prst="rect">
            <a:avLst/>
          </a:prstGeom>
          <a:noFill/>
          <a:ln/>
        </p:spPr>
        <p:txBody>
          <a:bodyPr wrap="square" lIns="0" tIns="0" rIns="0" bIns="0" rtlCol="0" anchor="t"/>
          <a:lstStyle/>
          <a:p>
            <a:pPr indent="0" marL="0">
              <a:buNone/>
            </a:pPr>
            <a:r>
              <a:rPr lang="en-US" sz="2000" b="1" dirty="0">
                <a:solidFill>
                  <a:srgbClr val="111827"/>
                </a:solidFill>
                <a:latin typeface="Cambria" pitchFamily="34" charset="0"/>
                <a:ea typeface="Cambria" pitchFamily="34" charset="-122"/>
                <a:cs typeface="Cambria" pitchFamily="34" charset="-120"/>
              </a:rPr>
              <a:t>× 30</a:t>
            </a:r>
            <a:endParaRPr lang="en-US" sz="2000" dirty="0"/>
          </a:p>
        </p:txBody>
      </p:sp>
      <p:sp>
        <p:nvSpPr>
          <p:cNvPr id="11" name="Text 9"/>
          <p:cNvSpPr txBox="1"/>
          <p:nvPr/>
        </p:nvSpPr>
        <p:spPr>
          <a:xfrm>
            <a:off x="2743200" y="2103120"/>
            <a:ext cx="164592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 one hour</a:t>
            </a:r>
            <a:endParaRPr lang="en-US" sz="1150" dirty="0"/>
          </a:p>
        </p:txBody>
      </p:sp>
      <p:sp>
        <p:nvSpPr>
          <p:cNvPr id="12" name="Shape 10"/>
          <p:cNvSpPr/>
          <p:nvPr/>
        </p:nvSpPr>
        <p:spPr>
          <a:xfrm>
            <a:off x="4663440" y="1417320"/>
            <a:ext cx="1920240" cy="1325880"/>
          </a:xfrm>
          <a:prstGeom prst="roundRect">
            <a:avLst>
              <a:gd name="adj" fmla="val 5517"/>
            </a:avLst>
          </a:prstGeom>
          <a:solidFill>
            <a:srgbClr val="F3F4F6"/>
          </a:solidFill>
          <a:ln w="12700">
            <a:solidFill>
              <a:srgbClr val="F3F4F6"/>
            </a:solidFill>
            <a:prstDash val="solid"/>
          </a:ln>
        </p:spPr>
      </p:sp>
      <p:sp>
        <p:nvSpPr>
          <p:cNvPr id="13" name="Text 11"/>
          <p:cNvSpPr txBox="1"/>
          <p:nvPr/>
        </p:nvSpPr>
        <p:spPr>
          <a:xfrm>
            <a:off x="4846320" y="1600200"/>
            <a:ext cx="1645920" cy="457200"/>
          </a:xfrm>
          <a:prstGeom prst="rect">
            <a:avLst/>
          </a:prstGeom>
          <a:noFill/>
          <a:ln/>
        </p:spPr>
        <p:txBody>
          <a:bodyPr wrap="square" lIns="0" tIns="0" rIns="0" bIns="0" rtlCol="0" anchor="t"/>
          <a:lstStyle/>
          <a:p>
            <a:pPr indent="0" marL="0">
              <a:buNone/>
            </a:pPr>
            <a:r>
              <a:rPr lang="en-US" sz="2000" b="1" dirty="0">
                <a:solidFill>
                  <a:srgbClr val="111827"/>
                </a:solidFill>
                <a:latin typeface="Cambria" pitchFamily="34" charset="0"/>
                <a:ea typeface="Cambria" pitchFamily="34" charset="-122"/>
                <a:cs typeface="Cambria" pitchFamily="34" charset="-120"/>
              </a:rPr>
              <a:t>× 9–10 hrs</a:t>
            </a:r>
            <a:endParaRPr lang="en-US" sz="2000" dirty="0"/>
          </a:p>
        </p:txBody>
      </p:sp>
      <p:sp>
        <p:nvSpPr>
          <p:cNvPr id="14" name="Text 12"/>
          <p:cNvSpPr txBox="1"/>
          <p:nvPr/>
        </p:nvSpPr>
        <p:spPr>
          <a:xfrm>
            <a:off x="4846320" y="2103120"/>
            <a:ext cx="1645920" cy="5029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time to notice, overnight</a:t>
            </a:r>
            <a:endParaRPr lang="en-US" sz="1150" dirty="0"/>
          </a:p>
        </p:txBody>
      </p:sp>
      <p:sp>
        <p:nvSpPr>
          <p:cNvPr id="15" name="Shape 13"/>
          <p:cNvSpPr/>
          <p:nvPr/>
        </p:nvSpPr>
        <p:spPr>
          <a:xfrm>
            <a:off x="6766560" y="1417320"/>
            <a:ext cx="1920240" cy="1325880"/>
          </a:xfrm>
          <a:prstGeom prst="roundRect">
            <a:avLst>
              <a:gd name="adj" fmla="val 5517"/>
            </a:avLst>
          </a:prstGeom>
          <a:solidFill>
            <a:srgbClr val="111827"/>
          </a:solidFill>
          <a:ln w="12700">
            <a:solidFill>
              <a:srgbClr val="111827"/>
            </a:solidFill>
            <a:prstDash val="solid"/>
          </a:ln>
        </p:spPr>
      </p:sp>
      <p:sp>
        <p:nvSpPr>
          <p:cNvPr id="16" name="Text 14"/>
          <p:cNvSpPr txBox="1"/>
          <p:nvPr/>
        </p:nvSpPr>
        <p:spPr>
          <a:xfrm>
            <a:off x="6949440" y="1600200"/>
            <a:ext cx="1645920" cy="457200"/>
          </a:xfrm>
          <a:prstGeom prst="rect">
            <a:avLst/>
          </a:prstGeom>
          <a:noFill/>
          <a:ln/>
        </p:spPr>
        <p:txBody>
          <a:bodyPr wrap="square" lIns="0" tIns="0" rIns="0" bIns="0" rtlCol="0" anchor="t"/>
          <a:lstStyle/>
          <a:p>
            <a:pPr indent="0" marL="0">
              <a:buNone/>
            </a:pPr>
            <a:r>
              <a:rPr lang="en-US" sz="2000" b="1" dirty="0">
                <a:solidFill>
                  <a:srgbClr val="F59E0B"/>
                </a:solidFill>
                <a:latin typeface="Cambria" pitchFamily="34" charset="0"/>
                <a:ea typeface="Cambria" pitchFamily="34" charset="-122"/>
                <a:cs typeface="Cambria" pitchFamily="34" charset="-120"/>
              </a:rPr>
              <a:t>= yours</a:t>
            </a:r>
            <a:endParaRPr lang="en-US" sz="2000" dirty="0"/>
          </a:p>
        </p:txBody>
      </p:sp>
      <p:sp>
        <p:nvSpPr>
          <p:cNvPr id="17" name="Text 15"/>
          <p:cNvSpPr txBox="1"/>
          <p:nvPr/>
        </p:nvSpPr>
        <p:spPr>
          <a:xfrm>
            <a:off x="6949440" y="2103120"/>
            <a:ext cx="1645920" cy="502920"/>
          </a:xfrm>
          <a:prstGeom prst="rect">
            <a:avLst/>
          </a:prstGeom>
          <a:noFill/>
          <a:ln/>
        </p:spPr>
        <p:txBody>
          <a:bodyPr wrap="square" lIns="0" tIns="0" rIns="0" bIns="0" rtlCol="0" anchor="t"/>
          <a:lstStyle/>
          <a:p>
            <a:pPr indent="0" marL="0">
              <a:buNone/>
            </a:pPr>
            <a:r>
              <a:rPr lang="en-US" sz="1150" dirty="0">
                <a:solidFill>
                  <a:srgbClr val="9CA3AF"/>
                </a:solidFill>
                <a:latin typeface="Calibri" pitchFamily="34" charset="0"/>
                <a:ea typeface="Calibri" pitchFamily="34" charset="-122"/>
                <a:cs typeface="Calibri" pitchFamily="34" charset="-120"/>
              </a:rPr>
              <a:t>cost of one unnoticed loop</a:t>
            </a:r>
            <a:endParaRPr lang="en-US" sz="1150" dirty="0"/>
          </a:p>
        </p:txBody>
      </p:sp>
      <p:sp>
        <p:nvSpPr>
          <p:cNvPr id="18" name="Shape 16"/>
          <p:cNvSpPr/>
          <p:nvPr/>
        </p:nvSpPr>
        <p:spPr>
          <a:xfrm>
            <a:off x="457200" y="3017520"/>
            <a:ext cx="8229600" cy="1463040"/>
          </a:xfrm>
          <a:prstGeom prst="roundRect">
            <a:avLst>
              <a:gd name="adj" fmla="val 5000"/>
            </a:avLst>
          </a:prstGeom>
          <a:solidFill>
            <a:srgbClr val="F3F4F6"/>
          </a:solidFill>
          <a:ln w="12700">
            <a:solidFill>
              <a:srgbClr val="F3F4F6"/>
            </a:solidFill>
            <a:prstDash val="solid"/>
          </a:ln>
        </p:spPr>
      </p:sp>
      <p:sp>
        <p:nvSpPr>
          <p:cNvPr id="19" name="Text 17"/>
          <p:cNvSpPr txBox="1"/>
          <p:nvPr/>
        </p:nvSpPr>
        <p:spPr>
          <a:xfrm>
            <a:off x="731520" y="3017520"/>
            <a:ext cx="7680960" cy="146304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Not my $4,200; yours. </a:t>
            </a:r>
            <a:endParaRPr lang="en-US" sz="1500" dirty="0"/>
          </a:p>
          <a:p>
            <a:pPr indent="0" marL="0">
              <a:buNone/>
            </a:pPr>
            <a:r>
              <a:rPr lang="en-US" sz="1500" dirty="0">
                <a:solidFill>
                  <a:srgbClr val="1F2937"/>
                </a:solidFill>
                <a:latin typeface="Calibri" pitchFamily="34" charset="0"/>
                <a:ea typeface="Calibri" pitchFamily="34" charset="-122"/>
                <a:cs typeface="Calibri" pitchFamily="34" charset="-120"/>
              </a:rPr>
              <a:t>Your agent, your model, your environment. Write it down and keep it: every control in the next five modules is measured against this number.</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RECAP</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things to carry into Module 2</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457200" y="1371600"/>
            <a:ext cx="4023360" cy="1371600"/>
          </a:xfrm>
          <a:prstGeom prst="roundRect">
            <a:avLst>
              <a:gd name="adj" fmla="val 5333"/>
            </a:avLst>
          </a:prstGeom>
          <a:solidFill>
            <a:srgbClr val="F3F4F6"/>
          </a:solidFill>
          <a:ln w="12700">
            <a:solidFill>
              <a:srgbClr val="F3F4F6"/>
            </a:solidFill>
            <a:prstDash val="solid"/>
          </a:ln>
        </p:spPr>
      </p:sp>
      <p:sp>
        <p:nvSpPr>
          <p:cNvPr id="7" name="Shape 5"/>
          <p:cNvSpPr/>
          <p:nvPr/>
        </p:nvSpPr>
        <p:spPr>
          <a:xfrm>
            <a:off x="685800" y="1600200"/>
            <a:ext cx="411480" cy="411480"/>
          </a:xfrm>
          <a:prstGeom prst="ellipse">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776326" y="1690726"/>
            <a:ext cx="230429" cy="230429"/>
          </a:xfrm>
          <a:prstGeom prst="rect">
            <a:avLst/>
          </a:prstGeom>
        </p:spPr>
      </p:pic>
      <p:sp>
        <p:nvSpPr>
          <p:cNvPr id="9" name="Text 6"/>
          <p:cNvSpPr txBox="1"/>
          <p:nvPr/>
        </p:nvSpPr>
        <p:spPr>
          <a:xfrm>
            <a:off x="1280160" y="1600200"/>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Cost multiplies</a:t>
            </a:r>
            <a:endParaRPr lang="en-US" sz="1500" dirty="0"/>
          </a:p>
        </p:txBody>
      </p:sp>
      <p:sp>
        <p:nvSpPr>
          <p:cNvPr id="10" name="Text 7"/>
          <p:cNvSpPr txBox="1"/>
          <p:nvPr/>
        </p:nvSpPr>
        <p:spPr>
          <a:xfrm>
            <a:off x="1280160" y="1965960"/>
            <a:ext cx="301752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Requests × steps × tokens × retries; and the work decides three of the four.</a:t>
            </a:r>
            <a:endParaRPr lang="en-US" sz="1200" dirty="0"/>
          </a:p>
        </p:txBody>
      </p:sp>
      <p:sp>
        <p:nvSpPr>
          <p:cNvPr id="11" name="Shape 8"/>
          <p:cNvSpPr/>
          <p:nvPr/>
        </p:nvSpPr>
        <p:spPr>
          <a:xfrm>
            <a:off x="4663440" y="1371600"/>
            <a:ext cx="4023360" cy="1371600"/>
          </a:xfrm>
          <a:prstGeom prst="roundRect">
            <a:avLst>
              <a:gd name="adj" fmla="val 5333"/>
            </a:avLst>
          </a:prstGeom>
          <a:solidFill>
            <a:srgbClr val="F3F4F6"/>
          </a:solidFill>
          <a:ln w="12700">
            <a:solidFill>
              <a:srgbClr val="F3F4F6"/>
            </a:solidFill>
            <a:prstDash val="solid"/>
          </a:ln>
        </p:spPr>
      </p:sp>
      <p:sp>
        <p:nvSpPr>
          <p:cNvPr id="12" name="Shape 9"/>
          <p:cNvSpPr/>
          <p:nvPr/>
        </p:nvSpPr>
        <p:spPr>
          <a:xfrm>
            <a:off x="4892040" y="1600200"/>
            <a:ext cx="411480" cy="411480"/>
          </a:xfrm>
          <a:prstGeom prst="ellipse">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4982566" y="1690726"/>
            <a:ext cx="230429" cy="230429"/>
          </a:xfrm>
          <a:prstGeom prst="rect">
            <a:avLst/>
          </a:prstGeom>
        </p:spPr>
      </p:pic>
      <p:sp>
        <p:nvSpPr>
          <p:cNvPr id="14" name="Text 10"/>
          <p:cNvSpPr txBox="1"/>
          <p:nvPr/>
        </p:nvSpPr>
        <p:spPr>
          <a:xfrm>
            <a:off x="5486400" y="1600200"/>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Your tooling can't attribute it</a:t>
            </a:r>
            <a:endParaRPr lang="en-US" sz="1500" dirty="0"/>
          </a:p>
        </p:txBody>
      </p:sp>
      <p:sp>
        <p:nvSpPr>
          <p:cNvPr id="15" name="Text 11"/>
          <p:cNvSpPr txBox="1"/>
          <p:nvPr/>
        </p:nvSpPr>
        <p:spPr>
          <a:xfrm>
            <a:off x="5486400" y="1965960"/>
            <a:ext cx="301752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context only exists at the call site. Capture it there or lose it.</a:t>
            </a:r>
            <a:endParaRPr lang="en-US" sz="1200" dirty="0"/>
          </a:p>
        </p:txBody>
      </p:sp>
      <p:sp>
        <p:nvSpPr>
          <p:cNvPr id="16" name="Shape 12"/>
          <p:cNvSpPr/>
          <p:nvPr/>
        </p:nvSpPr>
        <p:spPr>
          <a:xfrm>
            <a:off x="457200" y="2926080"/>
            <a:ext cx="4023360" cy="1371600"/>
          </a:xfrm>
          <a:prstGeom prst="roundRect">
            <a:avLst>
              <a:gd name="adj" fmla="val 5333"/>
            </a:avLst>
          </a:prstGeom>
          <a:solidFill>
            <a:srgbClr val="F3F4F6"/>
          </a:solidFill>
          <a:ln w="12700">
            <a:solidFill>
              <a:srgbClr val="F3F4F6"/>
            </a:solidFill>
            <a:prstDash val="solid"/>
          </a:ln>
        </p:spPr>
      </p:sp>
      <p:sp>
        <p:nvSpPr>
          <p:cNvPr id="17" name="Shape 13"/>
          <p:cNvSpPr/>
          <p:nvPr/>
        </p:nvSpPr>
        <p:spPr>
          <a:xfrm>
            <a:off x="685800" y="3154680"/>
            <a:ext cx="411480" cy="411480"/>
          </a:xfrm>
          <a:prstGeom prst="ellipse">
            <a:avLst/>
          </a:prstGeom>
          <a:solidFill>
            <a:srgbClr val="B45309"/>
          </a:solidFill>
          <a:ln w="12700">
            <a:solidFill>
              <a:srgbClr val="B45309"/>
            </a:solidFill>
            <a:prstDash val="solid"/>
          </a:ln>
        </p:spPr>
      </p:sp>
      <p:pic>
        <p:nvPicPr>
          <p:cNvPr id="18" name="Image 2" descr="preencoded.png">    </p:cNvPr>
          <p:cNvPicPr>
            <a:picLocks noChangeAspect="1"/>
          </p:cNvPicPr>
          <p:nvPr/>
        </p:nvPicPr>
        <p:blipFill>
          <a:blip r:embed="rId3"/>
          <a:stretch>
            <a:fillRect/>
          </a:stretch>
        </p:blipFill>
        <p:spPr>
          <a:xfrm>
            <a:off x="776326" y="3245206"/>
            <a:ext cx="230429" cy="230429"/>
          </a:xfrm>
          <a:prstGeom prst="rect">
            <a:avLst/>
          </a:prstGeom>
        </p:spPr>
      </p:pic>
      <p:sp>
        <p:nvSpPr>
          <p:cNvPr id="19" name="Text 14"/>
          <p:cNvSpPr txBox="1"/>
          <p:nvPr/>
        </p:nvSpPr>
        <p:spPr>
          <a:xfrm>
            <a:off x="1280160" y="3154680"/>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Input dominates; and grows</a:t>
            </a:r>
            <a:endParaRPr lang="en-US" sz="1500" dirty="0"/>
          </a:p>
        </p:txBody>
      </p:sp>
      <p:sp>
        <p:nvSpPr>
          <p:cNvPr id="20" name="Text 15"/>
          <p:cNvSpPr txBox="1"/>
          <p:nvPr/>
        </p:nvSpPr>
        <p:spPr>
          <a:xfrm>
            <a:off x="1280160" y="3520440"/>
            <a:ext cx="301752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Output costs more per token, but input grows every step. Long runs are superlinear.</a:t>
            </a:r>
            <a:endParaRPr lang="en-US" sz="1200" dirty="0"/>
          </a:p>
        </p:txBody>
      </p:sp>
      <p:sp>
        <p:nvSpPr>
          <p:cNvPr id="21" name="Shape 16"/>
          <p:cNvSpPr/>
          <p:nvPr/>
        </p:nvSpPr>
        <p:spPr>
          <a:xfrm>
            <a:off x="4663440" y="2926080"/>
            <a:ext cx="4023360" cy="1371600"/>
          </a:xfrm>
          <a:prstGeom prst="roundRect">
            <a:avLst>
              <a:gd name="adj" fmla="val 5333"/>
            </a:avLst>
          </a:prstGeom>
          <a:solidFill>
            <a:srgbClr val="F3F4F6"/>
          </a:solidFill>
          <a:ln w="12700">
            <a:solidFill>
              <a:srgbClr val="F3F4F6"/>
            </a:solidFill>
            <a:prstDash val="solid"/>
          </a:ln>
        </p:spPr>
      </p:sp>
      <p:sp>
        <p:nvSpPr>
          <p:cNvPr id="22" name="Shape 17"/>
          <p:cNvSpPr/>
          <p:nvPr/>
        </p:nvSpPr>
        <p:spPr>
          <a:xfrm>
            <a:off x="4892040" y="3154680"/>
            <a:ext cx="411480" cy="411480"/>
          </a:xfrm>
          <a:prstGeom prst="ellipse">
            <a:avLst/>
          </a:prstGeom>
          <a:solidFill>
            <a:srgbClr val="B45309"/>
          </a:solidFill>
          <a:ln w="12700">
            <a:solidFill>
              <a:srgbClr val="B45309"/>
            </a:solidFill>
            <a:prstDash val="solid"/>
          </a:ln>
        </p:spPr>
      </p:sp>
      <p:pic>
        <p:nvPicPr>
          <p:cNvPr id="23" name="Image 3" descr="preencoded.png">    </p:cNvPr>
          <p:cNvPicPr>
            <a:picLocks noChangeAspect="1"/>
          </p:cNvPicPr>
          <p:nvPr/>
        </p:nvPicPr>
        <p:blipFill>
          <a:blip r:embed="rId4"/>
          <a:stretch>
            <a:fillRect/>
          </a:stretch>
        </p:blipFill>
        <p:spPr>
          <a:xfrm>
            <a:off x="4982566" y="3245206"/>
            <a:ext cx="230429" cy="230429"/>
          </a:xfrm>
          <a:prstGeom prst="rect">
            <a:avLst/>
          </a:prstGeom>
        </p:spPr>
      </p:pic>
      <p:sp>
        <p:nvSpPr>
          <p:cNvPr id="24" name="Text 18"/>
          <p:cNvSpPr txBox="1"/>
          <p:nvPr/>
        </p:nvSpPr>
        <p:spPr>
          <a:xfrm>
            <a:off x="5486400" y="3154680"/>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Report cost per successful task</a:t>
            </a:r>
            <a:endParaRPr lang="en-US" sz="1500" dirty="0"/>
          </a:p>
        </p:txBody>
      </p:sp>
      <p:sp>
        <p:nvSpPr>
          <p:cNvPr id="25" name="Text 19"/>
          <p:cNvSpPr txBox="1"/>
          <p:nvPr/>
        </p:nvSpPr>
        <p:spPr>
          <a:xfrm>
            <a:off x="5486400" y="3520440"/>
            <a:ext cx="301752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only unit that survives a real conversation with finance.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BEFORE MODULE 2</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1</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
        <p:nvSpPr>
          <p:cNvPr id="5" name="Text 3"/>
          <p:cNvSpPr txBox="1"/>
          <p:nvPr/>
        </p:nvSpPr>
        <p:spPr>
          <a:xfrm>
            <a:off x="457200" y="914400"/>
            <a:ext cx="7772400" cy="64008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Take your overnight number to whoever owns the budget. Ask one question:</a:t>
            </a:r>
            <a:endParaRPr lang="en-US" sz="1800" dirty="0"/>
          </a:p>
        </p:txBody>
      </p:sp>
      <p:sp>
        <p:nvSpPr>
          <p:cNvPr id="6" name="Text 4"/>
          <p:cNvSpPr txBox="1"/>
          <p:nvPr/>
        </p:nvSpPr>
        <p:spPr>
          <a:xfrm>
            <a:off x="457200" y="1645920"/>
            <a:ext cx="822960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“Is that an acceptable</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worst case?”</a:t>
            </a:r>
            <a:endParaRPr lang="en-US" sz="4400" dirty="0"/>
          </a:p>
        </p:txBody>
      </p:sp>
      <p:sp>
        <p:nvSpPr>
          <p:cNvPr id="7" name="Text 5"/>
          <p:cNvSpPr txBox="1"/>
          <p:nvPr/>
        </p:nvSpPr>
        <p:spPr>
          <a:xfrm>
            <a:off x="457200" y="3383280"/>
            <a:ext cx="7498080" cy="10058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The answer is almost always no; and it's usually the first time anyone has framed it that way. That conversation turns an engineering side-project into something with organisational support behind it.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NEXT · MODULE 2 OF 6</a:t>
            </a:r>
            <a:endParaRPr lang="en-US" sz="1100" dirty="0"/>
          </a:p>
        </p:txBody>
      </p:sp>
      <p:sp>
        <p:nvSpPr>
          <p:cNvPr id="3" name="Text 1"/>
          <p:cNvSpPr txBox="1"/>
          <p:nvPr/>
        </p:nvSpPr>
        <p:spPr>
          <a:xfrm>
            <a:off x="548640" y="1463040"/>
            <a:ext cx="77724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Make it visible.</a:t>
            </a:r>
            <a:endParaRPr lang="en-US" sz="4800" dirty="0"/>
          </a:p>
        </p:txBody>
      </p:sp>
      <p:sp>
        <p:nvSpPr>
          <p:cNvPr id="4" name="Text 2"/>
          <p:cNvSpPr txBox="1"/>
          <p:nvPr/>
        </p:nvSpPr>
        <p:spPr>
          <a:xfrm>
            <a:off x="548640" y="2514600"/>
            <a:ext cx="6858000" cy="73152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Instrument the agent so every run emits cost, tokens, and identity as a metric you can actually query.</a:t>
            </a:r>
            <a:endParaRPr lang="en-US" sz="1800" dirty="0"/>
          </a:p>
        </p:txBody>
      </p:sp>
      <p:sp>
        <p:nvSpPr>
          <p:cNvPr id="5" name="Text 3"/>
          <p:cNvSpPr txBox="1"/>
          <p:nvPr/>
        </p:nvSpPr>
        <p:spPr>
          <a:xfrm>
            <a:off x="548640" y="3931920"/>
            <a:ext cx="5486400" cy="365760"/>
          </a:xfrm>
          <a:prstGeom prst="rect">
            <a:avLst/>
          </a:prstGeom>
          <a:noFill/>
          <a:ln/>
        </p:spPr>
        <p:txBody>
          <a:bodyPr wrap="square" lIns="0" tIns="0" rIns="0" bIns="0" rtlCol="0" anchor="t"/>
          <a:lstStyle/>
          <a:p>
            <a:pPr indent="0" marL="0">
              <a:buNone/>
            </a:pPr>
            <a:r>
              <a:rPr lang="en-US" sz="1600" i="1" dirty="0">
                <a:solidFill>
                  <a:srgbClr val="F59E0B"/>
                </a:solidFill>
                <a:latin typeface="Cambria" pitchFamily="34" charset="0"/>
                <a:ea typeface="Cambria" pitchFamily="34" charset="-122"/>
                <a:cs typeface="Cambria" pitchFamily="34" charset="-120"/>
              </a:rPr>
              <a:t>Bounded  ·  Visible  ·  Attributable</a:t>
            </a:r>
            <a:endParaRPr lang="en-US" sz="1600" dirty="0"/>
          </a:p>
        </p:txBody>
      </p:sp>
      <p:sp>
        <p:nvSpPr>
          <p:cNvPr id="6" name="Text 4"/>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Emmanuel Naweji  ·  github.com/Here2ServeU/agent-cost-control</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A</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Exercises: do these before Module 2</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01</a:t>
            </a:r>
            <a:endParaRPr lang="en-US" sz="2000" dirty="0"/>
          </a:p>
        </p:txBody>
      </p:sp>
      <p:sp>
        <p:nvSpPr>
          <p:cNvPr id="8" name="Text 6"/>
          <p:cNvSpPr txBox="1"/>
          <p:nvPr/>
        </p:nvSpPr>
        <p:spPr>
          <a:xfrm>
            <a:off x="621792" y="1801368"/>
            <a:ext cx="164592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Price one healthy run</a:t>
            </a:r>
            <a:endParaRPr lang="en-US" sz="1200" dirty="0"/>
          </a:p>
        </p:txBody>
      </p:sp>
      <p:sp>
        <p:nvSpPr>
          <p:cNvPr id="9" name="Text 7"/>
          <p:cNvSpPr txBox="1"/>
          <p:nvPr/>
        </p:nvSpPr>
        <p:spPr>
          <a:xfrm>
            <a:off x="621792" y="2130552"/>
            <a:ext cx="1664208" cy="64008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Sum input and output tokens separately; multiply by current rates.</a:t>
            </a:r>
            <a:endParaRPr lang="en-US" sz="100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02</a:t>
            </a:r>
            <a:endParaRPr lang="en-US" sz="2000" dirty="0"/>
          </a:p>
        </p:txBody>
      </p:sp>
      <p:sp>
        <p:nvSpPr>
          <p:cNvPr id="12" name="Text 10"/>
          <p:cNvSpPr txBox="1"/>
          <p:nvPr/>
        </p:nvSpPr>
        <p:spPr>
          <a:xfrm>
            <a:off x="2706624" y="1801368"/>
            <a:ext cx="164592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Count the steps</a:t>
            </a:r>
            <a:endParaRPr lang="en-US" sz="1200" dirty="0"/>
          </a:p>
        </p:txBody>
      </p:sp>
      <p:sp>
        <p:nvSpPr>
          <p:cNvPr id="13" name="Text 11"/>
          <p:cNvSpPr txBox="1"/>
          <p:nvPr/>
        </p:nvSpPr>
        <p:spPr>
          <a:xfrm>
            <a:off x="2706624" y="2130552"/>
            <a:ext cx="1664208" cy="64008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Divide total cost by model calls for cost per step. Module 4 uses it.</a:t>
            </a:r>
            <a:endParaRPr lang="en-US" sz="100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03</a:t>
            </a:r>
            <a:endParaRPr lang="en-US" sz="2000" dirty="0"/>
          </a:p>
        </p:txBody>
      </p:sp>
      <p:sp>
        <p:nvSpPr>
          <p:cNvPr id="16" name="Text 14"/>
          <p:cNvSpPr txBox="1"/>
          <p:nvPr/>
        </p:nvSpPr>
        <p:spPr>
          <a:xfrm>
            <a:off x="4791456" y="1801368"/>
            <a:ext cx="164592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Measure the ratio</a:t>
            </a:r>
            <a:endParaRPr lang="en-US" sz="1200" dirty="0"/>
          </a:p>
        </p:txBody>
      </p:sp>
      <p:sp>
        <p:nvSpPr>
          <p:cNvPr id="17" name="Text 15"/>
          <p:cNvSpPr txBox="1"/>
          <p:nvPr/>
        </p:nvSpPr>
        <p:spPr>
          <a:xfrm>
            <a:off x="4791456" y="2130552"/>
            <a:ext cx="1664208" cy="64008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Input:output tokens vs input:output cost. Note the gap.</a:t>
            </a:r>
            <a:endParaRPr lang="en-US" sz="100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04</a:t>
            </a:r>
            <a:endParaRPr lang="en-US" sz="2000" dirty="0"/>
          </a:p>
        </p:txBody>
      </p:sp>
      <p:sp>
        <p:nvSpPr>
          <p:cNvPr id="20" name="Text 18"/>
          <p:cNvSpPr txBox="1"/>
          <p:nvPr/>
        </p:nvSpPr>
        <p:spPr>
          <a:xfrm>
            <a:off x="6876288" y="1801368"/>
            <a:ext cx="164592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Watch input grow</a:t>
            </a:r>
            <a:endParaRPr lang="en-US" sz="1200" dirty="0"/>
          </a:p>
        </p:txBody>
      </p:sp>
      <p:sp>
        <p:nvSpPr>
          <p:cNvPr id="21" name="Text 19"/>
          <p:cNvSpPr txBox="1"/>
          <p:nvPr/>
        </p:nvSpPr>
        <p:spPr>
          <a:xfrm>
            <a:off x="6876288" y="2130552"/>
            <a:ext cx="1664208" cy="64008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Plot input tokens per step. See the superlinear effect yourself.</a:t>
            </a:r>
            <a:endParaRPr lang="en-US" sz="100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05</a:t>
            </a:r>
            <a:endParaRPr lang="en-US" sz="2000" dirty="0"/>
          </a:p>
        </p:txBody>
      </p:sp>
      <p:sp>
        <p:nvSpPr>
          <p:cNvPr id="24" name="Text 22"/>
          <p:cNvSpPr txBox="1"/>
          <p:nvPr/>
        </p:nvSpPr>
        <p:spPr>
          <a:xfrm>
            <a:off x="621792" y="3447288"/>
            <a:ext cx="164592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Run the loop; timed</a:t>
            </a:r>
            <a:endParaRPr lang="en-US" sz="1200" dirty="0"/>
          </a:p>
        </p:txBody>
      </p:sp>
      <p:sp>
        <p:nvSpPr>
          <p:cNvPr id="25" name="Text 23"/>
          <p:cNvSpPr txBox="1"/>
          <p:nvPr/>
        </p:nvSpPr>
        <p:spPr>
          <a:xfrm>
            <a:off x="621792" y="3776472"/>
            <a:ext cx="1664208" cy="64008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Malformed input, hard 120 s limit. Count the calls.</a:t>
            </a:r>
            <a:endParaRPr lang="en-US" sz="1000" dirty="0"/>
          </a:p>
        </p:txBody>
      </p:sp>
      <p:sp>
        <p:nvSpPr>
          <p:cNvPr id="26" name="Shape 24"/>
          <p:cNvSpPr/>
          <p:nvPr/>
        </p:nvSpPr>
        <p:spPr>
          <a:xfrm>
            <a:off x="2542032" y="2971800"/>
            <a:ext cx="1938528"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2706624"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06</a:t>
            </a:r>
            <a:endParaRPr lang="en-US" sz="2000" dirty="0"/>
          </a:p>
        </p:txBody>
      </p:sp>
      <p:sp>
        <p:nvSpPr>
          <p:cNvPr id="28" name="Text 26"/>
          <p:cNvSpPr txBox="1"/>
          <p:nvPr/>
        </p:nvSpPr>
        <p:spPr>
          <a:xfrm>
            <a:off x="2706624" y="3447288"/>
            <a:ext cx="164592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Extrapolate your number</a:t>
            </a:r>
            <a:endParaRPr lang="en-US" sz="1200" dirty="0"/>
          </a:p>
        </p:txBody>
      </p:sp>
      <p:sp>
        <p:nvSpPr>
          <p:cNvPr id="29" name="Text 27"/>
          <p:cNvSpPr txBox="1"/>
          <p:nvPr/>
        </p:nvSpPr>
        <p:spPr>
          <a:xfrm>
            <a:off x="2706624" y="3776472"/>
            <a:ext cx="1664208" cy="64008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Cost of one unnoticed overnight loop in your environment.</a:t>
            </a:r>
            <a:endParaRPr lang="en-US" sz="100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07</a:t>
            </a:r>
            <a:endParaRPr lang="en-US" sz="2000" dirty="0"/>
          </a:p>
        </p:txBody>
      </p:sp>
      <p:sp>
        <p:nvSpPr>
          <p:cNvPr id="32" name="Text 30"/>
          <p:cNvSpPr txBox="1"/>
          <p:nvPr/>
        </p:nvSpPr>
        <p:spPr>
          <a:xfrm>
            <a:off x="4791456" y="3447288"/>
            <a:ext cx="164592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Compute all three units</a:t>
            </a:r>
            <a:endParaRPr lang="en-US" sz="1200" dirty="0"/>
          </a:p>
        </p:txBody>
      </p:sp>
      <p:sp>
        <p:nvSpPr>
          <p:cNvPr id="33" name="Text 31"/>
          <p:cNvSpPr txBox="1"/>
          <p:nvPr/>
        </p:nvSpPr>
        <p:spPr>
          <a:xfrm>
            <a:off x="4791456" y="3776472"/>
            <a:ext cx="1664208" cy="64008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Per token, per request, per successful task. Expect 2–5× gaps.</a:t>
            </a:r>
            <a:endParaRPr lang="en-US" sz="1000" dirty="0"/>
          </a:p>
        </p:txBody>
      </p:sp>
      <p:sp>
        <p:nvSpPr>
          <p:cNvPr id="34" name="Shape 32"/>
          <p:cNvSpPr/>
          <p:nvPr/>
        </p:nvSpPr>
        <p:spPr>
          <a:xfrm>
            <a:off x="6711696" y="2971800"/>
            <a:ext cx="1938528" cy="1481328"/>
          </a:xfrm>
          <a:prstGeom prst="roundRect">
            <a:avLst>
              <a:gd name="adj" fmla="val 4938"/>
            </a:avLst>
          </a:prstGeom>
          <a:solidFill>
            <a:srgbClr val="111827"/>
          </a:solidFill>
          <a:ln w="12700">
            <a:solidFill>
              <a:srgbClr val="111827"/>
            </a:solidFill>
            <a:prstDash val="solid"/>
          </a:ln>
        </p:spPr>
      </p:sp>
      <p:sp>
        <p:nvSpPr>
          <p:cNvPr id="35" name="Text 33"/>
          <p:cNvSpPr txBox="1"/>
          <p:nvPr/>
        </p:nvSpPr>
        <p:spPr>
          <a:xfrm>
            <a:off x="6876288" y="3090672"/>
            <a:ext cx="731520" cy="365760"/>
          </a:xfrm>
          <a:prstGeom prst="rect">
            <a:avLst/>
          </a:prstGeom>
          <a:noFill/>
          <a:ln/>
        </p:spPr>
        <p:txBody>
          <a:bodyPr wrap="square" lIns="0" tIns="0" rIns="0" bIns="0" rtlCol="0" anchor="t"/>
          <a:lstStyle/>
          <a:p>
            <a:pPr indent="0" marL="0">
              <a:buNone/>
            </a:pPr>
            <a:r>
              <a:rPr lang="en-US" sz="2000" b="1" dirty="0">
                <a:solidFill>
                  <a:srgbClr val="F59E0B"/>
                </a:solidFill>
                <a:latin typeface="Cambria" pitchFamily="34" charset="0"/>
                <a:ea typeface="Cambria" pitchFamily="34" charset="-122"/>
                <a:cs typeface="Cambria" pitchFamily="34" charset="-120"/>
              </a:rPr>
              <a:t>08</a:t>
            </a:r>
            <a:endParaRPr lang="en-US" sz="2000" dirty="0"/>
          </a:p>
        </p:txBody>
      </p:sp>
      <p:sp>
        <p:nvSpPr>
          <p:cNvPr id="36" name="Text 34"/>
          <p:cNvSpPr txBox="1"/>
          <p:nvPr/>
        </p:nvSpPr>
        <p:spPr>
          <a:xfrm>
            <a:off x="6876288" y="3447288"/>
            <a:ext cx="1645920" cy="3200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Ask the budget question</a:t>
            </a:r>
            <a:endParaRPr lang="en-US" sz="1200" dirty="0"/>
          </a:p>
        </p:txBody>
      </p:sp>
      <p:sp>
        <p:nvSpPr>
          <p:cNvPr id="37" name="Text 35"/>
          <p:cNvSpPr txBox="1"/>
          <p:nvPr/>
        </p:nvSpPr>
        <p:spPr>
          <a:xfrm>
            <a:off x="6876288" y="3776472"/>
            <a:ext cx="1664208" cy="640080"/>
          </a:xfrm>
          <a:prstGeom prst="rect">
            <a:avLst/>
          </a:prstGeom>
          <a:noFill/>
          <a:ln/>
        </p:spPr>
        <p:txBody>
          <a:bodyPr wrap="square" lIns="0" tIns="0" rIns="0" bIns="0" rtlCol="0" anchor="t"/>
          <a:lstStyle/>
          <a:p>
            <a:pPr indent="0" marL="0">
              <a:buNone/>
            </a:pPr>
            <a:r>
              <a:rPr lang="en-US" sz="1000" dirty="0">
                <a:solidFill>
                  <a:srgbClr val="9CA3AF"/>
                </a:solidFill>
                <a:latin typeface="Calibri" pitchFamily="34" charset="0"/>
                <a:ea typeface="Calibri" pitchFamily="34" charset="-122"/>
                <a:cs typeface="Calibri" pitchFamily="34" charset="-120"/>
              </a:rPr>
              <a:t>Is that an acceptable worst case? Record the answer.</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TERM WE USED</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how agent cost behaves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457200" y="1325880"/>
            <a:ext cx="2606040"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40080" y="146304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01</a:t>
            </a:r>
            <a:endParaRPr lang="en-US" sz="1100" dirty="0"/>
          </a:p>
        </p:txBody>
      </p:sp>
      <p:sp>
        <p:nvSpPr>
          <p:cNvPr id="8" name="Text 6"/>
          <p:cNvSpPr txBox="1"/>
          <p:nvPr/>
        </p:nvSpPr>
        <p:spPr>
          <a:xfrm>
            <a:off x="640080" y="173736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multiplication problem</a:t>
            </a:r>
            <a:endParaRPr lang="en-US" sz="1400" dirty="0"/>
          </a:p>
        </p:txBody>
      </p:sp>
      <p:sp>
        <p:nvSpPr>
          <p:cNvPr id="9" name="Text 7"/>
          <p:cNvSpPr txBox="1"/>
          <p:nvPr/>
        </p:nvSpPr>
        <p:spPr>
          <a:xfrm>
            <a:off x="640080" y="207568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Requests × steps × tokens × retries. Traditional cost adds; agent cost multiplies.</a:t>
            </a:r>
            <a:endParaRPr lang="en-US" sz="1100" dirty="0"/>
          </a:p>
        </p:txBody>
      </p:sp>
      <p:sp>
        <p:nvSpPr>
          <p:cNvPr id="10" name="Shape 8"/>
          <p:cNvSpPr/>
          <p:nvPr/>
        </p:nvSpPr>
        <p:spPr>
          <a:xfrm>
            <a:off x="3246120" y="1325880"/>
            <a:ext cx="2606040"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3429000" y="146304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02</a:t>
            </a:r>
            <a:endParaRPr lang="en-US" sz="1100" dirty="0"/>
          </a:p>
        </p:txBody>
      </p:sp>
      <p:sp>
        <p:nvSpPr>
          <p:cNvPr id="12" name="Text 10"/>
          <p:cNvSpPr txBox="1"/>
          <p:nvPr/>
        </p:nvSpPr>
        <p:spPr>
          <a:xfrm>
            <a:off x="3429000" y="173736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Step</a:t>
            </a:r>
            <a:endParaRPr lang="en-US" sz="1400" dirty="0"/>
          </a:p>
        </p:txBody>
      </p:sp>
      <p:sp>
        <p:nvSpPr>
          <p:cNvPr id="13" name="Text 11"/>
          <p:cNvSpPr txBox="1"/>
          <p:nvPr/>
        </p:nvSpPr>
        <p:spPr>
          <a:xfrm>
            <a:off x="3429000" y="207568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One pass through the reasoning cycle: typically one model call plus the tools it triggers.</a:t>
            </a:r>
            <a:endParaRPr lang="en-US" sz="1100" dirty="0"/>
          </a:p>
        </p:txBody>
      </p:sp>
      <p:sp>
        <p:nvSpPr>
          <p:cNvPr id="14" name="Shape 12"/>
          <p:cNvSpPr/>
          <p:nvPr/>
        </p:nvSpPr>
        <p:spPr>
          <a:xfrm>
            <a:off x="6035040" y="1325880"/>
            <a:ext cx="2606040"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6217920" y="146304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03</a:t>
            </a:r>
            <a:endParaRPr lang="en-US" sz="1100" dirty="0"/>
          </a:p>
        </p:txBody>
      </p:sp>
      <p:sp>
        <p:nvSpPr>
          <p:cNvPr id="16" name="Text 14"/>
          <p:cNvSpPr txBox="1"/>
          <p:nvPr/>
        </p:nvSpPr>
        <p:spPr>
          <a:xfrm>
            <a:off x="6217920" y="173736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Retry as a subtree</a:t>
            </a:r>
            <a:endParaRPr lang="en-US" sz="1400" dirty="0"/>
          </a:p>
        </p:txBody>
      </p:sp>
      <p:sp>
        <p:nvSpPr>
          <p:cNvPr id="17" name="Text 15"/>
          <p:cNvSpPr txBox="1"/>
          <p:nvPr/>
        </p:nvSpPr>
        <p:spPr>
          <a:xfrm>
            <a:off x="6217920" y="207568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 retry re-executes the whole step-and-token tree, not one more call.</a:t>
            </a:r>
            <a:endParaRPr lang="en-US" sz="1100" dirty="0"/>
          </a:p>
        </p:txBody>
      </p:sp>
      <p:sp>
        <p:nvSpPr>
          <p:cNvPr id="18" name="Shape 16"/>
          <p:cNvSpPr/>
          <p:nvPr/>
        </p:nvSpPr>
        <p:spPr>
          <a:xfrm>
            <a:off x="457200" y="2971800"/>
            <a:ext cx="2606040"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40080" y="310896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640080" y="338328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Input tokens</a:t>
            </a:r>
            <a:endParaRPr lang="en-US" sz="1400" dirty="0"/>
          </a:p>
        </p:txBody>
      </p:sp>
      <p:sp>
        <p:nvSpPr>
          <p:cNvPr id="21" name="Text 19"/>
          <p:cNvSpPr txBox="1"/>
          <p:nvPr/>
        </p:nvSpPr>
        <p:spPr>
          <a:xfrm>
            <a:off x="640080" y="372160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Everything sent: system prompt, tools, history, state. Often 10:1 against output.</a:t>
            </a:r>
            <a:endParaRPr lang="en-US" sz="1100" dirty="0"/>
          </a:p>
        </p:txBody>
      </p:sp>
      <p:sp>
        <p:nvSpPr>
          <p:cNvPr id="22" name="Shape 20"/>
          <p:cNvSpPr/>
          <p:nvPr/>
        </p:nvSpPr>
        <p:spPr>
          <a:xfrm>
            <a:off x="3246120" y="2971800"/>
            <a:ext cx="2606040"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3429000" y="310896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05</a:t>
            </a:r>
            <a:endParaRPr lang="en-US" sz="1100" dirty="0"/>
          </a:p>
        </p:txBody>
      </p:sp>
      <p:sp>
        <p:nvSpPr>
          <p:cNvPr id="24" name="Text 22"/>
          <p:cNvSpPr txBox="1"/>
          <p:nvPr/>
        </p:nvSpPr>
        <p:spPr>
          <a:xfrm>
            <a:off x="3429000" y="338328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Output tokens</a:t>
            </a:r>
            <a:endParaRPr lang="en-US" sz="1400" dirty="0"/>
          </a:p>
        </p:txBody>
      </p:sp>
      <p:sp>
        <p:nvSpPr>
          <p:cNvPr id="25" name="Text 23"/>
          <p:cNvSpPr txBox="1"/>
          <p:nvPr/>
        </p:nvSpPr>
        <p:spPr>
          <a:xfrm>
            <a:off x="3429000" y="372160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Everything generated. Priced 3–5× input, so 10:1 tokens ≈ 2–3:1 cost.</a:t>
            </a:r>
            <a:endParaRPr lang="en-US" sz="1100" dirty="0"/>
          </a:p>
        </p:txBody>
      </p:sp>
      <p:sp>
        <p:nvSpPr>
          <p:cNvPr id="26" name="Shape 24"/>
          <p:cNvSpPr/>
          <p:nvPr/>
        </p:nvSpPr>
        <p:spPr>
          <a:xfrm>
            <a:off x="6035040" y="2971800"/>
            <a:ext cx="2606040"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6217920" y="310896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06</a:t>
            </a:r>
            <a:endParaRPr lang="en-US" sz="1100" dirty="0"/>
          </a:p>
        </p:txBody>
      </p:sp>
      <p:sp>
        <p:nvSpPr>
          <p:cNvPr id="28" name="Text 26"/>
          <p:cNvSpPr txBox="1"/>
          <p:nvPr/>
        </p:nvSpPr>
        <p:spPr>
          <a:xfrm>
            <a:off x="6217920" y="338328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Superlinear run cost</a:t>
            </a:r>
            <a:endParaRPr lang="en-US" sz="1400" dirty="0"/>
          </a:p>
        </p:txBody>
      </p:sp>
      <p:sp>
        <p:nvSpPr>
          <p:cNvPr id="29" name="Text 27"/>
          <p:cNvSpPr txBox="1"/>
          <p:nvPr/>
        </p:nvSpPr>
        <p:spPr>
          <a:xfrm>
            <a:off x="6217920" y="372160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Each step resends accumulated history, so a 12-step run costs far more than 12× step one.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TERM WE USED</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how to measure it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1</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457200" y="1325880"/>
            <a:ext cx="2606040"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40080" y="146304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07</a:t>
            </a:r>
            <a:endParaRPr lang="en-US" sz="1100" dirty="0"/>
          </a:p>
        </p:txBody>
      </p:sp>
      <p:sp>
        <p:nvSpPr>
          <p:cNvPr id="8" name="Text 6"/>
          <p:cNvSpPr txBox="1"/>
          <p:nvPr/>
        </p:nvSpPr>
        <p:spPr>
          <a:xfrm>
            <a:off x="640080" y="173736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usage block</a:t>
            </a:r>
            <a:endParaRPr lang="en-US" sz="1400" dirty="0"/>
          </a:p>
        </p:txBody>
      </p:sp>
      <p:sp>
        <p:nvSpPr>
          <p:cNvPr id="9" name="Text 7"/>
          <p:cNvSpPr txBox="1"/>
          <p:nvPr/>
        </p:nvSpPr>
        <p:spPr>
          <a:xfrm>
            <a:off x="640080" y="207568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Per-call token counts every provider returns; and they are discarded by default.</a:t>
            </a:r>
            <a:endParaRPr lang="en-US" sz="1100" dirty="0"/>
          </a:p>
        </p:txBody>
      </p:sp>
      <p:sp>
        <p:nvSpPr>
          <p:cNvPr id="10" name="Shape 8"/>
          <p:cNvSpPr/>
          <p:nvPr/>
        </p:nvSpPr>
        <p:spPr>
          <a:xfrm>
            <a:off x="3246120" y="1325880"/>
            <a:ext cx="2606040"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3429000" y="146304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08</a:t>
            </a:r>
            <a:endParaRPr lang="en-US" sz="1100" dirty="0"/>
          </a:p>
        </p:txBody>
      </p:sp>
      <p:sp>
        <p:nvSpPr>
          <p:cNvPr id="12" name="Text 10"/>
          <p:cNvSpPr txBox="1"/>
          <p:nvPr/>
        </p:nvSpPr>
        <p:spPr>
          <a:xfrm>
            <a:off x="3429000" y="173736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Cost per token</a:t>
            </a:r>
            <a:endParaRPr lang="en-US" sz="1400" dirty="0"/>
          </a:p>
        </p:txBody>
      </p:sp>
      <p:sp>
        <p:nvSpPr>
          <p:cNvPr id="13" name="Text 11"/>
          <p:cNvSpPr txBox="1"/>
          <p:nvPr/>
        </p:nvSpPr>
        <p:spPr>
          <a:xfrm>
            <a:off x="3429000" y="207568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What the provider reports. Useless in isolation.</a:t>
            </a:r>
            <a:endParaRPr lang="en-US" sz="1100" dirty="0"/>
          </a:p>
        </p:txBody>
      </p:sp>
      <p:sp>
        <p:nvSpPr>
          <p:cNvPr id="14" name="Shape 12"/>
          <p:cNvSpPr/>
          <p:nvPr/>
        </p:nvSpPr>
        <p:spPr>
          <a:xfrm>
            <a:off x="6035040" y="1325880"/>
            <a:ext cx="2606040"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6217920" y="146304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09</a:t>
            </a:r>
            <a:endParaRPr lang="en-US" sz="1100" dirty="0"/>
          </a:p>
        </p:txBody>
      </p:sp>
      <p:sp>
        <p:nvSpPr>
          <p:cNvPr id="16" name="Text 14"/>
          <p:cNvSpPr txBox="1"/>
          <p:nvPr/>
        </p:nvSpPr>
        <p:spPr>
          <a:xfrm>
            <a:off x="6217920" y="173736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Cost per request</a:t>
            </a:r>
            <a:endParaRPr lang="en-US" sz="1400" dirty="0"/>
          </a:p>
        </p:txBody>
      </p:sp>
      <p:sp>
        <p:nvSpPr>
          <p:cNvPr id="17" name="Text 15"/>
          <p:cNvSpPr txBox="1"/>
          <p:nvPr/>
        </p:nvSpPr>
        <p:spPr>
          <a:xfrm>
            <a:off x="6217920" y="207568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Where most teams stop. Hides retries completely.</a:t>
            </a:r>
            <a:endParaRPr lang="en-US" sz="1100" dirty="0"/>
          </a:p>
        </p:txBody>
      </p:sp>
      <p:sp>
        <p:nvSpPr>
          <p:cNvPr id="18" name="Shape 16"/>
          <p:cNvSpPr/>
          <p:nvPr/>
        </p:nvSpPr>
        <p:spPr>
          <a:xfrm>
            <a:off x="457200" y="2971800"/>
            <a:ext cx="2606040"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40080" y="310896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10</a:t>
            </a:r>
            <a:endParaRPr lang="en-US" sz="1100" dirty="0"/>
          </a:p>
        </p:txBody>
      </p:sp>
      <p:sp>
        <p:nvSpPr>
          <p:cNvPr id="20" name="Text 18"/>
          <p:cNvSpPr txBox="1"/>
          <p:nvPr/>
        </p:nvSpPr>
        <p:spPr>
          <a:xfrm>
            <a:off x="640080" y="338328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Cost per successful task</a:t>
            </a:r>
            <a:endParaRPr lang="en-US" sz="1400" dirty="0"/>
          </a:p>
        </p:txBody>
      </p:sp>
      <p:sp>
        <p:nvSpPr>
          <p:cNvPr id="21" name="Text 19"/>
          <p:cNvSpPr txBox="1"/>
          <p:nvPr/>
        </p:nvSpPr>
        <p:spPr>
          <a:xfrm>
            <a:off x="640080" y="372160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Total spend ÷ successful outcomes. The only unit that survives finance.</a:t>
            </a:r>
            <a:endParaRPr lang="en-US" sz="1100" dirty="0"/>
          </a:p>
        </p:txBody>
      </p:sp>
      <p:sp>
        <p:nvSpPr>
          <p:cNvPr id="22" name="Shape 20"/>
          <p:cNvSpPr/>
          <p:nvPr/>
        </p:nvSpPr>
        <p:spPr>
          <a:xfrm>
            <a:off x="3246120" y="2971800"/>
            <a:ext cx="2606040"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3429000" y="310896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11</a:t>
            </a:r>
            <a:endParaRPr lang="en-US" sz="1100" dirty="0"/>
          </a:p>
        </p:txBody>
      </p:sp>
      <p:sp>
        <p:nvSpPr>
          <p:cNvPr id="24" name="Text 22"/>
          <p:cNvSpPr txBox="1"/>
          <p:nvPr/>
        </p:nvSpPr>
        <p:spPr>
          <a:xfrm>
            <a:off x="3429000" y="338328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attribution gap</a:t>
            </a:r>
            <a:endParaRPr lang="en-US" sz="1400" dirty="0"/>
          </a:p>
        </p:txBody>
      </p:sp>
      <p:sp>
        <p:nvSpPr>
          <p:cNvPr id="25" name="Text 23"/>
          <p:cNvSpPr txBox="1"/>
          <p:nvPr/>
        </p:nvSpPr>
        <p:spPr>
          <a:xfrm>
            <a:off x="3429000" y="372160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Agent, team, run, outcome: context that exists only at the call site.</a:t>
            </a:r>
            <a:endParaRPr lang="en-US" sz="1100" dirty="0"/>
          </a:p>
        </p:txBody>
      </p:sp>
      <p:sp>
        <p:nvSpPr>
          <p:cNvPr id="26" name="Shape 24"/>
          <p:cNvSpPr/>
          <p:nvPr/>
        </p:nvSpPr>
        <p:spPr>
          <a:xfrm>
            <a:off x="6035040" y="2971800"/>
            <a:ext cx="2606040"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6217920" y="3108960"/>
            <a:ext cx="45720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12</a:t>
            </a:r>
            <a:endParaRPr lang="en-US" sz="1100" dirty="0"/>
          </a:p>
        </p:txBody>
      </p:sp>
      <p:sp>
        <p:nvSpPr>
          <p:cNvPr id="28" name="Text 26"/>
          <p:cNvSpPr txBox="1"/>
          <p:nvPr/>
        </p:nvSpPr>
        <p:spPr>
          <a:xfrm>
            <a:off x="6217920" y="3383280"/>
            <a:ext cx="228600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quiet failure</a:t>
            </a:r>
            <a:endParaRPr lang="en-US" sz="1400" dirty="0"/>
          </a:p>
        </p:txBody>
      </p:sp>
      <p:sp>
        <p:nvSpPr>
          <p:cNvPr id="29" name="Text 27"/>
          <p:cNvSpPr txBox="1"/>
          <p:nvPr/>
        </p:nvSpPr>
        <p:spPr>
          <a:xfrm>
            <a:off x="6217920" y="3721608"/>
            <a:ext cx="2286000" cy="658368"/>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Every health signal stays green while spend climbs.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Why Agent Cost Is Different</dc:title>
  <dc:subject>PptxGenJS Presentation</dc:subject>
  <dc:creator>Emmanuel Naweji</dc:creator>
  <cp:lastModifiedBy>Emmanuel Naweji</cp:lastModifiedBy>
  <cp:revision>1</cp:revision>
  <dcterms:created xsi:type="dcterms:W3CDTF">2026-09-23T12:23:06Z</dcterms:created>
  <dcterms:modified xsi:type="dcterms:W3CDTF">2026-09-23T12:23:06Z</dcterms:modified>
</cp:coreProperties>
</file>