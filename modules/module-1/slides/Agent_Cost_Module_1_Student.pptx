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4b0210e5-8181-d83f-f51c-9a80591d5950}">
          <p14:sldIdLst>
            <p14:sldId id="256"/>
            <p14:sldId id="257"/>
            <p14:sldId id="258"/>
          </p14:sldIdLst>
        </p14:section>
        <p14:section name="Before you start" id="{e01c983b-3afa-a769-20c8-9452180f1b9b}">
          <p14:sldIdLst>
            <p14:sldId id="259"/>
            <p14:sldId id="260"/>
          </p14:sldIdLst>
        </p14:section>
        <p14:section name="01 · The 3am Runaway" id="{f9068724-ef9d-556b-5242-ac09c5d52386}">
          <p14:sldIdLst>
            <p14:sldId id="261"/>
            <p14:sldId id="262"/>
            <p14:sldId id="263"/>
          </p14:sldIdLst>
        </p14:section>
        <p14:section name="02 · The Multiplication Problem" id="{756aea33-72ae-7578-4eb4-b32ddbaf81ac}">
          <p14:sldIdLst>
            <p14:sldId id="264"/>
            <p14:sldId id="265"/>
          </p14:sldIdLst>
        </p14:section>
        <p14:section name="03 · Why Your Cloud Bill Cannot See This" id="{325a46f3-7393-af2f-aa7d-0eecc38d1d47}">
          <p14:sldIdLst>
            <p14:sldId id="266"/>
            <p14:sldId id="267"/>
          </p14:sldIdLst>
        </p14:section>
        <p14:section name="04 · Input vs Output Tokens" id="{9875b2f1-9c0d-3b09-13b7-a3a9a7a0dab5}">
          <p14:sldIdLst>
            <p14:sldId id="268"/>
            <p14:sldId id="269"/>
          </p14:sldIdLst>
        </p14:section>
        <p14:section name="05 · What Counts as a Unit" id="{74978abf-45f1-3463-4ae0-3120eeaac5dc}">
          <p14:sldIdLst>
            <p14:sldId id="270"/>
            <p14:sldId id="271"/>
            <p14:sldId id="272"/>
          </p14:sldIdLst>
        </p14:section>
        <p14:section name="06 · Build It: Price Your Own Agent" id="{4f5f7f0f-7feb-b1eb-405e-d6a9c6a9f47c}">
          <p14:sldIdLst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Wrap-up" id="{2c90ca46-b39a-3fe1-c365-571aeb76dde8}">
          <p14:sldIdLst>
            <p14:sldId id="283"/>
            <p14:sldId id="284"/>
            <p14:sldId id="285"/>
          </p14:sldIdLst>
        </p14:section>
        <p14:section name="Appendix" id="{5c4b348d-29a9-ab69-7f75-da7510feb36e}">
          <p14:sldIdLst>
            <p14:sldId id="286"/>
            <p14:sldId id="287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youtu.be/8ZIiXg4XOY0" TargetMode="External"/><Relationship Id="rId2" Type="http://schemas.openxmlformats.org/officeDocument/2006/relationships/hyperlink" Target="https://youtu.be/3e2-GRBibWc" TargetMode="External"/><Relationship Id="rId3" Type="http://schemas.openxmlformats.org/officeDocument/2006/relationships/hyperlink" Target="https://python.org/downloads" TargetMode="External"/><Relationship Id="rId4" Type="http://schemas.openxmlformats.org/officeDocument/2006/relationships/hyperlink" Target="https://git-scm.com/downloads" TargetMode="External"/><Relationship Id="rId5" Type="http://schemas.openxmlformats.org/officeDocument/2006/relationships/hyperlink" Target="https://code.visualstudio.com/docs/getstarted/introvideos" TargetMode="External"/><Relationship Id="rId6" Type="http://schemas.openxmlformats.org/officeDocument/2006/relationships/hyperlink" Target="https://git-scm.com/videos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COST PROBLEM  ·  MODULE 1 OF 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Agent Cost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Different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compute cost scales with traffic.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scales with reasoning.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60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Emmanuel Naweji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651760" y="39319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4160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 min · 6 sections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39319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REPO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4160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github.com/Here2ServeU/agent-cost-control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ARGUMENT FOR EVERYTHING THAT FOLLOWS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Reasoning is unbounded;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have to bound it.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6974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108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the number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657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multiplies across four terms; and the work decides three of them.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25146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26974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3108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your tools can't see it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3657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 and consoles have no agents, no runs, no outcomes.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25146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26974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3108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unit worth reporting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3657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successful task: failures included.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AT A GLANCE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sections, one argument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508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57276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min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057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3am Runaway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46120" y="132588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1508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157276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 min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057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Multiplication Problem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132588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1508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0" y="157276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 min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057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Your Cloud Bill Cannot See This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3017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1920240" y="308152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 min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3566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vs Output Tokens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46120" y="283464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74720" y="3017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4709160" y="308152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 min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474720" y="3566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Counts as a Unit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035040" y="283464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63640" y="3017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800" dirty="0"/>
          </a:p>
        </p:txBody>
      </p:sp>
      <p:sp>
        <p:nvSpPr>
          <p:cNvPr id="28" name="Text 26"/>
          <p:cNvSpPr txBox="1"/>
          <p:nvPr/>
        </p:nvSpPr>
        <p:spPr>
          <a:xfrm>
            <a:off x="7498080" y="308152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min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263640" y="3566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It: Price Your Own Agent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what you need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minutes once, and every command in this module will run. Pick your side.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4023360" cy="2148840"/>
          </a:xfrm>
          <a:prstGeom prst="roundRect">
            <a:avLst>
              <a:gd name="adj" fmla="val 340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 ·  TERMINAL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05740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219456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 Homebrew first: brew.sh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brew install python git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brew install --cask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visual-studio-code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python3 --version &amp;&amp; git --version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600200"/>
            <a:ext cx="4023360" cy="2148840"/>
          </a:xfrm>
          <a:prstGeom prst="roundRect">
            <a:avLst>
              <a:gd name="adj" fmla="val 340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 ·  POWERSHELL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92040" y="205740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74920" y="219456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winget ships with Windows 11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winget install Python.Python.3.12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winget install Git.Git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winget install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Microsoft.VisualStudioCode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py --version; git --version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MODULE 1 NEEDS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2606040" cy="594360"/>
          </a:xfrm>
          <a:prstGeom prst="roundRect">
            <a:avLst>
              <a:gd name="adj" fmla="val 12308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4074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python3 / py on Windows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46120" y="4114800"/>
            <a:ext cx="2606040" cy="594360"/>
          </a:xfrm>
          <a:prstGeom prst="roundRect">
            <a:avLst>
              <a:gd name="adj" fmla="val 12308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2900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3429000" y="44074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clone the course repo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35040" y="4114800"/>
            <a:ext cx="2606040" cy="594360"/>
          </a:xfrm>
          <a:prstGeom prst="roundRect">
            <a:avLst>
              <a:gd name="adj" fmla="val 12308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terminal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44074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inside VS Code is fine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these before you install anything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short videos take you from a blank machine to Git, Python and VS Code installed. Pick the one for your computer.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3736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7373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1214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Git, Python and VS Code on a Mac</a:t>
            </a:r>
            <a:endParaRPr lang="en-US" sz="1400" dirty="0"/>
          </a:p>
        </p:txBody>
      </p:sp>
      <p:sp>
        <p:nvSpPr>
          <p:cNvPr id="11" name="Text 9">
            <a:hlinkClick r:id="rId1" tooltip=""/>
          </p:cNvPr>
          <p:cNvSpPr txBox="1"/>
          <p:nvPr/>
        </p:nvSpPr>
        <p:spPr>
          <a:xfrm>
            <a:off x="685800" y="2560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https://youtu.be/8ZIiXg4XOY0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5544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173736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17373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1214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Git, Python and VS Code on Windows</a:t>
            </a:r>
            <a:endParaRPr lang="en-US" sz="1400" dirty="0"/>
          </a:p>
        </p:txBody>
      </p:sp>
      <p:sp>
        <p:nvSpPr>
          <p:cNvPr id="16" name="Text 14">
            <a:hlinkClick r:id="rId2" tooltip=""/>
          </p:cNvPr>
          <p:cNvSpPr txBox="1"/>
          <p:nvPr/>
        </p:nvSpPr>
        <p:spPr>
          <a:xfrm>
            <a:off x="4892040" y="2560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https://youtu.be/3e2-GRBibWc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PAGES, IF YOU PREFER TO READ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42900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" y="348386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Python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37216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downloads, Mac and Windows</a:t>
            </a:r>
            <a:endParaRPr lang="en-US" sz="900" dirty="0"/>
          </a:p>
        </p:txBody>
      </p:sp>
      <p:sp>
        <p:nvSpPr>
          <p:cNvPr id="21" name="Text 19">
            <a:hlinkClick r:id="rId3" tooltip=""/>
          </p:cNvPr>
          <p:cNvSpPr txBox="1"/>
          <p:nvPr/>
        </p:nvSpPr>
        <p:spPr>
          <a:xfrm>
            <a:off x="2697480" y="342900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python.org/downloads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663440" y="342900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64608" y="348386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Git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864608" y="37216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downloads, Mac and Windows</a:t>
            </a:r>
            <a:endParaRPr lang="en-US" sz="900" dirty="0"/>
          </a:p>
        </p:txBody>
      </p:sp>
      <p:sp>
        <p:nvSpPr>
          <p:cNvPr id="25" name="Text 23">
            <a:hlinkClick r:id="rId4" tooltip=""/>
          </p:cNvPr>
          <p:cNvSpPr txBox="1"/>
          <p:nvPr/>
        </p:nvSpPr>
        <p:spPr>
          <a:xfrm>
            <a:off x="6903720" y="342900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git-scm.com/downloads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4087368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8368" y="41422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intro videos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58368" y="43799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official video series</a:t>
            </a:r>
            <a:endParaRPr lang="en-US" sz="900" dirty="0"/>
          </a:p>
        </p:txBody>
      </p:sp>
      <p:sp>
        <p:nvSpPr>
          <p:cNvPr id="29" name="Text 27">
            <a:hlinkClick r:id="rId5" tooltip=""/>
          </p:cNvPr>
          <p:cNvSpPr txBox="1"/>
          <p:nvPr/>
        </p:nvSpPr>
        <p:spPr>
          <a:xfrm>
            <a:off x="2697480" y="408736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code.visualstudio.com/docs/getstarted/introvideos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63440" y="4087368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864608" y="41422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basics videos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4864608" y="43799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short official videos</a:t>
            </a:r>
            <a:endParaRPr lang="en-US" sz="900" dirty="0"/>
          </a:p>
        </p:txBody>
      </p:sp>
      <p:sp>
        <p:nvSpPr>
          <p:cNvPr id="33" name="Text 31">
            <a:hlinkClick r:id="rId6" tooltip=""/>
          </p:cNvPr>
          <p:cNvSpPr txBox="1"/>
          <p:nvPr/>
        </p:nvSpPr>
        <p:spPr>
          <a:xfrm>
            <a:off x="6903720" y="408736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git-scm.com/videos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3am Runaway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min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3AM RUNAWAY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malformed record. One long night.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920240" cy="1508760"/>
          </a:xfrm>
          <a:prstGeom prst="roundRect">
            <a:avLst>
              <a:gd name="adj" fmla="val 484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087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23:40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945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malformed record enters the queue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371600"/>
            <a:ext cx="1920240" cy="1508760"/>
          </a:xfrm>
          <a:prstGeom prst="roundRect">
            <a:avLst>
              <a:gd name="adj" fmla="val 484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43200" y="15087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~400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1945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an hour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1920240" cy="1508760"/>
          </a:xfrm>
          <a:prstGeom prst="roundRect">
            <a:avLst>
              <a:gd name="adj" fmla="val 484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5087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9.5 hrs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1945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anyone noticed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66560" y="1371600"/>
            <a:ext cx="1920240" cy="1508760"/>
          </a:xfrm>
          <a:prstGeom prst="roundRect">
            <a:avLst>
              <a:gd name="adj" fmla="val 4848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49440" y="15087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$4,200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21945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overnight spend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31089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CA5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alerts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3017520" y="310896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dashboard stayed green.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was working exactly as designed. Cost was the only signal that moved; and nothing was watching it.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3AM RUNAWAY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blame the malformed record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716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input is normal. Queues contain malformed records; that is a permanent condition of running software. The next runaway will come from something you didn't anticipate.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0175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system had no concept of what it was allowed to spend.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206240" y="1325880"/>
            <a:ext cx="448056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508760"/>
            <a:ext cx="548640" cy="548640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55541" y="1629461"/>
            <a:ext cx="307238" cy="30723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166360" y="147218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166360" y="18013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spend ceiling the agent cannot cross.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06240" y="2404872"/>
            <a:ext cx="448056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34840" y="2587752"/>
            <a:ext cx="548640" cy="5486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5541" y="2708453"/>
            <a:ext cx="307238" cy="30723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166360" y="255117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5166360" y="2880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watching the rate of spend.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206240" y="3483864"/>
            <a:ext cx="448056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434840" y="3666744"/>
            <a:ext cx="548640" cy="54864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5541" y="3787445"/>
            <a:ext cx="307238" cy="30723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166360" y="36301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Attributable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5166360" y="39593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dollar traced to the agent that spent it.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Multiplication Problem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 min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MULTIPLICATION PROBLEM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cost adds. Agent cost multiplies.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57276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requests  ×  cost per request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15727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· napkin math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240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487168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487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requests</a:t>
            </a:r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×  </a:t>
            </a:r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steps</a:t>
            </a:r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×  </a:t>
            </a:r>
            <a:pPr algn="ctr" indent="0" marL="0">
              <a:buNone/>
            </a:pPr>
            <a:r>
              <a:rPr lang="en-US" sz="220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tokens</a:t>
            </a:r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×  </a:t>
            </a:r>
            <a:pPr algn="ctr" indent="0" marL="0">
              <a:buNone/>
            </a:pPr>
            <a:r>
              <a:rPr lang="en-US" sz="2200" b="1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retries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3375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CONTROL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5661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858768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traffic. Same as always.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560320" y="33375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 DECIDES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2560320" y="35661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2560320" y="3858768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loops per request: set by task difficulty.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33375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 DECIDES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35661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3858768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through the model on every step.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33375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 DECIDES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35661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766560" y="3858768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Multiplies everything above it.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Your Cloud Bill Cannot See This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 min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WHY YOUR CLOUD BILL CANNOT SEE THIS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structural blind spots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are fixable by configuration.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83080"/>
            <a:ext cx="502920" cy="502920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442" y="1893722"/>
            <a:ext cx="281635" cy="28163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85800" y="2423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of the curve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78892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tools assume cost tracks traffic. Agent cost tracks reasoning difficulty; every anomaly detector is watching the wrong axis.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46120" y="160020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74720" y="1783080"/>
            <a:ext cx="502920" cy="50292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5362" y="1893722"/>
            <a:ext cx="281635" cy="28163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474720" y="2423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3474720" y="278892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bill has one line item for the provider. Which agent, team, customer or outcome? That context exists only in your app, at the call.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035040" y="160020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63640" y="1783080"/>
            <a:ext cx="502920" cy="50292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282" y="1893722"/>
            <a:ext cx="281635" cy="28163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263640" y="2423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provider console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6263640" y="278892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by API key and model; but no run boundaries, and no idea whether any of it produced a useful outcome.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vs Output Tokens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 min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INPUT VS OUTPUT TOKENS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people get this backwards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508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: 1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194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: output tokens in a typical agent step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508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3–5×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194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price vs input price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3716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508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47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2–3 : 1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194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cost ratio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both counts, separately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56616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infer one from the other. A summarisation agent inverts the ratio completely.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306324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9204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grows with every step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356616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12 resends everything from steps 1–11. Long runs are superlinear; a 20-step ceiling is not just 2× a 10-step one.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Counts as a Unit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 min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WHAT COUNTS AS A UNIT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candidates. Only one survives finance.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59105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91C1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709928"/>
            <a:ext cx="237744" cy="2377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13716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token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4114800" y="13716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provider gives you. Nobody buys tokens; like reporting cost per CPU cycle.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450592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5800" y="2670048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45309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788920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417320" y="2450592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request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4114800" y="2450592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most teams stop. It hides retries completely.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57200" y="3529584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85800" y="3749040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47857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867912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17320" y="3529584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successful task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4114800" y="3529584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in the denominator. Maps to a ticket, a document, a decision.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WHAT COUNTS AS A UNIT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afternoon. Same money. Two stories.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716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3716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1031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103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succeeded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8346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834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after consuming tokens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5661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$19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566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in total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31920" y="1371600"/>
            <a:ext cx="2286000" cy="2057400"/>
          </a:xfrm>
          <a:prstGeom prst="roundRect">
            <a:avLst>
              <a:gd name="adj" fmla="val 355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14800" y="15544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REQUEST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0" y="18288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4¢</a:t>
            </a:r>
            <a:endParaRPr lang="en-US" sz="54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0" y="26974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 ÷ 100 requests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“Sounds fine.”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1371600"/>
            <a:ext cx="2286000" cy="2057400"/>
          </a:xfrm>
          <a:prstGeom prst="roundRect">
            <a:avLst>
              <a:gd name="adj" fmla="val 3556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583680" y="15544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SUCCESSFUL TASK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18288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19¢</a:t>
            </a:r>
            <a:endParaRPr lang="en-US" sz="54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26974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 ÷ 62 successes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5× higher; and true.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931920" y="3657600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114800" y="365760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your failure rate and cost per successful task falls; even if total spend is unchanged. That's the improvement you can take to someone.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It: Price Your Own Agent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min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BUILD IT: PRICE YOUR OWN AGENT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it by hand, once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instrumentation yet; that's Module 2. The manual calculation is what makes the automated one meaningful later.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5877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own agent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8803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have one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5935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clone the course repo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8862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deliberately uninstrumented agent, plus an input that sends it into a loop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577840" y="1280160"/>
            <a:ext cx="3108960" cy="3200400"/>
          </a:xfrm>
          <a:prstGeom prst="roundRect">
            <a:avLst>
              <a:gd name="adj" fmla="val 235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554480"/>
            <a:ext cx="457200" cy="45720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852160" y="22402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Here2ServeU/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agent-cost-control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852160" y="35661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agent is used for the whole course.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BUILD IT: STEP 1 OF 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Clone the course agent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25880"/>
            <a:ext cx="8092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8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88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https://github.com/Here2ServeU/agent-cost-control &amp;&amp; cd agent-cost-control</a:t>
            </a:r>
            <a:endParaRPr lang="en-US" sz="1188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4846320" cy="2103120"/>
          </a:xfrm>
          <a:prstGeom prst="roundRect">
            <a:avLst>
              <a:gd name="adj" fmla="val 347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606040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what's in here before running anything. There's an agent, a handful of sample inputs, and no cost instrumentation of any kind.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74904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deliberate; it's the state most agents are actually in.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577840" y="2423160"/>
            <a:ext cx="31089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760720" y="2487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760720" y="276148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the whole course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3154680"/>
            <a:ext cx="31089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760720" y="32186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inputs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760720" y="34930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normal, one malformed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577840" y="3886200"/>
            <a:ext cx="31089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760720" y="39502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instrumentation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760720" y="42245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measures cost yet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BUILD IT: STEP 2 OF 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your API key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25880"/>
            <a:ext cx="8092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ANTHROPIC_API_KEY=your-key-here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42316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variable, not a config file. Same discipline as any other credential.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one healthy run, priced by hand.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BUILD IT: STEP 3 OF 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a healthy input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25880"/>
            <a:ext cx="8092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run_agent.py --input samples/normal.json --verbose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423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Verbose mode prints the raw usage block from each API response. Every major provider returns one.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246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input_tokens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703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sent on that call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306324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3246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output_tokens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703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model generated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numbers we care about; one per call.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BUILD IT: STEP 4 OF 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the arithmetic by hand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command for this one. Pen and paper, or a calculator.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64592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6459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up the input tokens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6459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every call in that run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242316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4231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up the output tokens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4231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them separate: they're priced differently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20040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2004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each by its rate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32004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provider's current pricing page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97764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39776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two together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39776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number down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BUILD IT: STEP 5 OF 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 the model calls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25880"/>
            <a:ext cx="8092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31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run_agent.py --input samples/normal.json --verbose | grep -c 'usage'</a:t>
            </a:r>
            <a:endParaRPr lang="en-US" sz="131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423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counts how many model calls the run made: your step count. Write that down too.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971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HAVE THREE NUMBERS FOR A HEALTHY RUN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2918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246120" y="329184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46120" y="32918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Tokens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035040" y="329184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35040" y="32918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</a:t>
            </a:r>
            <a:endParaRPr 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BUILD IT: STEP 6 OF 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one that cannot finish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25880"/>
            <a:ext cx="8092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3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363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timeout 120 python3 run_agent.py --input samples/malformed.json --verbose</a:t>
            </a:r>
            <a:endParaRPr lang="en-US" sz="1363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423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samples directory contains a record the agent cannot successfully process. Put a hard timeout on it; the whole point is that it will not stop on its own.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538728"/>
            <a:ext cx="411480" cy="41148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325880" y="3246120"/>
            <a:ext cx="7132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minutes. That's all we're giving it. 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remove the timeout out of curiosity; this is real money.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BUILD IT: STEP 7 OF 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 the calls it made in two minutes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25880"/>
            <a:ext cx="8092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9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099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timeout 120 python3 run_agent.py --input samples/malformed.json --verbose | grep -c 'usage'</a:t>
            </a:r>
            <a:endParaRPr lang="en-US" sz="1099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423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arithmetic as the healthy run: tokens in, tokens out, times the rates. That gives you the cost of two minutes of looping.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200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extrapolate it; that's the next slide.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BUILD IT: STEP 8 OF 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Extrapolate your own $4,200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600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Calls in 2 min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03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cost per call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560320" y="141732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43200" y="1600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30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103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one hour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600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9–10 hrs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103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notice, overnight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766560" y="141732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49440" y="1600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yours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2103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one unnoticed loop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301752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my $4,200; yours.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agent, your model, your environment. Write it down and keep it: every control in the next five modules is measured against this number.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things to carry into Module 2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600200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326" y="1690726"/>
            <a:ext cx="230429" cy="23042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80160" y="1600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multiplies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9659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× steps × tokens × retries; and the work decides three of the four.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63440" y="137160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92040" y="1600200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2566" y="1690726"/>
            <a:ext cx="230429" cy="23042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486400" y="1600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tooling can't attribute it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0" y="19659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 only exists at the call site. Capture it there or lose it.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9260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85800" y="3154680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326" y="3245206"/>
            <a:ext cx="230429" cy="230429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280160" y="3154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dominates; and grows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1280160" y="35204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costs more per token, but input grows every step. Long runs are superlinear.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663440" y="29260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892040" y="3154680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2566" y="3245206"/>
            <a:ext cx="230429" cy="230429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486400" y="3154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cost per successful task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0" y="35204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unit that survives a real conversation with finance.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MODULE 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your overnight number to whoever owns the budget. Ask one question: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4592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“Is that an acceptable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worst case?”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38328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is almost always no; and it's usually the first time anyone has framed it that way. That conversation turns an engineering side-project into something with organisational support behind it.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· MODULE 2 OF 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it visible.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the agent so every run emits cost, tokens, and identity as a metric you can actually query.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Bounded  ·  Visible  ·  Attributable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343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Emmanuel Naweji  ·  github.com/Here2ServeU/agent-cost-control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Exercises: do these before Module 2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938528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44475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18013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one healthy run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130552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input and output tokens separately; multiply by current rates.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42032" y="1325880"/>
            <a:ext cx="1938528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06624" y="144475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706624" y="18013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 steps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706624" y="2130552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total cost by model calls for cost per step. Module 4 uses it.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1325880"/>
            <a:ext cx="1938528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91456" y="144475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791456" y="18013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ratio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791456" y="2130552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Input:output tokens vs input:output cost. Note the gap.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11696" y="1325880"/>
            <a:ext cx="1938528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76288" y="144475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876288" y="18013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input grow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876288" y="2130552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input tokens per step. See the superlinear effect yourself.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971800"/>
            <a:ext cx="1938528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" y="309067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" y="34472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loop; timed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21792" y="3776472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Malformed input, hard 120 s limit. Count the calls.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42032" y="2971800"/>
            <a:ext cx="1938528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706624" y="309067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2706624" y="34472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Extrapolate your number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2706624" y="3776472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one unnoticed overnight loop in your environment.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26864" y="2971800"/>
            <a:ext cx="1938528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91456" y="309067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4791456" y="34472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all three units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791456" y="3776472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token, per request, per successful task. Expect 2–5× gaps.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711696" y="2971800"/>
            <a:ext cx="1938528" cy="1481328"/>
          </a:xfrm>
          <a:prstGeom prst="roundRect">
            <a:avLst>
              <a:gd name="adj" fmla="val 4938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76288" y="309067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6876288" y="34472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budget question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876288" y="3776472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that an acceptable worst case? Record the answer.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· EVERY TERM WE USED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Glossary: how agent cost behaves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06040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multiplication problem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07568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× steps × tokens × retries. Traditional cost adds; agent cost multiplies.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325880"/>
            <a:ext cx="2606040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463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07568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pass through the reasoning cycle: typically one model call plus the tools it triggers.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325880"/>
            <a:ext cx="2606040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463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as a subtree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07568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retry re-executes the whole step-and-token tree, not one more call.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2606040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108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383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tokens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72160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sent: system prompt, tools, history, state. Often 10:1 against output.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2971800"/>
            <a:ext cx="2606040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29000" y="3108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429000" y="3383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tokens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3429000" y="372160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generated. Priced 3–5× input, so 10:1 tokens ≈ 2–3:1 cost.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2971800"/>
            <a:ext cx="2606040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17920" y="3108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0" y="3383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Superlinear run cost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217920" y="372160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resends accumulated history, so a 12-step run costs far more than 12× step one.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· EVERY TERM WE USED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Glossary: how to measure it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06040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usage block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07568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Per-call token counts every provider returns; and they are discarded by default.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325880"/>
            <a:ext cx="2606040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463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token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07568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provider reports. Useless in isolation.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325880"/>
            <a:ext cx="2606040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463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request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07568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most teams stop. Hides retries completely.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2606040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108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383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successful task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72160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 ÷ successful outcomes. The only unit that survives finance.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2971800"/>
            <a:ext cx="2606040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29000" y="3108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429000" y="3383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attribution gap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3429000" y="372160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Agent, team, run, outcome: context that exists only at the call site.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2971800"/>
            <a:ext cx="2606040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17920" y="3108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0" y="3383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quiet failure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217920" y="372160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health signal stays green while spend climbs.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1: Why Agent Cost Is Different</dc:title>
  <dc:subject>PptxGenJS Presentation</dc:subject>
  <dc:creator>Emmanuel Naweji</dc:creator>
  <cp:lastModifiedBy>Emmanuel Naweji</cp:lastModifiedBy>
  <cp:revision>1</cp:revision>
  <dcterms:created xsi:type="dcterms:W3CDTF">2026-09-23T12:23:06Z</dcterms:created>
  <dcterms:modified xsi:type="dcterms:W3CDTF">2026-09-23T12:23:06Z</dcterms:modified>
</cp:coreProperties>
</file>