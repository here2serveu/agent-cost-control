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</p:sldIdLst>
  <p:notesMasterIdLst>
    <p:notesMasterId r:id="rId3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pening" id="{c68481fa-4924-63b0-5232-a0aef5807702}">
          <p14:sldIdLst>
            <p14:sldId id="256"/>
            <p14:sldId id="257"/>
            <p14:sldId id="258"/>
          </p14:sldIdLst>
        </p14:section>
        <p14:section name="Before you start" id="{d03da468-1628-2d8a-842c-d2d396846462}">
          <p14:sldIdLst>
            <p14:sldId id="259"/>
            <p14:sldId id="260"/>
          </p14:sldIdLst>
        </p14:section>
        <p14:section name="01 · Four Panels" id="{b83a496a-6113-3289-4835-1e3881f9219f}">
          <p14:sldIdLst>
            <p14:sldId id="261"/>
            <p14:sldId id="262"/>
            <p14:sldId id="263"/>
          </p14:sldIdLst>
        </p14:section>
        <p14:section name="02 · Burn Rate" id="{ac3dd8ad-2abf-4486-fb25-411d8c33bf10}">
          <p14:sldIdLst>
            <p14:sldId id="264"/>
            <p14:sldId id="265"/>
            <p14:sldId id="266"/>
          </p14:sldIdLst>
        </p14:section>
        <p14:section name="03 · Routing" id="{2b1588b0-eac4-4c33-5fd9-34238c5914ee}">
          <p14:sldIdLst>
            <p14:sldId id="267"/>
            <p14:sldId id="268"/>
            <p14:sldId id="269"/>
          </p14:sldIdLst>
        </p14:section>
        <p14:section name="04 · Caching" id="{aee1ad83-1d5f-4091-20ad-3989a0e21c3a}">
          <p14:sldIdLst>
            <p14:sldId id="270"/>
            <p14:sldId id="271"/>
            <p14:sldId id="272"/>
          </p14:sldIdLst>
        </p14:section>
        <p14:section name="05 · The Review" id="{cf7dcc23-3549-2905-9496-c9deb036b592}">
          <p14:sldIdLst>
            <p14:sldId id="273"/>
            <p14:sldId id="274"/>
            <p14:sldId id="275"/>
          </p14:sldIdLst>
        </p14:section>
        <p14:section name="06 · Build It" id="{de6b1efd-1f4b-60cf-de77-56bf878cd1a3}">
          <p14:sldIdLst>
            <p14:sldId id="276"/>
            <p14:sldId id="277"/>
            <p14:sldId id="278"/>
            <p14:sldId id="279"/>
            <p14:sldId id="280"/>
            <p14:sldId id="281"/>
            <p14:sldId id="282"/>
          </p14:sldIdLst>
        </p14:section>
        <p14:section name="Wrap-up" id="{2ec8744e-964b-7f38-405f-f7d6de2a58ba}">
          <p14:sldIdLst>
            <p14:sldId id="283"/>
            <p14:sldId id="284"/>
            <p14:sldId id="285"/>
          </p14:sldIdLst>
        </p14:section>
        <p14:section name="Appendix" id="{a01926fe-298e-2ed4-5ade-4a2614a77927}">
          <p14:sldIdLst>
            <p14:sldId id="286"/>
            <p14:sldId id="287"/>
            <p14:sldId id="288"/>
            <p14:sldId id="289"/>
            <p14:sldId id="290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notesMaster" Target="notesMasters/notesMaster1.xml"/><Relationship Id="rId38" Type="http://schemas.openxmlformats.org/officeDocument/2006/relationships/presProps" Target="presProps.xml"/><Relationship Id="rId39" Type="http://schemas.openxmlformats.org/officeDocument/2006/relationships/viewProps" Target="viewProps.xml"/><Relationship Id="rId40" Type="http://schemas.openxmlformats.org/officeDocument/2006/relationships/theme" Target="theme/theme1.xml"/><Relationship Id="rId4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hyperlink" Target="https://youtu.be/8ZIiXg4XOY0" TargetMode="External"/><Relationship Id="rId2" Type="http://schemas.openxmlformats.org/officeDocument/2006/relationships/hyperlink" Target="https://youtu.be/3e2-GRBibWc" TargetMode="External"/><Relationship Id="rId3" Type="http://schemas.openxmlformats.org/officeDocument/2006/relationships/hyperlink" Target="https://docs.docker.com/desktop" TargetMode="External"/><Relationship Id="rId4" Type="http://schemas.openxmlformats.org/officeDocument/2006/relationships/hyperlink" Target="https://grafana.com/docs/grafana/latest/fundamentals" TargetMode="External"/><Relationship Id="rId5" Type="http://schemas.openxmlformats.org/officeDocument/2006/relationships/hyperlink" Target="https://prometheus.io/docs/prometheus/latest/configuration/alerting_rules" TargetMode="External"/><Relationship Id="rId6" Type="http://schemas.openxmlformats.org/officeDocument/2006/relationships/hyperlink" Target="https://grafana.com/docs/grafana/latest/panels-visualizations" TargetMode="External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822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AGENT COST PROBLEM  ·  MODULE 6 OF 6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234440"/>
            <a:ext cx="7772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Operating It</a:t>
            </a:r>
            <a:endParaRPr lang="en-US" sz="5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514600"/>
            <a:ext cx="7772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last hour. Everything you have built needs to keep working </a:t>
            </a:r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you are not looking at it.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3931920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PRESENTER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416052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Emmanuel Naweji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2651760" y="3931920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RUNTIME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2651760" y="416052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~50 min · 6 sections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4754880" y="3931920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 REPO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754880" y="416052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github.com/Here2ServeU/agent-cost-control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MODULE GIVES YOU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80060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Cost Control · Module 6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7772400" y="48006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731520"/>
            <a:ext cx="8229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118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Everything works. The problem now is</a:t>
            </a:r>
            <a:endParaRPr lang="en-US" sz="3200" dirty="0"/>
          </a:p>
          <a:p>
            <a:pPr indent="0" marL="0">
              <a:buNone/>
            </a:pPr>
            <a:r>
              <a:rPr lang="en-US" sz="3200" b="1" dirty="0">
                <a:solidFill>
                  <a:srgbClr val="1118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keeping it working.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457200" y="2514600"/>
            <a:ext cx="2606040" cy="1920240"/>
          </a:xfrm>
          <a:prstGeom prst="roundRect">
            <a:avLst>
              <a:gd name="adj" fmla="val 3810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85800" y="269748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8096" y="2779776"/>
            <a:ext cx="219456" cy="219456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685800" y="320040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dashboard of four panels</a:t>
            </a:r>
            <a:endParaRPr lang="en-US" sz="1500" dirty="0"/>
          </a:p>
        </p:txBody>
      </p:sp>
      <p:sp>
        <p:nvSpPr>
          <p:cNvPr id="10" name="Text 7"/>
          <p:cNvSpPr txBox="1"/>
          <p:nvPr/>
        </p:nvSpPr>
        <p:spPr>
          <a:xfrm>
            <a:off x="685800" y="365760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one answering a question a real person asks out loud.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3246120" y="2514600"/>
            <a:ext cx="2606040" cy="1920240"/>
          </a:xfrm>
          <a:prstGeom prst="roundRect">
            <a:avLst>
              <a:gd name="adj" fmla="val 3810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3474720" y="269748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57016" y="2779776"/>
            <a:ext cx="219456" cy="219456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3474720" y="320040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alerts on the rate</a:t>
            </a:r>
            <a:endParaRPr lang="en-US" sz="1500" dirty="0"/>
          </a:p>
        </p:txBody>
      </p:sp>
      <p:sp>
        <p:nvSpPr>
          <p:cNvPr id="15" name="Text 11"/>
          <p:cNvSpPr txBox="1"/>
          <p:nvPr/>
        </p:nvSpPr>
        <p:spPr>
          <a:xfrm>
            <a:off x="3474720" y="365760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fast enough to catch a runaway, one quiet enough to be believed.</a:t>
            </a:r>
            <a:endParaRPr lang="en-US" sz="1200" dirty="0"/>
          </a:p>
        </p:txBody>
      </p:sp>
      <p:sp>
        <p:nvSpPr>
          <p:cNvPr id="16" name="Shape 12"/>
          <p:cNvSpPr/>
          <p:nvPr/>
        </p:nvSpPr>
        <p:spPr>
          <a:xfrm>
            <a:off x="6035040" y="2514600"/>
            <a:ext cx="2606040" cy="1920240"/>
          </a:xfrm>
          <a:prstGeom prst="roundRect">
            <a:avLst>
              <a:gd name="adj" fmla="val 3810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6263640" y="269748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047857"/>
          </a:solidFill>
          <a:ln w="12700">
            <a:solidFill>
              <a:srgbClr val="047857"/>
            </a:solidFill>
            <a:prstDash val="solid"/>
          </a:ln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45936" y="2779776"/>
            <a:ext cx="219456" cy="219456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6263640" y="320040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fifteen-minute habit</a:t>
            </a:r>
            <a:endParaRPr lang="en-US" sz="1500" dirty="0"/>
          </a:p>
        </p:txBody>
      </p:sp>
      <p:sp>
        <p:nvSpPr>
          <p:cNvPr id="20" name="Text 15"/>
          <p:cNvSpPr txBox="1"/>
          <p:nvPr/>
        </p:nvSpPr>
        <p:spPr>
          <a:xfrm>
            <a:off x="6263640" y="365760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questions, once a week, with one person's name against it.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SECTIONS AT A GLANCE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48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118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Six sections; one habit that outlives you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0060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Cost Control · Module 6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7772400" y="48006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417320"/>
            <a:ext cx="2606040" cy="1371600"/>
          </a:xfrm>
          <a:prstGeom prst="roundRect">
            <a:avLst>
              <a:gd name="adj" fmla="val 5333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85800" y="160020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B4530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800" dirty="0"/>
          </a:p>
        </p:txBody>
      </p:sp>
      <p:sp>
        <p:nvSpPr>
          <p:cNvPr id="8" name="Text 6"/>
          <p:cNvSpPr txBox="1"/>
          <p:nvPr/>
        </p:nvSpPr>
        <p:spPr>
          <a:xfrm>
            <a:off x="1920240" y="1664208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~8 min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685800" y="2167128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Panels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3246120" y="1417320"/>
            <a:ext cx="2606040" cy="1371600"/>
          </a:xfrm>
          <a:prstGeom prst="roundRect">
            <a:avLst>
              <a:gd name="adj" fmla="val 5333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474720" y="160020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B4530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4709160" y="1664208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~9 min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3474720" y="2167128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Burn Rate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035040" y="1417320"/>
            <a:ext cx="2606040" cy="1371600"/>
          </a:xfrm>
          <a:prstGeom prst="roundRect">
            <a:avLst>
              <a:gd name="adj" fmla="val 5333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263640" y="160020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B4530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800" dirty="0"/>
          </a:p>
        </p:txBody>
      </p:sp>
      <p:sp>
        <p:nvSpPr>
          <p:cNvPr id="16" name="Text 14"/>
          <p:cNvSpPr txBox="1"/>
          <p:nvPr/>
        </p:nvSpPr>
        <p:spPr>
          <a:xfrm>
            <a:off x="7498080" y="1664208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~9 min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6263640" y="2167128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Routing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457200" y="2971800"/>
            <a:ext cx="2606040" cy="1371600"/>
          </a:xfrm>
          <a:prstGeom prst="roundRect">
            <a:avLst>
              <a:gd name="adj" fmla="val 5333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85800" y="315468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B4530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800" dirty="0"/>
          </a:p>
        </p:txBody>
      </p:sp>
      <p:sp>
        <p:nvSpPr>
          <p:cNvPr id="20" name="Text 18"/>
          <p:cNvSpPr txBox="1"/>
          <p:nvPr/>
        </p:nvSpPr>
        <p:spPr>
          <a:xfrm>
            <a:off x="1920240" y="3218688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~7 min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685800" y="3721608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Caching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3246120" y="2971800"/>
            <a:ext cx="2606040" cy="1371600"/>
          </a:xfrm>
          <a:prstGeom prst="roundRect">
            <a:avLst>
              <a:gd name="adj" fmla="val 5333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3474720" y="315468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B4530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2800" dirty="0"/>
          </a:p>
        </p:txBody>
      </p:sp>
      <p:sp>
        <p:nvSpPr>
          <p:cNvPr id="24" name="Text 22"/>
          <p:cNvSpPr txBox="1"/>
          <p:nvPr/>
        </p:nvSpPr>
        <p:spPr>
          <a:xfrm>
            <a:off x="4709160" y="3218688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~8 min</a:t>
            </a:r>
            <a:endParaRPr lang="en-US" sz="1100" dirty="0"/>
          </a:p>
        </p:txBody>
      </p:sp>
      <p:sp>
        <p:nvSpPr>
          <p:cNvPr id="25" name="Text 23"/>
          <p:cNvSpPr txBox="1"/>
          <p:nvPr/>
        </p:nvSpPr>
        <p:spPr>
          <a:xfrm>
            <a:off x="3474720" y="3721608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Review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6035040" y="2971800"/>
            <a:ext cx="2606040" cy="1371600"/>
          </a:xfrm>
          <a:prstGeom prst="roundRect">
            <a:avLst>
              <a:gd name="adj" fmla="val 5333"/>
            </a:avLst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6263640" y="315468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F59E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2800" dirty="0"/>
          </a:p>
        </p:txBody>
      </p:sp>
      <p:sp>
        <p:nvSpPr>
          <p:cNvPr id="28" name="Text 26"/>
          <p:cNvSpPr txBox="1"/>
          <p:nvPr/>
        </p:nvSpPr>
        <p:spPr>
          <a:xfrm>
            <a:off x="7498080" y="3218688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~9 min</a:t>
            </a:r>
            <a:endParaRPr lang="en-US" sz="1100" dirty="0"/>
          </a:p>
        </p:txBody>
      </p:sp>
      <p:sp>
        <p:nvSpPr>
          <p:cNvPr id="29" name="Text 27"/>
          <p:cNvSpPr txBox="1"/>
          <p:nvPr/>
        </p:nvSpPr>
        <p:spPr>
          <a:xfrm>
            <a:off x="6263640" y="3721608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It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YOU START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48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118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Install what you need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0060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Cost Control · Module 6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7772400" y="48006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1887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 minutes once, and every command in this module will run. Pick your side.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1600200"/>
            <a:ext cx="4023360" cy="2148840"/>
          </a:xfrm>
          <a:prstGeom prst="roundRect">
            <a:avLst>
              <a:gd name="adj" fmla="val 3404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85800" y="173736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macOS  ·  TERMINAL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85800" y="2057400"/>
            <a:ext cx="3566160" cy="1508760"/>
          </a:xfrm>
          <a:prstGeom prst="roundRect">
            <a:avLst>
              <a:gd name="adj" fmla="val 4848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68680" y="2194560"/>
            <a:ext cx="32918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9CA3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install Homebrew first: brew.sh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brew install python git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brew install --cask docker \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visual-studio-code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docker --version &amp;&amp; python3 --version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663440" y="1600200"/>
            <a:ext cx="4023360" cy="2148840"/>
          </a:xfrm>
          <a:prstGeom prst="roundRect">
            <a:avLst>
              <a:gd name="adj" fmla="val 3404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892040" y="173736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WINDOWS  ·  POWERSHELL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892040" y="2057400"/>
            <a:ext cx="3566160" cy="1508760"/>
          </a:xfrm>
          <a:prstGeom prst="roundRect">
            <a:avLst>
              <a:gd name="adj" fmla="val 4848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074920" y="2194560"/>
            <a:ext cx="32918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9CA3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winget ships with Windows 11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winget install Python.Python.3.12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winget install Git.Git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winget install Docker.DockerDesktop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winget install \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Microsoft.VisualStudioCode</a:t>
            </a:r>
            <a:endParaRPr lang="en-US" sz="950" dirty="0"/>
          </a:p>
        </p:txBody>
      </p:sp>
      <p:sp>
        <p:nvSpPr>
          <p:cNvPr id="15" name="Text 13"/>
          <p:cNvSpPr txBox="1"/>
          <p:nvPr/>
        </p:nvSpPr>
        <p:spPr>
          <a:xfrm>
            <a:off x="457200" y="38404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MODULE 6 ADDS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57200" y="4114800"/>
            <a:ext cx="2606040" cy="594360"/>
          </a:xfrm>
          <a:prstGeom prst="roundRect">
            <a:avLst>
              <a:gd name="adj" fmla="val 12308"/>
            </a:avLst>
          </a:prstGeom>
          <a:solidFill>
            <a:srgbClr val="ECFDF5"/>
          </a:solidFill>
          <a:ln w="12700">
            <a:solidFill>
              <a:srgbClr val="ECFDF5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40080" y="41605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047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Desktop</a:t>
            </a:r>
            <a:endParaRPr lang="en-US" sz="1150" dirty="0"/>
          </a:p>
        </p:txBody>
      </p:sp>
      <p:sp>
        <p:nvSpPr>
          <p:cNvPr id="18" name="Text 16"/>
          <p:cNvSpPr txBox="1"/>
          <p:nvPr/>
        </p:nvSpPr>
        <p:spPr>
          <a:xfrm>
            <a:off x="640080" y="4407408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run Prometheus and Grafana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3246120" y="4114800"/>
            <a:ext cx="2606040" cy="594360"/>
          </a:xfrm>
          <a:prstGeom prst="roundRect">
            <a:avLst>
              <a:gd name="adj" fmla="val 12308"/>
            </a:avLst>
          </a:prstGeom>
          <a:solidFill>
            <a:srgbClr val="ECFDF5"/>
          </a:solidFill>
          <a:ln w="12700">
            <a:solidFill>
              <a:srgbClr val="ECFDF5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3429000" y="41605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047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Grafana</a:t>
            </a:r>
            <a:endParaRPr lang="en-US" sz="1150" dirty="0"/>
          </a:p>
        </p:txBody>
      </p:sp>
      <p:sp>
        <p:nvSpPr>
          <p:cNvPr id="21" name="Text 19"/>
          <p:cNvSpPr txBox="1"/>
          <p:nvPr/>
        </p:nvSpPr>
        <p:spPr>
          <a:xfrm>
            <a:off x="3429000" y="4407408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the four panels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6035040" y="4114800"/>
            <a:ext cx="2606040" cy="594360"/>
          </a:xfrm>
          <a:prstGeom prst="roundRect">
            <a:avLst>
              <a:gd name="adj" fmla="val 12308"/>
            </a:avLst>
          </a:prstGeom>
          <a:solidFill>
            <a:srgbClr val="ECFDF5"/>
          </a:solidFill>
          <a:ln w="12700">
            <a:solidFill>
              <a:srgbClr val="ECFDF5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217920" y="41605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047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calendar invite</a:t>
            </a:r>
            <a:endParaRPr lang="en-US" sz="1150" dirty="0"/>
          </a:p>
        </p:txBody>
      </p:sp>
      <p:sp>
        <p:nvSpPr>
          <p:cNvPr id="24" name="Text 22"/>
          <p:cNvSpPr txBox="1"/>
          <p:nvPr/>
        </p:nvSpPr>
        <p:spPr>
          <a:xfrm>
            <a:off x="6217920" y="4407408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the weekly review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YOU START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48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118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Watch these before you install anything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0060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Cost Control · Module 6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7772400" y="48006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1430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short videos take you from a blank machine to Git, Python and VS Code installed. Pick the one for your computer.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1554480"/>
            <a:ext cx="4023360" cy="1371600"/>
          </a:xfrm>
          <a:prstGeom prst="roundRect">
            <a:avLst>
              <a:gd name="adj" fmla="val 5333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85800" y="1737360"/>
            <a:ext cx="1143000" cy="292608"/>
          </a:xfrm>
          <a:prstGeom prst="roundRect">
            <a:avLst>
              <a:gd name="adj" fmla="val 50000"/>
            </a:avLst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85800" y="1737360"/>
            <a:ext cx="1143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macOS</a:t>
            </a:r>
            <a:endParaRPr lang="en-US" sz="950" dirty="0"/>
          </a:p>
        </p:txBody>
      </p:sp>
      <p:sp>
        <p:nvSpPr>
          <p:cNvPr id="10" name="Text 8"/>
          <p:cNvSpPr txBox="1"/>
          <p:nvPr/>
        </p:nvSpPr>
        <p:spPr>
          <a:xfrm>
            <a:off x="685800" y="2121408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 Git, Python and VS Code on a Mac</a:t>
            </a:r>
            <a:endParaRPr lang="en-US" sz="1400" dirty="0"/>
          </a:p>
        </p:txBody>
      </p:sp>
      <p:sp>
        <p:nvSpPr>
          <p:cNvPr id="11" name="Text 9">
            <a:hlinkClick r:id="rId1" tooltip=""/>
          </p:cNvPr>
          <p:cNvSpPr txBox="1"/>
          <p:nvPr/>
        </p:nvSpPr>
        <p:spPr>
          <a:xfrm>
            <a:off x="685800" y="256032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u="sng" dirty="0">
                <a:solidFill>
                  <a:srgbClr val="1D4E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https://youtu.be/8ZIiXg4XOY0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663440" y="1554480"/>
            <a:ext cx="4023360" cy="1371600"/>
          </a:xfrm>
          <a:prstGeom prst="roundRect">
            <a:avLst>
              <a:gd name="adj" fmla="val 5333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892040" y="1737360"/>
            <a:ext cx="1143000" cy="292608"/>
          </a:xfrm>
          <a:prstGeom prst="roundRect">
            <a:avLst>
              <a:gd name="adj" fmla="val 50000"/>
            </a:avLst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892040" y="1737360"/>
            <a:ext cx="1143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WINDOWS</a:t>
            </a:r>
            <a:endParaRPr lang="en-US" sz="950" dirty="0"/>
          </a:p>
        </p:txBody>
      </p:sp>
      <p:sp>
        <p:nvSpPr>
          <p:cNvPr id="15" name="Text 13"/>
          <p:cNvSpPr txBox="1"/>
          <p:nvPr/>
        </p:nvSpPr>
        <p:spPr>
          <a:xfrm>
            <a:off x="4892040" y="2121408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 Git, Python and VS Code on Windows</a:t>
            </a:r>
            <a:endParaRPr lang="en-US" sz="1400" dirty="0"/>
          </a:p>
        </p:txBody>
      </p:sp>
      <p:sp>
        <p:nvSpPr>
          <p:cNvPr id="16" name="Text 14">
            <a:hlinkClick r:id="rId2" tooltip=""/>
          </p:cNvPr>
          <p:cNvSpPr txBox="1"/>
          <p:nvPr/>
        </p:nvSpPr>
        <p:spPr>
          <a:xfrm>
            <a:off x="4892040" y="256032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u="sng" dirty="0">
                <a:solidFill>
                  <a:srgbClr val="6D28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https://youtu.be/3e2-GRBibWc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457200" y="31089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OFFICIAL PAGES, IF YOU PREFER TO READ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57200" y="3429000"/>
            <a:ext cx="4023360" cy="566928"/>
          </a:xfrm>
          <a:prstGeom prst="roundRect">
            <a:avLst>
              <a:gd name="adj" fmla="val 12903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58368" y="3483864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Desktop</a:t>
            </a:r>
            <a:endParaRPr lang="en-US" sz="1150" dirty="0"/>
          </a:p>
        </p:txBody>
      </p:sp>
      <p:sp>
        <p:nvSpPr>
          <p:cNvPr id="20" name="Text 18"/>
          <p:cNvSpPr txBox="1"/>
          <p:nvPr/>
        </p:nvSpPr>
        <p:spPr>
          <a:xfrm>
            <a:off x="658368" y="3721608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 for Mac and Windows</a:t>
            </a:r>
            <a:endParaRPr lang="en-US" sz="900" dirty="0"/>
          </a:p>
        </p:txBody>
      </p:sp>
      <p:sp>
        <p:nvSpPr>
          <p:cNvPr id="21" name="Text 19">
            <a:hlinkClick r:id="rId3" tooltip=""/>
          </p:cNvPr>
          <p:cNvSpPr txBox="1"/>
          <p:nvPr/>
        </p:nvSpPr>
        <p:spPr>
          <a:xfrm>
            <a:off x="2651760" y="3429000"/>
            <a:ext cx="1737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u="sng" dirty="0">
                <a:solidFill>
                  <a:srgbClr val="6D28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docs.docker.com/desktop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4663440" y="3429000"/>
            <a:ext cx="4023360" cy="566928"/>
          </a:xfrm>
          <a:prstGeom prst="roundRect">
            <a:avLst>
              <a:gd name="adj" fmla="val 12903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4864608" y="3483864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Grafana with Prometheus</a:t>
            </a:r>
            <a:endParaRPr lang="en-US" sz="1150" dirty="0"/>
          </a:p>
        </p:txBody>
      </p:sp>
      <p:sp>
        <p:nvSpPr>
          <p:cNvPr id="24" name="Text 22"/>
          <p:cNvSpPr txBox="1"/>
          <p:nvPr/>
        </p:nvSpPr>
        <p:spPr>
          <a:xfrm>
            <a:off x="4864608" y="3721608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Official getting-started guide</a:t>
            </a:r>
            <a:endParaRPr lang="en-US" sz="900" dirty="0"/>
          </a:p>
        </p:txBody>
      </p:sp>
      <p:sp>
        <p:nvSpPr>
          <p:cNvPr id="25" name="Text 23">
            <a:hlinkClick r:id="rId4" tooltip=""/>
          </p:cNvPr>
          <p:cNvSpPr txBox="1"/>
          <p:nvPr/>
        </p:nvSpPr>
        <p:spPr>
          <a:xfrm>
            <a:off x="6858000" y="3429000"/>
            <a:ext cx="1737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u="sng" dirty="0">
                <a:solidFill>
                  <a:srgbClr val="6D28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  <a:hlinkClick r:id="rId4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grafana.com · basics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457200" y="4087368"/>
            <a:ext cx="4023360" cy="566928"/>
          </a:xfrm>
          <a:prstGeom prst="roundRect">
            <a:avLst>
              <a:gd name="adj" fmla="val 12903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658368" y="4142232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Alerting rules</a:t>
            </a:r>
            <a:endParaRPr lang="en-US" sz="1150" dirty="0"/>
          </a:p>
        </p:txBody>
      </p:sp>
      <p:sp>
        <p:nvSpPr>
          <p:cNvPr id="28" name="Text 26"/>
          <p:cNvSpPr txBox="1"/>
          <p:nvPr/>
        </p:nvSpPr>
        <p:spPr>
          <a:xfrm>
            <a:off x="658368" y="4379976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Official Prometheus guide</a:t>
            </a:r>
            <a:endParaRPr lang="en-US" sz="900" dirty="0"/>
          </a:p>
        </p:txBody>
      </p:sp>
      <p:sp>
        <p:nvSpPr>
          <p:cNvPr id="29" name="Text 27">
            <a:hlinkClick r:id="rId5" tooltip=""/>
          </p:cNvPr>
          <p:cNvSpPr txBox="1"/>
          <p:nvPr/>
        </p:nvSpPr>
        <p:spPr>
          <a:xfrm>
            <a:off x="2651760" y="4087368"/>
            <a:ext cx="1737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u="sng" dirty="0">
                <a:solidFill>
                  <a:srgbClr val="6D28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  <a:hlinkClick r:id="rId5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prometheus.io · alerts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4663440" y="4087368"/>
            <a:ext cx="4023360" cy="566928"/>
          </a:xfrm>
          <a:prstGeom prst="roundRect">
            <a:avLst>
              <a:gd name="adj" fmla="val 12903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4864608" y="4142232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Grafana panels</a:t>
            </a:r>
            <a:endParaRPr lang="en-US" sz="1150" dirty="0"/>
          </a:p>
        </p:txBody>
      </p:sp>
      <p:sp>
        <p:nvSpPr>
          <p:cNvPr id="32" name="Text 30"/>
          <p:cNvSpPr txBox="1"/>
          <p:nvPr/>
        </p:nvSpPr>
        <p:spPr>
          <a:xfrm>
            <a:off x="4864608" y="4379976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build and title a panel</a:t>
            </a:r>
            <a:endParaRPr lang="en-US" sz="900" dirty="0"/>
          </a:p>
        </p:txBody>
      </p:sp>
      <p:sp>
        <p:nvSpPr>
          <p:cNvPr id="33" name="Text 31">
            <a:hlinkClick r:id="rId6" tooltip=""/>
          </p:cNvPr>
          <p:cNvSpPr txBox="1"/>
          <p:nvPr/>
        </p:nvSpPr>
        <p:spPr>
          <a:xfrm>
            <a:off x="6858000" y="4087368"/>
            <a:ext cx="1737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u="sng" dirty="0">
                <a:solidFill>
                  <a:srgbClr val="6D28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  <a:hlinkClick r:id="rId6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grafana.com · panels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005840"/>
            <a:ext cx="2743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600" b="1" dirty="0">
                <a:solidFill>
                  <a:srgbClr val="F59E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9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240280"/>
            <a:ext cx="8046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 Panels. Not Fourteen.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6118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~8 min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FOUR PANELS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48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118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Each panel answers a question somebody asks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0060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Cost Control · Module 6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7772400" y="48006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234440"/>
            <a:ext cx="4023360" cy="1325880"/>
          </a:xfrm>
          <a:prstGeom prst="roundRect">
            <a:avLst>
              <a:gd name="adj" fmla="val 5517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85800" y="1371600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are we spending?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173736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per hour, this week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685800" y="205740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that normal for a Tuesday?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663440" y="1234440"/>
            <a:ext cx="4023360" cy="1325880"/>
          </a:xfrm>
          <a:prstGeom prst="roundRect">
            <a:avLst>
              <a:gd name="adj" fmla="val 5517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892040" y="1371600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it buying us?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4892040" y="173736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per successful task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4892040" y="205740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047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5's number; the one that matters.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457200" y="2743200"/>
            <a:ext cx="4023360" cy="1325880"/>
          </a:xfrm>
          <a:prstGeom prst="roundRect">
            <a:avLst>
              <a:gd name="adj" fmla="val 5517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85800" y="2880360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is spending it?</a:t>
            </a:r>
            <a:endParaRPr lang="en-US" sz="1700" dirty="0"/>
          </a:p>
        </p:txBody>
      </p:sp>
      <p:sp>
        <p:nvSpPr>
          <p:cNvPr id="16" name="Text 14"/>
          <p:cNvSpPr txBox="1"/>
          <p:nvPr/>
        </p:nvSpPr>
        <p:spPr>
          <a:xfrm>
            <a:off x="685800" y="324612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by team, this month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685800" y="356616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the bill has somewhere to go.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4663440" y="2743200"/>
            <a:ext cx="4023360" cy="1325880"/>
          </a:xfrm>
          <a:prstGeom prst="roundRect">
            <a:avLst>
              <a:gd name="adj" fmla="val 5517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4892040" y="2880360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much is wasted?</a:t>
            </a:r>
            <a:endParaRPr lang="en-US" sz="1700" dirty="0"/>
          </a:p>
        </p:txBody>
      </p:sp>
      <p:sp>
        <p:nvSpPr>
          <p:cNvPr id="20" name="Text 18"/>
          <p:cNvSpPr txBox="1"/>
          <p:nvPr/>
        </p:nvSpPr>
        <p:spPr>
          <a:xfrm>
            <a:off x="4892040" y="324612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failed-run tax over time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4892040" y="356616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4's number, watched weekly.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457200" y="4297680"/>
            <a:ext cx="8229600" cy="548640"/>
          </a:xfrm>
          <a:prstGeom prst="roundRect">
            <a:avLst>
              <a:gd name="adj" fmla="val 13333"/>
            </a:avLst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457200" y="42976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you cannot say out loud what question a panel answers, delete the panel.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FOUR PANELS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48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118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Title it with the question, not the metric name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0060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Cost Control · Module 6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7772400" y="48006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371600"/>
            <a:ext cx="4023360" cy="1737360"/>
          </a:xfrm>
          <a:prstGeom prst="roundRect">
            <a:avLst>
              <a:gd name="adj" fmla="val 4211"/>
            </a:avLst>
          </a:prstGeom>
          <a:solidFill>
            <a:srgbClr val="FEF2F2"/>
          </a:solidFill>
          <a:ln w="12700">
            <a:solidFill>
              <a:srgbClr val="FEF2F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85800" y="150876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READABLE BY ITS AUTHOR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685800" y="1828800"/>
            <a:ext cx="3566160" cy="640080"/>
          </a:xfrm>
          <a:prstGeom prst="roundRect">
            <a:avLst>
              <a:gd name="adj" fmla="val 11429"/>
            </a:avLst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77240" y="1828800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agent_cost_usd_total rate 1h</a:t>
            </a:r>
            <a:endParaRPr lang="en-US" sz="1050" dirty="0"/>
          </a:p>
        </p:txBody>
      </p:sp>
      <p:sp>
        <p:nvSpPr>
          <p:cNvPr id="10" name="Text 8"/>
          <p:cNvSpPr txBox="1"/>
          <p:nvPr/>
        </p:nvSpPr>
        <p:spPr>
          <a:xfrm>
            <a:off x="685800" y="256032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query with a name. Nobody else opens it twice.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663440" y="1371600"/>
            <a:ext cx="4023360" cy="1737360"/>
          </a:xfrm>
          <a:prstGeom prst="roundRect">
            <a:avLst>
              <a:gd name="adj" fmla="val 4211"/>
            </a:avLst>
          </a:prstGeom>
          <a:solidFill>
            <a:srgbClr val="ECFDF5"/>
          </a:solidFill>
          <a:ln w="12700">
            <a:solidFill>
              <a:srgbClr val="ECFDF5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892040" y="150876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047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READABLE BY YOUR MANAGER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892040" y="1828800"/>
            <a:ext cx="3566160" cy="640080"/>
          </a:xfrm>
          <a:prstGeom prst="roundRect">
            <a:avLst>
              <a:gd name="adj" fmla="val 11429"/>
            </a:avLst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983480" y="1828800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are we spending?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4892040" y="256032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entire point of a dashboard rather than a query.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57200" y="3383280"/>
            <a:ext cx="8229600" cy="1097280"/>
          </a:xfrm>
          <a:prstGeom prst="roundRect">
            <a:avLst>
              <a:gd name="adj" fmla="val 6667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31520" y="3383280"/>
            <a:ext cx="7680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extra chart makes the important ones harder to find. 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Twenty panels feels thorough; after two weeks people stop opening it.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005840"/>
            <a:ext cx="2743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600" b="1" dirty="0">
                <a:solidFill>
                  <a:srgbClr val="F59E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9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240280"/>
            <a:ext cx="8046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Alert on the Rate, Not the Total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6118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~9 min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BURN RATE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48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118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fast, not how much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0060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Cost Control · Module 6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7772400" y="48006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234440"/>
            <a:ext cx="4023360" cy="1554480"/>
          </a:xfrm>
          <a:prstGeom prst="roundRect">
            <a:avLst>
              <a:gd name="adj" fmla="val 4706"/>
            </a:avLst>
          </a:prstGeom>
          <a:solidFill>
            <a:srgbClr val="FEF2F2"/>
          </a:solidFill>
          <a:ln w="12700">
            <a:solidFill>
              <a:srgbClr val="FEF2F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85800" y="137160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 ON THE TOTAL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1691640"/>
            <a:ext cx="3566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"Tell me when we have spent $500 this month." By the time it fires, you have already spent $500. It is a report on something finished.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4663440" y="1234440"/>
            <a:ext cx="4023360" cy="1554480"/>
          </a:xfrm>
          <a:prstGeom prst="roundRect">
            <a:avLst>
              <a:gd name="adj" fmla="val 4706"/>
            </a:avLst>
          </a:prstGeom>
          <a:solidFill>
            <a:srgbClr val="ECFDF5"/>
          </a:solidFill>
          <a:ln w="12700">
            <a:solidFill>
              <a:srgbClr val="ECFDF5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892040" y="137160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047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 ON THE RATE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892040" y="1691640"/>
            <a:ext cx="3566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"At this rate we will hit the budget in two days." Nothing has gone wrong yet; the slope is telling you something is wrong right now.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457200" y="3017520"/>
            <a:ext cx="2606040" cy="1097280"/>
          </a:xfrm>
          <a:prstGeom prst="roundRect">
            <a:avLst>
              <a:gd name="adj" fmla="val 6667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58368" y="315468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047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658368" y="3456432"/>
            <a:ext cx="2240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gentle slope that reaches the top at the end of the month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3246120" y="3017520"/>
            <a:ext cx="2606040" cy="1097280"/>
          </a:xfrm>
          <a:prstGeom prst="roundRect">
            <a:avLst>
              <a:gd name="adj" fmla="val 6667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3447288" y="315468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 BURN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3447288" y="3456432"/>
            <a:ext cx="2240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steeper; gone in a week if nothing changes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6035040" y="3017520"/>
            <a:ext cx="2606040" cy="1097280"/>
          </a:xfrm>
          <a:prstGeom prst="roundRect">
            <a:avLst>
              <a:gd name="adj" fmla="val 6667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236208" y="315468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BURN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6236208" y="3456432"/>
            <a:ext cx="2240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very steep; gone in two days, and it has spent almost nothing yet</a:t>
            </a:r>
            <a:endParaRPr lang="en-US" sz="1150" dirty="0"/>
          </a:p>
        </p:txBody>
      </p:sp>
      <p:sp>
        <p:nvSpPr>
          <p:cNvPr id="21" name="Text 19"/>
          <p:cNvSpPr txBox="1"/>
          <p:nvPr/>
        </p:nvSpPr>
        <p:spPr>
          <a:xfrm>
            <a:off x="457200" y="42519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Burn rate: how fast the budget is being consumed, compared with how fast it should be. The runaway from module one would have tripped it within minutes.</a:t>
            </a:r>
            <a:endParaRPr lang="en-US" sz="12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BURN RATE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48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118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windows; two speeds of response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0060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Cost Control · Module 6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7772400" y="48006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280160"/>
            <a:ext cx="4023360" cy="1828800"/>
          </a:xfrm>
          <a:prstGeom prst="roundRect">
            <a:avLst>
              <a:gd name="adj" fmla="val 4000"/>
            </a:avLst>
          </a:prstGeom>
          <a:solidFill>
            <a:srgbClr val="FEF2F2"/>
          </a:solidFill>
          <a:ln w="12700">
            <a:solidFill>
              <a:srgbClr val="FEF2F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85800" y="141732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WINDOW  ·  LAST 1 HOUR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1737360"/>
            <a:ext cx="3566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Fires within minutes. Catches the sharp problems: a runaway loop, an agent gone mad.</a:t>
            </a:r>
            <a:endParaRPr lang="en-US" sz="1350" dirty="0"/>
          </a:p>
        </p:txBody>
      </p:sp>
      <p:sp>
        <p:nvSpPr>
          <p:cNvPr id="9" name="Text 7"/>
          <p:cNvSpPr txBox="1"/>
          <p:nvPr/>
        </p:nvSpPr>
        <p:spPr>
          <a:xfrm>
            <a:off x="685800" y="260604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Worth waking someone up for.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663440" y="1280160"/>
            <a:ext cx="4023360" cy="1828800"/>
          </a:xfrm>
          <a:prstGeom prst="roundRect">
            <a:avLst>
              <a:gd name="adj" fmla="val 4000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892040" y="141732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 WINDOW  ·  LAST 24 HOURS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4892040" y="1737360"/>
            <a:ext cx="3566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Fires in hours. Catches the quiet drift: slightly too high every hour, adding up to a bad month.</a:t>
            </a:r>
            <a:endParaRPr lang="en-US" sz="1350" dirty="0"/>
          </a:p>
        </p:txBody>
      </p:sp>
      <p:sp>
        <p:nvSpPr>
          <p:cNvPr id="13" name="Text 11"/>
          <p:cNvSpPr txBox="1"/>
          <p:nvPr/>
        </p:nvSpPr>
        <p:spPr>
          <a:xfrm>
            <a:off x="4892040" y="260604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Mention it at standup.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57200" y="3291840"/>
            <a:ext cx="8229600" cy="685800"/>
          </a:xfrm>
          <a:prstGeom prst="roundRect">
            <a:avLst>
              <a:gd name="adj" fmla="val 10667"/>
            </a:avLst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31520" y="3291840"/>
            <a:ext cx="7680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alert cannot do both. Fast enough to catch the runaway means waking you for every busy afternoon.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457200" y="4114800"/>
            <a:ext cx="8229600" cy="640080"/>
          </a:xfrm>
          <a:prstGeom prst="roundRect">
            <a:avLst>
              <a:gd name="adj" fmla="val 11429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31520" y="411480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cap is the seatbelt; the alert is the dashboard light. </a:t>
            </a:r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3's cap stops the bleeding whether anyone answers the page or not.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005840"/>
            <a:ext cx="2743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600" b="1" dirty="0">
                <a:solidFill>
                  <a:srgbClr val="F59E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9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240280"/>
            <a:ext cx="8046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 Every Step Needs the Expensive Model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6118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~9 min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ROUTING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48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118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Send the easy steps to the cheaper model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0060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Cost Control · Module 6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7772400" y="48006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1887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twelve-step agent task is not twelve equally difficult steps. Most of them are ordinary; two or three are the actual hard part.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1737360"/>
            <a:ext cx="4023360" cy="1371600"/>
          </a:xfrm>
          <a:prstGeom prst="roundRect">
            <a:avLst>
              <a:gd name="adj" fmla="val 5333"/>
            </a:avLst>
          </a:prstGeom>
          <a:solidFill>
            <a:srgbClr val="FEF2F2"/>
          </a:solidFill>
          <a:ln w="12700">
            <a:solidFill>
              <a:srgbClr val="FEF2F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85800" y="187452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EXPENSIVE MODEL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685800" y="219456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  ·  decide  ·  write  ·  judge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685800" y="256032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reasoning and the judgement; the bit that needed a capable model.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663440" y="1737360"/>
            <a:ext cx="4023360" cy="1371600"/>
          </a:xfrm>
          <a:prstGeom prst="roundRect">
            <a:avLst>
              <a:gd name="adj" fmla="val 5333"/>
            </a:avLst>
          </a:prstGeom>
          <a:solidFill>
            <a:srgbClr val="ECFDF5"/>
          </a:solidFill>
          <a:ln w="12700">
            <a:solidFill>
              <a:srgbClr val="ECFDF5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892040" y="187452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047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CHEAP MODEL</a:t>
            </a:r>
            <a:endParaRPr lang="en-US" sz="1000" dirty="0"/>
          </a:p>
        </p:txBody>
      </p:sp>
      <p:sp>
        <p:nvSpPr>
          <p:cNvPr id="13" name="Text 11"/>
          <p:cNvSpPr txBox="1"/>
          <p:nvPr/>
        </p:nvSpPr>
        <p:spPr>
          <a:xfrm>
            <a:off x="4892040" y="219456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classify  ·  extract  ·  format  ·  route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4892040" y="256032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ordinary steps that would be boring for a person to do.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7200" y="3246120"/>
            <a:ext cx="8229600" cy="594360"/>
          </a:xfrm>
          <a:prstGeom prst="roundRect">
            <a:avLst>
              <a:gd name="adj" fmla="val 12308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31520" y="3246120"/>
            <a:ext cx="4572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on the expensive model</a:t>
            </a:r>
            <a:endParaRPr lang="en-US" sz="1350" dirty="0"/>
          </a:p>
        </p:txBody>
      </p:sp>
      <p:sp>
        <p:nvSpPr>
          <p:cNvPr id="17" name="Text 15"/>
          <p:cNvSpPr txBox="1"/>
          <p:nvPr/>
        </p:nvSpPr>
        <p:spPr>
          <a:xfrm>
            <a:off x="5486400" y="3246120"/>
            <a:ext cx="1280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steps</a:t>
            </a:r>
            <a:endParaRPr lang="en-US" sz="1250" dirty="0"/>
          </a:p>
        </p:txBody>
      </p:sp>
      <p:sp>
        <p:nvSpPr>
          <p:cNvPr id="18" name="Text 16"/>
          <p:cNvSpPr txBox="1"/>
          <p:nvPr/>
        </p:nvSpPr>
        <p:spPr>
          <a:xfrm>
            <a:off x="6949440" y="3246120"/>
            <a:ext cx="1554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$0.31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457200" y="3931920"/>
            <a:ext cx="8229600" cy="594360"/>
          </a:xfrm>
          <a:prstGeom prst="roundRect">
            <a:avLst>
              <a:gd name="adj" fmla="val 12308"/>
            </a:avLst>
          </a:prstGeom>
          <a:solidFill>
            <a:srgbClr val="ECFDF5"/>
          </a:solidFill>
          <a:ln w="12700">
            <a:solidFill>
              <a:srgbClr val="ECFDF5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31520" y="3931920"/>
            <a:ext cx="4572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Nine cheap steps and three expensive ones</a:t>
            </a:r>
            <a:endParaRPr lang="en-US" sz="1350" dirty="0"/>
          </a:p>
        </p:txBody>
      </p:sp>
      <p:sp>
        <p:nvSpPr>
          <p:cNvPr id="21" name="Text 19"/>
          <p:cNvSpPr txBox="1"/>
          <p:nvPr/>
        </p:nvSpPr>
        <p:spPr>
          <a:xfrm>
            <a:off x="5486400" y="3931920"/>
            <a:ext cx="1280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steps</a:t>
            </a:r>
            <a:endParaRPr lang="en-US" sz="1250" dirty="0"/>
          </a:p>
        </p:txBody>
      </p:sp>
      <p:sp>
        <p:nvSpPr>
          <p:cNvPr id="22" name="Text 20"/>
          <p:cNvSpPr txBox="1"/>
          <p:nvPr/>
        </p:nvSpPr>
        <p:spPr>
          <a:xfrm>
            <a:off x="6949440" y="3931920"/>
            <a:ext cx="1554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0478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$0.11</a:t>
            </a:r>
            <a:endParaRPr lang="en-US" sz="2000" dirty="0"/>
          </a:p>
        </p:txBody>
      </p:sp>
      <p:sp>
        <p:nvSpPr>
          <p:cNvPr id="23" name="Text 21"/>
          <p:cNvSpPr txBox="1"/>
          <p:nvPr/>
        </p:nvSpPr>
        <p:spPr>
          <a:xfrm>
            <a:off x="457200" y="46634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047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answer, same quality, about sixty-five percent less.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ROUTING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80060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Cost Control · Module 6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7772400" y="48006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00584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 routing last, not first.</a:t>
            </a:r>
            <a:endParaRPr lang="en-US" sz="38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2011680"/>
            <a:ext cx="7863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Routing is the only change in this entire course that can make your answers worse. Caps, loop detection and checkpoints cost you nothing in quality; you are simply not buying things twice. Routing genuinely trades quality for money, even if only a little.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3154680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People get this backwards constantly: switching models is the first thing everyone reaches for, and then they spend weeks arguing about whether quality dropped.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402336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the waste first. It is free. Then route, one step type at a time, checking as you go.</a:t>
            </a:r>
            <a:endParaRPr lang="en-US" sz="16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005840"/>
            <a:ext cx="2743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600" b="1" dirty="0">
                <a:solidFill>
                  <a:srgbClr val="F59E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9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240280"/>
            <a:ext cx="8046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Safe to Remember?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6118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~7 min</a:t>
            </a:r>
            <a:endParaRPr lang="en-US" sz="14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CACHING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48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118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categories, and one danger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0060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Cost Control · Module 6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7772400" y="48006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234440"/>
            <a:ext cx="2606040" cy="2377440"/>
          </a:xfrm>
          <a:prstGeom prst="roundRect">
            <a:avLst>
              <a:gd name="adj" fmla="val 3077"/>
            </a:avLst>
          </a:prstGeom>
          <a:solidFill>
            <a:srgbClr val="ECFDF5"/>
          </a:solidFill>
          <a:ln w="12700">
            <a:solidFill>
              <a:srgbClr val="ECFDF5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58368" y="1371600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47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safe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658368" y="169164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answer cannot change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658368" y="2057400"/>
            <a:ext cx="22402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document summarised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fixed lookup table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last month's closed figures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246120" y="1234440"/>
            <a:ext cx="2606040" cy="2377440"/>
          </a:xfrm>
          <a:prstGeom prst="roundRect">
            <a:avLst>
              <a:gd name="adj" fmla="val 3077"/>
            </a:avLst>
          </a:prstGeom>
          <a:solidFill>
            <a:srgbClr val="FFFBEB"/>
          </a:solidFill>
          <a:ln w="12700">
            <a:solidFill>
              <a:srgbClr val="FFFBEB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447288" y="1371600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 for a while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3447288" y="169164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answer changes slowly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3447288" y="2057400"/>
            <a:ext cx="22402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descriptions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documents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help articles, with an expiry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035040" y="1234440"/>
            <a:ext cx="2606040" cy="2377440"/>
          </a:xfrm>
          <a:prstGeom prst="roundRect">
            <a:avLst>
              <a:gd name="adj" fmla="val 3077"/>
            </a:avLst>
          </a:prstGeom>
          <a:solidFill>
            <a:srgbClr val="FEF2F2"/>
          </a:solidFill>
          <a:ln w="12700">
            <a:solidFill>
              <a:srgbClr val="FEF2F2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236208" y="1371600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cache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6236208" y="169164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answer is personal or live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6236208" y="2057400"/>
            <a:ext cx="22402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anything about one customer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prices that move, stock levels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anything with a name in it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457200" y="3840480"/>
            <a:ext cx="8229600" cy="868680"/>
          </a:xfrm>
          <a:prstGeom prst="roundRect">
            <a:avLst>
              <a:gd name="adj" fmla="val 8421"/>
            </a:avLst>
          </a:prstGeom>
          <a:solidFill>
            <a:srgbClr val="FEF2F2"/>
          </a:solidFill>
          <a:ln w="12700">
            <a:solidFill>
              <a:srgbClr val="FEF2F2"/>
            </a:solidFill>
            <a:prstDash val="solid"/>
          </a:ln>
        </p:spPr>
      </p:sp>
      <p:pic>
        <p:nvPicPr>
          <p:cNvPr id="1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4069080"/>
            <a:ext cx="384048" cy="384048"/>
          </a:xfrm>
          <a:prstGeom prst="rect">
            <a:avLst/>
          </a:prstGeom>
        </p:spPr>
      </p:pic>
      <p:sp>
        <p:nvSpPr>
          <p:cNvPr id="20" name="Text 17"/>
          <p:cNvSpPr txBox="1"/>
          <p:nvPr/>
        </p:nvSpPr>
        <p:spPr>
          <a:xfrm>
            <a:off x="1325880" y="3840480"/>
            <a:ext cx="7132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cached answer leaking between customers is not a cost incident. </a:t>
            </a:r>
            <a:pPr indent="0" marL="0">
              <a:buNone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is a data breach, and no saving is worth that.</a:t>
            </a:r>
            <a:endParaRPr lang="en-US" sz="13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CACHING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80060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Cost Control · Module 6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7772400" y="48006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If two different people ask this,</a:t>
            </a:r>
            <a:endParaRPr lang="en-US" sz="3200" dirty="0"/>
          </a:p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should they get the same answer?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457200" y="2651760"/>
            <a:ext cx="4023360" cy="822960"/>
          </a:xfrm>
          <a:prstGeom prst="roundRect">
            <a:avLst>
              <a:gd name="adj" fmla="val 8889"/>
            </a:avLst>
          </a:prstGeom>
          <a:solidFill>
            <a:srgbClr val="047857"/>
          </a:solidFill>
          <a:ln w="12700">
            <a:solidFill>
              <a:srgbClr val="047857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57200" y="2651760"/>
            <a:ext cx="4023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  ·  safe to cache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4663440" y="2651760"/>
            <a:ext cx="4023360" cy="822960"/>
          </a:xfrm>
          <a:prstGeom prst="roundRect">
            <a:avLst>
              <a:gd name="adj" fmla="val 8889"/>
            </a:avLst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663440" y="2651760"/>
            <a:ext cx="4023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 ·  never cache it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3657600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question catches the staleness problems and the privacy ones too. When you are unsure: do not cache it. The saving from one more case is small; the cost of getting it wrong is not.</a:t>
            </a:r>
            <a:endParaRPr lang="en-US" sz="15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005840"/>
            <a:ext cx="2743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600" b="1" dirty="0">
                <a:solidFill>
                  <a:srgbClr val="F59E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9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240280"/>
            <a:ext cx="8046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Make It Somebody's Job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6118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~8 min</a:t>
            </a:r>
            <a:endParaRPr lang="en-US" sz="14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· THE REVIEW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48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118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 questions. Fifteen minutes. Once a week.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0060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Cost Control · Module 6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7772400" y="48006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234440"/>
            <a:ext cx="8229600" cy="731520"/>
          </a:xfrm>
          <a:prstGeom prst="roundRect">
            <a:avLst>
              <a:gd name="adj" fmla="val 10000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85800" y="1234440"/>
            <a:ext cx="365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B4530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8" name="Text 6"/>
          <p:cNvSpPr txBox="1"/>
          <p:nvPr/>
        </p:nvSpPr>
        <p:spPr>
          <a:xfrm>
            <a:off x="1097280" y="1234440"/>
            <a:ext cx="2651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Did anything change?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3840480" y="1234440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per successful task, this week vs last</a:t>
            </a:r>
            <a:endParaRPr lang="en-US" sz="1150" dirty="0"/>
          </a:p>
        </p:txBody>
      </p:sp>
      <p:sp>
        <p:nvSpPr>
          <p:cNvPr id="10" name="Text 8"/>
          <p:cNvSpPr txBox="1"/>
          <p:nvPr/>
        </p:nvSpPr>
        <p:spPr>
          <a:xfrm>
            <a:off x="6309360" y="123444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Moved more than 10%? Find out why first.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57200" y="2075688"/>
            <a:ext cx="8229600" cy="731520"/>
          </a:xfrm>
          <a:prstGeom prst="roundRect">
            <a:avLst>
              <a:gd name="adj" fmla="val 10000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85800" y="2075688"/>
            <a:ext cx="365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B4530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13" name="Text 11"/>
          <p:cNvSpPr txBox="1"/>
          <p:nvPr/>
        </p:nvSpPr>
        <p:spPr>
          <a:xfrm>
            <a:off x="1097280" y="2075688"/>
            <a:ext cx="2651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is spending most?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3840480" y="2075688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by team, this month</a:t>
            </a:r>
            <a:endParaRPr lang="en-US" sz="1150" dirty="0"/>
          </a:p>
        </p:txBody>
      </p:sp>
      <p:sp>
        <p:nvSpPr>
          <p:cNvPr id="15" name="Text 13"/>
          <p:cNvSpPr txBox="1"/>
          <p:nvPr/>
        </p:nvSpPr>
        <p:spPr>
          <a:xfrm>
            <a:off x="6309360" y="2075688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new bar usually means an agent nobody mentioned.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457200" y="2916936"/>
            <a:ext cx="8229600" cy="731520"/>
          </a:xfrm>
          <a:prstGeom prst="roundRect">
            <a:avLst>
              <a:gd name="adj" fmla="val 10000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85800" y="2916936"/>
            <a:ext cx="365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B4530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18" name="Text 16"/>
          <p:cNvSpPr txBox="1"/>
          <p:nvPr/>
        </p:nvSpPr>
        <p:spPr>
          <a:xfrm>
            <a:off x="1097280" y="2916936"/>
            <a:ext cx="2651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much was wasted?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3840480" y="2916936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failed-run tax, this week</a:t>
            </a:r>
            <a:endParaRPr lang="en-US" sz="1150" dirty="0"/>
          </a:p>
        </p:txBody>
      </p:sp>
      <p:sp>
        <p:nvSpPr>
          <p:cNvPr id="20" name="Text 18"/>
          <p:cNvSpPr txBox="1"/>
          <p:nvPr/>
        </p:nvSpPr>
        <p:spPr>
          <a:xfrm>
            <a:off x="6309360" y="2916936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Climbing means something is failing more than it used to.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457200" y="3758184"/>
            <a:ext cx="8229600" cy="731520"/>
          </a:xfrm>
          <a:prstGeom prst="roundRect">
            <a:avLst>
              <a:gd name="adj" fmla="val 10000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85800" y="3758184"/>
            <a:ext cx="365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B4530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200" dirty="0"/>
          </a:p>
        </p:txBody>
      </p:sp>
      <p:sp>
        <p:nvSpPr>
          <p:cNvPr id="23" name="Text 21"/>
          <p:cNvSpPr txBox="1"/>
          <p:nvPr/>
        </p:nvSpPr>
        <p:spPr>
          <a:xfrm>
            <a:off x="1097280" y="3758184"/>
            <a:ext cx="2651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Did any alert fire?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3840480" y="3758184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did anyone actually do anything</a:t>
            </a:r>
            <a:endParaRPr lang="en-US" sz="1150" dirty="0"/>
          </a:p>
        </p:txBody>
      </p:sp>
      <p:sp>
        <p:nvSpPr>
          <p:cNvPr id="25" name="Text 23"/>
          <p:cNvSpPr txBox="1"/>
          <p:nvPr/>
        </p:nvSpPr>
        <p:spPr>
          <a:xfrm>
            <a:off x="6309360" y="3758184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alert nobody acts on should be fixed or deleted.</a:t>
            </a:r>
            <a:endParaRPr lang="en-US" sz="1150" dirty="0"/>
          </a:p>
        </p:txBody>
      </p:sp>
      <p:sp>
        <p:nvSpPr>
          <p:cNvPr id="26" name="Text 24"/>
          <p:cNvSpPr txBox="1"/>
          <p:nvPr/>
        </p:nvSpPr>
        <p:spPr>
          <a:xfrm>
            <a:off x="457200" y="45720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 is as worth understanding as up; a sudden drop often means something stopped working rather than something got better.</a:t>
            </a:r>
            <a:endParaRPr lang="en-US" sz="12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· THE REVIEW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80060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Cost Control · Module 6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7772400" y="48006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09728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It needs a name against it.</a:t>
            </a:r>
            <a:endParaRPr lang="en-US" sz="38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201168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the team; the team owns nothing. A rota is fine. One person per week, same slot, in the calendar.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2834640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habit with an owner survives people leaving, reorganisations, and busy months. A habit that belongs to everybody survives about three weeks.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3749040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Put it in a calendar before you finish this module, with a name on it and the dashboard link in the invite. A habit that requires somebody to remember it is not a habit yet.</a:t>
            </a:r>
            <a:endParaRPr lang="en-US" sz="14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005840"/>
            <a:ext cx="2743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600" b="1" dirty="0">
                <a:solidFill>
                  <a:srgbClr val="F59E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9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240280"/>
            <a:ext cx="8046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Build It: and the Bill That Never Arrived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6118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~9 min</a:t>
            </a:r>
            <a:endParaRPr lang="en-US" sz="14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· BUILD IT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48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118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 stages, then the capstone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0060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Cost Control · Module 6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7772400" y="48006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280160"/>
            <a:ext cx="4023360" cy="1280160"/>
          </a:xfrm>
          <a:prstGeom prst="roundRect">
            <a:avLst>
              <a:gd name="adj" fmla="val 5714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85800" y="139903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1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164592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four panels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685800" y="1975104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Grafana, titled with the question each one answers.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663440" y="1280160"/>
            <a:ext cx="4023360" cy="1280160"/>
          </a:xfrm>
          <a:prstGeom prst="roundRect">
            <a:avLst>
              <a:gd name="adj" fmla="val 5714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892040" y="139903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2</a:t>
            </a:r>
            <a:endParaRPr lang="en-US" sz="900" dirty="0"/>
          </a:p>
        </p:txBody>
      </p:sp>
      <p:sp>
        <p:nvSpPr>
          <p:cNvPr id="12" name="Text 10"/>
          <p:cNvSpPr txBox="1"/>
          <p:nvPr/>
        </p:nvSpPr>
        <p:spPr>
          <a:xfrm>
            <a:off x="4892040" y="164592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two alerts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4892040" y="1975104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on 1 hour, slow on 24 hours, routed differently.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" y="2743200"/>
            <a:ext cx="4023360" cy="1280160"/>
          </a:xfrm>
          <a:prstGeom prst="roundRect">
            <a:avLst>
              <a:gd name="adj" fmla="val 5714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85800" y="286207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3</a:t>
            </a:r>
            <a:endParaRPr lang="en-US" sz="900" dirty="0"/>
          </a:p>
        </p:txBody>
      </p:sp>
      <p:sp>
        <p:nvSpPr>
          <p:cNvPr id="16" name="Text 14"/>
          <p:cNvSpPr txBox="1"/>
          <p:nvPr/>
        </p:nvSpPr>
        <p:spPr>
          <a:xfrm>
            <a:off x="685800" y="310896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Routing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685800" y="3438144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step type to a cheaper model; compare cost and quality.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663440" y="2743200"/>
            <a:ext cx="4023360" cy="1280160"/>
          </a:xfrm>
          <a:prstGeom prst="roundRect">
            <a:avLst>
              <a:gd name="adj" fmla="val 5714"/>
            </a:avLst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4892040" y="286207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4</a:t>
            </a:r>
            <a:endParaRPr lang="en-US" sz="900" dirty="0"/>
          </a:p>
        </p:txBody>
      </p:sp>
      <p:sp>
        <p:nvSpPr>
          <p:cNvPr id="20" name="Text 18"/>
          <p:cNvSpPr txBox="1"/>
          <p:nvPr/>
        </p:nvSpPr>
        <p:spPr>
          <a:xfrm>
            <a:off x="4892040" y="310896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capstone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4892040" y="3438144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1's runaway against your fully built agent.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457200" y="43434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Prometheus and Grafana run locally; everything else is the agent you have been building since module two.</a:t>
            </a:r>
            <a:endParaRPr lang="en-US" sz="13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· BUILD IT: SETUP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48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118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Start Prometheus and Grafana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0060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Cost Control · Module 6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7772400" y="48006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365760" y="1234440"/>
            <a:ext cx="8412480" cy="868680"/>
          </a:xfrm>
          <a:prstGeom prst="roundRect">
            <a:avLst>
              <a:gd name="adj" fmla="val 8421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94360" y="1234440"/>
            <a:ext cx="8092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</a:t>
            </a:r>
            <a:pPr indent="0" marL="0">
              <a:buNone/>
            </a:pPr>
            <a:r>
              <a:rPr lang="en-US" sz="160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docker compose up -d prometheus grafana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57200" y="2286000"/>
            <a:ext cx="8229600" cy="914400"/>
          </a:xfrm>
          <a:prstGeom prst="roundRect">
            <a:avLst>
              <a:gd name="adj" fmla="val 8000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31520" y="2286000"/>
            <a:ext cx="7680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containers, one command. Prometheus answers on port 9090; Grafana opens on port 3000.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457200" y="3383280"/>
            <a:ext cx="8229600" cy="914400"/>
          </a:xfrm>
          <a:prstGeom prst="roundRect">
            <a:avLst>
              <a:gd name="adj" fmla="val 8000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31520" y="3383280"/>
            <a:ext cx="7680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every query in the terminal before pasting it into a Grafana panel. Debugging PromQL inside a panel is miserable.</a:t>
            </a:r>
            <a:endParaRPr lang="en-US" sz="14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· BUILD IT: STAGE 1 OF 4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48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118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four panels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0060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Cost Control · Module 6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7772400" y="48006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1430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Grafana, create a dashboard with exactly four panels: cost per hour, cost per successful task, cost by team, failed-run tax. Title each one with the question, not the metric.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365760" y="1783080"/>
            <a:ext cx="8412480" cy="1188720"/>
          </a:xfrm>
          <a:prstGeom prst="roundRect">
            <a:avLst>
              <a:gd name="adj" fmla="val 6154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94360" y="1783080"/>
            <a:ext cx="8092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</a:t>
            </a:r>
            <a:pPr indent="0" marL="0">
              <a:buNone/>
            </a:pPr>
            <a:r>
              <a:rPr lang="en-US" sz="105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curl -s localhost:9090/api/v1/query --data-urlencode 'query=sum(rate(agent_cost_usd_total[1h]))*3600'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57200" y="3108960"/>
            <a:ext cx="8229600" cy="685800"/>
          </a:xfrm>
          <a:prstGeom prst="roundRect">
            <a:avLst>
              <a:gd name="adj" fmla="val 10667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31520" y="3108960"/>
            <a:ext cx="7680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Panel one's query. Rate gives spend per second; multiplying by 3,600 gives spend per hour.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3886200"/>
            <a:ext cx="8412480" cy="1188720"/>
          </a:xfrm>
          <a:prstGeom prst="roundRect">
            <a:avLst>
              <a:gd name="adj" fmla="val 6154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94360" y="3886200"/>
            <a:ext cx="8092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</a:t>
            </a:r>
            <a:pPr indent="0" marL="0">
              <a:buNone/>
            </a:pPr>
            <a:r>
              <a:rPr lang="en-US" sz="105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curl -s localhost:9090/api/v1/query --data-urlencode 'query=sum(increase(agent_cost_usd_total[24h])) / sum(increase(agent_runs_total{result="success"}[24h]))'</a:t>
            </a:r>
            <a:endParaRPr lang="en-US" sz="10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· BUILD IT: STAGE 2 OF 4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48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118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two alerts, and proving one fires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0060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Cost Control · Module 6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7772400" y="48006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14300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a fast rule on a one-hour window that fires when projected monthly spend exceeds your budget by a wide margin. Then a slow rule on twenty-four hours with a tighter threshold. Route the fast one somewhere noisy and the slow one somewhere quiet.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365760" y="2011680"/>
            <a:ext cx="8412480" cy="868680"/>
          </a:xfrm>
          <a:prstGeom prst="roundRect">
            <a:avLst>
              <a:gd name="adj" fmla="val 8421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94360" y="2011680"/>
            <a:ext cx="8092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90" b="1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</a:t>
            </a:r>
            <a:pPr indent="0" marL="0">
              <a:buNone/>
            </a:pPr>
            <a:r>
              <a:rPr lang="en-US" sz="159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python3 run_agent.py --input samples/malformed.json --no-caps &amp;</a:t>
            </a:r>
            <a:endParaRPr lang="en-US" sz="1590" dirty="0"/>
          </a:p>
        </p:txBody>
      </p:sp>
      <p:sp>
        <p:nvSpPr>
          <p:cNvPr id="9" name="Shape 7"/>
          <p:cNvSpPr/>
          <p:nvPr/>
        </p:nvSpPr>
        <p:spPr>
          <a:xfrm>
            <a:off x="457200" y="3108960"/>
            <a:ext cx="8229600" cy="1234440"/>
          </a:xfrm>
          <a:prstGeom prst="roundRect">
            <a:avLst>
              <a:gd name="adj" fmla="val 5926"/>
            </a:avLst>
          </a:prstGeom>
          <a:solidFill>
            <a:srgbClr val="FEF2F2"/>
          </a:solidFill>
          <a:ln w="12700">
            <a:solidFill>
              <a:srgbClr val="FEF2F2"/>
            </a:solidFill>
            <a:prstDash val="solid"/>
          </a:ln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3520440"/>
            <a:ext cx="411480" cy="411480"/>
          </a:xfrm>
          <a:prstGeom prst="rect">
            <a:avLst/>
          </a:prstGeom>
        </p:spPr>
      </p:pic>
      <p:sp>
        <p:nvSpPr>
          <p:cNvPr id="11" name="Text 8"/>
          <p:cNvSpPr txBox="1"/>
          <p:nvPr/>
        </p:nvSpPr>
        <p:spPr>
          <a:xfrm>
            <a:off x="1325880" y="3108960"/>
            <a:ext cx="71323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the runaway with caps disabled, deliberately, to prove the alert fires. </a:t>
            </a:r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 your fast alert go off within a couple of minutes. Then stop it, and turn the caps back on immediately.</a:t>
            </a:r>
            <a:endParaRPr lang="en-US" sz="14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· BUILD IT: STAGE 3 OF 4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48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118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Route one step type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0060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Cost Control · Module 6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7772400" y="48006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1887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the one step type in your agent that is most obviously mechanical. Send only that step to a cheaper model. Run twenty tasks and compare both cost and output quality against the previous twenty.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65760" y="1965960"/>
            <a:ext cx="8412480" cy="868680"/>
          </a:xfrm>
          <a:prstGeom prst="roundRect">
            <a:avLst>
              <a:gd name="adj" fmla="val 8421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94360" y="1965960"/>
            <a:ext cx="8092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</a:t>
            </a:r>
            <a:pPr indent="0" marL="0">
              <a:buNone/>
            </a:pPr>
            <a:r>
              <a:rPr lang="en-US" sz="160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python3 compare_runs.py --before baseline --after routed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57200" y="3063240"/>
            <a:ext cx="8229600" cy="1280160"/>
          </a:xfrm>
          <a:prstGeom prst="roundRect">
            <a:avLst>
              <a:gd name="adj" fmla="val 5714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31520" y="3063240"/>
            <a:ext cx="76809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numbers: how much you saved, and whether anything got worse. 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quality moved at all, put that step back on the expensive model. The saving is not worth an argument about quality.</a:t>
            </a:r>
            <a:endParaRPr lang="en-US" sz="14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· BUILD IT: STAGE 4 OF 4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48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118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capstone: the bill that never arrived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0060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Cost Control · Module 6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7772400" y="48006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0972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 the malformed input from module one and run it against everything you have built.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65760" y="1554480"/>
            <a:ext cx="8412480" cy="868680"/>
          </a:xfrm>
          <a:prstGeom prst="roundRect">
            <a:avLst>
              <a:gd name="adj" fmla="val 8421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94360" y="1554480"/>
            <a:ext cx="8092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</a:t>
            </a:r>
            <a:pPr indent="0" marL="0">
              <a:buNone/>
            </a:pPr>
            <a:r>
              <a:rPr lang="en-US" sz="160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python3 run_agent.py --input samples/malformed.json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57200" y="2468880"/>
            <a:ext cx="2606040" cy="640080"/>
          </a:xfrm>
          <a:prstGeom prst="roundRect">
            <a:avLst>
              <a:gd name="adj" fmla="val 11429"/>
            </a:avLst>
          </a:prstGeom>
          <a:solidFill>
            <a:srgbClr val="ECFDF5"/>
          </a:solidFill>
          <a:ln w="12700">
            <a:solidFill>
              <a:srgbClr val="ECFDF5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40080" y="2523744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47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Instrumented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2779776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can see the cost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246120" y="2468880"/>
            <a:ext cx="2606040" cy="640080"/>
          </a:xfrm>
          <a:prstGeom prst="roundRect">
            <a:avLst>
              <a:gd name="adj" fmla="val 11429"/>
            </a:avLst>
          </a:prstGeom>
          <a:solidFill>
            <a:srgbClr val="ECFDF5"/>
          </a:solidFill>
          <a:ln w="12700">
            <a:solidFill>
              <a:srgbClr val="ECFDF5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3429000" y="2523744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47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Ceiling and detection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3429000" y="2779776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stops in seconds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035040" y="2468880"/>
            <a:ext cx="2606040" cy="640080"/>
          </a:xfrm>
          <a:prstGeom prst="roundRect">
            <a:avLst>
              <a:gd name="adj" fmla="val 11429"/>
            </a:avLst>
          </a:prstGeom>
          <a:solidFill>
            <a:srgbClr val="ECFDF5"/>
          </a:solidFill>
          <a:ln w="12700">
            <a:solidFill>
              <a:srgbClr val="ECFDF5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217920" y="2523744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47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Capped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6217920" y="2779776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spend is bounded anyway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57200" y="3145536"/>
            <a:ext cx="2606040" cy="640080"/>
          </a:xfrm>
          <a:prstGeom prst="roundRect">
            <a:avLst>
              <a:gd name="adj" fmla="val 11429"/>
            </a:avLst>
          </a:prstGeom>
          <a:solidFill>
            <a:srgbClr val="ECFDF5"/>
          </a:solidFill>
          <a:ln w="12700">
            <a:solidFill>
              <a:srgbClr val="ECFDF5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40080" y="320040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47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Checkpointed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640080" y="3456432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nothing finished is wasted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246120" y="3145536"/>
            <a:ext cx="2606040" cy="640080"/>
          </a:xfrm>
          <a:prstGeom prst="roundRect">
            <a:avLst>
              <a:gd name="adj" fmla="val 11429"/>
            </a:avLst>
          </a:prstGeom>
          <a:solidFill>
            <a:srgbClr val="ECFDF5"/>
          </a:solidFill>
          <a:ln w="12700">
            <a:solidFill>
              <a:srgbClr val="ECFDF5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3429000" y="320040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47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Labelled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3429000" y="3456432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counts correctly in your metrics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035040" y="3145536"/>
            <a:ext cx="2606040" cy="640080"/>
          </a:xfrm>
          <a:prstGeom prst="roundRect">
            <a:avLst>
              <a:gd name="adj" fmla="val 11429"/>
            </a:avLst>
          </a:prstGeom>
          <a:solidFill>
            <a:srgbClr val="ECFDF5"/>
          </a:solidFill>
          <a:ln w="12700">
            <a:solidFill>
              <a:srgbClr val="ECFDF5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217920" y="320040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47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Alerted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6217920" y="3456432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would have fired if it had not stopped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365760" y="3840480"/>
            <a:ext cx="8412480" cy="868680"/>
          </a:xfrm>
          <a:prstGeom prst="roundRect">
            <a:avLst>
              <a:gd name="adj" fmla="val 8421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594360" y="3840480"/>
            <a:ext cx="8092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44" b="1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</a:t>
            </a:r>
            <a:pPr indent="0" marL="0">
              <a:buNone/>
            </a:pPr>
            <a:r>
              <a:rPr lang="en-US" sz="1044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curl localhost:9090/api/v1/query --data-urlencode 'query=sum(increase(agent_cost_usd_total[1h]))'</a:t>
            </a:r>
            <a:endParaRPr lang="en-US" sz="1044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WHOLE COURSE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48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118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Six modules ago, and now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0060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Cost Control · Module 6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7772400" y="48006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234440"/>
            <a:ext cx="4023360" cy="2103120"/>
          </a:xfrm>
          <a:prstGeom prst="roundRect">
            <a:avLst>
              <a:gd name="adj" fmla="val 3478"/>
            </a:avLst>
          </a:prstGeom>
          <a:solidFill>
            <a:srgbClr val="FEF2F2"/>
          </a:solidFill>
          <a:ln w="12700">
            <a:solidFill>
              <a:srgbClr val="FEF2F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85800" y="137160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MODULES AGO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1737360"/>
            <a:ext cx="3566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agent that could spend four figures overnight while every dashboard stayed green.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685800" y="274320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i="1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number, and a shrug.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4663440" y="1234440"/>
            <a:ext cx="4023360" cy="2103120"/>
          </a:xfrm>
          <a:prstGeom prst="roundRect">
            <a:avLst>
              <a:gd name="adj" fmla="val 3478"/>
            </a:avLst>
          </a:prstGeom>
          <a:solidFill>
            <a:srgbClr val="ECFDF5"/>
          </a:solidFill>
          <a:ln w="12700">
            <a:solidFill>
              <a:srgbClr val="ECFDF5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892040" y="137160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047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4892040" y="1737360"/>
            <a:ext cx="35661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Receipts with four labels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Caps per run and per day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switch anyone can flip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Loops caught, work saved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per successful task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dashboard, alerts and a weekly habit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57200" y="3566160"/>
            <a:ext cx="8229600" cy="1005840"/>
          </a:xfrm>
          <a:prstGeom prst="roundRect">
            <a:avLst>
              <a:gd name="adj" fmla="val 7273"/>
            </a:avLst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31520" y="3566160"/>
            <a:ext cx="7680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runaway that started this course now stops on its own, in seconds, at a cost you chose in advance.</a:t>
            </a:r>
            <a:endParaRPr lang="en-US" sz="15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IDEA WORTH KEEPING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80060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Cost Control · Module 6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7772400" y="48006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914400"/>
            <a:ext cx="8229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Almost everything in this course</a:t>
            </a:r>
            <a:endParaRPr lang="en-US" sz="3400" dirty="0"/>
          </a:p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is a decision moved earlier.</a:t>
            </a:r>
            <a:endParaRPr lang="en-US" sz="34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237744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cap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2834640" y="2377440"/>
            <a:ext cx="5669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deciding what a task is worth before it runs, instead of after</a:t>
            </a:r>
            <a:endParaRPr lang="en-US" sz="135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3035808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step limit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2834640" y="3035808"/>
            <a:ext cx="5669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deciding how long is too long while you are calm, rather than during an incident</a:t>
            </a:r>
            <a:endParaRPr lang="en-US" sz="135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3694176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definition of success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2834640" y="3694176"/>
            <a:ext cx="5669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deciding what you mean before you report a number, rather than being asked in a meeting</a:t>
            </a:r>
            <a:endParaRPr lang="en-US" sz="135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42976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None of these are hard in advance. All of them are hard at three in the morning.</a:t>
            </a:r>
            <a:endParaRPr lang="en-US" sz="13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0972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AGENT COST PROBLEM  ·  COURSE COMPLETE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508760"/>
            <a:ext cx="80467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Decide early. Write it down.</a:t>
            </a:r>
            <a:endParaRPr lang="en-US" sz="3800" dirty="0"/>
          </a:p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Let a machine enforce it.</a:t>
            </a:r>
            <a:endParaRPr lang="en-US" sz="3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108960"/>
            <a:ext cx="7498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and run the capstone on your own agent. Then show somebody the two numbers.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3840480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i="1" dirty="0">
                <a:solidFill>
                  <a:srgbClr val="F59E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 for spending six modules with me.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43891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Emmanuel Naweji  ·  github.com/Here2ServeU/agent-cost-control</a:t>
            </a:r>
            <a:endParaRPr lang="en-US" sz="11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 A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48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118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Exercises, and the capstone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0060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Cost Control · Module 6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7772400" y="48006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325880"/>
            <a:ext cx="1938528" cy="1481328"/>
          </a:xfrm>
          <a:prstGeom prst="roundRect">
            <a:avLst>
              <a:gd name="adj" fmla="val 4938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21792" y="1444752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B4530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621792" y="1801368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exactly four panels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621792" y="2130552"/>
            <a:ext cx="16642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more. Title each with the question it answers, not the metric name.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2542032" y="1325880"/>
            <a:ext cx="1938528" cy="1481328"/>
          </a:xfrm>
          <a:prstGeom prst="roundRect">
            <a:avLst>
              <a:gd name="adj" fmla="val 4938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2706624" y="1444752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B4530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2706624" y="1801368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every query in the terminal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2706624" y="2130552"/>
            <a:ext cx="16642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Prometheus API before pasting anything into Grafana.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4626864" y="1325880"/>
            <a:ext cx="1938528" cy="1481328"/>
          </a:xfrm>
          <a:prstGeom prst="roundRect">
            <a:avLst>
              <a:gd name="adj" fmla="val 4938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791456" y="1444752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B4530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000" dirty="0"/>
          </a:p>
        </p:txBody>
      </p:sp>
      <p:sp>
        <p:nvSpPr>
          <p:cNvPr id="16" name="Text 14"/>
          <p:cNvSpPr txBox="1"/>
          <p:nvPr/>
        </p:nvSpPr>
        <p:spPr>
          <a:xfrm>
            <a:off x="4791456" y="1801368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both alerts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4791456" y="2130552"/>
            <a:ext cx="16642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on 1 hour routed somewhere noisy; slow on 24 hours routed somewhere quiet.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6711696" y="1325880"/>
            <a:ext cx="1938528" cy="1481328"/>
          </a:xfrm>
          <a:prstGeom prst="roundRect">
            <a:avLst>
              <a:gd name="adj" fmla="val 4938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876288" y="1444752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B4530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000" dirty="0"/>
          </a:p>
        </p:txBody>
      </p:sp>
      <p:sp>
        <p:nvSpPr>
          <p:cNvPr id="20" name="Text 18"/>
          <p:cNvSpPr txBox="1"/>
          <p:nvPr/>
        </p:nvSpPr>
        <p:spPr>
          <a:xfrm>
            <a:off x="6876288" y="1801368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 the fast alert fires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6876288" y="2130552"/>
            <a:ext cx="16642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the runaway with caps disabled, then stop it and turn caps back on.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457200" y="2971800"/>
            <a:ext cx="1938528" cy="1481328"/>
          </a:xfrm>
          <a:prstGeom prst="roundRect">
            <a:avLst>
              <a:gd name="adj" fmla="val 4938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21792" y="3090672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B4530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2000" dirty="0"/>
          </a:p>
        </p:txBody>
      </p:sp>
      <p:sp>
        <p:nvSpPr>
          <p:cNvPr id="24" name="Text 22"/>
          <p:cNvSpPr txBox="1"/>
          <p:nvPr/>
        </p:nvSpPr>
        <p:spPr>
          <a:xfrm>
            <a:off x="621792" y="3447288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 one step type</a:t>
            </a:r>
            <a:endParaRPr lang="en-US" sz="1100" dirty="0"/>
          </a:p>
        </p:txBody>
      </p:sp>
      <p:sp>
        <p:nvSpPr>
          <p:cNvPr id="25" name="Text 23"/>
          <p:cNvSpPr txBox="1"/>
          <p:nvPr/>
        </p:nvSpPr>
        <p:spPr>
          <a:xfrm>
            <a:off x="621792" y="3776472"/>
            <a:ext cx="16642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most mechanical step. Twenty tasks, compare cost AND quality. If quality moved, revert.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2542032" y="2971800"/>
            <a:ext cx="1938528" cy="1481328"/>
          </a:xfrm>
          <a:prstGeom prst="roundRect">
            <a:avLst>
              <a:gd name="adj" fmla="val 4938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2706624" y="3090672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B4530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2000" dirty="0"/>
          </a:p>
        </p:txBody>
      </p:sp>
      <p:sp>
        <p:nvSpPr>
          <p:cNvPr id="28" name="Text 26"/>
          <p:cNvSpPr txBox="1"/>
          <p:nvPr/>
        </p:nvSpPr>
        <p:spPr>
          <a:xfrm>
            <a:off x="2706624" y="3447288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the caching test</a:t>
            </a:r>
            <a:endParaRPr lang="en-US" sz="1100" dirty="0"/>
          </a:p>
        </p:txBody>
      </p:sp>
      <p:sp>
        <p:nvSpPr>
          <p:cNvPr id="29" name="Text 27"/>
          <p:cNvSpPr txBox="1"/>
          <p:nvPr/>
        </p:nvSpPr>
        <p:spPr>
          <a:xfrm>
            <a:off x="2706624" y="3776472"/>
            <a:ext cx="16642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each candidate: should two different people get the same answer? Unsure means do not cache.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4626864" y="2971800"/>
            <a:ext cx="1938528" cy="1481328"/>
          </a:xfrm>
          <a:prstGeom prst="roundRect">
            <a:avLst>
              <a:gd name="adj" fmla="val 4938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4791456" y="3090672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B4530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07</a:t>
            </a:r>
            <a:endParaRPr lang="en-US" sz="2000" dirty="0"/>
          </a:p>
        </p:txBody>
      </p:sp>
      <p:sp>
        <p:nvSpPr>
          <p:cNvPr id="32" name="Text 30"/>
          <p:cNvSpPr txBox="1"/>
          <p:nvPr/>
        </p:nvSpPr>
        <p:spPr>
          <a:xfrm>
            <a:off x="4791456" y="3447288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Put the review in a calendar</a:t>
            </a:r>
            <a:endParaRPr lang="en-US" sz="1100" dirty="0"/>
          </a:p>
        </p:txBody>
      </p:sp>
      <p:sp>
        <p:nvSpPr>
          <p:cNvPr id="33" name="Text 31"/>
          <p:cNvSpPr txBox="1"/>
          <p:nvPr/>
        </p:nvSpPr>
        <p:spPr>
          <a:xfrm>
            <a:off x="4791456" y="3776472"/>
            <a:ext cx="16642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Weekly, same slot, one name, dashboard link in the invite. Do it before you finish.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6711696" y="2971800"/>
            <a:ext cx="1938528" cy="1481328"/>
          </a:xfrm>
          <a:prstGeom prst="roundRect">
            <a:avLst>
              <a:gd name="adj" fmla="val 4938"/>
            </a:avLst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6876288" y="3090672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59E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08</a:t>
            </a:r>
            <a:endParaRPr lang="en-US" sz="2000" dirty="0"/>
          </a:p>
        </p:txBody>
      </p:sp>
      <p:sp>
        <p:nvSpPr>
          <p:cNvPr id="36" name="Text 34"/>
          <p:cNvSpPr txBox="1"/>
          <p:nvPr/>
        </p:nvSpPr>
        <p:spPr>
          <a:xfrm>
            <a:off x="6876288" y="3447288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CAPSTONE</a:t>
            </a:r>
            <a:endParaRPr lang="en-US" sz="1100" dirty="0"/>
          </a:p>
        </p:txBody>
      </p:sp>
      <p:sp>
        <p:nvSpPr>
          <p:cNvPr id="37" name="Text 35"/>
          <p:cNvSpPr txBox="1"/>
          <p:nvPr/>
        </p:nvSpPr>
        <p:spPr>
          <a:xfrm>
            <a:off x="6876288" y="3776472"/>
            <a:ext cx="16642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1's malformed input against your finished agent. Record cost and time to stop; put it beside your module 1 extrapolation.</a:t>
            </a:r>
            <a:endParaRPr lang="en-US" sz="85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 B · EVERY WORD WE USED, IN PLAIN ENGLISH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48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118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Glossary: watching it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0060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Cost Control · Module 6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7772400" y="48006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325880"/>
            <a:ext cx="1938528" cy="1481328"/>
          </a:xfrm>
          <a:prstGeom prst="roundRect">
            <a:avLst>
              <a:gd name="adj" fmla="val 4938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21792" y="143560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621792" y="1709928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four-panel rule</a:t>
            </a:r>
            <a:endParaRPr lang="en-US" sz="1150" dirty="0"/>
          </a:p>
        </p:txBody>
      </p:sp>
      <p:sp>
        <p:nvSpPr>
          <p:cNvPr id="9" name="Text 7"/>
          <p:cNvSpPr txBox="1"/>
          <p:nvPr/>
        </p:nvSpPr>
        <p:spPr>
          <a:xfrm>
            <a:off x="621792" y="2148840"/>
            <a:ext cx="16642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dashboard nobody can read in ten seconds is a dashboard nobody reads. One question per panel.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2542032" y="1325880"/>
            <a:ext cx="1938528" cy="1481328"/>
          </a:xfrm>
          <a:prstGeom prst="roundRect">
            <a:avLst>
              <a:gd name="adj" fmla="val 4938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2706624" y="143560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50" dirty="0"/>
          </a:p>
        </p:txBody>
      </p:sp>
      <p:sp>
        <p:nvSpPr>
          <p:cNvPr id="12" name="Text 10"/>
          <p:cNvSpPr txBox="1"/>
          <p:nvPr/>
        </p:nvSpPr>
        <p:spPr>
          <a:xfrm>
            <a:off x="2706624" y="1709928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Burn rate</a:t>
            </a:r>
            <a:endParaRPr lang="en-US" sz="1150" dirty="0"/>
          </a:p>
        </p:txBody>
      </p:sp>
      <p:sp>
        <p:nvSpPr>
          <p:cNvPr id="13" name="Text 11"/>
          <p:cNvSpPr txBox="1"/>
          <p:nvPr/>
        </p:nvSpPr>
        <p:spPr>
          <a:xfrm>
            <a:off x="2706624" y="2148840"/>
            <a:ext cx="16642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fast the budget is being consumed compared with how fast it should be. Fires while it is happening.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4626864" y="1325880"/>
            <a:ext cx="1938528" cy="1481328"/>
          </a:xfrm>
          <a:prstGeom prst="roundRect">
            <a:avLst>
              <a:gd name="adj" fmla="val 4938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791456" y="143560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50" dirty="0"/>
          </a:p>
        </p:txBody>
      </p:sp>
      <p:sp>
        <p:nvSpPr>
          <p:cNvPr id="16" name="Text 14"/>
          <p:cNvSpPr txBox="1"/>
          <p:nvPr/>
        </p:nvSpPr>
        <p:spPr>
          <a:xfrm>
            <a:off x="4791456" y="1709928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and slow windows</a:t>
            </a:r>
            <a:endParaRPr lang="en-US" sz="1150" dirty="0"/>
          </a:p>
        </p:txBody>
      </p:sp>
      <p:sp>
        <p:nvSpPr>
          <p:cNvPr id="17" name="Text 15"/>
          <p:cNvSpPr txBox="1"/>
          <p:nvPr/>
        </p:nvSpPr>
        <p:spPr>
          <a:xfrm>
            <a:off x="4791456" y="2148840"/>
            <a:ext cx="16642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hour catches runaways and is worth waking someone for; 24 hours catches drift and belongs at standup.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6711696" y="1325880"/>
            <a:ext cx="1938528" cy="1481328"/>
          </a:xfrm>
          <a:prstGeom prst="roundRect">
            <a:avLst>
              <a:gd name="adj" fmla="val 4938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876288" y="143560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50" dirty="0"/>
          </a:p>
        </p:txBody>
      </p:sp>
      <p:sp>
        <p:nvSpPr>
          <p:cNvPr id="20" name="Text 18"/>
          <p:cNvSpPr txBox="1"/>
          <p:nvPr/>
        </p:nvSpPr>
        <p:spPr>
          <a:xfrm>
            <a:off x="6876288" y="1709928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cap is the seatbelt</a:t>
            </a:r>
            <a:endParaRPr lang="en-US" sz="1150" dirty="0"/>
          </a:p>
        </p:txBody>
      </p:sp>
      <p:sp>
        <p:nvSpPr>
          <p:cNvPr id="21" name="Text 19"/>
          <p:cNvSpPr txBox="1"/>
          <p:nvPr/>
        </p:nvSpPr>
        <p:spPr>
          <a:xfrm>
            <a:off x="6876288" y="2148840"/>
            <a:ext cx="16642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3's caps stop the bleeding regardless, so the alert can inform rather than panic.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457200" y="2971800"/>
            <a:ext cx="1938528" cy="1481328"/>
          </a:xfrm>
          <a:prstGeom prst="roundRect">
            <a:avLst>
              <a:gd name="adj" fmla="val 4938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21792" y="30815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50" dirty="0"/>
          </a:p>
        </p:txBody>
      </p:sp>
      <p:sp>
        <p:nvSpPr>
          <p:cNvPr id="24" name="Text 22"/>
          <p:cNvSpPr txBox="1"/>
          <p:nvPr/>
        </p:nvSpPr>
        <p:spPr>
          <a:xfrm>
            <a:off x="621792" y="3355848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routing</a:t>
            </a:r>
            <a:endParaRPr lang="en-US" sz="1150" dirty="0"/>
          </a:p>
        </p:txBody>
      </p:sp>
      <p:sp>
        <p:nvSpPr>
          <p:cNvPr id="25" name="Text 23"/>
          <p:cNvSpPr txBox="1"/>
          <p:nvPr/>
        </p:nvSpPr>
        <p:spPr>
          <a:xfrm>
            <a:off x="621792" y="3794760"/>
            <a:ext cx="16642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Easy steps to a cheaper model, the hard part on the expensive one. Around 65% less in the worked example.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2542032" y="2971800"/>
            <a:ext cx="1938528" cy="1481328"/>
          </a:xfrm>
          <a:prstGeom prst="roundRect">
            <a:avLst>
              <a:gd name="adj" fmla="val 4938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2706624" y="30815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50" dirty="0"/>
          </a:p>
        </p:txBody>
      </p:sp>
      <p:sp>
        <p:nvSpPr>
          <p:cNvPr id="28" name="Text 26"/>
          <p:cNvSpPr txBox="1"/>
          <p:nvPr/>
        </p:nvSpPr>
        <p:spPr>
          <a:xfrm>
            <a:off x="2706624" y="3355848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routing goes last</a:t>
            </a:r>
            <a:endParaRPr lang="en-US" sz="1150" dirty="0"/>
          </a:p>
        </p:txBody>
      </p:sp>
      <p:sp>
        <p:nvSpPr>
          <p:cNvPr id="29" name="Text 27"/>
          <p:cNvSpPr txBox="1"/>
          <p:nvPr/>
        </p:nvSpPr>
        <p:spPr>
          <a:xfrm>
            <a:off x="2706624" y="3794760"/>
            <a:ext cx="16642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is the only change here that can make answers worse. Fix the free waste first, then route carefully.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4626864" y="2971800"/>
            <a:ext cx="1938528" cy="1481328"/>
          </a:xfrm>
          <a:prstGeom prst="roundRect">
            <a:avLst>
              <a:gd name="adj" fmla="val 4938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4791456" y="30815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50" dirty="0"/>
          </a:p>
        </p:txBody>
      </p:sp>
      <p:sp>
        <p:nvSpPr>
          <p:cNvPr id="32" name="Text 30"/>
          <p:cNvSpPr txBox="1"/>
          <p:nvPr/>
        </p:nvSpPr>
        <p:spPr>
          <a:xfrm>
            <a:off x="4791456" y="3355848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Caching</a:t>
            </a:r>
            <a:endParaRPr lang="en-US" sz="1150" dirty="0"/>
          </a:p>
        </p:txBody>
      </p:sp>
      <p:sp>
        <p:nvSpPr>
          <p:cNvPr id="33" name="Text 31"/>
          <p:cNvSpPr txBox="1"/>
          <p:nvPr/>
        </p:nvSpPr>
        <p:spPr>
          <a:xfrm>
            <a:off x="4791456" y="3794760"/>
            <a:ext cx="16642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you already answered this exact question, give back the previous answer. The closest thing to free money.</a:t>
            </a:r>
            <a:endParaRPr lang="en-US" sz="85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 B · EVERY WORD WE USED, IN PLAIN ENGLISH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48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118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Glossary: keeping it alive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0060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Cost Control · Module 6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7772400" y="48006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325880"/>
            <a:ext cx="1938528" cy="1481328"/>
          </a:xfrm>
          <a:prstGeom prst="roundRect">
            <a:avLst>
              <a:gd name="adj" fmla="val 4938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21792" y="143560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621792" y="1709928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caching test</a:t>
            </a:r>
            <a:endParaRPr lang="en-US" sz="1150" dirty="0"/>
          </a:p>
        </p:txBody>
      </p:sp>
      <p:sp>
        <p:nvSpPr>
          <p:cNvPr id="9" name="Text 7"/>
          <p:cNvSpPr txBox="1"/>
          <p:nvPr/>
        </p:nvSpPr>
        <p:spPr>
          <a:xfrm>
            <a:off x="621792" y="2148840"/>
            <a:ext cx="16642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two different people ask this, should they get the same answer? Yes is safe; no is never.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2542032" y="1325880"/>
            <a:ext cx="1938528" cy="1481328"/>
          </a:xfrm>
          <a:prstGeom prst="roundRect">
            <a:avLst>
              <a:gd name="adj" fmla="val 4938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2706624" y="143560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050" dirty="0"/>
          </a:p>
        </p:txBody>
      </p:sp>
      <p:sp>
        <p:nvSpPr>
          <p:cNvPr id="12" name="Text 10"/>
          <p:cNvSpPr txBox="1"/>
          <p:nvPr/>
        </p:nvSpPr>
        <p:spPr>
          <a:xfrm>
            <a:off x="2706624" y="1709928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 on the whole call</a:t>
            </a:r>
            <a:endParaRPr lang="en-US" sz="1150" dirty="0"/>
          </a:p>
        </p:txBody>
      </p:sp>
      <p:sp>
        <p:nvSpPr>
          <p:cNvPr id="13" name="Text 11"/>
          <p:cNvSpPr txBox="1"/>
          <p:nvPr/>
        </p:nvSpPr>
        <p:spPr>
          <a:xfrm>
            <a:off x="2706624" y="2148840"/>
            <a:ext cx="16642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Include the system prompt and everything else, or you serve answers made under old instructions.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4626864" y="1325880"/>
            <a:ext cx="1938528" cy="1481328"/>
          </a:xfrm>
          <a:prstGeom prst="roundRect">
            <a:avLst>
              <a:gd name="adj" fmla="val 4938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791456" y="143560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50" dirty="0"/>
          </a:p>
        </p:txBody>
      </p:sp>
      <p:sp>
        <p:nvSpPr>
          <p:cNvPr id="16" name="Text 14"/>
          <p:cNvSpPr txBox="1"/>
          <p:nvPr/>
        </p:nvSpPr>
        <p:spPr>
          <a:xfrm>
            <a:off x="4791456" y="1709928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weekly review</a:t>
            </a:r>
            <a:endParaRPr lang="en-US" sz="1150" dirty="0"/>
          </a:p>
        </p:txBody>
      </p:sp>
      <p:sp>
        <p:nvSpPr>
          <p:cNvPr id="17" name="Text 15"/>
          <p:cNvSpPr txBox="1"/>
          <p:nvPr/>
        </p:nvSpPr>
        <p:spPr>
          <a:xfrm>
            <a:off x="4791456" y="2148840"/>
            <a:ext cx="16642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questions, fifteen minutes: what changed, who spent, what was wasted, did an alert fire.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6711696" y="1325880"/>
            <a:ext cx="1938528" cy="1481328"/>
          </a:xfrm>
          <a:prstGeom prst="roundRect">
            <a:avLst>
              <a:gd name="adj" fmla="val 4938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876288" y="143560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50" dirty="0"/>
          </a:p>
        </p:txBody>
      </p:sp>
      <p:sp>
        <p:nvSpPr>
          <p:cNvPr id="20" name="Text 18"/>
          <p:cNvSpPr txBox="1"/>
          <p:nvPr/>
        </p:nvSpPr>
        <p:spPr>
          <a:xfrm>
            <a:off x="6876288" y="1709928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ignored alert</a:t>
            </a:r>
            <a:endParaRPr lang="en-US" sz="1150" dirty="0"/>
          </a:p>
        </p:txBody>
      </p:sp>
      <p:sp>
        <p:nvSpPr>
          <p:cNvPr id="21" name="Text 19"/>
          <p:cNvSpPr txBox="1"/>
          <p:nvPr/>
        </p:nvSpPr>
        <p:spPr>
          <a:xfrm>
            <a:off x="6876288" y="2148840"/>
            <a:ext cx="16642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Worse than no alert: it teaches everyone that alerts do not matter. Fix it or delete it.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457200" y="2971800"/>
            <a:ext cx="1938528" cy="1481328"/>
          </a:xfrm>
          <a:prstGeom prst="roundRect">
            <a:avLst>
              <a:gd name="adj" fmla="val 4938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21792" y="30815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50" dirty="0"/>
          </a:p>
        </p:txBody>
      </p:sp>
      <p:sp>
        <p:nvSpPr>
          <p:cNvPr id="24" name="Text 22"/>
          <p:cNvSpPr txBox="1"/>
          <p:nvPr/>
        </p:nvSpPr>
        <p:spPr>
          <a:xfrm>
            <a:off x="621792" y="3355848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needs a name</a:t>
            </a:r>
            <a:endParaRPr lang="en-US" sz="1150" dirty="0"/>
          </a:p>
        </p:txBody>
      </p:sp>
      <p:sp>
        <p:nvSpPr>
          <p:cNvPr id="25" name="Text 23"/>
          <p:cNvSpPr txBox="1"/>
          <p:nvPr/>
        </p:nvSpPr>
        <p:spPr>
          <a:xfrm>
            <a:off x="621792" y="3794760"/>
            <a:ext cx="16642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team owns nothing. A rota is fine, a person is better. A shared habit lasts about three weeks.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2542032" y="2971800"/>
            <a:ext cx="1938528" cy="1481328"/>
          </a:xfrm>
          <a:prstGeom prst="roundRect">
            <a:avLst>
              <a:gd name="adj" fmla="val 4938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2706624" y="30815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50" dirty="0"/>
          </a:p>
        </p:txBody>
      </p:sp>
      <p:sp>
        <p:nvSpPr>
          <p:cNvPr id="28" name="Text 26"/>
          <p:cNvSpPr txBox="1"/>
          <p:nvPr/>
        </p:nvSpPr>
        <p:spPr>
          <a:xfrm>
            <a:off x="2706624" y="3355848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whole course in one idea</a:t>
            </a:r>
            <a:endParaRPr lang="en-US" sz="1150" dirty="0"/>
          </a:p>
        </p:txBody>
      </p:sp>
      <p:sp>
        <p:nvSpPr>
          <p:cNvPr id="29" name="Text 27"/>
          <p:cNvSpPr txBox="1"/>
          <p:nvPr/>
        </p:nvSpPr>
        <p:spPr>
          <a:xfrm>
            <a:off x="2706624" y="3794760"/>
            <a:ext cx="16642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Almost everything here is a decision moved earlier: made calmly, written down, enforced by a machine.</a:t>
            </a:r>
            <a:endParaRPr lang="en-US" sz="85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 C: THE COMMANDS, IN PLAIN ENGLISH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48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118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Running the stack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0060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Cost Control · Module 6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7772400" y="48006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325880"/>
            <a:ext cx="8229600" cy="548640"/>
          </a:xfrm>
          <a:prstGeom prst="roundRect">
            <a:avLst>
              <a:gd name="adj" fmla="val 13333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94360" y="1325880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D28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docker compose up -d prometheus grafana</a:t>
            </a:r>
            <a:endParaRPr lang="en-US" sz="800" dirty="0"/>
          </a:p>
        </p:txBody>
      </p:sp>
      <p:sp>
        <p:nvSpPr>
          <p:cNvPr id="8" name="Text 6"/>
          <p:cNvSpPr txBox="1"/>
          <p:nvPr/>
        </p:nvSpPr>
        <p:spPr>
          <a:xfrm>
            <a:off x="4114800" y="1325880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both containers in the background. Prometheus on 9090, Grafana on 3000.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57200" y="1947672"/>
            <a:ext cx="8229600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94360" y="1947672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D28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curl -s localhost:9090/api/v1/query</a:t>
            </a:r>
            <a:endParaRPr lang="en-US" sz="800" dirty="0"/>
          </a:p>
        </p:txBody>
      </p:sp>
      <p:sp>
        <p:nvSpPr>
          <p:cNvPr id="11" name="Text 9"/>
          <p:cNvSpPr txBox="1"/>
          <p:nvPr/>
        </p:nvSpPr>
        <p:spPr>
          <a:xfrm>
            <a:off x="4114800" y="1947672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Prometheus a question from the terminal, before you build the panel.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57200" y="2569464"/>
            <a:ext cx="8229600" cy="548640"/>
          </a:xfrm>
          <a:prstGeom prst="roundRect">
            <a:avLst>
              <a:gd name="adj" fmla="val 13333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94360" y="2569464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D28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--data-urlencode 'query=…'</a:t>
            </a:r>
            <a:endParaRPr lang="en-US" sz="800" dirty="0"/>
          </a:p>
        </p:txBody>
      </p:sp>
      <p:sp>
        <p:nvSpPr>
          <p:cNvPr id="14" name="Text 12"/>
          <p:cNvSpPr txBox="1"/>
          <p:nvPr/>
        </p:nvSpPr>
        <p:spPr>
          <a:xfrm>
            <a:off x="4114800" y="2569464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 the query safely, so characters like { } and " are not mangled by the shell.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57200" y="3191256"/>
            <a:ext cx="8229600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94360" y="3191256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D28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sum(rate(agent_cost_usd_total[1h]))*3600</a:t>
            </a:r>
            <a:endParaRPr lang="en-US" sz="800" dirty="0"/>
          </a:p>
        </p:txBody>
      </p:sp>
      <p:sp>
        <p:nvSpPr>
          <p:cNvPr id="17" name="Text 15"/>
          <p:cNvSpPr txBox="1"/>
          <p:nvPr/>
        </p:nvSpPr>
        <p:spPr>
          <a:xfrm>
            <a:off x="4114800" y="3191256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Spend per second over the last hour, added up, multiplied into spend per hour.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57200" y="3813048"/>
            <a:ext cx="8229600" cy="548640"/>
          </a:xfrm>
          <a:prstGeom prst="roundRect">
            <a:avLst>
              <a:gd name="adj" fmla="val 13333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594360" y="3813048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D28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sum(increase(...[24h]))</a:t>
            </a:r>
            <a:endParaRPr lang="en-US" sz="800" dirty="0"/>
          </a:p>
        </p:txBody>
      </p:sp>
      <p:sp>
        <p:nvSpPr>
          <p:cNvPr id="20" name="Text 18"/>
          <p:cNvSpPr txBox="1"/>
          <p:nvPr/>
        </p:nvSpPr>
        <p:spPr>
          <a:xfrm>
            <a:off x="4114800" y="3813048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much a counter grew over 24 hours; the form you use for both halves of the metric.</a:t>
            </a:r>
            <a:endParaRPr lang="en-US" sz="105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 C: THE COMMANDS, IN PLAIN ENGLISH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48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118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Testing and finishing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0060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Cost Control · Module 6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7772400" y="48006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325880"/>
            <a:ext cx="8229600" cy="548640"/>
          </a:xfrm>
          <a:prstGeom prst="roundRect">
            <a:avLst>
              <a:gd name="adj" fmla="val 13333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94360" y="1325880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D28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--no-caps</a:t>
            </a:r>
            <a:endParaRPr lang="en-US" sz="800" dirty="0"/>
          </a:p>
        </p:txBody>
      </p:sp>
      <p:sp>
        <p:nvSpPr>
          <p:cNvPr id="8" name="Text 6"/>
          <p:cNvSpPr txBox="1"/>
          <p:nvPr/>
        </p:nvSpPr>
        <p:spPr>
          <a:xfrm>
            <a:off x="4114800" y="1325880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flag on the course script: run with the module 3 caps turned off, to prove the alert fires.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57200" y="1947672"/>
            <a:ext cx="8229600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94360" y="1947672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D28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&amp;</a:t>
            </a:r>
            <a:endParaRPr lang="en-US" sz="800" dirty="0"/>
          </a:p>
        </p:txBody>
      </p:sp>
      <p:sp>
        <p:nvSpPr>
          <p:cNvPr id="11" name="Text 9"/>
          <p:cNvSpPr txBox="1"/>
          <p:nvPr/>
        </p:nvSpPr>
        <p:spPr>
          <a:xfrm>
            <a:off x="4114800" y="1947672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the end of a line: run it in the background so you keep your prompt while it runs.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57200" y="2569464"/>
            <a:ext cx="8229600" cy="548640"/>
          </a:xfrm>
          <a:prstGeom prst="roundRect">
            <a:avLst>
              <a:gd name="adj" fmla="val 13333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94360" y="2569464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D28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compare_runs.py --before baseline --after routed</a:t>
            </a:r>
            <a:endParaRPr lang="en-US" sz="800" dirty="0"/>
          </a:p>
        </p:txBody>
      </p:sp>
      <p:sp>
        <p:nvSpPr>
          <p:cNvPr id="14" name="Text 12"/>
          <p:cNvSpPr txBox="1"/>
          <p:nvPr/>
        </p:nvSpPr>
        <p:spPr>
          <a:xfrm>
            <a:off x="4114800" y="2569464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own script: two batches of runs, compared on cost and on quality.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57200" y="3191256"/>
            <a:ext cx="8229600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94360" y="3191256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D28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docker compose down</a:t>
            </a:r>
            <a:endParaRPr lang="en-US" sz="800" dirty="0"/>
          </a:p>
        </p:txBody>
      </p:sp>
      <p:sp>
        <p:nvSpPr>
          <p:cNvPr id="17" name="Text 15"/>
          <p:cNvSpPr txBox="1"/>
          <p:nvPr/>
        </p:nvSpPr>
        <p:spPr>
          <a:xfrm>
            <a:off x="4114800" y="3191256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 the containers when you are finished for the day.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57200" y="3813048"/>
            <a:ext cx="8229600" cy="548640"/>
          </a:xfrm>
          <a:prstGeom prst="roundRect">
            <a:avLst>
              <a:gd name="adj" fmla="val 13333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594360" y="3813048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D28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localhost:3000</a:t>
            </a:r>
            <a:endParaRPr lang="en-US" sz="800" dirty="0"/>
          </a:p>
        </p:txBody>
      </p:sp>
      <p:sp>
        <p:nvSpPr>
          <p:cNvPr id="20" name="Text 18"/>
          <p:cNvSpPr txBox="1"/>
          <p:nvPr/>
        </p:nvSpPr>
        <p:spPr>
          <a:xfrm>
            <a:off x="4114800" y="3813048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Grafana opens in your browser. The dashboard link you paste into the calendar invite.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35</Slides>
  <Notes>35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35</vt:i4>
      </vt:variant>
    </vt:vector>
  </HeadingPairs>
  <TitlesOfParts>
    <vt:vector size="3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Module 6: Operating It</dc:title>
  <dc:subject>PptxGenJS Presentation</dc:subject>
  <dc:creator>Emmanuel Naweji</dc:creator>
  <cp:lastModifiedBy>Emmanuel Naweji</cp:lastModifiedBy>
  <cp:revision>1</cp:revision>
  <dcterms:created xsi:type="dcterms:W3CDTF">2026-09-23T19:41:57Z</dcterms:created>
  <dcterms:modified xsi:type="dcterms:W3CDTF">2026-09-23T19:41:57Z</dcterms:modified>
</cp:coreProperties>
</file>