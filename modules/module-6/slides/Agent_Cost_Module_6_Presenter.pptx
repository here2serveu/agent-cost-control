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 Script" id="{0fdbac89-975b-986f-4c6a-edbc42283390}">
          <p14:sldIdLst>
            <p14:sldId id="256"/>
            <p14:sldId id="257"/>
            <p14:sldId id="258"/>
          </p14:sldIdLst>
        </p14:section>
        <p14:section name="Setup · Script" id="{8ef770b3-c442-f0b7-13b2-c4d24d60c1bf}">
          <p14:sldIdLst>
            <p14:sldId id="259"/>
            <p14:sldId id="260"/>
          </p14:sldIdLst>
        </p14:section>
        <p14:section name="01 · Script" id="{56cf5a31-78d7-a666-3cc3-6016c54e1333}">
          <p14:sldIdLst>
            <p14:sldId id="261"/>
            <p14:sldId id="262"/>
            <p14:sldId id="263"/>
          </p14:sldIdLst>
        </p14:section>
        <p14:section name="01 · iPad" id="{e9af4bb1-3a94-b0bf-e49b-1e2e1e82f1ed}">
          <p14:sldIdLst>
            <p14:sldId id="264"/>
          </p14:sldIdLst>
        </p14:section>
        <p14:section name="02 · Script" id="{9db7dc01-e670-5be3-ab6a-b5fbfc697fb1}">
          <p14:sldIdLst>
            <p14:sldId id="265"/>
            <p14:sldId id="266"/>
            <p14:sldId id="267"/>
          </p14:sldIdLst>
        </p14:section>
        <p14:section name="02 · iPad" id="{11c5f91e-6232-386b-7b7b-83322ca3d71e}">
          <p14:sldIdLst>
            <p14:sldId id="268"/>
          </p14:sldIdLst>
        </p14:section>
        <p14:section name="03 · Script" id="{19361595-ab8e-9f78-8e2e-8d2f99f50baa}">
          <p14:sldIdLst>
            <p14:sldId id="269"/>
            <p14:sldId id="270"/>
            <p14:sldId id="271"/>
          </p14:sldIdLst>
        </p14:section>
        <p14:section name="03 · iPad" id="{9767b999-8a2c-64b8-5e40-fd7846c46493}">
          <p14:sldIdLst>
            <p14:sldId id="272"/>
          </p14:sldIdLst>
        </p14:section>
        <p14:section name="04 · Script" id="{ff318e1c-0a92-4769-b954-3eade6b23a7e}">
          <p14:sldIdLst>
            <p14:sldId id="273"/>
            <p14:sldId id="274"/>
            <p14:sldId id="275"/>
          </p14:sldIdLst>
        </p14:section>
        <p14:section name="04 · iPad" id="{abbf3be9-16fa-b8d4-ee3a-d7ab008b50b6}">
          <p14:sldIdLst>
            <p14:sldId id="276"/>
          </p14:sldIdLst>
        </p14:section>
        <p14:section name="05 · Script" id="{c7508938-bdde-e9ff-f859-347174632e6a}">
          <p14:sldIdLst>
            <p14:sldId id="277"/>
            <p14:sldId id="278"/>
            <p14:sldId id="279"/>
          </p14:sldIdLst>
        </p14:section>
        <p14:section name="05 · iPad" id="{be036ec6-59a0-3c62-508b-a26b9d88099c}">
          <p14:sldIdLst>
            <p14:sldId id="280"/>
          </p14:sldIdLst>
        </p14:section>
        <p14:section name="06 · Script" id="{48a2cce4-439c-0b55-ff76-f44a94aef86c}">
          <p14:sldIdLst>
            <p14:sldId id="281"/>
            <p14:sldId id="282"/>
          </p14:sldIdLst>
        </p14:section>
        <p14:section name="06 · Terminal (VS Code)" id="{5ef79f78-caf8-f564-dc05-0bf04980294c}">
          <p14:sldIdLst>
            <p14:sldId id="283"/>
            <p14:sldId id="284"/>
            <p14:sldId id="285"/>
            <p14:sldId id="286"/>
            <p14:sldId id="287"/>
          </p14:sldIdLst>
        </p14:section>
        <p14:section name="Wrap-up · Script" id="{0fc1d254-60bc-8539-c800-f709dc7a82c2}">
          <p14:sldIdLst>
            <p14:sldId id="288"/>
            <p14:sldId id="289"/>
            <p14:sldId id="290"/>
          </p14:sldIdLst>
        </p14:section>
        <p14:section name="Appendix · Reference" id="{d7645e49-bef6-6777-9892-2a40dc93fa88}">
          <p14:sldIdLst>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hour. Everything you have built so far needs to keep working when you are not looking at it. A dashboard with four panels, alerts that fire on the rate rather than the total, two ways to spend less without spending worse, and a fifteen-minute habit that keeps all of it alive.
[Presenter: Emmanuel Naweji · Runtime ~50 min · 6 sections · Course repo github.com/Here2ServeU/agent-cost-control]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last module. Everything we have built so far works. The problem now is keeping it working when nobody is thinking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and 2 are how you watch it. Sections 3 and 4 are two ways to spend less without spending worse. Section 5 keeps all of it alive; section 6 builds it, and ends with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This is the one module that adds a tool: Docker Desktop, so you can run Prometheus and Grafana locally with one command. Everything else is what you already have from modules one to five. And one thing that is not software: a calendar invite for the weekly review in section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If your machine is not set up yet, stop here and watch the video for your computer. The Mac one is youtu.be/8ZIiXg4XOY0; the Windows one is youtu.be/3e2-GRBibWc. The Docker and Grafana pages are for this module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dashboard nobody can read in ten seconds is a dashboard nobody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one: what are we spending? Cost per hour, over this week. Somebody glances at this and asks themselves one thing: is that normal for a Tuesday?
Panel two: what is it buying us? Cost per successful task, the number we built in module five. This is the one that matters most, and I would put it second only because people look for total spend first out of habit.
Panel three: who is spending it? Cost by team, this month. Not so you can blame anyone; so the bill has somewhere to go, and so a new agent nobody mentioned shows up as a new bar.
Panel four: how much is wasted? The failed-run tax from module four, tracked over time. If this starts climbing, something is failing more than it used to, and you want to know before anyone else notices.
Here is the test for any panel you are tempted to add. Say out loud what question it answers. If you cannot, delete it. If two panels answer the same question, delete one. Four is genuinely enough. Add a fifth when somebody asks you a question these four cannot answer, and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small thing that makes a real difference: title each panel with the question, not the metric name. A panel called 'agent_cost_usd_total rate 1h' is only readable by the person who built it. A panel called 'What are we spending?' is readable by your manager, which is the entire point of having a dashboard rather than a query.
The temptation, once you have all this lovely data, is to put all of it on a screen. Twenty panels. Every metric you collected. It feels thorough. It is actually the opposite, because every extra chart makes the important ones harder to find, and after two weeks people stop opening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four panels as a two-by-two grid with rough sketch charts inside each.
SAY:
Let's draw the dashboard, with each panel titled as a question rather than a metric name.
THEN SAY:
One small thing that makes a real difference: title each panel with the question, not the metric name. A panel called 'agent_cost_usd_total rate 1h' is only readable by the person who built it. A panel called 'What are we spending?' is readable by your manager, which is the entire point of having a dashboard rather than a query.
→ Next: alerts that fire while it is still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dashboard only helps when somebody is looking at it. Alerts are for when nobody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alert is on the total. Tell me when we have spent five hundred dollars this month. The problem is that by the time it fires, you have already spent five hundred dollars. It is a report on something finished, arriving too late to change anything.
The better alert is on the rate. Not how much have we spent, but how fast are we spending it. Picture a month's budget as a line you are climbing towards. Normal spending is a gentle slope that reaches the top at roughly the end of the month, which is exactly what a budget is for. Now picture a steeper line. Same budget, but at this rate you will hit the top in two days. Nothing has gone wrong yet; you have spent barely anything. But the slope is telling you something is wrong right now.
That is burn rate. How fast the budget is being consumed, compared to how fast it should be. And the reason it works is that it fires early. The runaway from module one would have tripped a burn-rate alert within minutes, long before the total looked alarming.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want two of these, watching different windows.
The fast window looks at the last hour. It fires within minutes and it catches the sharp problems: a runaway loop, an agent gone mad. This one is worth waking someone up for.
The slow window looks at the last twenty-four hours. It fires in hours and catches the quiet drift: spending that is slightly too high every hour, never dramatic, adding up to a bad month. This one is not worth waking anyone up for. Mention it at standup.
Different speeds of problem need different speeds of response, and one alert genuinely cannot do both. Set it fast enough to catch the runaway and it will wake you for every busy afternoon. Set it slow enough to be quiet and it will miss the thing you built it for.
One thing worth saying about the fast alert. Because you already have caps from module three, this alert is not your only protection; the cap will stop the bleeding whether anyone answers the page or not. That means you can set the alert to be genuinely informative rather than panicked. The cap is the seatbelt. The alert is the dashboard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three slopes against one budget line, then the two windows underneath.
SAY:
Let's draw the slopes, because burn rate is much easier to see than to explain.
THEN SAY:
One thing worth saying about the fast alert. Because you already have caps from module three, this alert is not your only protection; the cap will stop the bleeding whether anyone answers the page or not. That means you can set the alert to be genuinely informative rather than panicked. The cap is the seatbelt. The alert is the dashboard light.
→ Next: spending less without spending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would not send a senior engineer to reset somebody's password. Same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means sending the easy steps to a cheaper model and keeping the expensive one for the steps that need it. A twelve-step agent task is not twelve equally difficult steps. Most of them are ordinary: classify this, pull the date out of that, decide which of three categories this falls into, format the output. Two or three of them are the actual hard part.
The numbers are substantial. In the example on screen, running everything on the expensive model costs thirty-one cents. Nine cheap steps and three expensive ones costs eleven cents. Same answer, same quality, about sixty-five percent less.
One practical note on how to decide. Do not guess which steps are easy. Look at your data from module two. The steps that always produce the same shape of output, that never need much history, that would be boring for a person to do; those are your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important warning, and I want to be firm about this. Do routing last, not first.
Routing is the only change in this entire course that can make your answers worse. Everything in modules three and four; caps, loop detection, checkpoints; costs you nothing in quality. You are simply not buying things twice. Routing genuinely trades quality for money, even if only a little, and even if only on the steps you judged to be easy.
And people get this backwards constantly. Switching models is the first thing everyone reaches for, because it feels like the obvious lever. Then they spend weeks arguing about whether quality dropped. Fix the waste first. It is free. Then, when the waste is gone and you still need to spend less, route, and route carefully, one step type at a time, checking the results as you go.
If you want a rule for where to start, it is this: route the step types where you would be comfortable showing a colleague both answers side by side and saying 'can you tell which one was the cheap model?' If you would not be comfortable with that question, leave that step on the expensive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A decision diamond splitting to two models, then the cost comparison, then the warning.
SAY:
Let's draw the sorting, and then the numbers, and then the warning that goes with it.
THEN SAY:
If you want a rule for where to start, it is this: route the step types where you would be comfortable showing a colleague both answers side by side and saying 'can you tell which one was the cheap model?' If you would not be comfortable with that question, leave that step on the expensive model.
→ Next: the free money, and its one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already answered this exact question, do not pay to answer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means: if you have already answered this exact question, do not pay to answer it again; just give back what you said last time. When it applies, it is the closest thing to free money in this whole course.
But caching has one real danger, and it is worse than spending money: serving somebody an answer that was correct yesterday and is wrong today. Or worse, serving one person an answer that belonged to somebody else.
Always safe: the answer genuinely cannot change. The same document summarised. A fixed lookup table. Last month's closed figures, which are closed.
Safe for a while: the answer changes, but slowly. Product descriptions. Policy documents. Help articles. Cache these, but give them an expiry that matches how often they actually change.
Never cache: the answer is personal or live. Anything about one specific customer. Prices that move. Stock levels. And a good catch-all: anything with somebody's name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one question that catches almost every dangerous case, and I would use it as your only test if you remember nothing else. If two different people ask this, should they get the same answer? Yes means it is safe to cache. No means never cache it.
That question catches the obvious staleness problems, and it catches the privacy ones too, which are far more serious. A cached answer leaking between customers is not a cost incident, it is a data breach, and no saving is worth that. So when you are unsure: do not cache it.
One implementation note. Cache on the whole question, not part of it. If you cache on just the user's words but the system prompt has changed, you will serve answers generated under the old instructions and never know. Include everything that went into the call when you decide whether two requests are really the same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Three columns, then the single test question at the bottom; that question is the takeaway.
SAY:
Let's draw the three categories, and then the one question that decides all of it.
THEN SAY:
One implementation note. Cache on the whole question, not part of it. If you cache on just the user's words but the system prompt has changed, you will serve answers generated under the old instructions and never know. Include everything that went into the call when you decide whether two requests are really the same request.
→ Next: keeping all of it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have built quietly stops working the week nobody looks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did anything change? Compare cost per successful task this week against last week. If it moved more than about ten percent in either direction, find out why before you do anything else. Down is as worth understanding as up; a sudden drop often means something stopped working rather than something got better.
Question two: who is spending most? Look at cost by team this month. This is not about blame. It is about noticing a bar that was not there last month, which usually means somebody deployed an agent nobody told you about.
Question three: how much was wasted? The failed-run tax this week. If it is climbing, something is failing more often than it used to, and that is worth a look while it is small.
Question four: did any alert fire, and did anyone actually do anything? An alert that fires regularly and gets ignored is worse than no alert, because it teaches everyone that alerts do not matter. Either fix it so it only fires when action is needed, or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part people skip: it needs a name against it. Not the team; the team owns nothing. A rota is fine. One person per week, same slot, in the calendar.
Because a habit with an owner survives people leaving, reorganisations, and busy months. A habit that belongs to everybody survives about three weeks.
If you want this to actually happen, put it in a calendar before you finish this module, with a name on it, and paste the dashboard link into the invite. A habit that requires somebody to remember it is not a habit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Four numbered questions, then the ownership panel.
SAY:
Let's write down the four questions, and then the thing that makes them stick.
THEN SAY:
If you want this to actually happen, put it in a calendar before you finish this module, with a name on it, and paste the dashboard link into the invite. A habit that requires somebody to remember it is not a habit yet.
→ Last section: build it, and finish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build, and then the capstone that ties the whole course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build, and then the capstone that ties the whole course together.
Production note — Grafana and Prometheus running locally. The capstone at the end is the moment; let the final output sit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Start Prometheus and Grafana if they are not already running. Two containers, one command.
Always test a query in the terminal first; debugging PromQL inside a Grafana panel is miserable.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one: the four panels. In Grafana, create a dashboard with exactly four panels. Cost per hour. Cost per successful task. Cost by team. Failed-run tax. Title each one with the question, not the metric.
That is the first panel's query, checked from the terminal before you paste it into Grafana. Rate gives you spend per second; multiplying by thirty-six hundred gives you per hour. Always test a query here first; debugging PromQL inside a Grafana panel is miserable.
And the second is cost per successful task; module five's formula, in PromQL. All spend on the top, only successes on the bottom, same window on both. Check that it returns a number in the range you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two: the two alerts. Write a fast rule on a one-hour window that fires when the projected monthly spend exceeds your budget by a wide margin. Then a slow rule on a twenty-four-hour window with a tighter threshold. Route the fast one somewhere noisy and the slow one somewhere quiet.
Run the runaway with caps disabled, deliberately, to prove the alert fires. Watch your fast alert go off within a couple of minutes. Then stop it, and turn the caps back on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three: routing. Pick the one step type in your agent that is most obviously mechanical. Send only that step to a cheaper model. Run twenty tasks and compare both cost and output quality against the previous twenty.
Two numbers: how much you saved, and whether anything got worse. If quality moved at all, put that step back on the expensive model. The saving is not worth an argument about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four, the capstone. Take the original uninstrumented agent and the malformed input from module one, and put everything together.
Watch what happens. It is instrumented, so you can see the cost. It has a step ceiling and loop detection, so it stops in seconds. It has a cap, so even if detection missed it, the spend is bounded. It checkpoints, so nothing completed is wasted. Its result is labelled, so it counts correctly in your metrics. And your alert would have fired if it had not stopped.
There is the total cost of that runaway. Compare it to the number you extrapolated in module one, before any of this existed. That difference is the bill that never arrived, and it is the thing to show anyone who asks what this work was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course.
Six modules ago you had an agent that could spend four figures overnight while every dashboard stayed green. Now every run writes a receipt with four labels. Spending is capped per run and per day, with a behaviour you chose deliberately. A switch anyone can flip stops new work while letting current work finish. Loops are detected, steps are limited, and completed work is saved so a retry does not start from zero. You know what a successful task actually costs, including the failures. And there is a dashboard, two alerts, and a fifteen-minute weekly habit with somebody's name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leave you with the idea I think is most worth keeping, and it is not technical.
Almost everything in this course is a decision moved earlier. A cap is deciding what a task is worth before it runs instead of after. A step limit is deciding how long is too long while you are calm rather than during an incident. A definition of success is deciding what you mean before you report a number rather than being asked in a meeting.
None of those decisions are hard when you make them in advance. All of them are hard at three in the morning, or in front of a finance director, which is exactly when you will otherwise be making them.
That is really what cost control is. Not cleverness; just deciding early, writing it down, and letting a machine enforce it while you 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really what cost control is. Not cleverness; just deciding early, writing it down, and letting a machine enforce it while you sleep.
Go and run the capstone on your own agent. Then show somebody the two numbers.
Thank you for spending six modules with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exercises and the capstone.
1. Build exactly four panels. No more. Title each one with the question it answers, not the metric name.
2. Test every query in the terminal first, using the Prometheus API, before pasting anything into Grafana.
3. Build both alerts: a fast one on a 1-hour window routed somewhere noisy, and a slow one on 24 hours routed somewhere quiet.
4. Prove the fast alert fires: run the runaway with caps disabled and confirm the alert goes off within minutes. Then stop it and turn caps back on immediately.
5. Route one step type: your most mechanical step. Run twenty tasks and compare cost and quality. If quality moved at all, put it back.
6. Do the caching test for each cacheable-looking thing: if two different people ask this, should they get the same answer? When unsure, do not cache.
7. Put the review in a calendar: fifteen minutes, weekly, same slot, one name on it, dashboard link in the invite. Do this before you finish the module or it will not happen.
8. The capstone, the bill that never arrived: run the module 1 malformed input against your fully built agent. Record what it cost and how long it took to stop. Put that number beside your module 1 extrapolation. Those two numbers are what this course was for; show them to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The four-panel rule : A dashboard nobody can read in ten seconds is a dashboard nobody reads. One question per panel.
02 Burn rate : How fast the budget is being consumed compared with how fast it should be. Fires while it is happening.
03 Fast and slow windows : 1 hour catches runaways and is worth waking someone for; 24 hours catches drift and belongs at standup.
04 The cap is the seatbelt : Module 3's caps stop the bleeding regardless, so the alert can inform rather than panic.
05 Model routing : Easy steps to a cheaper model, the hard part on the expensive one. Around 65% less in the worked example.
06 Why routing goes last : It is the only change here that can make answers worse. Fix the free waste first, then route carefully.
07 Caching : If you already answered this exact question, give back the previous answer. The closest thing to free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The caching test : If two different people ask this, should they get the same answer? Yes is safe; no is never.
09 Cache on the whole call : Include the system prompt and everything else, or you serve answers made under old instructions.
10 The weekly review : Four questions, fifteen minutes: what changed, who spent, what was wasted, did an alert fire.
11 An ignored alert : Worse than no alert: it teaches everyone that alerts do not matter. Fix it or delete it.
12 It needs a name : The team owns nothing. A rota is fine, a person is better. A shared habit lasts about three weeks.
13 The whole course in one idea : Almost everything here is a decision moved earlier: made calmly, written down, enforced by 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-d prometheus grafana : Start both containers in the background. Prometheus on 9090, Grafana on 3000.
curl -s localhost:9090/api/v1/query : Ask Prometheus a question from the terminal, before you build the panel.
--data-urlencode 'query=…' : Send the query safely, so characters like { } and " are not mangled by the shell.
sum(rate(agent_cost_usd_total[1h]))*3600 : Spend per second over the last hour, added up, multiplied into spend per hour.
sum(increase(...[24h])) : How much a counter grew over 24 hours; the form you use for both halves of the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--no-caps : A flag on the course script: run with the module 3 caps turned off, to prove the alert fires.
&amp; : At the end of a line: run it in the background so you keep your prompt while it runs.
compare_runs.py --before baseline --after routed : Your own script: two batches of runs, compared on cost and on quality.
docker compose down : Stop the containers when you are finished for the day.
localhost:3000 : Where Grafana opens in your browser. The dashboard link you paste into the calendar invite.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hyperlink" Target="https://docs.docker.com/desktop" TargetMode="External"/><Relationship Id="rId4" Type="http://schemas.openxmlformats.org/officeDocument/2006/relationships/hyperlink" Target="https://grafana.com/docs/grafana/latest/fundamentals" TargetMode="External"/><Relationship Id="rId5" Type="http://schemas.openxmlformats.org/officeDocument/2006/relationships/hyperlink" Target="https://prometheus.io/docs/prometheus/latest/configuration/alerting_rules" TargetMode="External"/><Relationship Id="rId6" Type="http://schemas.openxmlformats.org/officeDocument/2006/relationships/hyperlink" Target="https://grafana.com/docs/grafana/latest/panels-visualizations"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MODULE 6 OF 6</a:t>
            </a:r>
            <a:endParaRPr lang="en-US" sz="1100" dirty="0"/>
          </a:p>
        </p:txBody>
      </p:sp>
      <p:sp>
        <p:nvSpPr>
          <p:cNvPr id="3" name="Text 1"/>
          <p:cNvSpPr txBox="1"/>
          <p:nvPr/>
        </p:nvSpPr>
        <p:spPr>
          <a:xfrm>
            <a:off x="548640" y="1234440"/>
            <a:ext cx="7772400" cy="1097280"/>
          </a:xfrm>
          <a:prstGeom prst="rect">
            <a:avLst/>
          </a:prstGeom>
          <a:noFill/>
          <a:ln/>
        </p:spPr>
        <p:txBody>
          <a:bodyPr wrap="square" lIns="0" tIns="0" rIns="0" bIns="0"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Operating It</a:t>
            </a:r>
            <a:endParaRPr lang="en-US" sz="5200" dirty="0"/>
          </a:p>
        </p:txBody>
      </p:sp>
      <p:sp>
        <p:nvSpPr>
          <p:cNvPr id="4" name="Text 2"/>
          <p:cNvSpPr txBox="1"/>
          <p:nvPr/>
        </p:nvSpPr>
        <p:spPr>
          <a:xfrm>
            <a:off x="548640" y="2514600"/>
            <a:ext cx="7772400" cy="82296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The last hour. Everything you have built needs to keep working </a:t>
            </a:r>
            <a:pPr indent="0" marL="0">
              <a:buNone/>
            </a:pPr>
            <a:r>
              <a:rPr lang="en-US" sz="1800" b="1" dirty="0">
                <a:solidFill>
                  <a:srgbClr val="FFFFFF"/>
                </a:solidFill>
                <a:latin typeface="Calibri" pitchFamily="34" charset="0"/>
                <a:ea typeface="Calibri" pitchFamily="34" charset="-122"/>
                <a:cs typeface="Calibri" pitchFamily="34" charset="-120"/>
              </a:rPr>
              <a:t>when you are not looking at it.</a:t>
            </a:r>
            <a:endParaRPr lang="en-US" sz="1800" dirty="0"/>
          </a:p>
        </p:txBody>
      </p:sp>
      <p:sp>
        <p:nvSpPr>
          <p:cNvPr id="5" name="Text 3"/>
          <p:cNvSpPr txBox="1"/>
          <p:nvPr/>
        </p:nvSpPr>
        <p:spPr>
          <a:xfrm>
            <a:off x="54864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54864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Emmanuel Naweji</a:t>
            </a:r>
            <a:endParaRPr lang="en-US" sz="1200" dirty="0"/>
          </a:p>
        </p:txBody>
      </p:sp>
      <p:sp>
        <p:nvSpPr>
          <p:cNvPr id="7" name="Text 5"/>
          <p:cNvSpPr txBox="1"/>
          <p:nvPr/>
        </p:nvSpPr>
        <p:spPr>
          <a:xfrm>
            <a:off x="265176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265176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~50 min · 6 sections</a:t>
            </a:r>
            <a:endParaRPr lang="en-US" sz="1200" dirty="0"/>
          </a:p>
        </p:txBody>
      </p:sp>
      <p:sp>
        <p:nvSpPr>
          <p:cNvPr id="9" name="Text 7"/>
          <p:cNvSpPr txBox="1"/>
          <p:nvPr/>
        </p:nvSpPr>
        <p:spPr>
          <a:xfrm>
            <a:off x="4754880" y="3931920"/>
            <a:ext cx="384048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COURSE REPO</a:t>
            </a:r>
            <a:endParaRPr lang="en-US" sz="900" dirty="0"/>
          </a:p>
        </p:txBody>
      </p:sp>
      <p:sp>
        <p:nvSpPr>
          <p:cNvPr id="10" name="Text 8"/>
          <p:cNvSpPr txBox="1"/>
          <p:nvPr/>
        </p:nvSpPr>
        <p:spPr>
          <a:xfrm>
            <a:off x="4754880" y="4160520"/>
            <a:ext cx="384048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github.com/Here2ServeU/agent-cost-control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WHAT THIS MODULE GIVES YOU</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731520"/>
            <a:ext cx="8229600" cy="1371600"/>
          </a:xfrm>
          <a:prstGeom prst="rect">
            <a:avLst/>
          </a:prstGeom>
          <a:noFill/>
          <a:ln/>
        </p:spPr>
        <p:txBody>
          <a:bodyPr wrap="square" lIns="0" tIns="0" rIns="0" bIns="0" rtlCol="0" anchor="t"/>
          <a:lstStyle/>
          <a:p>
            <a:pPr indent="0" marL="0">
              <a:buNone/>
            </a:pPr>
            <a:r>
              <a:rPr lang="en-US" sz="3200" b="1" dirty="0">
                <a:solidFill>
                  <a:srgbClr val="111827"/>
                </a:solidFill>
                <a:latin typeface="Cambria" pitchFamily="34" charset="0"/>
                <a:ea typeface="Cambria" pitchFamily="34" charset="-122"/>
                <a:cs typeface="Cambria" pitchFamily="34" charset="-120"/>
              </a:rPr>
              <a:t>Everything works. The problem now is</a:t>
            </a:r>
            <a:endParaRPr lang="en-US" sz="3200" dirty="0"/>
          </a:p>
          <a:p>
            <a:pPr indent="0" marL="0">
              <a:buNone/>
            </a:pPr>
            <a:r>
              <a:rPr lang="en-US" sz="3200" b="1" dirty="0">
                <a:solidFill>
                  <a:srgbClr val="111827"/>
                </a:solidFill>
                <a:latin typeface="Cambria" pitchFamily="34" charset="0"/>
                <a:ea typeface="Cambria" pitchFamily="34" charset="-122"/>
                <a:cs typeface="Cambria" pitchFamily="34" charset="-120"/>
              </a:rPr>
              <a:t>keeping it working.</a:t>
            </a:r>
            <a:endParaRPr lang="en-US" sz="3200" dirty="0"/>
          </a:p>
        </p:txBody>
      </p:sp>
      <p:sp>
        <p:nvSpPr>
          <p:cNvPr id="6" name="Shape 4"/>
          <p:cNvSpPr/>
          <p:nvPr/>
        </p:nvSpPr>
        <p:spPr>
          <a:xfrm>
            <a:off x="457200" y="2514600"/>
            <a:ext cx="2606040" cy="19202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85800" y="2697480"/>
            <a:ext cx="384048" cy="384048"/>
          </a:xfrm>
          <a:prstGeom prst="roundRect">
            <a:avLst>
              <a:gd name="adj" fmla="val 19048"/>
            </a:avLst>
          </a:prstGeom>
          <a:solidFill>
            <a:srgbClr val="1D4ED8"/>
          </a:solidFill>
          <a:ln w="12700">
            <a:solidFill>
              <a:srgbClr val="1D4ED8"/>
            </a:solidFill>
            <a:prstDash val="solid"/>
          </a:ln>
        </p:spPr>
      </p:sp>
      <p:pic>
        <p:nvPicPr>
          <p:cNvPr id="8" name="Image 0" descr="preencoded.png">    </p:cNvPr>
          <p:cNvPicPr>
            <a:picLocks noChangeAspect="1"/>
          </p:cNvPicPr>
          <p:nvPr/>
        </p:nvPicPr>
        <p:blipFill>
          <a:blip r:embed="rId1"/>
          <a:stretch>
            <a:fillRect/>
          </a:stretch>
        </p:blipFill>
        <p:spPr>
          <a:xfrm>
            <a:off x="768096" y="2779776"/>
            <a:ext cx="219456" cy="219456"/>
          </a:xfrm>
          <a:prstGeom prst="rect">
            <a:avLst/>
          </a:prstGeom>
        </p:spPr>
      </p:pic>
      <p:sp>
        <p:nvSpPr>
          <p:cNvPr id="9" name="Text 6"/>
          <p:cNvSpPr txBox="1"/>
          <p:nvPr/>
        </p:nvSpPr>
        <p:spPr>
          <a:xfrm>
            <a:off x="68580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dashboard of four panels</a:t>
            </a:r>
            <a:endParaRPr lang="en-US" sz="1500" dirty="0"/>
          </a:p>
        </p:txBody>
      </p:sp>
      <p:sp>
        <p:nvSpPr>
          <p:cNvPr id="10" name="Text 7"/>
          <p:cNvSpPr txBox="1"/>
          <p:nvPr/>
        </p:nvSpPr>
        <p:spPr>
          <a:xfrm>
            <a:off x="68580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one answering a question a real person asks out loud.</a:t>
            </a:r>
            <a:endParaRPr lang="en-US" sz="1200" dirty="0"/>
          </a:p>
        </p:txBody>
      </p:sp>
      <p:sp>
        <p:nvSpPr>
          <p:cNvPr id="11" name="Shape 8"/>
          <p:cNvSpPr/>
          <p:nvPr/>
        </p:nvSpPr>
        <p:spPr>
          <a:xfrm>
            <a:off x="3246120" y="2514600"/>
            <a:ext cx="2606040" cy="1920240"/>
          </a:xfrm>
          <a:prstGeom prst="roundRect">
            <a:avLst>
              <a:gd name="adj" fmla="val 3810"/>
            </a:avLst>
          </a:prstGeom>
          <a:solidFill>
            <a:srgbClr val="F3F4F6"/>
          </a:solidFill>
          <a:ln w="12700">
            <a:solidFill>
              <a:srgbClr val="F3F4F6"/>
            </a:solidFill>
            <a:prstDash val="solid"/>
          </a:ln>
        </p:spPr>
      </p:sp>
      <p:sp>
        <p:nvSpPr>
          <p:cNvPr id="12" name="Shape 9"/>
          <p:cNvSpPr/>
          <p:nvPr/>
        </p:nvSpPr>
        <p:spPr>
          <a:xfrm>
            <a:off x="3474720" y="2697480"/>
            <a:ext cx="384048" cy="384048"/>
          </a:xfrm>
          <a:prstGeom prst="roundRect">
            <a:avLst>
              <a:gd name="adj" fmla="val 19048"/>
            </a:avLst>
          </a:prstGeom>
          <a:solidFill>
            <a:srgbClr val="B91C1C"/>
          </a:solidFill>
          <a:ln w="12700">
            <a:solidFill>
              <a:srgbClr val="B91C1C"/>
            </a:solidFill>
            <a:prstDash val="solid"/>
          </a:ln>
        </p:spPr>
      </p:sp>
      <p:pic>
        <p:nvPicPr>
          <p:cNvPr id="13" name="Image 1" descr="preencoded.png">    </p:cNvPr>
          <p:cNvPicPr>
            <a:picLocks noChangeAspect="1"/>
          </p:cNvPicPr>
          <p:nvPr/>
        </p:nvPicPr>
        <p:blipFill>
          <a:blip r:embed="rId2"/>
          <a:stretch>
            <a:fillRect/>
          </a:stretch>
        </p:blipFill>
        <p:spPr>
          <a:xfrm>
            <a:off x="3557016" y="2779776"/>
            <a:ext cx="219456" cy="219456"/>
          </a:xfrm>
          <a:prstGeom prst="rect">
            <a:avLst/>
          </a:prstGeom>
        </p:spPr>
      </p:pic>
      <p:sp>
        <p:nvSpPr>
          <p:cNvPr id="14" name="Text 10"/>
          <p:cNvSpPr txBox="1"/>
          <p:nvPr/>
        </p:nvSpPr>
        <p:spPr>
          <a:xfrm>
            <a:off x="347472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Two alerts on the rate</a:t>
            </a:r>
            <a:endParaRPr lang="en-US" sz="1500" dirty="0"/>
          </a:p>
        </p:txBody>
      </p:sp>
      <p:sp>
        <p:nvSpPr>
          <p:cNvPr id="15" name="Text 11"/>
          <p:cNvSpPr txBox="1"/>
          <p:nvPr/>
        </p:nvSpPr>
        <p:spPr>
          <a:xfrm>
            <a:off x="347472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fast enough to catch a runaway, one quiet enough to be believed.</a:t>
            </a:r>
            <a:endParaRPr lang="en-US" sz="1200" dirty="0"/>
          </a:p>
        </p:txBody>
      </p:sp>
      <p:sp>
        <p:nvSpPr>
          <p:cNvPr id="16" name="Shape 12"/>
          <p:cNvSpPr/>
          <p:nvPr/>
        </p:nvSpPr>
        <p:spPr>
          <a:xfrm>
            <a:off x="6035040" y="2514600"/>
            <a:ext cx="2606040" cy="1920240"/>
          </a:xfrm>
          <a:prstGeom prst="roundRect">
            <a:avLst>
              <a:gd name="adj" fmla="val 3810"/>
            </a:avLst>
          </a:prstGeom>
          <a:solidFill>
            <a:srgbClr val="F3F4F6"/>
          </a:solidFill>
          <a:ln w="12700">
            <a:solidFill>
              <a:srgbClr val="F3F4F6"/>
            </a:solidFill>
            <a:prstDash val="solid"/>
          </a:ln>
        </p:spPr>
      </p:sp>
      <p:sp>
        <p:nvSpPr>
          <p:cNvPr id="17" name="Shape 13"/>
          <p:cNvSpPr/>
          <p:nvPr/>
        </p:nvSpPr>
        <p:spPr>
          <a:xfrm>
            <a:off x="6263640" y="2697480"/>
            <a:ext cx="384048" cy="384048"/>
          </a:xfrm>
          <a:prstGeom prst="roundRect">
            <a:avLst>
              <a:gd name="adj" fmla="val 19048"/>
            </a:avLst>
          </a:prstGeom>
          <a:solidFill>
            <a:srgbClr val="047857"/>
          </a:solidFill>
          <a:ln w="12700">
            <a:solidFill>
              <a:srgbClr val="047857"/>
            </a:solidFill>
            <a:prstDash val="solid"/>
          </a:ln>
        </p:spPr>
      </p:sp>
      <p:pic>
        <p:nvPicPr>
          <p:cNvPr id="18" name="Image 2" descr="preencoded.png">    </p:cNvPr>
          <p:cNvPicPr>
            <a:picLocks noChangeAspect="1"/>
          </p:cNvPicPr>
          <p:nvPr/>
        </p:nvPicPr>
        <p:blipFill>
          <a:blip r:embed="rId3"/>
          <a:stretch>
            <a:fillRect/>
          </a:stretch>
        </p:blipFill>
        <p:spPr>
          <a:xfrm>
            <a:off x="6345936" y="2779776"/>
            <a:ext cx="219456" cy="219456"/>
          </a:xfrm>
          <a:prstGeom prst="rect">
            <a:avLst/>
          </a:prstGeom>
        </p:spPr>
      </p:pic>
      <p:sp>
        <p:nvSpPr>
          <p:cNvPr id="19" name="Text 14"/>
          <p:cNvSpPr txBox="1"/>
          <p:nvPr/>
        </p:nvSpPr>
        <p:spPr>
          <a:xfrm>
            <a:off x="626364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fifteen-minute habit</a:t>
            </a:r>
            <a:endParaRPr lang="en-US" sz="1500" dirty="0"/>
          </a:p>
        </p:txBody>
      </p:sp>
      <p:sp>
        <p:nvSpPr>
          <p:cNvPr id="20" name="Text 15"/>
          <p:cNvSpPr txBox="1"/>
          <p:nvPr/>
        </p:nvSpPr>
        <p:spPr>
          <a:xfrm>
            <a:off x="626364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Four questions, once a week, with one person's name against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habit that outlives you</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417320"/>
            <a:ext cx="2606040" cy="1371600"/>
          </a:xfrm>
          <a:prstGeom prst="roundRect">
            <a:avLst>
              <a:gd name="adj" fmla="val 5333"/>
            </a:avLst>
          </a:prstGeom>
          <a:solidFill>
            <a:srgbClr val="F3F4F6"/>
          </a:solidFill>
          <a:ln w="12700">
            <a:solidFill>
              <a:srgbClr val="F3F4F6"/>
            </a:solidFill>
            <a:prstDash val="solid"/>
          </a:ln>
        </p:spPr>
      </p:sp>
      <p:sp>
        <p:nvSpPr>
          <p:cNvPr id="7" name="Text 5"/>
          <p:cNvSpPr txBox="1"/>
          <p:nvPr/>
        </p:nvSpPr>
        <p:spPr>
          <a:xfrm>
            <a:off x="68580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92024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9" name="Text 7"/>
          <p:cNvSpPr txBox="1"/>
          <p:nvPr/>
        </p:nvSpPr>
        <p:spPr>
          <a:xfrm>
            <a:off x="68580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Four Panels</a:t>
            </a:r>
            <a:endParaRPr lang="en-US" sz="1400" dirty="0"/>
          </a:p>
        </p:txBody>
      </p:sp>
      <p:sp>
        <p:nvSpPr>
          <p:cNvPr id="10" name="Shape 8"/>
          <p:cNvSpPr/>
          <p:nvPr/>
        </p:nvSpPr>
        <p:spPr>
          <a:xfrm>
            <a:off x="3246120" y="1417320"/>
            <a:ext cx="2606040" cy="1371600"/>
          </a:xfrm>
          <a:prstGeom prst="roundRect">
            <a:avLst>
              <a:gd name="adj" fmla="val 5333"/>
            </a:avLst>
          </a:prstGeom>
          <a:solidFill>
            <a:srgbClr val="F3F4F6"/>
          </a:solidFill>
          <a:ln w="12700">
            <a:solidFill>
              <a:srgbClr val="F3F4F6"/>
            </a:solidFill>
            <a:prstDash val="solid"/>
          </a:ln>
        </p:spPr>
      </p:sp>
      <p:sp>
        <p:nvSpPr>
          <p:cNvPr id="11" name="Text 9"/>
          <p:cNvSpPr txBox="1"/>
          <p:nvPr/>
        </p:nvSpPr>
        <p:spPr>
          <a:xfrm>
            <a:off x="347472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470916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~9 min</a:t>
            </a:r>
            <a:endParaRPr lang="en-US" sz="1100" dirty="0"/>
          </a:p>
        </p:txBody>
      </p:sp>
      <p:sp>
        <p:nvSpPr>
          <p:cNvPr id="13" name="Text 11"/>
          <p:cNvSpPr txBox="1"/>
          <p:nvPr/>
        </p:nvSpPr>
        <p:spPr>
          <a:xfrm>
            <a:off x="347472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Burn Rate</a:t>
            </a:r>
            <a:endParaRPr lang="en-US" sz="1400" dirty="0"/>
          </a:p>
        </p:txBody>
      </p:sp>
      <p:sp>
        <p:nvSpPr>
          <p:cNvPr id="14" name="Shape 12"/>
          <p:cNvSpPr/>
          <p:nvPr/>
        </p:nvSpPr>
        <p:spPr>
          <a:xfrm>
            <a:off x="6035040" y="1417320"/>
            <a:ext cx="2606040" cy="1371600"/>
          </a:xfrm>
          <a:prstGeom prst="roundRect">
            <a:avLst>
              <a:gd name="adj" fmla="val 5333"/>
            </a:avLst>
          </a:prstGeom>
          <a:solidFill>
            <a:srgbClr val="F3F4F6"/>
          </a:solidFill>
          <a:ln w="12700">
            <a:solidFill>
              <a:srgbClr val="F3F4F6"/>
            </a:solidFill>
            <a:prstDash val="solid"/>
          </a:ln>
        </p:spPr>
      </p:sp>
      <p:sp>
        <p:nvSpPr>
          <p:cNvPr id="15" name="Text 13"/>
          <p:cNvSpPr txBox="1"/>
          <p:nvPr/>
        </p:nvSpPr>
        <p:spPr>
          <a:xfrm>
            <a:off x="626364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749808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~9 min</a:t>
            </a:r>
            <a:endParaRPr lang="en-US" sz="1100" dirty="0"/>
          </a:p>
        </p:txBody>
      </p:sp>
      <p:sp>
        <p:nvSpPr>
          <p:cNvPr id="17" name="Text 15"/>
          <p:cNvSpPr txBox="1"/>
          <p:nvPr/>
        </p:nvSpPr>
        <p:spPr>
          <a:xfrm>
            <a:off x="626364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Routing</a:t>
            </a:r>
            <a:endParaRPr lang="en-US" sz="1400" dirty="0"/>
          </a:p>
        </p:txBody>
      </p:sp>
      <p:sp>
        <p:nvSpPr>
          <p:cNvPr id="18" name="Shape 16"/>
          <p:cNvSpPr/>
          <p:nvPr/>
        </p:nvSpPr>
        <p:spPr>
          <a:xfrm>
            <a:off x="457200" y="2971800"/>
            <a:ext cx="2606040" cy="1371600"/>
          </a:xfrm>
          <a:prstGeom prst="roundRect">
            <a:avLst>
              <a:gd name="adj" fmla="val 5333"/>
            </a:avLst>
          </a:prstGeom>
          <a:solidFill>
            <a:srgbClr val="F3F4F6"/>
          </a:solidFill>
          <a:ln w="12700">
            <a:solidFill>
              <a:srgbClr val="F3F4F6"/>
            </a:solidFill>
            <a:prstDash val="solid"/>
          </a:ln>
        </p:spPr>
      </p:sp>
      <p:sp>
        <p:nvSpPr>
          <p:cNvPr id="19" name="Text 17"/>
          <p:cNvSpPr txBox="1"/>
          <p:nvPr/>
        </p:nvSpPr>
        <p:spPr>
          <a:xfrm>
            <a:off x="68580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192024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21" name="Text 19"/>
          <p:cNvSpPr txBox="1"/>
          <p:nvPr/>
        </p:nvSpPr>
        <p:spPr>
          <a:xfrm>
            <a:off x="68580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Caching</a:t>
            </a:r>
            <a:endParaRPr lang="en-US" sz="1400" dirty="0"/>
          </a:p>
        </p:txBody>
      </p:sp>
      <p:sp>
        <p:nvSpPr>
          <p:cNvPr id="22" name="Shape 20"/>
          <p:cNvSpPr/>
          <p:nvPr/>
        </p:nvSpPr>
        <p:spPr>
          <a:xfrm>
            <a:off x="3246120" y="2971800"/>
            <a:ext cx="2606040" cy="1371600"/>
          </a:xfrm>
          <a:prstGeom prst="roundRect">
            <a:avLst>
              <a:gd name="adj" fmla="val 5333"/>
            </a:avLst>
          </a:prstGeom>
          <a:solidFill>
            <a:srgbClr val="F3F4F6"/>
          </a:solidFill>
          <a:ln w="12700">
            <a:solidFill>
              <a:srgbClr val="F3F4F6"/>
            </a:solidFill>
            <a:prstDash val="solid"/>
          </a:ln>
        </p:spPr>
      </p:sp>
      <p:sp>
        <p:nvSpPr>
          <p:cNvPr id="23" name="Text 21"/>
          <p:cNvSpPr txBox="1"/>
          <p:nvPr/>
        </p:nvSpPr>
        <p:spPr>
          <a:xfrm>
            <a:off x="347472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470916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5" name="Text 23"/>
          <p:cNvSpPr txBox="1"/>
          <p:nvPr/>
        </p:nvSpPr>
        <p:spPr>
          <a:xfrm>
            <a:off x="347472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Review</a:t>
            </a:r>
            <a:endParaRPr lang="en-US" sz="1400" dirty="0"/>
          </a:p>
        </p:txBody>
      </p:sp>
      <p:sp>
        <p:nvSpPr>
          <p:cNvPr id="26" name="Shape 24"/>
          <p:cNvSpPr/>
          <p:nvPr/>
        </p:nvSpPr>
        <p:spPr>
          <a:xfrm>
            <a:off x="6035040" y="2971800"/>
            <a:ext cx="2606040" cy="1371600"/>
          </a:xfrm>
          <a:prstGeom prst="roundRect">
            <a:avLst>
              <a:gd name="adj" fmla="val 5333"/>
            </a:avLst>
          </a:prstGeom>
          <a:solidFill>
            <a:srgbClr val="111827"/>
          </a:solidFill>
          <a:ln w="12700">
            <a:solidFill>
              <a:srgbClr val="111827"/>
            </a:solidFill>
            <a:prstDash val="solid"/>
          </a:ln>
        </p:spPr>
      </p:sp>
      <p:sp>
        <p:nvSpPr>
          <p:cNvPr id="27" name="Text 25"/>
          <p:cNvSpPr txBox="1"/>
          <p:nvPr/>
        </p:nvSpPr>
        <p:spPr>
          <a:xfrm>
            <a:off x="6263640" y="3154680"/>
            <a:ext cx="914400" cy="457200"/>
          </a:xfrm>
          <a:prstGeom prst="rect">
            <a:avLst/>
          </a:prstGeom>
          <a:noFill/>
          <a:ln/>
        </p:spPr>
        <p:txBody>
          <a:bodyPr wrap="square" lIns="0" tIns="0" rIns="0" bIns="0" rtlCol="0" anchor="t"/>
          <a:lstStyle/>
          <a:p>
            <a:pPr indent="0" marL="0">
              <a:buNone/>
            </a:pPr>
            <a:r>
              <a:rPr lang="en-US" sz="2800" b="1" dirty="0">
                <a:solidFill>
                  <a:srgbClr val="F59E0B"/>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498080" y="3218688"/>
            <a:ext cx="960120" cy="274320"/>
          </a:xfrm>
          <a:prstGeom prst="rect">
            <a:avLst/>
          </a:prstGeom>
          <a:noFill/>
          <a:ln/>
        </p:spPr>
        <p:txBody>
          <a:bodyPr wrap="square" lIns="0" tIns="0" rIns="0" bIns="0" rtlCol="0" anchor="t"/>
          <a:lstStyle/>
          <a:p>
            <a:pPr algn="r" indent="0" marL="0">
              <a:buNone/>
            </a:pPr>
            <a:r>
              <a:rPr lang="en-US" sz="1100" dirty="0">
                <a:solidFill>
                  <a:srgbClr val="9CA3AF"/>
                </a:solidFill>
                <a:latin typeface="Calibri" pitchFamily="34" charset="0"/>
                <a:ea typeface="Calibri" pitchFamily="34" charset="-122"/>
                <a:cs typeface="Calibri" pitchFamily="34" charset="-120"/>
              </a:rPr>
              <a:t>~9 min</a:t>
            </a:r>
            <a:endParaRPr lang="en-US" sz="1100" dirty="0"/>
          </a:p>
        </p:txBody>
      </p:sp>
      <p:sp>
        <p:nvSpPr>
          <p:cNvPr id="29" name="Text 27"/>
          <p:cNvSpPr txBox="1"/>
          <p:nvPr/>
        </p:nvSpPr>
        <p:spPr>
          <a:xfrm>
            <a:off x="6263640" y="3721608"/>
            <a:ext cx="219456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Build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Ten minutes once, and every command in this module will run. Pick your side.</a:t>
            </a:r>
            <a:endParaRPr lang="en-US" sz="1400" dirty="0"/>
          </a:p>
        </p:txBody>
      </p:sp>
      <p:sp>
        <p:nvSpPr>
          <p:cNvPr id="7" name="Shape 5"/>
          <p:cNvSpPr/>
          <p:nvPr/>
        </p:nvSpPr>
        <p:spPr>
          <a:xfrm>
            <a:off x="457200" y="1600200"/>
            <a:ext cx="4023360" cy="2148840"/>
          </a:xfrm>
          <a:prstGeom prst="roundRect">
            <a:avLst>
              <a:gd name="adj" fmla="val 3404"/>
            </a:avLst>
          </a:prstGeom>
          <a:solidFill>
            <a:srgbClr val="F3F4F6"/>
          </a:solidFill>
          <a:ln w="12700">
            <a:solidFill>
              <a:srgbClr val="F3F4F6"/>
            </a:solidFill>
            <a:prstDash val="solid"/>
          </a:ln>
        </p:spPr>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100" b="1" spc="100" kern="0" dirty="0">
                <a:solidFill>
                  <a:srgbClr val="1D4ED8"/>
                </a:solidFill>
                <a:latin typeface="Calibri" pitchFamily="34" charset="0"/>
                <a:ea typeface="Calibri" pitchFamily="34" charset="-122"/>
                <a:cs typeface="Calibri" pitchFamily="34" charset="-120"/>
              </a:rPr>
              <a:t>macOS  ·  TERMINAL</a:t>
            </a:r>
            <a:endParaRPr lang="en-US" sz="1100" dirty="0"/>
          </a:p>
        </p:txBody>
      </p:sp>
      <p:sp>
        <p:nvSpPr>
          <p:cNvPr id="9" name="Shape 7"/>
          <p:cNvSpPr/>
          <p:nvPr/>
        </p:nvSpPr>
        <p:spPr>
          <a:xfrm>
            <a:off x="685800" y="2057400"/>
            <a:ext cx="3566160" cy="1508760"/>
          </a:xfrm>
          <a:prstGeom prst="roundRect">
            <a:avLst>
              <a:gd name="adj" fmla="val 4848"/>
            </a:avLst>
          </a:prstGeom>
          <a:solidFill>
            <a:srgbClr val="0F172A"/>
          </a:solidFill>
          <a:ln w="12700">
            <a:solidFill>
              <a:srgbClr val="0F172A"/>
            </a:solidFill>
            <a:prstDash val="solid"/>
          </a:ln>
        </p:spPr>
      </p:sp>
      <p:sp>
        <p:nvSpPr>
          <p:cNvPr id="10" name="Text 8"/>
          <p:cNvSpPr txBox="1"/>
          <p:nvPr/>
        </p:nvSpPr>
        <p:spPr>
          <a:xfrm>
            <a:off x="86868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docker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docker --version &amp;&amp; python3 --version</a:t>
            </a:r>
            <a:endParaRPr lang="en-US" sz="950" dirty="0"/>
          </a:p>
        </p:txBody>
      </p:sp>
      <p:sp>
        <p:nvSpPr>
          <p:cNvPr id="11" name="Shape 9"/>
          <p:cNvSpPr/>
          <p:nvPr/>
        </p:nvSpPr>
        <p:spPr>
          <a:xfrm>
            <a:off x="4663440" y="1600200"/>
            <a:ext cx="4023360" cy="2148840"/>
          </a:xfrm>
          <a:prstGeom prst="roundRect">
            <a:avLst>
              <a:gd name="adj" fmla="val 3404"/>
            </a:avLst>
          </a:prstGeom>
          <a:solidFill>
            <a:srgbClr val="F3F4F6"/>
          </a:solidFill>
          <a:ln w="12700">
            <a:solidFill>
              <a:srgbClr val="F3F4F6"/>
            </a:solidFill>
            <a:prstDash val="solid"/>
          </a:ln>
        </p:spPr>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100" b="1" spc="100" kern="0" dirty="0">
                <a:solidFill>
                  <a:srgbClr val="6D28D9"/>
                </a:solidFill>
                <a:latin typeface="Calibri" pitchFamily="34" charset="0"/>
                <a:ea typeface="Calibri" pitchFamily="34" charset="-122"/>
                <a:cs typeface="Calibri" pitchFamily="34" charset="-120"/>
              </a:rPr>
              <a:t>WINDOWS  ·  POWERSHELL</a:t>
            </a:r>
            <a:endParaRPr lang="en-US" sz="1100" dirty="0"/>
          </a:p>
        </p:txBody>
      </p:sp>
      <p:sp>
        <p:nvSpPr>
          <p:cNvPr id="13" name="Shape 11"/>
          <p:cNvSpPr/>
          <p:nvPr/>
        </p:nvSpPr>
        <p:spPr>
          <a:xfrm>
            <a:off x="4892040" y="2057400"/>
            <a:ext cx="3566160" cy="1508760"/>
          </a:xfrm>
          <a:prstGeom prst="roundRect">
            <a:avLst>
              <a:gd name="adj" fmla="val 4848"/>
            </a:avLst>
          </a:prstGeom>
          <a:solidFill>
            <a:srgbClr val="0F172A"/>
          </a:solidFill>
          <a:ln w="12700">
            <a:solidFill>
              <a:srgbClr val="0F172A"/>
            </a:solidFill>
            <a:prstDash val="solid"/>
          </a:ln>
        </p:spPr>
      </p:sp>
      <p:sp>
        <p:nvSpPr>
          <p:cNvPr id="14" name="Text 12"/>
          <p:cNvSpPr txBox="1"/>
          <p:nvPr/>
        </p:nvSpPr>
        <p:spPr>
          <a:xfrm>
            <a:off x="507492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Docker.DockerDesktop</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Microsoft.VisualStudioCode</a:t>
            </a:r>
            <a:endParaRPr lang="en-US" sz="950" dirty="0"/>
          </a:p>
        </p:txBody>
      </p:sp>
      <p:sp>
        <p:nvSpPr>
          <p:cNvPr id="15" name="Text 1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MODULE 6 ADDS</a:t>
            </a:r>
            <a:endParaRPr lang="en-US" sz="1000" dirty="0"/>
          </a:p>
        </p:txBody>
      </p:sp>
      <p:sp>
        <p:nvSpPr>
          <p:cNvPr id="16" name="Shape 14"/>
          <p:cNvSpPr/>
          <p:nvPr/>
        </p:nvSpPr>
        <p:spPr>
          <a:xfrm>
            <a:off x="457200" y="4114800"/>
            <a:ext cx="2606040" cy="594360"/>
          </a:xfrm>
          <a:prstGeom prst="roundRect">
            <a:avLst>
              <a:gd name="adj" fmla="val 12308"/>
            </a:avLst>
          </a:prstGeom>
          <a:solidFill>
            <a:srgbClr val="ECFDF5"/>
          </a:solidFill>
          <a:ln w="12700">
            <a:solidFill>
              <a:srgbClr val="ECFDF5"/>
            </a:solidFill>
            <a:prstDash val="solid"/>
          </a:ln>
        </p:spPr>
      </p:sp>
      <p:sp>
        <p:nvSpPr>
          <p:cNvPr id="17" name="Text 15"/>
          <p:cNvSpPr txBox="1"/>
          <p:nvPr/>
        </p:nvSpPr>
        <p:spPr>
          <a:xfrm>
            <a:off x="64008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Docker Desktop</a:t>
            </a:r>
            <a:endParaRPr lang="en-US" sz="1150" dirty="0"/>
          </a:p>
        </p:txBody>
      </p:sp>
      <p:sp>
        <p:nvSpPr>
          <p:cNvPr id="18" name="Text 16"/>
          <p:cNvSpPr txBox="1"/>
          <p:nvPr/>
        </p:nvSpPr>
        <p:spPr>
          <a:xfrm>
            <a:off x="64008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to run Prometheus and Grafana</a:t>
            </a:r>
            <a:endParaRPr lang="en-US" sz="950" dirty="0"/>
          </a:p>
        </p:txBody>
      </p:sp>
      <p:sp>
        <p:nvSpPr>
          <p:cNvPr id="19" name="Shape 17"/>
          <p:cNvSpPr/>
          <p:nvPr/>
        </p:nvSpPr>
        <p:spPr>
          <a:xfrm>
            <a:off x="3246120" y="4114800"/>
            <a:ext cx="260604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342900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Grafana</a:t>
            </a:r>
            <a:endParaRPr lang="en-US" sz="1150" dirty="0"/>
          </a:p>
        </p:txBody>
      </p:sp>
      <p:sp>
        <p:nvSpPr>
          <p:cNvPr id="21" name="Text 19"/>
          <p:cNvSpPr txBox="1"/>
          <p:nvPr/>
        </p:nvSpPr>
        <p:spPr>
          <a:xfrm>
            <a:off x="342900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for the four panels</a:t>
            </a:r>
            <a:endParaRPr lang="en-US" sz="950" dirty="0"/>
          </a:p>
        </p:txBody>
      </p:sp>
      <p:sp>
        <p:nvSpPr>
          <p:cNvPr id="22" name="Shape 20"/>
          <p:cNvSpPr/>
          <p:nvPr/>
        </p:nvSpPr>
        <p:spPr>
          <a:xfrm>
            <a:off x="6035040" y="4114800"/>
            <a:ext cx="2606040" cy="594360"/>
          </a:xfrm>
          <a:prstGeom prst="roundRect">
            <a:avLst>
              <a:gd name="adj" fmla="val 12308"/>
            </a:avLst>
          </a:prstGeom>
          <a:solidFill>
            <a:srgbClr val="ECFDF5"/>
          </a:solidFill>
          <a:ln w="12700">
            <a:solidFill>
              <a:srgbClr val="ECFDF5"/>
            </a:solidFill>
            <a:prstDash val="solid"/>
          </a:ln>
        </p:spPr>
      </p:sp>
      <p:sp>
        <p:nvSpPr>
          <p:cNvPr id="23" name="Text 21"/>
          <p:cNvSpPr txBox="1"/>
          <p:nvPr/>
        </p:nvSpPr>
        <p:spPr>
          <a:xfrm>
            <a:off x="621792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A calendar invite</a:t>
            </a:r>
            <a:endParaRPr lang="en-US" sz="1150" dirty="0"/>
          </a:p>
        </p:txBody>
      </p:sp>
      <p:sp>
        <p:nvSpPr>
          <p:cNvPr id="24" name="Text 22"/>
          <p:cNvSpPr txBox="1"/>
          <p:nvPr/>
        </p:nvSpPr>
        <p:spPr>
          <a:xfrm>
            <a:off x="621792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for the weekly review</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OFFICIAL PAGES, IF YOU PREFER TO READ</a:t>
            </a:r>
            <a:endParaRPr lang="en-US" sz="950" dirty="0"/>
          </a:p>
        </p:txBody>
      </p:sp>
      <p:sp>
        <p:nvSpPr>
          <p:cNvPr id="18" name="Shape 16"/>
          <p:cNvSpPr/>
          <p:nvPr/>
        </p:nvSpPr>
        <p:spPr>
          <a:xfrm>
            <a:off x="457200" y="3429000"/>
            <a:ext cx="4023360" cy="566928"/>
          </a:xfrm>
          <a:prstGeom prst="roundRect">
            <a:avLst>
              <a:gd name="adj" fmla="val 12903"/>
            </a:avLst>
          </a:prstGeom>
          <a:solidFill>
            <a:srgbClr val="F3F4F6"/>
          </a:solidFill>
          <a:ln w="12700">
            <a:solidFill>
              <a:srgbClr val="F3F4F6"/>
            </a:solidFill>
            <a:prstDash val="solid"/>
          </a:ln>
        </p:spPr>
      </p:sp>
      <p:sp>
        <p:nvSpPr>
          <p:cNvPr id="19" name="Text 17"/>
          <p:cNvSpPr txBox="1"/>
          <p:nvPr/>
        </p:nvSpPr>
        <p:spPr>
          <a:xfrm>
            <a:off x="65836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Docker Desktop</a:t>
            </a:r>
            <a:endParaRPr lang="en-US" sz="1150" dirty="0"/>
          </a:p>
        </p:txBody>
      </p:sp>
      <p:sp>
        <p:nvSpPr>
          <p:cNvPr id="20" name="Text 18"/>
          <p:cNvSpPr txBox="1"/>
          <p:nvPr/>
        </p:nvSpPr>
        <p:spPr>
          <a:xfrm>
            <a:off x="65836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Install for Mac and Windows</a:t>
            </a:r>
            <a:endParaRPr lang="en-US" sz="900" dirty="0"/>
          </a:p>
        </p:txBody>
      </p:sp>
      <p:sp>
        <p:nvSpPr>
          <p:cNvPr id="21" name="Text 19">
            <a:hlinkClick r:id="rId3" tooltip=""/>
          </p:cNvPr>
          <p:cNvSpPr txBox="1"/>
          <p:nvPr/>
        </p:nvSpPr>
        <p:spPr>
          <a:xfrm>
            <a:off x="2651760" y="3429000"/>
            <a:ext cx="173736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docs.docker.com/desktop</a:t>
            </a:r>
            <a:endParaRPr lang="en-US" sz="800" dirty="0"/>
          </a:p>
        </p:txBody>
      </p:sp>
      <p:sp>
        <p:nvSpPr>
          <p:cNvPr id="22" name="Shape 20"/>
          <p:cNvSpPr/>
          <p:nvPr/>
        </p:nvSpPr>
        <p:spPr>
          <a:xfrm>
            <a:off x="4663440" y="3429000"/>
            <a:ext cx="4023360" cy="566928"/>
          </a:xfrm>
          <a:prstGeom prst="roundRect">
            <a:avLst>
              <a:gd name="adj" fmla="val 12903"/>
            </a:avLst>
          </a:prstGeom>
          <a:solidFill>
            <a:srgbClr val="F3F4F6"/>
          </a:solidFill>
          <a:ln w="12700">
            <a:solidFill>
              <a:srgbClr val="F3F4F6"/>
            </a:solidFill>
            <a:prstDash val="solid"/>
          </a:ln>
        </p:spPr>
      </p:sp>
      <p:sp>
        <p:nvSpPr>
          <p:cNvPr id="23" name="Text 21"/>
          <p:cNvSpPr txBox="1"/>
          <p:nvPr/>
        </p:nvSpPr>
        <p:spPr>
          <a:xfrm>
            <a:off x="486460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Grafana with Prometheus</a:t>
            </a:r>
            <a:endParaRPr lang="en-US" sz="1150" dirty="0"/>
          </a:p>
        </p:txBody>
      </p:sp>
      <p:sp>
        <p:nvSpPr>
          <p:cNvPr id="24" name="Text 22"/>
          <p:cNvSpPr txBox="1"/>
          <p:nvPr/>
        </p:nvSpPr>
        <p:spPr>
          <a:xfrm>
            <a:off x="486460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getting-started guide</a:t>
            </a:r>
            <a:endParaRPr lang="en-US" sz="900" dirty="0"/>
          </a:p>
        </p:txBody>
      </p:sp>
      <p:sp>
        <p:nvSpPr>
          <p:cNvPr id="25" name="Text 23">
            <a:hlinkClick r:id="rId4" tooltip=""/>
          </p:cNvPr>
          <p:cNvSpPr txBox="1"/>
          <p:nvPr/>
        </p:nvSpPr>
        <p:spPr>
          <a:xfrm>
            <a:off x="6858000" y="3429000"/>
            <a:ext cx="173736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grafana.com · basics</a:t>
            </a:r>
            <a:endParaRPr lang="en-US" sz="800" dirty="0"/>
          </a:p>
        </p:txBody>
      </p:sp>
      <p:sp>
        <p:nvSpPr>
          <p:cNvPr id="26" name="Shape 24"/>
          <p:cNvSpPr/>
          <p:nvPr/>
        </p:nvSpPr>
        <p:spPr>
          <a:xfrm>
            <a:off x="457200" y="4087368"/>
            <a:ext cx="4023360" cy="566928"/>
          </a:xfrm>
          <a:prstGeom prst="roundRect">
            <a:avLst>
              <a:gd name="adj" fmla="val 12903"/>
            </a:avLst>
          </a:prstGeom>
          <a:solidFill>
            <a:srgbClr val="F3F4F6"/>
          </a:solidFill>
          <a:ln w="12700">
            <a:solidFill>
              <a:srgbClr val="F3F4F6"/>
            </a:solidFill>
            <a:prstDash val="solid"/>
          </a:ln>
        </p:spPr>
      </p:sp>
      <p:sp>
        <p:nvSpPr>
          <p:cNvPr id="27" name="Text 25"/>
          <p:cNvSpPr txBox="1"/>
          <p:nvPr/>
        </p:nvSpPr>
        <p:spPr>
          <a:xfrm>
            <a:off x="65836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Alerting rules</a:t>
            </a:r>
            <a:endParaRPr lang="en-US" sz="1150" dirty="0"/>
          </a:p>
        </p:txBody>
      </p:sp>
      <p:sp>
        <p:nvSpPr>
          <p:cNvPr id="28" name="Text 26"/>
          <p:cNvSpPr txBox="1"/>
          <p:nvPr/>
        </p:nvSpPr>
        <p:spPr>
          <a:xfrm>
            <a:off x="65836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Prometheus guide</a:t>
            </a:r>
            <a:endParaRPr lang="en-US" sz="900" dirty="0"/>
          </a:p>
        </p:txBody>
      </p:sp>
      <p:sp>
        <p:nvSpPr>
          <p:cNvPr id="29" name="Text 27">
            <a:hlinkClick r:id="rId5" tooltip=""/>
          </p:cNvPr>
          <p:cNvSpPr txBox="1"/>
          <p:nvPr/>
        </p:nvSpPr>
        <p:spPr>
          <a:xfrm>
            <a:off x="2651760" y="4087368"/>
            <a:ext cx="173736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prometheus.io · alerts</a:t>
            </a:r>
            <a:endParaRPr lang="en-US" sz="800" dirty="0"/>
          </a:p>
        </p:txBody>
      </p:sp>
      <p:sp>
        <p:nvSpPr>
          <p:cNvPr id="30" name="Shape 28"/>
          <p:cNvSpPr/>
          <p:nvPr/>
        </p:nvSpPr>
        <p:spPr>
          <a:xfrm>
            <a:off x="4663440" y="4087368"/>
            <a:ext cx="4023360" cy="566928"/>
          </a:xfrm>
          <a:prstGeom prst="roundRect">
            <a:avLst>
              <a:gd name="adj" fmla="val 12903"/>
            </a:avLst>
          </a:prstGeom>
          <a:solidFill>
            <a:srgbClr val="F3F4F6"/>
          </a:solidFill>
          <a:ln w="12700">
            <a:solidFill>
              <a:srgbClr val="F3F4F6"/>
            </a:solidFill>
            <a:prstDash val="solid"/>
          </a:ln>
        </p:spPr>
      </p:sp>
      <p:sp>
        <p:nvSpPr>
          <p:cNvPr id="31" name="Text 29"/>
          <p:cNvSpPr txBox="1"/>
          <p:nvPr/>
        </p:nvSpPr>
        <p:spPr>
          <a:xfrm>
            <a:off x="486460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Grafana panels</a:t>
            </a:r>
            <a:endParaRPr lang="en-US" sz="1150" dirty="0"/>
          </a:p>
        </p:txBody>
      </p:sp>
      <p:sp>
        <p:nvSpPr>
          <p:cNvPr id="32" name="Text 30"/>
          <p:cNvSpPr txBox="1"/>
          <p:nvPr/>
        </p:nvSpPr>
        <p:spPr>
          <a:xfrm>
            <a:off x="486460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How to build and title a panel</a:t>
            </a:r>
            <a:endParaRPr lang="en-US" sz="900" dirty="0"/>
          </a:p>
        </p:txBody>
      </p:sp>
      <p:sp>
        <p:nvSpPr>
          <p:cNvPr id="33" name="Text 31">
            <a:hlinkClick r:id="rId6" tooltip=""/>
          </p:cNvPr>
          <p:cNvSpPr txBox="1"/>
          <p:nvPr/>
        </p:nvSpPr>
        <p:spPr>
          <a:xfrm>
            <a:off x="6858000" y="4087368"/>
            <a:ext cx="173736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grafana.com · panels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Four Panels. Not Fourteen.</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FOUR PANELS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Each panel answers a question somebody asks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234440"/>
            <a:ext cx="4023360" cy="1325880"/>
          </a:xfrm>
          <a:prstGeom prst="roundRect">
            <a:avLst>
              <a:gd name="adj" fmla="val 5517"/>
            </a:avLst>
          </a:prstGeom>
          <a:solidFill>
            <a:srgbClr val="F3F4F6"/>
          </a:solidFill>
          <a:ln w="12700">
            <a:solidFill>
              <a:srgbClr val="F3F4F6"/>
            </a:solidFill>
            <a:prstDash val="solid"/>
          </a:ln>
        </p:spPr>
      </p:sp>
      <p:sp>
        <p:nvSpPr>
          <p:cNvPr id="7" name="Text 5"/>
          <p:cNvSpPr txBox="1"/>
          <p:nvPr/>
        </p:nvSpPr>
        <p:spPr>
          <a:xfrm>
            <a:off x="685800" y="1371600"/>
            <a:ext cx="3566160" cy="347472"/>
          </a:xfrm>
          <a:prstGeom prst="rect">
            <a:avLst/>
          </a:prstGeom>
          <a:noFill/>
          <a:ln/>
        </p:spPr>
        <p:txBody>
          <a:bodyPr wrap="square" lIns="0" tIns="0" rIns="0" bIns="0"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What are we spending?</a:t>
            </a:r>
            <a:endParaRPr lang="en-US" sz="1700" dirty="0"/>
          </a:p>
        </p:txBody>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cost per hour, this week</a:t>
            </a:r>
            <a:endParaRPr lang="en-US" sz="1200" dirty="0"/>
          </a:p>
        </p:txBody>
      </p:sp>
      <p:sp>
        <p:nvSpPr>
          <p:cNvPr id="9" name="Text 7"/>
          <p:cNvSpPr txBox="1"/>
          <p:nvPr/>
        </p:nvSpPr>
        <p:spPr>
          <a:xfrm>
            <a:off x="685800" y="2057400"/>
            <a:ext cx="3566160" cy="365760"/>
          </a:xfrm>
          <a:prstGeom prst="rect">
            <a:avLst/>
          </a:prstGeom>
          <a:noFill/>
          <a:ln/>
        </p:spPr>
        <p:txBody>
          <a:bodyPr wrap="square" lIns="0" tIns="0" rIns="0" bIns="0" rtlCol="0" anchor="t"/>
          <a:lstStyle/>
          <a:p>
            <a:pPr indent="0" marL="0">
              <a:buNone/>
            </a:pPr>
            <a:r>
              <a:rPr lang="en-US" sz="1250" b="1" dirty="0">
                <a:solidFill>
                  <a:srgbClr val="1D4ED8"/>
                </a:solidFill>
                <a:latin typeface="Calibri" pitchFamily="34" charset="0"/>
                <a:ea typeface="Calibri" pitchFamily="34" charset="-122"/>
                <a:cs typeface="Calibri" pitchFamily="34" charset="-120"/>
              </a:rPr>
              <a:t>Is that normal for a Tuesday?</a:t>
            </a:r>
            <a:endParaRPr lang="en-US" sz="1250" dirty="0"/>
          </a:p>
        </p:txBody>
      </p:sp>
      <p:sp>
        <p:nvSpPr>
          <p:cNvPr id="10" name="Shape 8"/>
          <p:cNvSpPr/>
          <p:nvPr/>
        </p:nvSpPr>
        <p:spPr>
          <a:xfrm>
            <a:off x="4663440" y="1234440"/>
            <a:ext cx="4023360" cy="1325880"/>
          </a:xfrm>
          <a:prstGeom prst="roundRect">
            <a:avLst>
              <a:gd name="adj" fmla="val 5517"/>
            </a:avLst>
          </a:prstGeom>
          <a:solidFill>
            <a:srgbClr val="F3F4F6"/>
          </a:solidFill>
          <a:ln w="12700">
            <a:solidFill>
              <a:srgbClr val="F3F4F6"/>
            </a:solidFill>
            <a:prstDash val="solid"/>
          </a:ln>
        </p:spPr>
      </p:sp>
      <p:sp>
        <p:nvSpPr>
          <p:cNvPr id="11" name="Text 9"/>
          <p:cNvSpPr txBox="1"/>
          <p:nvPr/>
        </p:nvSpPr>
        <p:spPr>
          <a:xfrm>
            <a:off x="4892040" y="1371600"/>
            <a:ext cx="3566160" cy="347472"/>
          </a:xfrm>
          <a:prstGeom prst="rect">
            <a:avLst/>
          </a:prstGeom>
          <a:noFill/>
          <a:ln/>
        </p:spPr>
        <p:txBody>
          <a:bodyPr wrap="square" lIns="0" tIns="0" rIns="0" bIns="0"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What is it buying us?</a:t>
            </a:r>
            <a:endParaRPr lang="en-US" sz="1700" dirty="0"/>
          </a:p>
        </p:txBody>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cost per successful task</a:t>
            </a:r>
            <a:endParaRPr lang="en-US" sz="1200" dirty="0"/>
          </a:p>
        </p:txBody>
      </p:sp>
      <p:sp>
        <p:nvSpPr>
          <p:cNvPr id="13" name="Text 11"/>
          <p:cNvSpPr txBox="1"/>
          <p:nvPr/>
        </p:nvSpPr>
        <p:spPr>
          <a:xfrm>
            <a:off x="4892040" y="2057400"/>
            <a:ext cx="3566160" cy="365760"/>
          </a:xfrm>
          <a:prstGeom prst="rect">
            <a:avLst/>
          </a:prstGeom>
          <a:noFill/>
          <a:ln/>
        </p:spPr>
        <p:txBody>
          <a:bodyPr wrap="square" lIns="0" tIns="0" rIns="0" bIns="0" rtlCol="0" anchor="t"/>
          <a:lstStyle/>
          <a:p>
            <a:pPr indent="0" marL="0">
              <a:buNone/>
            </a:pPr>
            <a:r>
              <a:rPr lang="en-US" sz="1250" b="1" dirty="0">
                <a:solidFill>
                  <a:srgbClr val="047857"/>
                </a:solidFill>
                <a:latin typeface="Calibri" pitchFamily="34" charset="0"/>
                <a:ea typeface="Calibri" pitchFamily="34" charset="-122"/>
                <a:cs typeface="Calibri" pitchFamily="34" charset="-120"/>
              </a:rPr>
              <a:t>Module 5's number; the one that matters.</a:t>
            </a:r>
            <a:endParaRPr lang="en-US" sz="1250" dirty="0"/>
          </a:p>
        </p:txBody>
      </p:sp>
      <p:sp>
        <p:nvSpPr>
          <p:cNvPr id="14" name="Shape 12"/>
          <p:cNvSpPr/>
          <p:nvPr/>
        </p:nvSpPr>
        <p:spPr>
          <a:xfrm>
            <a:off x="457200" y="2743200"/>
            <a:ext cx="4023360" cy="1325880"/>
          </a:xfrm>
          <a:prstGeom prst="roundRect">
            <a:avLst>
              <a:gd name="adj" fmla="val 5517"/>
            </a:avLst>
          </a:prstGeom>
          <a:solidFill>
            <a:srgbClr val="F3F4F6"/>
          </a:solidFill>
          <a:ln w="12700">
            <a:solidFill>
              <a:srgbClr val="F3F4F6"/>
            </a:solidFill>
            <a:prstDash val="solid"/>
          </a:ln>
        </p:spPr>
      </p:sp>
      <p:sp>
        <p:nvSpPr>
          <p:cNvPr id="15" name="Text 13"/>
          <p:cNvSpPr txBox="1"/>
          <p:nvPr/>
        </p:nvSpPr>
        <p:spPr>
          <a:xfrm>
            <a:off x="685800" y="2880360"/>
            <a:ext cx="3566160" cy="347472"/>
          </a:xfrm>
          <a:prstGeom prst="rect">
            <a:avLst/>
          </a:prstGeom>
          <a:noFill/>
          <a:ln/>
        </p:spPr>
        <p:txBody>
          <a:bodyPr wrap="square" lIns="0" tIns="0" rIns="0" bIns="0"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Who is spending it?</a:t>
            </a:r>
            <a:endParaRPr lang="en-US" sz="1700" dirty="0"/>
          </a:p>
        </p:txBody>
      </p:sp>
      <p:sp>
        <p:nvSpPr>
          <p:cNvPr id="16" name="Text 14"/>
          <p:cNvSpPr txBox="1"/>
          <p:nvPr/>
        </p:nvSpPr>
        <p:spPr>
          <a:xfrm>
            <a:off x="685800" y="3246120"/>
            <a:ext cx="356616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cost by team, this month</a:t>
            </a:r>
            <a:endParaRPr lang="en-US" sz="1200" dirty="0"/>
          </a:p>
        </p:txBody>
      </p:sp>
      <p:sp>
        <p:nvSpPr>
          <p:cNvPr id="17" name="Text 15"/>
          <p:cNvSpPr txBox="1"/>
          <p:nvPr/>
        </p:nvSpPr>
        <p:spPr>
          <a:xfrm>
            <a:off x="685800" y="3566160"/>
            <a:ext cx="3566160" cy="365760"/>
          </a:xfrm>
          <a:prstGeom prst="rect">
            <a:avLst/>
          </a:prstGeom>
          <a:noFill/>
          <a:ln/>
        </p:spPr>
        <p:txBody>
          <a:bodyPr wrap="square" lIns="0" tIns="0" rIns="0" bIns="0" rtlCol="0" anchor="t"/>
          <a:lstStyle/>
          <a:p>
            <a:pPr indent="0" marL="0">
              <a:buNone/>
            </a:pPr>
            <a:r>
              <a:rPr lang="en-US" sz="1250" b="1" dirty="0">
                <a:solidFill>
                  <a:srgbClr val="6D28D9"/>
                </a:solidFill>
                <a:latin typeface="Calibri" pitchFamily="34" charset="0"/>
                <a:ea typeface="Calibri" pitchFamily="34" charset="-122"/>
                <a:cs typeface="Calibri" pitchFamily="34" charset="-120"/>
              </a:rPr>
              <a:t>So the bill has somewhere to go.</a:t>
            </a:r>
            <a:endParaRPr lang="en-US" sz="1250" dirty="0"/>
          </a:p>
        </p:txBody>
      </p:sp>
      <p:sp>
        <p:nvSpPr>
          <p:cNvPr id="18" name="Shape 16"/>
          <p:cNvSpPr/>
          <p:nvPr/>
        </p:nvSpPr>
        <p:spPr>
          <a:xfrm>
            <a:off x="4663440" y="2743200"/>
            <a:ext cx="4023360" cy="1325880"/>
          </a:xfrm>
          <a:prstGeom prst="roundRect">
            <a:avLst>
              <a:gd name="adj" fmla="val 5517"/>
            </a:avLst>
          </a:prstGeom>
          <a:solidFill>
            <a:srgbClr val="F3F4F6"/>
          </a:solidFill>
          <a:ln w="12700">
            <a:solidFill>
              <a:srgbClr val="F3F4F6"/>
            </a:solidFill>
            <a:prstDash val="solid"/>
          </a:ln>
        </p:spPr>
      </p:sp>
      <p:sp>
        <p:nvSpPr>
          <p:cNvPr id="19" name="Text 17"/>
          <p:cNvSpPr txBox="1"/>
          <p:nvPr/>
        </p:nvSpPr>
        <p:spPr>
          <a:xfrm>
            <a:off x="4892040" y="2880360"/>
            <a:ext cx="3566160" cy="347472"/>
          </a:xfrm>
          <a:prstGeom prst="rect">
            <a:avLst/>
          </a:prstGeom>
          <a:noFill/>
          <a:ln/>
        </p:spPr>
        <p:txBody>
          <a:bodyPr wrap="square" lIns="0" tIns="0" rIns="0" bIns="0" rtlCol="0" anchor="t"/>
          <a:lstStyle/>
          <a:p>
            <a:pPr indent="0" marL="0">
              <a:buNone/>
            </a:pPr>
            <a:r>
              <a:rPr lang="en-US" sz="1700" b="1" dirty="0">
                <a:solidFill>
                  <a:srgbClr val="111827"/>
                </a:solidFill>
                <a:latin typeface="Calibri" pitchFamily="34" charset="0"/>
                <a:ea typeface="Calibri" pitchFamily="34" charset="-122"/>
                <a:cs typeface="Calibri" pitchFamily="34" charset="-120"/>
              </a:rPr>
              <a:t>How much is wasted?</a:t>
            </a:r>
            <a:endParaRPr lang="en-US" sz="1700" dirty="0"/>
          </a:p>
        </p:txBody>
      </p:sp>
      <p:sp>
        <p:nvSpPr>
          <p:cNvPr id="20" name="Text 18"/>
          <p:cNvSpPr txBox="1"/>
          <p:nvPr/>
        </p:nvSpPr>
        <p:spPr>
          <a:xfrm>
            <a:off x="4892040" y="3246120"/>
            <a:ext cx="356616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the failed-run tax over time</a:t>
            </a:r>
            <a:endParaRPr lang="en-US" sz="1200" dirty="0"/>
          </a:p>
        </p:txBody>
      </p:sp>
      <p:sp>
        <p:nvSpPr>
          <p:cNvPr id="21" name="Text 19"/>
          <p:cNvSpPr txBox="1"/>
          <p:nvPr/>
        </p:nvSpPr>
        <p:spPr>
          <a:xfrm>
            <a:off x="4892040" y="3566160"/>
            <a:ext cx="3566160" cy="365760"/>
          </a:xfrm>
          <a:prstGeom prst="rect">
            <a:avLst/>
          </a:prstGeom>
          <a:noFill/>
          <a:ln/>
        </p:spPr>
        <p:txBody>
          <a:bodyPr wrap="square" lIns="0" tIns="0" rIns="0" bIns="0" rtlCol="0" anchor="t"/>
          <a:lstStyle/>
          <a:p>
            <a:pPr indent="0" marL="0">
              <a:buNone/>
            </a:pPr>
            <a:r>
              <a:rPr lang="en-US" sz="1250" b="1" dirty="0">
                <a:solidFill>
                  <a:srgbClr val="B91C1C"/>
                </a:solidFill>
                <a:latin typeface="Calibri" pitchFamily="34" charset="0"/>
                <a:ea typeface="Calibri" pitchFamily="34" charset="-122"/>
                <a:cs typeface="Calibri" pitchFamily="34" charset="-120"/>
              </a:rPr>
              <a:t>Module 4's number, watched weekly.</a:t>
            </a:r>
            <a:endParaRPr lang="en-US" sz="1250" dirty="0"/>
          </a:p>
        </p:txBody>
      </p:sp>
      <p:sp>
        <p:nvSpPr>
          <p:cNvPr id="22" name="Shape 20"/>
          <p:cNvSpPr/>
          <p:nvPr/>
        </p:nvSpPr>
        <p:spPr>
          <a:xfrm>
            <a:off x="457200" y="4297680"/>
            <a:ext cx="8229600" cy="548640"/>
          </a:xfrm>
          <a:prstGeom prst="roundRect">
            <a:avLst>
              <a:gd name="adj" fmla="val 13333"/>
            </a:avLst>
          </a:prstGeom>
          <a:solidFill>
            <a:srgbClr val="111827"/>
          </a:solidFill>
          <a:ln w="12700">
            <a:solidFill>
              <a:srgbClr val="111827"/>
            </a:solidFill>
            <a:prstDash val="solid"/>
          </a:ln>
        </p:spPr>
      </p:sp>
      <p:sp>
        <p:nvSpPr>
          <p:cNvPr id="23" name="Text 21"/>
          <p:cNvSpPr txBox="1"/>
          <p:nvPr/>
        </p:nvSpPr>
        <p:spPr>
          <a:xfrm>
            <a:off x="457200" y="4297680"/>
            <a:ext cx="82296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If you cannot say out loud what question a panel answers, delete the panel.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FOUR PANELS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Title it with the question, not the metric name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371600"/>
            <a:ext cx="4023360" cy="1737360"/>
          </a:xfrm>
          <a:prstGeom prst="roundRect">
            <a:avLst>
              <a:gd name="adj" fmla="val 4211"/>
            </a:avLst>
          </a:prstGeom>
          <a:solidFill>
            <a:srgbClr val="FEF2F2"/>
          </a:solidFill>
          <a:ln w="12700">
            <a:solidFill>
              <a:srgbClr val="FEF2F2"/>
            </a:solidFill>
            <a:prstDash val="solid"/>
          </a:ln>
        </p:spPr>
      </p:sp>
      <p:sp>
        <p:nvSpPr>
          <p:cNvPr id="7" name="Text 5"/>
          <p:cNvSpPr txBox="1"/>
          <p:nvPr/>
        </p:nvSpPr>
        <p:spPr>
          <a:xfrm>
            <a:off x="685800" y="150876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ONLY READABLE BY ITS AUTHOR</a:t>
            </a:r>
            <a:endParaRPr lang="en-US" sz="1000" dirty="0"/>
          </a:p>
        </p:txBody>
      </p:sp>
      <p:sp>
        <p:nvSpPr>
          <p:cNvPr id="8" name="Shape 6"/>
          <p:cNvSpPr/>
          <p:nvPr/>
        </p:nvSpPr>
        <p:spPr>
          <a:xfrm>
            <a:off x="685800" y="1828800"/>
            <a:ext cx="3566160" cy="640080"/>
          </a:xfrm>
          <a:prstGeom prst="roundRect">
            <a:avLst>
              <a:gd name="adj" fmla="val 11429"/>
            </a:avLst>
          </a:prstGeom>
          <a:solidFill>
            <a:srgbClr val="111827"/>
          </a:solidFill>
          <a:ln w="12700">
            <a:solidFill>
              <a:srgbClr val="111827"/>
            </a:solidFill>
            <a:prstDash val="solid"/>
          </a:ln>
        </p:spPr>
      </p:sp>
      <p:sp>
        <p:nvSpPr>
          <p:cNvPr id="9" name="Text 7"/>
          <p:cNvSpPr txBox="1"/>
          <p:nvPr/>
        </p:nvSpPr>
        <p:spPr>
          <a:xfrm>
            <a:off x="777240" y="1828800"/>
            <a:ext cx="3383280" cy="64008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agent_cost_usd_total rate 1h</a:t>
            </a:r>
            <a:endParaRPr lang="en-US" sz="1050" dirty="0"/>
          </a:p>
        </p:txBody>
      </p:sp>
      <p:sp>
        <p:nvSpPr>
          <p:cNvPr id="10" name="Text 8"/>
          <p:cNvSpPr txBox="1"/>
          <p:nvPr/>
        </p:nvSpPr>
        <p:spPr>
          <a:xfrm>
            <a:off x="685800" y="2560320"/>
            <a:ext cx="3566160"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query with a name. Nobody else opens it twice.</a:t>
            </a:r>
            <a:endParaRPr lang="en-US" sz="1300" dirty="0"/>
          </a:p>
        </p:txBody>
      </p:sp>
      <p:sp>
        <p:nvSpPr>
          <p:cNvPr id="11" name="Shape 9"/>
          <p:cNvSpPr/>
          <p:nvPr/>
        </p:nvSpPr>
        <p:spPr>
          <a:xfrm>
            <a:off x="4663440" y="1371600"/>
            <a:ext cx="4023360" cy="1737360"/>
          </a:xfrm>
          <a:prstGeom prst="roundRect">
            <a:avLst>
              <a:gd name="adj" fmla="val 4211"/>
            </a:avLst>
          </a:prstGeom>
          <a:solidFill>
            <a:srgbClr val="ECFDF5"/>
          </a:solidFill>
          <a:ln w="12700">
            <a:solidFill>
              <a:srgbClr val="ECFDF5"/>
            </a:solidFill>
            <a:prstDash val="solid"/>
          </a:ln>
        </p:spPr>
      </p:sp>
      <p:sp>
        <p:nvSpPr>
          <p:cNvPr id="12" name="Text 10"/>
          <p:cNvSpPr txBox="1"/>
          <p:nvPr/>
        </p:nvSpPr>
        <p:spPr>
          <a:xfrm>
            <a:off x="4892040" y="150876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READABLE BY YOUR MANAGER</a:t>
            </a:r>
            <a:endParaRPr lang="en-US" sz="1000" dirty="0"/>
          </a:p>
        </p:txBody>
      </p:sp>
      <p:sp>
        <p:nvSpPr>
          <p:cNvPr id="13" name="Shape 11"/>
          <p:cNvSpPr/>
          <p:nvPr/>
        </p:nvSpPr>
        <p:spPr>
          <a:xfrm>
            <a:off x="4892040" y="1828800"/>
            <a:ext cx="3566160" cy="640080"/>
          </a:xfrm>
          <a:prstGeom prst="roundRect">
            <a:avLst>
              <a:gd name="adj" fmla="val 11429"/>
            </a:avLst>
          </a:prstGeom>
          <a:solidFill>
            <a:srgbClr val="111827"/>
          </a:solidFill>
          <a:ln w="12700">
            <a:solidFill>
              <a:srgbClr val="111827"/>
            </a:solidFill>
            <a:prstDash val="solid"/>
          </a:ln>
        </p:spPr>
      </p:sp>
      <p:sp>
        <p:nvSpPr>
          <p:cNvPr id="14" name="Text 12"/>
          <p:cNvSpPr txBox="1"/>
          <p:nvPr/>
        </p:nvSpPr>
        <p:spPr>
          <a:xfrm>
            <a:off x="4983480" y="1828800"/>
            <a:ext cx="338328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are we spending?</a:t>
            </a:r>
            <a:endParaRPr lang="en-US" sz="1500" dirty="0"/>
          </a:p>
        </p:txBody>
      </p:sp>
      <p:sp>
        <p:nvSpPr>
          <p:cNvPr id="15" name="Text 13"/>
          <p:cNvSpPr txBox="1"/>
          <p:nvPr/>
        </p:nvSpPr>
        <p:spPr>
          <a:xfrm>
            <a:off x="4892040" y="2560320"/>
            <a:ext cx="3566160"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entire point of a dashboard rather than a query.</a:t>
            </a:r>
            <a:endParaRPr lang="en-US" sz="1300" dirty="0"/>
          </a:p>
        </p:txBody>
      </p:sp>
      <p:sp>
        <p:nvSpPr>
          <p:cNvPr id="16" name="Shape 14"/>
          <p:cNvSpPr/>
          <p:nvPr/>
        </p:nvSpPr>
        <p:spPr>
          <a:xfrm>
            <a:off x="457200" y="3383280"/>
            <a:ext cx="8229600" cy="1097280"/>
          </a:xfrm>
          <a:prstGeom prst="roundRect">
            <a:avLst>
              <a:gd name="adj" fmla="val 6667"/>
            </a:avLst>
          </a:prstGeom>
          <a:solidFill>
            <a:srgbClr val="F3F4F6"/>
          </a:solidFill>
          <a:ln w="12700">
            <a:solidFill>
              <a:srgbClr val="F3F4F6"/>
            </a:solidFill>
            <a:prstDash val="solid"/>
          </a:ln>
        </p:spPr>
      </p:sp>
      <p:sp>
        <p:nvSpPr>
          <p:cNvPr id="17" name="Text 15"/>
          <p:cNvSpPr txBox="1"/>
          <p:nvPr/>
        </p:nvSpPr>
        <p:spPr>
          <a:xfrm>
            <a:off x="731520" y="3383280"/>
            <a:ext cx="7680960" cy="109728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Every extra chart makes the important ones harder to find. </a:t>
            </a:r>
            <a:endParaRPr lang="en-US" sz="1500" dirty="0"/>
          </a:p>
          <a:p>
            <a:pPr indent="0" marL="0">
              <a:buNone/>
            </a:pPr>
            <a:r>
              <a:rPr lang="en-US" sz="1500" dirty="0">
                <a:solidFill>
                  <a:srgbClr val="1F2937"/>
                </a:solidFill>
                <a:latin typeface="Calibri" pitchFamily="34" charset="0"/>
                <a:ea typeface="Calibri" pitchFamily="34" charset="-122"/>
                <a:cs typeface="Calibri" pitchFamily="34" charset="-120"/>
              </a:rPr>
              <a:t>Twenty panels feels thorough; after two weeks people stop opening it.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01 · Four Panels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dashboard</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four panels as a two-by-two grid with rough sketch charts inside each.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Four boxes in a two-by-two grid, taking up most of the page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Top left WHAT ARE WE SPENDING? Smaller: cost per hour, this week. Sketch a wobbly rising line. At the bottom: is it normal for a Tuesday?</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Top right WHAT IS IT BUYING US? Smaller: cost per successful task. Another line. At the bottom: the module five number, the one that matters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Bottom left WHO IS SPENDING IT? Smaller: cost by team, this month. Five bars of different heights. At the bottom: so the bill goes somewhere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Bottom right HOW MUCH IS WASTED? Smaller: the failed-run tax, as a percentage. A line. At the bottom: module four's number, watched over time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underneath: each panel answers one question a person actually asks. If you cannot say out loud what question a panel answers, delete the panel</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Add underneath: four is enough; add a fifth only when someone asks a question these four cannot answer</a:t>
            </a:r>
            <a:endParaRPr lang="en-US" sz="950" dirty="0"/>
          </a:p>
        </p:txBody>
      </p:sp>
      <p:sp>
        <p:nvSpPr>
          <p:cNvPr id="12" name="Shape 8"/>
          <p:cNvSpPr/>
          <p:nvPr/>
        </p:nvSpPr>
        <p:spPr>
          <a:xfrm>
            <a:off x="3886200" y="1536192"/>
            <a:ext cx="4800600" cy="2449150"/>
          </a:xfrm>
          <a:prstGeom prst="roundRect">
            <a:avLst>
              <a:gd name="adj" fmla="val 298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991950"/>
          </a:xfrm>
          <a:prstGeom prst="rect">
            <a:avLst/>
          </a:prstGeom>
        </p:spPr>
      </p:pic>
      <p:sp>
        <p:nvSpPr>
          <p:cNvPr id="15" name="Shape 10"/>
          <p:cNvSpPr/>
          <p:nvPr/>
        </p:nvSpPr>
        <p:spPr>
          <a:xfrm>
            <a:off x="3886200" y="4140790"/>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140790"/>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“Title each panel as a question. If you can't phrase it as one, it doesn't belong.”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Alert on the Rate, Not the Total</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BURN RATE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How fast, not how much</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234440"/>
            <a:ext cx="4023360" cy="1554480"/>
          </a:xfrm>
          <a:prstGeom prst="roundRect">
            <a:avLst>
              <a:gd name="adj" fmla="val 4706"/>
            </a:avLst>
          </a:prstGeom>
          <a:solidFill>
            <a:srgbClr val="FEF2F2"/>
          </a:solidFill>
          <a:ln w="12700">
            <a:solidFill>
              <a:srgbClr val="FEF2F2"/>
            </a:solidFill>
            <a:prstDash val="solid"/>
          </a:ln>
        </p:spPr>
      </p:sp>
      <p:sp>
        <p:nvSpPr>
          <p:cNvPr id="7" name="Text 5"/>
          <p:cNvSpPr txBox="1"/>
          <p:nvPr/>
        </p:nvSpPr>
        <p:spPr>
          <a:xfrm>
            <a:off x="685800" y="137160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ALERT ON THE TOTAL</a:t>
            </a:r>
            <a:endParaRPr lang="en-US" sz="1000" dirty="0"/>
          </a:p>
        </p:txBody>
      </p:sp>
      <p:sp>
        <p:nvSpPr>
          <p:cNvPr id="8" name="Text 6"/>
          <p:cNvSpPr txBox="1"/>
          <p:nvPr/>
        </p:nvSpPr>
        <p:spPr>
          <a:xfrm>
            <a:off x="685800" y="1691640"/>
            <a:ext cx="3566160" cy="10058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"Tell me when we have spent $500 this month." By the time it fires, you have already spent $500. It is a report on something finished.</a:t>
            </a:r>
            <a:endParaRPr lang="en-US" sz="1350" dirty="0"/>
          </a:p>
        </p:txBody>
      </p:sp>
      <p:sp>
        <p:nvSpPr>
          <p:cNvPr id="9" name="Shape 7"/>
          <p:cNvSpPr/>
          <p:nvPr/>
        </p:nvSpPr>
        <p:spPr>
          <a:xfrm>
            <a:off x="4663440" y="1234440"/>
            <a:ext cx="4023360" cy="1554480"/>
          </a:xfrm>
          <a:prstGeom prst="roundRect">
            <a:avLst>
              <a:gd name="adj" fmla="val 4706"/>
            </a:avLst>
          </a:prstGeom>
          <a:solidFill>
            <a:srgbClr val="ECFDF5"/>
          </a:solidFill>
          <a:ln w="12700">
            <a:solidFill>
              <a:srgbClr val="ECFDF5"/>
            </a:solidFill>
            <a:prstDash val="solid"/>
          </a:ln>
        </p:spPr>
      </p:sp>
      <p:sp>
        <p:nvSpPr>
          <p:cNvPr id="10" name="Text 8"/>
          <p:cNvSpPr txBox="1"/>
          <p:nvPr/>
        </p:nvSpPr>
        <p:spPr>
          <a:xfrm>
            <a:off x="4892040" y="137160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ALERT ON THE RATE</a:t>
            </a:r>
            <a:endParaRPr lang="en-US" sz="1000" dirty="0"/>
          </a:p>
        </p:txBody>
      </p:sp>
      <p:sp>
        <p:nvSpPr>
          <p:cNvPr id="11" name="Text 9"/>
          <p:cNvSpPr txBox="1"/>
          <p:nvPr/>
        </p:nvSpPr>
        <p:spPr>
          <a:xfrm>
            <a:off x="4892040" y="1691640"/>
            <a:ext cx="3566160" cy="10058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"At this rate we will hit the budget in two days." Nothing has gone wrong yet; the slope is telling you something is wrong right now.</a:t>
            </a:r>
            <a:endParaRPr lang="en-US" sz="1350" dirty="0"/>
          </a:p>
        </p:txBody>
      </p:sp>
      <p:sp>
        <p:nvSpPr>
          <p:cNvPr id="12" name="Shape 10"/>
          <p:cNvSpPr/>
          <p:nvPr/>
        </p:nvSpPr>
        <p:spPr>
          <a:xfrm>
            <a:off x="457200" y="3017520"/>
            <a:ext cx="2606040" cy="1097280"/>
          </a:xfrm>
          <a:prstGeom prst="roundRect">
            <a:avLst>
              <a:gd name="adj" fmla="val 6667"/>
            </a:avLst>
          </a:prstGeom>
          <a:solidFill>
            <a:srgbClr val="F3F4F6"/>
          </a:solidFill>
          <a:ln w="12700">
            <a:solidFill>
              <a:srgbClr val="F3F4F6"/>
            </a:solidFill>
            <a:prstDash val="solid"/>
          </a:ln>
        </p:spPr>
      </p:sp>
      <p:sp>
        <p:nvSpPr>
          <p:cNvPr id="13" name="Text 11"/>
          <p:cNvSpPr txBox="1"/>
          <p:nvPr/>
        </p:nvSpPr>
        <p:spPr>
          <a:xfrm>
            <a:off x="658368" y="3154680"/>
            <a:ext cx="2240280" cy="274320"/>
          </a:xfrm>
          <a:prstGeom prst="rect">
            <a:avLst/>
          </a:prstGeom>
          <a:noFill/>
          <a:ln/>
        </p:spPr>
        <p:txBody>
          <a:bodyPr wrap="square" lIns="0" tIns="0" rIns="0" bIns="0" rtlCol="0" anchor="t"/>
          <a:lstStyle/>
          <a:p>
            <a:pPr indent="0" marL="0">
              <a:buNone/>
            </a:pPr>
            <a:r>
              <a:rPr lang="en-US" sz="1300" b="1" spc="100" kern="0" dirty="0">
                <a:solidFill>
                  <a:srgbClr val="047857"/>
                </a:solidFill>
                <a:latin typeface="Calibri" pitchFamily="34" charset="0"/>
                <a:ea typeface="Calibri" pitchFamily="34" charset="-122"/>
                <a:cs typeface="Calibri" pitchFamily="34" charset="-120"/>
              </a:rPr>
              <a:t>NORMAL</a:t>
            </a:r>
            <a:endParaRPr lang="en-US" sz="1300" dirty="0"/>
          </a:p>
        </p:txBody>
      </p:sp>
      <p:sp>
        <p:nvSpPr>
          <p:cNvPr id="14" name="Text 12"/>
          <p:cNvSpPr txBox="1"/>
          <p:nvPr/>
        </p:nvSpPr>
        <p:spPr>
          <a:xfrm>
            <a:off x="658368" y="3456432"/>
            <a:ext cx="224028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gentle slope that reaches the top at the end of the month</a:t>
            </a:r>
            <a:endParaRPr lang="en-US" sz="1150" dirty="0"/>
          </a:p>
        </p:txBody>
      </p:sp>
      <p:sp>
        <p:nvSpPr>
          <p:cNvPr id="15" name="Shape 13"/>
          <p:cNvSpPr/>
          <p:nvPr/>
        </p:nvSpPr>
        <p:spPr>
          <a:xfrm>
            <a:off x="3246120" y="3017520"/>
            <a:ext cx="2606040" cy="1097280"/>
          </a:xfrm>
          <a:prstGeom prst="roundRect">
            <a:avLst>
              <a:gd name="adj" fmla="val 6667"/>
            </a:avLst>
          </a:prstGeom>
          <a:solidFill>
            <a:srgbClr val="F3F4F6"/>
          </a:solidFill>
          <a:ln w="12700">
            <a:solidFill>
              <a:srgbClr val="F3F4F6"/>
            </a:solidFill>
            <a:prstDash val="solid"/>
          </a:ln>
        </p:spPr>
      </p:sp>
      <p:sp>
        <p:nvSpPr>
          <p:cNvPr id="16" name="Text 14"/>
          <p:cNvSpPr txBox="1"/>
          <p:nvPr/>
        </p:nvSpPr>
        <p:spPr>
          <a:xfrm>
            <a:off x="3447288" y="3154680"/>
            <a:ext cx="2240280" cy="274320"/>
          </a:xfrm>
          <a:prstGeom prst="rect">
            <a:avLst/>
          </a:prstGeom>
          <a:noFill/>
          <a:ln/>
        </p:spPr>
        <p:txBody>
          <a:bodyPr wrap="square" lIns="0" tIns="0" rIns="0" bIns="0" rtlCol="0" anchor="t"/>
          <a:lstStyle/>
          <a:p>
            <a:pPr indent="0" marL="0">
              <a:buNone/>
            </a:pPr>
            <a:r>
              <a:rPr lang="en-US" sz="1300" b="1" spc="100" kern="0" dirty="0">
                <a:solidFill>
                  <a:srgbClr val="B45309"/>
                </a:solidFill>
                <a:latin typeface="Calibri" pitchFamily="34" charset="0"/>
                <a:ea typeface="Calibri" pitchFamily="34" charset="-122"/>
                <a:cs typeface="Calibri" pitchFamily="34" charset="-120"/>
              </a:rPr>
              <a:t>SLOW BURN</a:t>
            </a:r>
            <a:endParaRPr lang="en-US" sz="1300" dirty="0"/>
          </a:p>
        </p:txBody>
      </p:sp>
      <p:sp>
        <p:nvSpPr>
          <p:cNvPr id="17" name="Text 15"/>
          <p:cNvSpPr txBox="1"/>
          <p:nvPr/>
        </p:nvSpPr>
        <p:spPr>
          <a:xfrm>
            <a:off x="3447288" y="3456432"/>
            <a:ext cx="224028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steeper; gone in a week if nothing changes</a:t>
            </a:r>
            <a:endParaRPr lang="en-US" sz="1150" dirty="0"/>
          </a:p>
        </p:txBody>
      </p:sp>
      <p:sp>
        <p:nvSpPr>
          <p:cNvPr id="18" name="Shape 16"/>
          <p:cNvSpPr/>
          <p:nvPr/>
        </p:nvSpPr>
        <p:spPr>
          <a:xfrm>
            <a:off x="6035040" y="3017520"/>
            <a:ext cx="2606040" cy="1097280"/>
          </a:xfrm>
          <a:prstGeom prst="roundRect">
            <a:avLst>
              <a:gd name="adj" fmla="val 6667"/>
            </a:avLst>
          </a:prstGeom>
          <a:solidFill>
            <a:srgbClr val="F3F4F6"/>
          </a:solidFill>
          <a:ln w="12700">
            <a:solidFill>
              <a:srgbClr val="F3F4F6"/>
            </a:solidFill>
            <a:prstDash val="solid"/>
          </a:ln>
        </p:spPr>
      </p:sp>
      <p:sp>
        <p:nvSpPr>
          <p:cNvPr id="19" name="Text 17"/>
          <p:cNvSpPr txBox="1"/>
          <p:nvPr/>
        </p:nvSpPr>
        <p:spPr>
          <a:xfrm>
            <a:off x="6236208" y="3154680"/>
            <a:ext cx="2240280" cy="274320"/>
          </a:xfrm>
          <a:prstGeom prst="rect">
            <a:avLst/>
          </a:prstGeom>
          <a:noFill/>
          <a:ln/>
        </p:spPr>
        <p:txBody>
          <a:bodyPr wrap="square" lIns="0" tIns="0" rIns="0" bIns="0" rtlCol="0" anchor="t"/>
          <a:lstStyle/>
          <a:p>
            <a:pPr indent="0" marL="0">
              <a:buNone/>
            </a:pPr>
            <a:r>
              <a:rPr lang="en-US" sz="1300" b="1" spc="100" kern="0" dirty="0">
                <a:solidFill>
                  <a:srgbClr val="B91C1C"/>
                </a:solidFill>
                <a:latin typeface="Calibri" pitchFamily="34" charset="0"/>
                <a:ea typeface="Calibri" pitchFamily="34" charset="-122"/>
                <a:cs typeface="Calibri" pitchFamily="34" charset="-120"/>
              </a:rPr>
              <a:t>FAST BURN</a:t>
            </a:r>
            <a:endParaRPr lang="en-US" sz="1300" dirty="0"/>
          </a:p>
        </p:txBody>
      </p:sp>
      <p:sp>
        <p:nvSpPr>
          <p:cNvPr id="20" name="Text 18"/>
          <p:cNvSpPr txBox="1"/>
          <p:nvPr/>
        </p:nvSpPr>
        <p:spPr>
          <a:xfrm>
            <a:off x="6236208" y="3456432"/>
            <a:ext cx="224028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very steep; gone in two days, and it has spent almost nothing yet</a:t>
            </a:r>
            <a:endParaRPr lang="en-US" sz="1150" dirty="0"/>
          </a:p>
        </p:txBody>
      </p:sp>
      <p:sp>
        <p:nvSpPr>
          <p:cNvPr id="21" name="Text 19"/>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Burn rate: how fast the budget is being consumed, compared with how fast it should be. The runaway from module one would have tripped it within minutes.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BURN RATE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Two windows; two speeds of response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280160"/>
            <a:ext cx="4023360" cy="1828800"/>
          </a:xfrm>
          <a:prstGeom prst="roundRect">
            <a:avLst>
              <a:gd name="adj" fmla="val 4000"/>
            </a:avLst>
          </a:prstGeom>
          <a:solidFill>
            <a:srgbClr val="FEF2F2"/>
          </a:solidFill>
          <a:ln w="12700">
            <a:solidFill>
              <a:srgbClr val="FEF2F2"/>
            </a:solidFill>
            <a:prstDash val="solid"/>
          </a:ln>
        </p:spPr>
      </p:sp>
      <p:sp>
        <p:nvSpPr>
          <p:cNvPr id="7" name="Text 5"/>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FAST WINDOW  ·  LAST 1 HOUR</a:t>
            </a:r>
            <a:endParaRPr lang="en-US" sz="1000" dirty="0"/>
          </a:p>
        </p:txBody>
      </p:sp>
      <p:sp>
        <p:nvSpPr>
          <p:cNvPr id="8" name="Text 6"/>
          <p:cNvSpPr txBox="1"/>
          <p:nvPr/>
        </p:nvSpPr>
        <p:spPr>
          <a:xfrm>
            <a:off x="685800" y="1737360"/>
            <a:ext cx="3566160" cy="8229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Fires within minutes. Catches the sharp problems: a runaway loop, an agent gone mad.</a:t>
            </a:r>
            <a:endParaRPr lang="en-US" sz="1350" dirty="0"/>
          </a:p>
        </p:txBody>
      </p:sp>
      <p:sp>
        <p:nvSpPr>
          <p:cNvPr id="9" name="Text 7"/>
          <p:cNvSpPr txBox="1"/>
          <p:nvPr/>
        </p:nvSpPr>
        <p:spPr>
          <a:xfrm>
            <a:off x="685800" y="2606040"/>
            <a:ext cx="3566160" cy="36576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Worth waking someone up for.</a:t>
            </a:r>
            <a:endParaRPr lang="en-US" sz="1400" dirty="0"/>
          </a:p>
        </p:txBody>
      </p:sp>
      <p:sp>
        <p:nvSpPr>
          <p:cNvPr id="10" name="Shape 8"/>
          <p:cNvSpPr/>
          <p:nvPr/>
        </p:nvSpPr>
        <p:spPr>
          <a:xfrm>
            <a:off x="4663440" y="1280160"/>
            <a:ext cx="4023360" cy="1828800"/>
          </a:xfrm>
          <a:prstGeom prst="roundRect">
            <a:avLst>
              <a:gd name="adj" fmla="val 4000"/>
            </a:avLst>
          </a:prstGeom>
          <a:solidFill>
            <a:srgbClr val="F3F4F6"/>
          </a:solidFill>
          <a:ln w="12700">
            <a:solidFill>
              <a:srgbClr val="F3F4F6"/>
            </a:solidFill>
            <a:prstDash val="solid"/>
          </a:ln>
        </p:spPr>
      </p:sp>
      <p:sp>
        <p:nvSpPr>
          <p:cNvPr id="11" name="Text 9"/>
          <p:cNvSpPr txBox="1"/>
          <p:nvPr/>
        </p:nvSpPr>
        <p:spPr>
          <a:xfrm>
            <a:off x="4892040" y="1417320"/>
            <a:ext cx="3566160" cy="274320"/>
          </a:xfrm>
          <a:prstGeom prst="rect">
            <a:avLst/>
          </a:prstGeom>
          <a:noFill/>
          <a:ln/>
        </p:spPr>
        <p:txBody>
          <a:bodyPr wrap="square" lIns="0" tIns="0" rIns="0" bIns="0" rtlCol="0" anchor="t"/>
          <a:lstStyle/>
          <a:p>
            <a:pPr indent="0" marL="0">
              <a:buNone/>
            </a:pPr>
            <a:r>
              <a:rPr lang="en-US" sz="1000" b="1" spc="150" kern="0" dirty="0">
                <a:solidFill>
                  <a:srgbClr val="6B7280"/>
                </a:solidFill>
                <a:latin typeface="Calibri" pitchFamily="34" charset="0"/>
                <a:ea typeface="Calibri" pitchFamily="34" charset="-122"/>
                <a:cs typeface="Calibri" pitchFamily="34" charset="-120"/>
              </a:rPr>
              <a:t>SLOW WINDOW  ·  LAST 24 HOURS</a:t>
            </a:r>
            <a:endParaRPr lang="en-US" sz="1000" dirty="0"/>
          </a:p>
        </p:txBody>
      </p:sp>
      <p:sp>
        <p:nvSpPr>
          <p:cNvPr id="12" name="Text 10"/>
          <p:cNvSpPr txBox="1"/>
          <p:nvPr/>
        </p:nvSpPr>
        <p:spPr>
          <a:xfrm>
            <a:off x="4892040" y="1737360"/>
            <a:ext cx="3566160" cy="8229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Fires in hours. Catches the quiet drift: slightly too high every hour, adding up to a bad month.</a:t>
            </a:r>
            <a:endParaRPr lang="en-US" sz="1350" dirty="0"/>
          </a:p>
        </p:txBody>
      </p:sp>
      <p:sp>
        <p:nvSpPr>
          <p:cNvPr id="13" name="Text 11"/>
          <p:cNvSpPr txBox="1"/>
          <p:nvPr/>
        </p:nvSpPr>
        <p:spPr>
          <a:xfrm>
            <a:off x="4892040" y="2606040"/>
            <a:ext cx="3566160" cy="36576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Mention it at standup.</a:t>
            </a:r>
            <a:endParaRPr lang="en-US" sz="1400" dirty="0"/>
          </a:p>
        </p:txBody>
      </p:sp>
      <p:sp>
        <p:nvSpPr>
          <p:cNvPr id="14" name="Shape 12"/>
          <p:cNvSpPr/>
          <p:nvPr/>
        </p:nvSpPr>
        <p:spPr>
          <a:xfrm>
            <a:off x="457200" y="3291840"/>
            <a:ext cx="8229600" cy="685800"/>
          </a:xfrm>
          <a:prstGeom prst="roundRect">
            <a:avLst>
              <a:gd name="adj" fmla="val 10667"/>
            </a:avLst>
          </a:prstGeom>
          <a:solidFill>
            <a:srgbClr val="111827"/>
          </a:solidFill>
          <a:ln w="12700">
            <a:solidFill>
              <a:srgbClr val="111827"/>
            </a:solidFill>
            <a:prstDash val="solid"/>
          </a:ln>
        </p:spPr>
      </p:sp>
      <p:sp>
        <p:nvSpPr>
          <p:cNvPr id="15" name="Text 13"/>
          <p:cNvSpPr txBox="1"/>
          <p:nvPr/>
        </p:nvSpPr>
        <p:spPr>
          <a:xfrm>
            <a:off x="731520" y="3291840"/>
            <a:ext cx="7680960" cy="6858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One alert cannot do both. Fast enough to catch the runaway means waking you for every busy afternoon.</a:t>
            </a:r>
            <a:endParaRPr lang="en-US" sz="1350" dirty="0"/>
          </a:p>
        </p:txBody>
      </p:sp>
      <p:sp>
        <p:nvSpPr>
          <p:cNvPr id="16" name="Shape 14"/>
          <p:cNvSpPr/>
          <p:nvPr/>
        </p:nvSpPr>
        <p:spPr>
          <a:xfrm>
            <a:off x="457200" y="4114800"/>
            <a:ext cx="8229600" cy="640080"/>
          </a:xfrm>
          <a:prstGeom prst="roundRect">
            <a:avLst>
              <a:gd name="adj" fmla="val 11429"/>
            </a:avLst>
          </a:prstGeom>
          <a:solidFill>
            <a:srgbClr val="FEF3C7"/>
          </a:solidFill>
          <a:ln w="12700">
            <a:solidFill>
              <a:srgbClr val="FEF3C7"/>
            </a:solidFill>
            <a:prstDash val="solid"/>
          </a:ln>
        </p:spPr>
      </p:sp>
      <p:sp>
        <p:nvSpPr>
          <p:cNvPr id="17" name="Text 15"/>
          <p:cNvSpPr txBox="1"/>
          <p:nvPr/>
        </p:nvSpPr>
        <p:spPr>
          <a:xfrm>
            <a:off x="731520" y="4114800"/>
            <a:ext cx="7680960" cy="64008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The cap is the seatbelt; the alert is the dashboard light. </a:t>
            </a:r>
            <a:pPr indent="0" marL="0">
              <a:buNone/>
            </a:pPr>
            <a:r>
              <a:rPr lang="en-US" sz="1300" dirty="0">
                <a:solidFill>
                  <a:srgbClr val="1F2937"/>
                </a:solidFill>
                <a:latin typeface="Calibri" pitchFamily="34" charset="0"/>
                <a:ea typeface="Calibri" pitchFamily="34" charset="-122"/>
                <a:cs typeface="Calibri" pitchFamily="34" charset="-120"/>
              </a:rPr>
              <a:t>Module 3's cap stops the bleeding whether anyone answers the page or not.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02 · Burn Rate</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slopes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three slopes against one budget line, then the two windows underneath.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pair of axes. Up the left: budget used. Along the bottom: time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horizontal dashed line near the top, labelled one hundred percent; that is the whole budget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From the bottom-left corner, three straight lines at different angles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gentle one reaching the dashed line at the far right: NORMAL, budget lasts the month</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steeper middle one reaching it about halfway: SLOW BURN, gone in a week</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very steep one hitting it near the left: FAST BURN, gone in two days. Put a dot where it crosses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Heading underneath: so you watch two windows at once. Then two boxes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FAST WINDOW, last one hour: fires in minutes, catches the runaway loop; underneath, wake someone up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SLOW WINDOW, last twenty-four hours: fires in hours, catches the quiet drift; underneath, mention it at standup. At the very bottom: one alert cannot do both</a:t>
            </a:r>
            <a:endParaRPr lang="en-US" sz="950" dirty="0"/>
          </a:p>
        </p:txBody>
      </p:sp>
      <p:sp>
        <p:nvSpPr>
          <p:cNvPr id="12" name="Shape 8"/>
          <p:cNvSpPr/>
          <p:nvPr/>
        </p:nvSpPr>
        <p:spPr>
          <a:xfrm>
            <a:off x="3886200" y="1536192"/>
            <a:ext cx="4800600" cy="2609935"/>
          </a:xfrm>
          <a:prstGeom prst="roundRect">
            <a:avLst>
              <a:gd name="adj" fmla="val 280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2152735"/>
          </a:xfrm>
          <a:prstGeom prst="rect">
            <a:avLst/>
          </a:prstGeom>
        </p:spPr>
      </p:pic>
      <p:sp>
        <p:nvSpPr>
          <p:cNvPr id="15" name="Shape 10"/>
          <p:cNvSpPr/>
          <p:nvPr/>
        </p:nvSpPr>
        <p:spPr>
          <a:xfrm>
            <a:off x="3886200" y="4301575"/>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301575"/>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“Three slopes, one budget line. The steep one has spent almost nothing yet.”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Not Every Step Needs the Expensive Model</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ROUTING</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Send the easy steps to the cheaper model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457200" y="1188720"/>
            <a:ext cx="822960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twelve-step agent task is not twelve equally difficult steps. Most of them are ordinary; two or three are the actual hard part.</a:t>
            </a:r>
            <a:endParaRPr lang="en-US" sz="1400" dirty="0"/>
          </a:p>
        </p:txBody>
      </p:sp>
      <p:sp>
        <p:nvSpPr>
          <p:cNvPr id="7" name="Shape 5"/>
          <p:cNvSpPr/>
          <p:nvPr/>
        </p:nvSpPr>
        <p:spPr>
          <a:xfrm>
            <a:off x="457200" y="1737360"/>
            <a:ext cx="4023360" cy="1371600"/>
          </a:xfrm>
          <a:prstGeom prst="roundRect">
            <a:avLst>
              <a:gd name="adj" fmla="val 5333"/>
            </a:avLst>
          </a:prstGeom>
          <a:solidFill>
            <a:srgbClr val="FEF2F2"/>
          </a:solidFill>
          <a:ln w="12700">
            <a:solidFill>
              <a:srgbClr val="FEF2F2"/>
            </a:solidFill>
            <a:prstDash val="solid"/>
          </a:ln>
        </p:spPr>
      </p:sp>
      <p:sp>
        <p:nvSpPr>
          <p:cNvPr id="8" name="Text 6"/>
          <p:cNvSpPr txBox="1"/>
          <p:nvPr/>
        </p:nvSpPr>
        <p:spPr>
          <a:xfrm>
            <a:off x="685800" y="187452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THE EXPENSIVE MODEL</a:t>
            </a:r>
            <a:endParaRPr lang="en-US" sz="1000" dirty="0"/>
          </a:p>
        </p:txBody>
      </p:sp>
      <p:sp>
        <p:nvSpPr>
          <p:cNvPr id="9" name="Text 7"/>
          <p:cNvSpPr txBox="1"/>
          <p:nvPr/>
        </p:nvSpPr>
        <p:spPr>
          <a:xfrm>
            <a:off x="685800" y="2194560"/>
            <a:ext cx="3566160" cy="36576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reason  ·  decide  ·  write  ·  judge</a:t>
            </a:r>
            <a:endParaRPr lang="en-US" sz="1500" dirty="0"/>
          </a:p>
        </p:txBody>
      </p:sp>
      <p:sp>
        <p:nvSpPr>
          <p:cNvPr id="10" name="Text 8"/>
          <p:cNvSpPr txBox="1"/>
          <p:nvPr/>
        </p:nvSpPr>
        <p:spPr>
          <a:xfrm>
            <a:off x="685800" y="2560320"/>
            <a:ext cx="356616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reasoning and the judgement; the bit that needed a capable model.</a:t>
            </a:r>
            <a:endParaRPr lang="en-US" sz="1200" dirty="0"/>
          </a:p>
        </p:txBody>
      </p:sp>
      <p:sp>
        <p:nvSpPr>
          <p:cNvPr id="11" name="Shape 9"/>
          <p:cNvSpPr/>
          <p:nvPr/>
        </p:nvSpPr>
        <p:spPr>
          <a:xfrm>
            <a:off x="4663440" y="1737360"/>
            <a:ext cx="4023360" cy="1371600"/>
          </a:xfrm>
          <a:prstGeom prst="roundRect">
            <a:avLst>
              <a:gd name="adj" fmla="val 5333"/>
            </a:avLst>
          </a:prstGeom>
          <a:solidFill>
            <a:srgbClr val="ECFDF5"/>
          </a:solidFill>
          <a:ln w="12700">
            <a:solidFill>
              <a:srgbClr val="ECFDF5"/>
            </a:solidFill>
            <a:prstDash val="solid"/>
          </a:ln>
        </p:spPr>
      </p:sp>
      <p:sp>
        <p:nvSpPr>
          <p:cNvPr id="12" name="Text 10"/>
          <p:cNvSpPr txBox="1"/>
          <p:nvPr/>
        </p:nvSpPr>
        <p:spPr>
          <a:xfrm>
            <a:off x="4892040" y="187452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THE CHEAP MODEL</a:t>
            </a:r>
            <a:endParaRPr lang="en-US" sz="1000" dirty="0"/>
          </a:p>
        </p:txBody>
      </p:sp>
      <p:sp>
        <p:nvSpPr>
          <p:cNvPr id="13" name="Text 11"/>
          <p:cNvSpPr txBox="1"/>
          <p:nvPr/>
        </p:nvSpPr>
        <p:spPr>
          <a:xfrm>
            <a:off x="4892040" y="2194560"/>
            <a:ext cx="3566160" cy="36576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classify  ·  extract  ·  format  ·  route</a:t>
            </a:r>
            <a:endParaRPr lang="en-US" sz="1500" dirty="0"/>
          </a:p>
        </p:txBody>
      </p:sp>
      <p:sp>
        <p:nvSpPr>
          <p:cNvPr id="14" name="Text 12"/>
          <p:cNvSpPr txBox="1"/>
          <p:nvPr/>
        </p:nvSpPr>
        <p:spPr>
          <a:xfrm>
            <a:off x="4892040" y="2560320"/>
            <a:ext cx="356616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ordinary steps that would be boring for a person to do.</a:t>
            </a:r>
            <a:endParaRPr lang="en-US" sz="1200" dirty="0"/>
          </a:p>
        </p:txBody>
      </p:sp>
      <p:sp>
        <p:nvSpPr>
          <p:cNvPr id="15" name="Shape 13"/>
          <p:cNvSpPr/>
          <p:nvPr/>
        </p:nvSpPr>
        <p:spPr>
          <a:xfrm>
            <a:off x="457200" y="3246120"/>
            <a:ext cx="8229600" cy="594360"/>
          </a:xfrm>
          <a:prstGeom prst="roundRect">
            <a:avLst>
              <a:gd name="adj" fmla="val 12308"/>
            </a:avLst>
          </a:prstGeom>
          <a:solidFill>
            <a:srgbClr val="F3F4F6"/>
          </a:solidFill>
          <a:ln w="12700">
            <a:solidFill>
              <a:srgbClr val="F3F4F6"/>
            </a:solidFill>
            <a:prstDash val="solid"/>
          </a:ln>
        </p:spPr>
      </p:sp>
      <p:sp>
        <p:nvSpPr>
          <p:cNvPr id="16" name="Text 14"/>
          <p:cNvSpPr txBox="1"/>
          <p:nvPr/>
        </p:nvSpPr>
        <p:spPr>
          <a:xfrm>
            <a:off x="731520" y="3246120"/>
            <a:ext cx="4572000" cy="594360"/>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Everything on the expensive model</a:t>
            </a:r>
            <a:endParaRPr lang="en-US" sz="1350" dirty="0"/>
          </a:p>
        </p:txBody>
      </p:sp>
      <p:sp>
        <p:nvSpPr>
          <p:cNvPr id="17" name="Text 15"/>
          <p:cNvSpPr txBox="1"/>
          <p:nvPr/>
        </p:nvSpPr>
        <p:spPr>
          <a:xfrm>
            <a:off x="5486400" y="3246120"/>
            <a:ext cx="1280160" cy="59436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12 steps</a:t>
            </a:r>
            <a:endParaRPr lang="en-US" sz="1250" dirty="0"/>
          </a:p>
        </p:txBody>
      </p:sp>
      <p:sp>
        <p:nvSpPr>
          <p:cNvPr id="18" name="Text 16"/>
          <p:cNvSpPr txBox="1"/>
          <p:nvPr/>
        </p:nvSpPr>
        <p:spPr>
          <a:xfrm>
            <a:off x="6949440" y="3246120"/>
            <a:ext cx="1554480" cy="594360"/>
          </a:xfrm>
          <a:prstGeom prst="rect">
            <a:avLst/>
          </a:prstGeom>
          <a:noFill/>
          <a:ln/>
        </p:spPr>
        <p:txBody>
          <a:bodyPr wrap="square" lIns="0" tIns="0" rIns="0" bIns="0" rtlCol="0" anchor="ctr"/>
          <a:lstStyle/>
          <a:p>
            <a:pPr algn="r" indent="0" marL="0">
              <a:buNone/>
            </a:pPr>
            <a:r>
              <a:rPr lang="en-US" sz="2000" b="1" dirty="0">
                <a:solidFill>
                  <a:srgbClr val="1F2937"/>
                </a:solidFill>
                <a:latin typeface="Cambria" pitchFamily="34" charset="0"/>
                <a:ea typeface="Cambria" pitchFamily="34" charset="-122"/>
                <a:cs typeface="Cambria" pitchFamily="34" charset="-120"/>
              </a:rPr>
              <a:t>$0.31</a:t>
            </a:r>
            <a:endParaRPr lang="en-US" sz="2000" dirty="0"/>
          </a:p>
        </p:txBody>
      </p:sp>
      <p:sp>
        <p:nvSpPr>
          <p:cNvPr id="19" name="Shape 17"/>
          <p:cNvSpPr/>
          <p:nvPr/>
        </p:nvSpPr>
        <p:spPr>
          <a:xfrm>
            <a:off x="457200" y="3931920"/>
            <a:ext cx="822960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731520" y="3931920"/>
            <a:ext cx="4572000" cy="594360"/>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Nine cheap steps and three expensive ones</a:t>
            </a:r>
            <a:endParaRPr lang="en-US" sz="1350" dirty="0"/>
          </a:p>
        </p:txBody>
      </p:sp>
      <p:sp>
        <p:nvSpPr>
          <p:cNvPr id="21" name="Text 19"/>
          <p:cNvSpPr txBox="1"/>
          <p:nvPr/>
        </p:nvSpPr>
        <p:spPr>
          <a:xfrm>
            <a:off x="5486400" y="3931920"/>
            <a:ext cx="1280160" cy="59436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12 steps</a:t>
            </a:r>
            <a:endParaRPr lang="en-US" sz="1250" dirty="0"/>
          </a:p>
        </p:txBody>
      </p:sp>
      <p:sp>
        <p:nvSpPr>
          <p:cNvPr id="22" name="Text 20"/>
          <p:cNvSpPr txBox="1"/>
          <p:nvPr/>
        </p:nvSpPr>
        <p:spPr>
          <a:xfrm>
            <a:off x="6949440" y="3931920"/>
            <a:ext cx="1554480" cy="594360"/>
          </a:xfrm>
          <a:prstGeom prst="rect">
            <a:avLst/>
          </a:prstGeom>
          <a:noFill/>
          <a:ln/>
        </p:spPr>
        <p:txBody>
          <a:bodyPr wrap="square" lIns="0" tIns="0" rIns="0" bIns="0" rtlCol="0" anchor="ctr"/>
          <a:lstStyle/>
          <a:p>
            <a:pPr algn="r" indent="0" marL="0">
              <a:buNone/>
            </a:pPr>
            <a:r>
              <a:rPr lang="en-US" sz="2000" b="1" dirty="0">
                <a:solidFill>
                  <a:srgbClr val="047857"/>
                </a:solidFill>
                <a:latin typeface="Cambria" pitchFamily="34" charset="0"/>
                <a:ea typeface="Cambria" pitchFamily="34" charset="-122"/>
                <a:cs typeface="Cambria" pitchFamily="34" charset="-120"/>
              </a:rPr>
              <a:t>$0.11</a:t>
            </a:r>
            <a:endParaRPr lang="en-US" sz="2000" dirty="0"/>
          </a:p>
        </p:txBody>
      </p:sp>
      <p:sp>
        <p:nvSpPr>
          <p:cNvPr id="23" name="Text 21"/>
          <p:cNvSpPr txBox="1"/>
          <p:nvPr/>
        </p:nvSpPr>
        <p:spPr>
          <a:xfrm>
            <a:off x="457200" y="4663440"/>
            <a:ext cx="8229600" cy="274320"/>
          </a:xfrm>
          <a:prstGeom prst="rect">
            <a:avLst/>
          </a:prstGeom>
          <a:noFill/>
          <a:ln/>
        </p:spPr>
        <p:txBody>
          <a:bodyPr wrap="square" lIns="0" tIns="0" rIns="0" bIns="0" rtlCol="0" anchor="t"/>
          <a:lstStyle/>
          <a:p>
            <a:pPr indent="0" marL="0">
              <a:buNone/>
            </a:pPr>
            <a:r>
              <a:rPr lang="en-US" sz="1300" b="1" i="1" dirty="0">
                <a:solidFill>
                  <a:srgbClr val="047857"/>
                </a:solidFill>
                <a:latin typeface="Calibri" pitchFamily="34" charset="0"/>
                <a:ea typeface="Calibri" pitchFamily="34" charset="-122"/>
                <a:cs typeface="Calibri" pitchFamily="34" charset="-120"/>
              </a:rPr>
              <a:t>Same answer, same quality, about sixty-five percent less.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03 · ROUTING</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6</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5" name="Text 3"/>
          <p:cNvSpPr txBox="1"/>
          <p:nvPr/>
        </p:nvSpPr>
        <p:spPr>
          <a:xfrm>
            <a:off x="457200" y="1005840"/>
            <a:ext cx="822960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Do routing last, not first.</a:t>
            </a:r>
            <a:endParaRPr lang="en-US" sz="3800" dirty="0"/>
          </a:p>
        </p:txBody>
      </p:sp>
      <p:sp>
        <p:nvSpPr>
          <p:cNvPr id="6" name="Text 4"/>
          <p:cNvSpPr txBox="1"/>
          <p:nvPr/>
        </p:nvSpPr>
        <p:spPr>
          <a:xfrm>
            <a:off x="457200" y="2011680"/>
            <a:ext cx="7863840" cy="109728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Routing is the only change in this entire course that can make your answers worse. Caps, loop detection and checkpoints cost you nothing in quality; you are simply not buying things twice. Routing genuinely trades quality for money, even if only a little.</a:t>
            </a:r>
            <a:endParaRPr lang="en-US" sz="1600" dirty="0"/>
          </a:p>
        </p:txBody>
      </p:sp>
      <p:sp>
        <p:nvSpPr>
          <p:cNvPr id="7" name="Text 5"/>
          <p:cNvSpPr txBox="1"/>
          <p:nvPr/>
        </p:nvSpPr>
        <p:spPr>
          <a:xfrm>
            <a:off x="457200" y="3154680"/>
            <a:ext cx="7863840" cy="822960"/>
          </a:xfrm>
          <a:prstGeom prst="rect">
            <a:avLst/>
          </a:prstGeom>
          <a:noFill/>
          <a:ln/>
        </p:spPr>
        <p:txBody>
          <a:bodyPr wrap="square" lIns="0" tIns="0" rIns="0" bIns="0" rtlCol="0" anchor="t"/>
          <a:lstStyle/>
          <a:p>
            <a:pPr indent="0" marL="0">
              <a:buNone/>
            </a:pPr>
            <a:r>
              <a:rPr lang="en-US" sz="1500" dirty="0">
                <a:solidFill>
                  <a:srgbClr val="9CA3AF"/>
                </a:solidFill>
                <a:latin typeface="Calibri" pitchFamily="34" charset="0"/>
                <a:ea typeface="Calibri" pitchFamily="34" charset="-122"/>
                <a:cs typeface="Calibri" pitchFamily="34" charset="-120"/>
              </a:rPr>
              <a:t>People get this backwards constantly: switching models is the first thing everyone reaches for, and then they spend weeks arguing about whether quality dropped.</a:t>
            </a:r>
            <a:endParaRPr lang="en-US" sz="1500" dirty="0"/>
          </a:p>
        </p:txBody>
      </p:sp>
      <p:sp>
        <p:nvSpPr>
          <p:cNvPr id="8" name="Text 6"/>
          <p:cNvSpPr txBox="1"/>
          <p:nvPr/>
        </p:nvSpPr>
        <p:spPr>
          <a:xfrm>
            <a:off x="457200" y="4023360"/>
            <a:ext cx="7863840" cy="548640"/>
          </a:xfrm>
          <a:prstGeom prst="rect">
            <a:avLst/>
          </a:prstGeom>
          <a:noFill/>
          <a:ln/>
        </p:spPr>
        <p:txBody>
          <a:bodyPr wrap="square" lIns="0" tIns="0" rIns="0" bIns="0" rtlCol="0" anchor="t"/>
          <a:lstStyle/>
          <a:p>
            <a:pPr indent="0" marL="0">
              <a:buNone/>
            </a:pPr>
            <a:r>
              <a:rPr lang="en-US" sz="1600" b="1" dirty="0">
                <a:solidFill>
                  <a:srgbClr val="F59E0B"/>
                </a:solidFill>
                <a:latin typeface="Calibri" pitchFamily="34" charset="0"/>
                <a:ea typeface="Calibri" pitchFamily="34" charset="-122"/>
                <a:cs typeface="Calibri" pitchFamily="34" charset="-120"/>
              </a:rPr>
              <a:t>Fix the waste first. It is free. Then route, one step type at a time, checking as you go.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03 · Routing</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sorting</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A decision diamond splitting to two models, then the cost comparison, then the warning.</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of the page: a small box labelled A STEP, with 'arrives' underneath</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An arrow right into a diamond. Inside the diamond: is this the hard part?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From the right point, an arrow labelled yes to a box THE EXPENSIVE MODEL: reason, decide, write, judge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From the bottom point, an arrow labelled no curving to a box THE CHEAP MODEL: classify, extract, format, route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Heading below: a twelve-step task, sorted. Then two rows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one: everything on the expensive model, twelve steps, thirty-one cents. Row two: nine cheap and three expensive, twelve steps, eleven cents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Underneath: same answer, same quality, sixty-five percent less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bottom, a warning box: but do this last, not first. Routing is the only change in this course that can make your answers worse. Fix the waste first, then route.</a:t>
            </a:r>
            <a:endParaRPr lang="en-US" sz="950" dirty="0"/>
          </a:p>
        </p:txBody>
      </p:sp>
      <p:sp>
        <p:nvSpPr>
          <p:cNvPr id="12" name="Shape 8"/>
          <p:cNvSpPr/>
          <p:nvPr/>
        </p:nvSpPr>
        <p:spPr>
          <a:xfrm>
            <a:off x="3886200" y="1536192"/>
            <a:ext cx="4800600" cy="2508738"/>
          </a:xfrm>
          <a:prstGeom prst="roundRect">
            <a:avLst>
              <a:gd name="adj" fmla="val 291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2051538"/>
          </a:xfrm>
          <a:prstGeom prst="rect">
            <a:avLst/>
          </a:prstGeom>
        </p:spPr>
      </p:pic>
      <p:sp>
        <p:nvSpPr>
          <p:cNvPr id="15" name="Shape 10"/>
          <p:cNvSpPr/>
          <p:nvPr/>
        </p:nvSpPr>
        <p:spPr>
          <a:xfrm>
            <a:off x="3886200" y="4200378"/>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200378"/>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warning panel at the bottom matters as much as the saving.”</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 Is Safe to Remember?</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CACHING</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categories, and one danger</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457200" y="1234440"/>
            <a:ext cx="2606040" cy="2377440"/>
          </a:xfrm>
          <a:prstGeom prst="roundRect">
            <a:avLst>
              <a:gd name="adj" fmla="val 3077"/>
            </a:avLst>
          </a:prstGeom>
          <a:solidFill>
            <a:srgbClr val="ECFDF5"/>
          </a:solidFill>
          <a:ln w="12700">
            <a:solidFill>
              <a:srgbClr val="ECFDF5"/>
            </a:solidFill>
            <a:prstDash val="solid"/>
          </a:ln>
        </p:spPr>
      </p:sp>
      <p:sp>
        <p:nvSpPr>
          <p:cNvPr id="7" name="Text 5"/>
          <p:cNvSpPr txBox="1"/>
          <p:nvPr/>
        </p:nvSpPr>
        <p:spPr>
          <a:xfrm>
            <a:off x="658368" y="1371600"/>
            <a:ext cx="2240280" cy="320040"/>
          </a:xfrm>
          <a:prstGeom prst="rect">
            <a:avLst/>
          </a:prstGeom>
          <a:noFill/>
          <a:ln/>
        </p:spPr>
        <p:txBody>
          <a:bodyPr wrap="square" lIns="0" tIns="0" rIns="0" bIns="0" rtlCol="0" anchor="t"/>
          <a:lstStyle/>
          <a:p>
            <a:pPr indent="0" marL="0">
              <a:buNone/>
            </a:pPr>
            <a:r>
              <a:rPr lang="en-US" sz="1500" b="1" dirty="0">
                <a:solidFill>
                  <a:srgbClr val="047857"/>
                </a:solidFill>
                <a:latin typeface="Calibri" pitchFamily="34" charset="0"/>
                <a:ea typeface="Calibri" pitchFamily="34" charset="-122"/>
                <a:cs typeface="Calibri" pitchFamily="34" charset="-120"/>
              </a:rPr>
              <a:t>Always safe</a:t>
            </a:r>
            <a:endParaRPr lang="en-US" sz="1500" dirty="0"/>
          </a:p>
        </p:txBody>
      </p:sp>
      <p:sp>
        <p:nvSpPr>
          <p:cNvPr id="8" name="Text 6"/>
          <p:cNvSpPr txBox="1"/>
          <p:nvPr/>
        </p:nvSpPr>
        <p:spPr>
          <a:xfrm>
            <a:off x="658368" y="1691640"/>
            <a:ext cx="224028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the answer cannot change</a:t>
            </a:r>
            <a:endParaRPr lang="en-US" sz="1100" dirty="0"/>
          </a:p>
        </p:txBody>
      </p:sp>
      <p:sp>
        <p:nvSpPr>
          <p:cNvPr id="9" name="Text 7"/>
          <p:cNvSpPr txBox="1"/>
          <p:nvPr/>
        </p:nvSpPr>
        <p:spPr>
          <a:xfrm>
            <a:off x="658368" y="2057400"/>
            <a:ext cx="2240280" cy="1417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same document summarised</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fixed lookup table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last month's closed figures</a:t>
            </a:r>
            <a:endParaRPr lang="en-US" sz="1150" dirty="0"/>
          </a:p>
        </p:txBody>
      </p:sp>
      <p:sp>
        <p:nvSpPr>
          <p:cNvPr id="10" name="Shape 8"/>
          <p:cNvSpPr/>
          <p:nvPr/>
        </p:nvSpPr>
        <p:spPr>
          <a:xfrm>
            <a:off x="3246120" y="1234440"/>
            <a:ext cx="2606040" cy="2377440"/>
          </a:xfrm>
          <a:prstGeom prst="roundRect">
            <a:avLst>
              <a:gd name="adj" fmla="val 3077"/>
            </a:avLst>
          </a:prstGeom>
          <a:solidFill>
            <a:srgbClr val="FFFBEB"/>
          </a:solidFill>
          <a:ln w="12700">
            <a:solidFill>
              <a:srgbClr val="FFFBEB"/>
            </a:solidFill>
            <a:prstDash val="solid"/>
          </a:ln>
        </p:spPr>
      </p:sp>
      <p:sp>
        <p:nvSpPr>
          <p:cNvPr id="11" name="Text 9"/>
          <p:cNvSpPr txBox="1"/>
          <p:nvPr/>
        </p:nvSpPr>
        <p:spPr>
          <a:xfrm>
            <a:off x="3447288" y="1371600"/>
            <a:ext cx="2240280" cy="32004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Safe for a while</a:t>
            </a:r>
            <a:endParaRPr lang="en-US" sz="1500" dirty="0"/>
          </a:p>
        </p:txBody>
      </p:sp>
      <p:sp>
        <p:nvSpPr>
          <p:cNvPr id="12" name="Text 10"/>
          <p:cNvSpPr txBox="1"/>
          <p:nvPr/>
        </p:nvSpPr>
        <p:spPr>
          <a:xfrm>
            <a:off x="3447288" y="1691640"/>
            <a:ext cx="224028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the answer changes slowly</a:t>
            </a:r>
            <a:endParaRPr lang="en-US" sz="1100" dirty="0"/>
          </a:p>
        </p:txBody>
      </p:sp>
      <p:sp>
        <p:nvSpPr>
          <p:cNvPr id="13" name="Text 11"/>
          <p:cNvSpPr txBox="1"/>
          <p:nvPr/>
        </p:nvSpPr>
        <p:spPr>
          <a:xfrm>
            <a:off x="3447288" y="2057400"/>
            <a:ext cx="2240280" cy="1417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product descriptions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policy documents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help articles, with an expiry</a:t>
            </a:r>
            <a:endParaRPr lang="en-US" sz="1150" dirty="0"/>
          </a:p>
        </p:txBody>
      </p:sp>
      <p:sp>
        <p:nvSpPr>
          <p:cNvPr id="14" name="Shape 12"/>
          <p:cNvSpPr/>
          <p:nvPr/>
        </p:nvSpPr>
        <p:spPr>
          <a:xfrm>
            <a:off x="6035040" y="1234440"/>
            <a:ext cx="2606040" cy="2377440"/>
          </a:xfrm>
          <a:prstGeom prst="roundRect">
            <a:avLst>
              <a:gd name="adj" fmla="val 3077"/>
            </a:avLst>
          </a:prstGeom>
          <a:solidFill>
            <a:srgbClr val="FEF2F2"/>
          </a:solidFill>
          <a:ln w="12700">
            <a:solidFill>
              <a:srgbClr val="FEF2F2"/>
            </a:solidFill>
            <a:prstDash val="solid"/>
          </a:ln>
        </p:spPr>
      </p:sp>
      <p:sp>
        <p:nvSpPr>
          <p:cNvPr id="15" name="Text 13"/>
          <p:cNvSpPr txBox="1"/>
          <p:nvPr/>
        </p:nvSpPr>
        <p:spPr>
          <a:xfrm>
            <a:off x="6236208" y="1371600"/>
            <a:ext cx="2240280" cy="32004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Never cache</a:t>
            </a:r>
            <a:endParaRPr lang="en-US" sz="1500" dirty="0"/>
          </a:p>
        </p:txBody>
      </p:sp>
      <p:sp>
        <p:nvSpPr>
          <p:cNvPr id="16" name="Text 14"/>
          <p:cNvSpPr txBox="1"/>
          <p:nvPr/>
        </p:nvSpPr>
        <p:spPr>
          <a:xfrm>
            <a:off x="6236208" y="1691640"/>
            <a:ext cx="224028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the answer is personal or live</a:t>
            </a:r>
            <a:endParaRPr lang="en-US" sz="1100" dirty="0"/>
          </a:p>
        </p:txBody>
      </p:sp>
      <p:sp>
        <p:nvSpPr>
          <p:cNvPr id="17" name="Text 15"/>
          <p:cNvSpPr txBox="1"/>
          <p:nvPr/>
        </p:nvSpPr>
        <p:spPr>
          <a:xfrm>
            <a:off x="6236208" y="2057400"/>
            <a:ext cx="2240280" cy="1417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anything about one customer</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prices that move, stock levels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anything with a name in it</a:t>
            </a:r>
            <a:endParaRPr lang="en-US" sz="1150" dirty="0"/>
          </a:p>
        </p:txBody>
      </p:sp>
      <p:sp>
        <p:nvSpPr>
          <p:cNvPr id="18" name="Shape 16"/>
          <p:cNvSpPr/>
          <p:nvPr/>
        </p:nvSpPr>
        <p:spPr>
          <a:xfrm>
            <a:off x="457200" y="3840480"/>
            <a:ext cx="8229600" cy="868680"/>
          </a:xfrm>
          <a:prstGeom prst="roundRect">
            <a:avLst>
              <a:gd name="adj" fmla="val 8421"/>
            </a:avLst>
          </a:prstGeom>
          <a:solidFill>
            <a:srgbClr val="FEF2F2"/>
          </a:solidFill>
          <a:ln w="12700">
            <a:solidFill>
              <a:srgbClr val="FEF2F2"/>
            </a:solidFill>
            <a:prstDash val="solid"/>
          </a:ln>
        </p:spPr>
      </p:sp>
      <p:pic>
        <p:nvPicPr>
          <p:cNvPr id="19" name="Image 0" descr="preencoded.png">    </p:cNvPr>
          <p:cNvPicPr>
            <a:picLocks noChangeAspect="1"/>
          </p:cNvPicPr>
          <p:nvPr/>
        </p:nvPicPr>
        <p:blipFill>
          <a:blip r:embed="rId1"/>
          <a:stretch>
            <a:fillRect/>
          </a:stretch>
        </p:blipFill>
        <p:spPr>
          <a:xfrm>
            <a:off x="731520" y="4069080"/>
            <a:ext cx="384048" cy="384048"/>
          </a:xfrm>
          <a:prstGeom prst="rect">
            <a:avLst/>
          </a:prstGeom>
        </p:spPr>
      </p:pic>
      <p:sp>
        <p:nvSpPr>
          <p:cNvPr id="20" name="Text 17"/>
          <p:cNvSpPr txBox="1"/>
          <p:nvPr/>
        </p:nvSpPr>
        <p:spPr>
          <a:xfrm>
            <a:off x="1325880" y="3840480"/>
            <a:ext cx="7132320" cy="868680"/>
          </a:xfrm>
          <a:prstGeom prst="rect">
            <a:avLst/>
          </a:prstGeom>
          <a:noFill/>
          <a:ln/>
        </p:spPr>
        <p:txBody>
          <a:bodyPr wrap="square" lIns="0" tIns="0" rIns="0" bIns="0" rtlCol="0" anchor="ctr"/>
          <a:lstStyle/>
          <a:p>
            <a:pPr indent="0" marL="0">
              <a:buNone/>
            </a:pPr>
            <a:r>
              <a:rPr lang="en-US" sz="1350" b="1" dirty="0">
                <a:solidFill>
                  <a:srgbClr val="B91C1C"/>
                </a:solidFill>
                <a:latin typeface="Calibri" pitchFamily="34" charset="0"/>
                <a:ea typeface="Calibri" pitchFamily="34" charset="-122"/>
                <a:cs typeface="Calibri" pitchFamily="34" charset="-120"/>
              </a:rPr>
              <a:t>A cached answer leaking between customers is not a cost incident. </a:t>
            </a:r>
            <a:pPr indent="0" marL="0">
              <a:buNone/>
            </a:pPr>
            <a:r>
              <a:rPr lang="en-US" sz="1350" dirty="0">
                <a:solidFill>
                  <a:srgbClr val="1F2937"/>
                </a:solidFill>
                <a:latin typeface="Calibri" pitchFamily="34" charset="0"/>
                <a:ea typeface="Calibri" pitchFamily="34" charset="-122"/>
                <a:cs typeface="Calibri" pitchFamily="34" charset="-120"/>
              </a:rPr>
              <a:t>It is a data breach, and no saving is worth that.</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04 · CACHING</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6</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5" name="Text 3"/>
          <p:cNvSpPr txBox="1"/>
          <p:nvPr/>
        </p:nvSpPr>
        <p:spPr>
          <a:xfrm>
            <a:off x="457200" y="1097280"/>
            <a:ext cx="8229600" cy="13716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If two different people ask this,</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should they get the same answer?</a:t>
            </a:r>
            <a:endParaRPr lang="en-US" sz="3200" dirty="0"/>
          </a:p>
        </p:txBody>
      </p:sp>
      <p:sp>
        <p:nvSpPr>
          <p:cNvPr id="6" name="Shape 4"/>
          <p:cNvSpPr/>
          <p:nvPr/>
        </p:nvSpPr>
        <p:spPr>
          <a:xfrm>
            <a:off x="457200" y="2651760"/>
            <a:ext cx="4023360" cy="822960"/>
          </a:xfrm>
          <a:prstGeom prst="roundRect">
            <a:avLst>
              <a:gd name="adj" fmla="val 8889"/>
            </a:avLst>
          </a:prstGeom>
          <a:solidFill>
            <a:srgbClr val="047857"/>
          </a:solidFill>
          <a:ln w="12700">
            <a:solidFill>
              <a:srgbClr val="047857"/>
            </a:solidFill>
            <a:prstDash val="solid"/>
          </a:ln>
        </p:spPr>
      </p:sp>
      <p:sp>
        <p:nvSpPr>
          <p:cNvPr id="7" name="Text 5"/>
          <p:cNvSpPr txBox="1"/>
          <p:nvPr/>
        </p:nvSpPr>
        <p:spPr>
          <a:xfrm>
            <a:off x="457200" y="2651760"/>
            <a:ext cx="40233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YES  ·  safe to cache</a:t>
            </a:r>
            <a:endParaRPr lang="en-US" sz="1800" dirty="0"/>
          </a:p>
        </p:txBody>
      </p:sp>
      <p:sp>
        <p:nvSpPr>
          <p:cNvPr id="8" name="Shape 6"/>
          <p:cNvSpPr/>
          <p:nvPr/>
        </p:nvSpPr>
        <p:spPr>
          <a:xfrm>
            <a:off x="4663440" y="2651760"/>
            <a:ext cx="4023360" cy="822960"/>
          </a:xfrm>
          <a:prstGeom prst="roundRect">
            <a:avLst>
              <a:gd name="adj" fmla="val 8889"/>
            </a:avLst>
          </a:prstGeom>
          <a:solidFill>
            <a:srgbClr val="B91C1C"/>
          </a:solidFill>
          <a:ln w="12700">
            <a:solidFill>
              <a:srgbClr val="B91C1C"/>
            </a:solidFill>
            <a:prstDash val="solid"/>
          </a:ln>
        </p:spPr>
      </p:sp>
      <p:sp>
        <p:nvSpPr>
          <p:cNvPr id="9" name="Text 7"/>
          <p:cNvSpPr txBox="1"/>
          <p:nvPr/>
        </p:nvSpPr>
        <p:spPr>
          <a:xfrm>
            <a:off x="4663440" y="2651760"/>
            <a:ext cx="40233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NO  ·  never cache it</a:t>
            </a:r>
            <a:endParaRPr lang="en-US" sz="1800" dirty="0"/>
          </a:p>
        </p:txBody>
      </p:sp>
      <p:sp>
        <p:nvSpPr>
          <p:cNvPr id="10" name="Text 8"/>
          <p:cNvSpPr txBox="1"/>
          <p:nvPr/>
        </p:nvSpPr>
        <p:spPr>
          <a:xfrm>
            <a:off x="457200" y="3657600"/>
            <a:ext cx="7863840" cy="822960"/>
          </a:xfrm>
          <a:prstGeom prst="rect">
            <a:avLst/>
          </a:prstGeom>
          <a:noFill/>
          <a:ln/>
        </p:spPr>
        <p:txBody>
          <a:bodyPr wrap="square" lIns="0" tIns="0" rIns="0" bIns="0" rtlCol="0" anchor="t"/>
          <a:lstStyle/>
          <a:p>
            <a:pPr indent="0" marL="0">
              <a:buNone/>
            </a:pPr>
            <a:r>
              <a:rPr lang="en-US" sz="1500" dirty="0">
                <a:solidFill>
                  <a:srgbClr val="9CA3AF"/>
                </a:solidFill>
                <a:latin typeface="Calibri" pitchFamily="34" charset="0"/>
                <a:ea typeface="Calibri" pitchFamily="34" charset="-122"/>
                <a:cs typeface="Calibri" pitchFamily="34" charset="-120"/>
              </a:rPr>
              <a:t>That question catches the staleness problems and the privacy ones too. When you are unsure: do not cache it. The saving from one more case is small; the cost of getting it wrong is not.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04 · Caching</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categories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Three columns, then the single test question at the bottom; that question is the takeaway.</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tall columns: ALWAYS SAFE · SAFE FOR A WHILE · NEVER CACHE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ALWAYS SAFE: the answer cannot change. The same document summarised · a fixed lookup table · last month's closed figures · a translation of fixed text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SAFE FOR A WHILE: the answer changes slowly. Product descriptions · policy documents · help articles · set a short expiry</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NEVER CACHE: the answer is personal or live. Anything about one customer · prices that move · stock levels · anything with a name in it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underneath with a heading: the one question to ask</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Inside, in large letters: if two different people ask this, should they get the same answer?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line underneath; on the left YES, safe to cache; on the right NO, never cache it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At the very bottom, small: that question catches almost every dangerous case, including the privacy ones</a:t>
            </a:r>
            <a:endParaRPr lang="en-US" sz="950" dirty="0"/>
          </a:p>
        </p:txBody>
      </p:sp>
      <p:sp>
        <p:nvSpPr>
          <p:cNvPr id="12" name="Shape 8"/>
          <p:cNvSpPr/>
          <p:nvPr/>
        </p:nvSpPr>
        <p:spPr>
          <a:xfrm>
            <a:off x="3886200" y="1536192"/>
            <a:ext cx="4800600" cy="2106891"/>
          </a:xfrm>
          <a:prstGeom prst="roundRect">
            <a:avLst>
              <a:gd name="adj" fmla="val 347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649691"/>
          </a:xfrm>
          <a:prstGeom prst="rect">
            <a:avLst/>
          </a:prstGeom>
        </p:spPr>
      </p:pic>
      <p:sp>
        <p:nvSpPr>
          <p:cNvPr id="15" name="Shape 10"/>
          <p:cNvSpPr/>
          <p:nvPr/>
        </p:nvSpPr>
        <p:spPr>
          <a:xfrm>
            <a:off x="3886200" y="3798531"/>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798531"/>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bottom question is the whole section. The columns are just examples of it.”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Make It Somebody's Job</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THE REVIEW</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questions. Fifteen minutes. Once a week.</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457200" y="1234440"/>
            <a:ext cx="8229600" cy="731520"/>
          </a:xfrm>
          <a:prstGeom prst="roundRect">
            <a:avLst>
              <a:gd name="adj" fmla="val 10000"/>
            </a:avLst>
          </a:prstGeom>
          <a:solidFill>
            <a:srgbClr val="F3F4F6"/>
          </a:solidFill>
          <a:ln w="12700">
            <a:solidFill>
              <a:srgbClr val="F3F4F6"/>
            </a:solidFill>
            <a:prstDash val="solid"/>
          </a:ln>
        </p:spPr>
      </p:sp>
      <p:sp>
        <p:nvSpPr>
          <p:cNvPr id="7" name="Text 5"/>
          <p:cNvSpPr txBox="1"/>
          <p:nvPr/>
        </p:nvSpPr>
        <p:spPr>
          <a:xfrm>
            <a:off x="685800" y="1234440"/>
            <a:ext cx="365760" cy="731520"/>
          </a:xfrm>
          <a:prstGeom prst="rect">
            <a:avLst/>
          </a:prstGeom>
          <a:noFill/>
          <a:ln/>
        </p:spPr>
        <p:txBody>
          <a:bodyPr wrap="square" lIns="0" tIns="0" rIns="0" bIns="0" rtlCol="0" anchor="ctr"/>
          <a:lstStyle/>
          <a:p>
            <a:pPr indent="0" marL="0">
              <a:buNone/>
            </a:pPr>
            <a:r>
              <a:rPr lang="en-US" sz="2200" b="1" dirty="0">
                <a:solidFill>
                  <a:srgbClr val="B45309"/>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097280" y="1234440"/>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Did anything change?</a:t>
            </a:r>
            <a:endParaRPr lang="en-US" sz="1400" dirty="0"/>
          </a:p>
        </p:txBody>
      </p:sp>
      <p:sp>
        <p:nvSpPr>
          <p:cNvPr id="9" name="Text 7"/>
          <p:cNvSpPr txBox="1"/>
          <p:nvPr/>
        </p:nvSpPr>
        <p:spPr>
          <a:xfrm>
            <a:off x="3840480" y="1234440"/>
            <a:ext cx="2377440" cy="7315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cost per successful task, this week vs last</a:t>
            </a:r>
            <a:endParaRPr lang="en-US" sz="1150" dirty="0"/>
          </a:p>
        </p:txBody>
      </p:sp>
      <p:sp>
        <p:nvSpPr>
          <p:cNvPr id="10" name="Text 8"/>
          <p:cNvSpPr txBox="1"/>
          <p:nvPr/>
        </p:nvSpPr>
        <p:spPr>
          <a:xfrm>
            <a:off x="6309360" y="1234440"/>
            <a:ext cx="2194560" cy="7315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Moved more than 10%? Find out why first.</a:t>
            </a:r>
            <a:endParaRPr lang="en-US" sz="1150" dirty="0"/>
          </a:p>
        </p:txBody>
      </p:sp>
      <p:sp>
        <p:nvSpPr>
          <p:cNvPr id="11" name="Shape 9"/>
          <p:cNvSpPr/>
          <p:nvPr/>
        </p:nvSpPr>
        <p:spPr>
          <a:xfrm>
            <a:off x="457200" y="2075688"/>
            <a:ext cx="8229600" cy="731520"/>
          </a:xfrm>
          <a:prstGeom prst="roundRect">
            <a:avLst>
              <a:gd name="adj" fmla="val 10000"/>
            </a:avLst>
          </a:prstGeom>
          <a:solidFill>
            <a:srgbClr val="F3F4F6"/>
          </a:solidFill>
          <a:ln w="12700">
            <a:solidFill>
              <a:srgbClr val="F3F4F6"/>
            </a:solidFill>
            <a:prstDash val="solid"/>
          </a:ln>
        </p:spPr>
      </p:sp>
      <p:sp>
        <p:nvSpPr>
          <p:cNvPr id="12" name="Text 10"/>
          <p:cNvSpPr txBox="1"/>
          <p:nvPr/>
        </p:nvSpPr>
        <p:spPr>
          <a:xfrm>
            <a:off x="685800" y="2075688"/>
            <a:ext cx="365760" cy="731520"/>
          </a:xfrm>
          <a:prstGeom prst="rect">
            <a:avLst/>
          </a:prstGeom>
          <a:noFill/>
          <a:ln/>
        </p:spPr>
        <p:txBody>
          <a:bodyPr wrap="square" lIns="0" tIns="0" rIns="0" bIns="0" rtlCol="0" anchor="ctr"/>
          <a:lstStyle/>
          <a:p>
            <a:pPr indent="0" marL="0">
              <a:buNone/>
            </a:pPr>
            <a:r>
              <a:rPr lang="en-US" sz="2200" b="1" dirty="0">
                <a:solidFill>
                  <a:srgbClr val="B45309"/>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1097280" y="2075688"/>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Who is spending most?</a:t>
            </a:r>
            <a:endParaRPr lang="en-US" sz="1400" dirty="0"/>
          </a:p>
        </p:txBody>
      </p:sp>
      <p:sp>
        <p:nvSpPr>
          <p:cNvPr id="14" name="Text 12"/>
          <p:cNvSpPr txBox="1"/>
          <p:nvPr/>
        </p:nvSpPr>
        <p:spPr>
          <a:xfrm>
            <a:off x="3840480" y="2075688"/>
            <a:ext cx="2377440" cy="7315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cost by team, this month</a:t>
            </a:r>
            <a:endParaRPr lang="en-US" sz="1150" dirty="0"/>
          </a:p>
        </p:txBody>
      </p:sp>
      <p:sp>
        <p:nvSpPr>
          <p:cNvPr id="15" name="Text 13"/>
          <p:cNvSpPr txBox="1"/>
          <p:nvPr/>
        </p:nvSpPr>
        <p:spPr>
          <a:xfrm>
            <a:off x="6309360" y="2075688"/>
            <a:ext cx="2194560" cy="7315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new bar usually means an agent nobody mentioned.</a:t>
            </a:r>
            <a:endParaRPr lang="en-US" sz="1150" dirty="0"/>
          </a:p>
        </p:txBody>
      </p:sp>
      <p:sp>
        <p:nvSpPr>
          <p:cNvPr id="16" name="Shape 14"/>
          <p:cNvSpPr/>
          <p:nvPr/>
        </p:nvSpPr>
        <p:spPr>
          <a:xfrm>
            <a:off x="457200" y="2916936"/>
            <a:ext cx="8229600" cy="731520"/>
          </a:xfrm>
          <a:prstGeom prst="roundRect">
            <a:avLst>
              <a:gd name="adj" fmla="val 10000"/>
            </a:avLst>
          </a:prstGeom>
          <a:solidFill>
            <a:srgbClr val="F3F4F6"/>
          </a:solidFill>
          <a:ln w="12700">
            <a:solidFill>
              <a:srgbClr val="F3F4F6"/>
            </a:solidFill>
            <a:prstDash val="solid"/>
          </a:ln>
        </p:spPr>
      </p:sp>
      <p:sp>
        <p:nvSpPr>
          <p:cNvPr id="17" name="Text 15"/>
          <p:cNvSpPr txBox="1"/>
          <p:nvPr/>
        </p:nvSpPr>
        <p:spPr>
          <a:xfrm>
            <a:off x="685800" y="2916936"/>
            <a:ext cx="365760" cy="731520"/>
          </a:xfrm>
          <a:prstGeom prst="rect">
            <a:avLst/>
          </a:prstGeom>
          <a:noFill/>
          <a:ln/>
        </p:spPr>
        <p:txBody>
          <a:bodyPr wrap="square" lIns="0" tIns="0" rIns="0" bIns="0" rtlCol="0" anchor="ctr"/>
          <a:lstStyle/>
          <a:p>
            <a:pPr indent="0" marL="0">
              <a:buNone/>
            </a:pPr>
            <a:r>
              <a:rPr lang="en-US" sz="2200" b="1" dirty="0">
                <a:solidFill>
                  <a:srgbClr val="B45309"/>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1097280" y="2916936"/>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How much was wasted?</a:t>
            </a:r>
            <a:endParaRPr lang="en-US" sz="1400" dirty="0"/>
          </a:p>
        </p:txBody>
      </p:sp>
      <p:sp>
        <p:nvSpPr>
          <p:cNvPr id="19" name="Text 17"/>
          <p:cNvSpPr txBox="1"/>
          <p:nvPr/>
        </p:nvSpPr>
        <p:spPr>
          <a:xfrm>
            <a:off x="3840480" y="2916936"/>
            <a:ext cx="2377440" cy="7315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the failed-run tax, this week</a:t>
            </a:r>
            <a:endParaRPr lang="en-US" sz="1150" dirty="0"/>
          </a:p>
        </p:txBody>
      </p:sp>
      <p:sp>
        <p:nvSpPr>
          <p:cNvPr id="20" name="Text 18"/>
          <p:cNvSpPr txBox="1"/>
          <p:nvPr/>
        </p:nvSpPr>
        <p:spPr>
          <a:xfrm>
            <a:off x="6309360" y="2916936"/>
            <a:ext cx="2194560" cy="7315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Climbing means something is failing more than it used to.</a:t>
            </a:r>
            <a:endParaRPr lang="en-US" sz="1150" dirty="0"/>
          </a:p>
        </p:txBody>
      </p:sp>
      <p:sp>
        <p:nvSpPr>
          <p:cNvPr id="21" name="Shape 19"/>
          <p:cNvSpPr/>
          <p:nvPr/>
        </p:nvSpPr>
        <p:spPr>
          <a:xfrm>
            <a:off x="457200" y="3758184"/>
            <a:ext cx="8229600" cy="731520"/>
          </a:xfrm>
          <a:prstGeom prst="roundRect">
            <a:avLst>
              <a:gd name="adj" fmla="val 10000"/>
            </a:avLst>
          </a:prstGeom>
          <a:solidFill>
            <a:srgbClr val="F3F4F6"/>
          </a:solidFill>
          <a:ln w="12700">
            <a:solidFill>
              <a:srgbClr val="F3F4F6"/>
            </a:solidFill>
            <a:prstDash val="solid"/>
          </a:ln>
        </p:spPr>
      </p:sp>
      <p:sp>
        <p:nvSpPr>
          <p:cNvPr id="22" name="Text 20"/>
          <p:cNvSpPr txBox="1"/>
          <p:nvPr/>
        </p:nvSpPr>
        <p:spPr>
          <a:xfrm>
            <a:off x="685800" y="3758184"/>
            <a:ext cx="365760" cy="731520"/>
          </a:xfrm>
          <a:prstGeom prst="rect">
            <a:avLst/>
          </a:prstGeom>
          <a:noFill/>
          <a:ln/>
        </p:spPr>
        <p:txBody>
          <a:bodyPr wrap="square" lIns="0" tIns="0" rIns="0" bIns="0" rtlCol="0" anchor="ctr"/>
          <a:lstStyle/>
          <a:p>
            <a:pPr indent="0" marL="0">
              <a:buNone/>
            </a:pPr>
            <a:r>
              <a:rPr lang="en-US" sz="2200" b="1" dirty="0">
                <a:solidFill>
                  <a:srgbClr val="B45309"/>
                </a:solidFill>
                <a:latin typeface="Cambria" pitchFamily="34" charset="0"/>
                <a:ea typeface="Cambria" pitchFamily="34" charset="-122"/>
                <a:cs typeface="Cambria" pitchFamily="34" charset="-120"/>
              </a:rPr>
              <a:t>4</a:t>
            </a:r>
            <a:endParaRPr lang="en-US" sz="2200" dirty="0"/>
          </a:p>
        </p:txBody>
      </p:sp>
      <p:sp>
        <p:nvSpPr>
          <p:cNvPr id="23" name="Text 21"/>
          <p:cNvSpPr txBox="1"/>
          <p:nvPr/>
        </p:nvSpPr>
        <p:spPr>
          <a:xfrm>
            <a:off x="1097280" y="3758184"/>
            <a:ext cx="2651760" cy="73152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Did any alert fire?</a:t>
            </a:r>
            <a:endParaRPr lang="en-US" sz="1400" dirty="0"/>
          </a:p>
        </p:txBody>
      </p:sp>
      <p:sp>
        <p:nvSpPr>
          <p:cNvPr id="24" name="Text 22"/>
          <p:cNvSpPr txBox="1"/>
          <p:nvPr/>
        </p:nvSpPr>
        <p:spPr>
          <a:xfrm>
            <a:off x="3840480" y="3758184"/>
            <a:ext cx="2377440" cy="7315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and did anyone actually do anything</a:t>
            </a:r>
            <a:endParaRPr lang="en-US" sz="1150" dirty="0"/>
          </a:p>
        </p:txBody>
      </p:sp>
      <p:sp>
        <p:nvSpPr>
          <p:cNvPr id="25" name="Text 23"/>
          <p:cNvSpPr txBox="1"/>
          <p:nvPr/>
        </p:nvSpPr>
        <p:spPr>
          <a:xfrm>
            <a:off x="6309360" y="3758184"/>
            <a:ext cx="2194560" cy="7315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An alert nobody acts on should be fixed or deleted.</a:t>
            </a:r>
            <a:endParaRPr lang="en-US" sz="1150" dirty="0"/>
          </a:p>
        </p:txBody>
      </p:sp>
      <p:sp>
        <p:nvSpPr>
          <p:cNvPr id="26" name="Text 24"/>
          <p:cNvSpPr txBox="1"/>
          <p:nvPr/>
        </p:nvSpPr>
        <p:spPr>
          <a:xfrm>
            <a:off x="457200" y="4572000"/>
            <a:ext cx="822960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Down is as worth understanding as up; a sudden drop often means something stopped working rather than something got better.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05 · THE REVIEW</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6</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
        <p:nvSpPr>
          <p:cNvPr id="5" name="Text 3"/>
          <p:cNvSpPr txBox="1"/>
          <p:nvPr/>
        </p:nvSpPr>
        <p:spPr>
          <a:xfrm>
            <a:off x="457200" y="1097280"/>
            <a:ext cx="822960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It needs a name against it.</a:t>
            </a:r>
            <a:endParaRPr lang="en-US" sz="3800" dirty="0"/>
          </a:p>
        </p:txBody>
      </p:sp>
      <p:sp>
        <p:nvSpPr>
          <p:cNvPr id="6" name="Text 4"/>
          <p:cNvSpPr txBox="1"/>
          <p:nvPr/>
        </p:nvSpPr>
        <p:spPr>
          <a:xfrm>
            <a:off x="457200" y="2011680"/>
            <a:ext cx="7863840" cy="731520"/>
          </a:xfrm>
          <a:prstGeom prst="rect">
            <a:avLst/>
          </a:prstGeom>
          <a:noFill/>
          <a:ln/>
        </p:spPr>
        <p:txBody>
          <a:bodyPr wrap="square" lIns="0" tIns="0" rIns="0" bIns="0" rtlCol="0" anchor="t"/>
          <a:lstStyle/>
          <a:p>
            <a:pPr indent="0" marL="0">
              <a:buNone/>
            </a:pPr>
            <a:r>
              <a:rPr lang="en-US" sz="1700" dirty="0">
                <a:solidFill>
                  <a:srgbClr val="9CA3AF"/>
                </a:solidFill>
                <a:latin typeface="Calibri" pitchFamily="34" charset="0"/>
                <a:ea typeface="Calibri" pitchFamily="34" charset="-122"/>
                <a:cs typeface="Calibri" pitchFamily="34" charset="-120"/>
              </a:rPr>
              <a:t>Not the team; the team owns nothing. A rota is fine. One person per week, same slot, in the calendar.</a:t>
            </a:r>
            <a:endParaRPr lang="en-US" sz="1700" dirty="0"/>
          </a:p>
        </p:txBody>
      </p:sp>
      <p:sp>
        <p:nvSpPr>
          <p:cNvPr id="7" name="Text 5"/>
          <p:cNvSpPr txBox="1"/>
          <p:nvPr/>
        </p:nvSpPr>
        <p:spPr>
          <a:xfrm>
            <a:off x="457200" y="2834640"/>
            <a:ext cx="7863840" cy="822960"/>
          </a:xfrm>
          <a:prstGeom prst="rect">
            <a:avLst/>
          </a:prstGeom>
          <a:noFill/>
          <a:ln/>
        </p:spPr>
        <p:txBody>
          <a:bodyPr wrap="square" lIns="0" tIns="0" rIns="0" bIns="0" rtlCol="0" anchor="t"/>
          <a:lstStyle/>
          <a:p>
            <a:pPr indent="0" marL="0">
              <a:buNone/>
            </a:pPr>
            <a:r>
              <a:rPr lang="en-US" sz="1600" b="1" dirty="0">
                <a:solidFill>
                  <a:srgbClr val="F59E0B"/>
                </a:solidFill>
                <a:latin typeface="Calibri" pitchFamily="34" charset="0"/>
                <a:ea typeface="Calibri" pitchFamily="34" charset="-122"/>
                <a:cs typeface="Calibri" pitchFamily="34" charset="-120"/>
              </a:rPr>
              <a:t>A habit with an owner survives people leaving, reorganisations, and busy months. A habit that belongs to everybody survives about three weeks.</a:t>
            </a:r>
            <a:endParaRPr lang="en-US" sz="1600" dirty="0"/>
          </a:p>
        </p:txBody>
      </p:sp>
      <p:sp>
        <p:nvSpPr>
          <p:cNvPr id="8" name="Text 6"/>
          <p:cNvSpPr txBox="1"/>
          <p:nvPr/>
        </p:nvSpPr>
        <p:spPr>
          <a:xfrm>
            <a:off x="457200" y="3749040"/>
            <a:ext cx="7863840" cy="822960"/>
          </a:xfrm>
          <a:prstGeom prst="rect">
            <a:avLst/>
          </a:prstGeom>
          <a:noFill/>
          <a:ln/>
        </p:spPr>
        <p:txBody>
          <a:bodyPr wrap="square" lIns="0" tIns="0" rIns="0" bIns="0" rtlCol="0" anchor="t"/>
          <a:lstStyle/>
          <a:p>
            <a:pPr indent="0" marL="0">
              <a:buNone/>
            </a:pPr>
            <a:r>
              <a:rPr lang="en-US" sz="1400" i="1" dirty="0">
                <a:solidFill>
                  <a:srgbClr val="9CA3AF"/>
                </a:solidFill>
                <a:latin typeface="Calibri" pitchFamily="34" charset="0"/>
                <a:ea typeface="Calibri" pitchFamily="34" charset="-122"/>
                <a:cs typeface="Calibri" pitchFamily="34" charset="-120"/>
              </a:rPr>
              <a:t>Put it in a calendar before you finish this module, with a name on it and the dashboard link in the invite. A habit that requires somebody to remember it is not a habit yet.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05 · The Review</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four questions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Four numbered questions, then the ownership panel.</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Four wide rows, each with a numbered circle on the left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one DID ANYTHING CHANGE? Under it: cost per successful task, this week versus last. On the right: if it moved more than ten percent, find out why before anything else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two WHO IS SPENDING MOST? Under it: cost by team, this month. On the right: not to blame anyone, but to notice a new agent nobody mentioned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three HOW MUCH WAS WASTED? Under it: the failed-run tax, this week. On the right: if it is climbing, something is failing more than it used to</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four DID ANY ALERT FIRE? Under it: and did anyone actually do something. On the right: an alert nobody acts on should be deleted or fixed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box underneath: it needs a name against it. The team owns nothing. A rota is fine, a person is better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Then: everything you built in this course quietly stops working the week nobody looks at it. Fifteen minutes, same slot every week, one person</a:t>
            </a:r>
            <a:endParaRPr lang="en-US" sz="950" dirty="0"/>
          </a:p>
        </p:txBody>
      </p:sp>
      <p:sp>
        <p:nvSpPr>
          <p:cNvPr id="12" name="Shape 8"/>
          <p:cNvSpPr/>
          <p:nvPr/>
        </p:nvSpPr>
        <p:spPr>
          <a:xfrm>
            <a:off x="3886200" y="1536192"/>
            <a:ext cx="4800600" cy="1787006"/>
          </a:xfrm>
          <a:prstGeom prst="roundRect">
            <a:avLst>
              <a:gd name="adj" fmla="val 409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329806"/>
          </a:xfrm>
          <a:prstGeom prst="rect">
            <a:avLst/>
          </a:prstGeom>
        </p:spPr>
      </p:pic>
      <p:sp>
        <p:nvSpPr>
          <p:cNvPr id="15" name="Shape 10"/>
          <p:cNvSpPr/>
          <p:nvPr/>
        </p:nvSpPr>
        <p:spPr>
          <a:xfrm>
            <a:off x="3886200" y="3478646"/>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478646"/>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“Fifteen minutes. Same slot. One name.”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Build It: and the Bill That Never Arrived</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stages, then the capstone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457200" y="1280160"/>
            <a:ext cx="4023360" cy="1280160"/>
          </a:xfrm>
          <a:prstGeom prst="roundRect">
            <a:avLst>
              <a:gd name="adj" fmla="val 5714"/>
            </a:avLst>
          </a:prstGeom>
          <a:solidFill>
            <a:srgbClr val="F3F4F6"/>
          </a:solidFill>
          <a:ln w="12700">
            <a:solidFill>
              <a:srgbClr val="F3F4F6"/>
            </a:solidFill>
            <a:prstDash val="solid"/>
          </a:ln>
        </p:spPr>
      </p:sp>
      <p:sp>
        <p:nvSpPr>
          <p:cNvPr id="7" name="Text 5"/>
          <p:cNvSpPr txBox="1"/>
          <p:nvPr/>
        </p:nvSpPr>
        <p:spPr>
          <a:xfrm>
            <a:off x="685800"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1</a:t>
            </a:r>
            <a:endParaRPr lang="en-US" sz="900" dirty="0"/>
          </a:p>
        </p:txBody>
      </p:sp>
      <p:sp>
        <p:nvSpPr>
          <p:cNvPr id="8" name="Text 6"/>
          <p:cNvSpPr txBox="1"/>
          <p:nvPr/>
        </p:nvSpPr>
        <p:spPr>
          <a:xfrm>
            <a:off x="685800" y="1645920"/>
            <a:ext cx="356616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four panels</a:t>
            </a:r>
            <a:endParaRPr lang="en-US" sz="1500" dirty="0"/>
          </a:p>
        </p:txBody>
      </p:sp>
      <p:sp>
        <p:nvSpPr>
          <p:cNvPr id="9" name="Text 7"/>
          <p:cNvSpPr txBox="1"/>
          <p:nvPr/>
        </p:nvSpPr>
        <p:spPr>
          <a:xfrm>
            <a:off x="685800" y="1975104"/>
            <a:ext cx="3566160" cy="5029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 Grafana, titled with the question each one answers.</a:t>
            </a:r>
            <a:endParaRPr lang="en-US" sz="1200" dirty="0"/>
          </a:p>
        </p:txBody>
      </p:sp>
      <p:sp>
        <p:nvSpPr>
          <p:cNvPr id="10" name="Shape 8"/>
          <p:cNvSpPr/>
          <p:nvPr/>
        </p:nvSpPr>
        <p:spPr>
          <a:xfrm>
            <a:off x="4663440" y="1280160"/>
            <a:ext cx="4023360" cy="1280160"/>
          </a:xfrm>
          <a:prstGeom prst="roundRect">
            <a:avLst>
              <a:gd name="adj" fmla="val 5714"/>
            </a:avLst>
          </a:prstGeom>
          <a:solidFill>
            <a:srgbClr val="F3F4F6"/>
          </a:solidFill>
          <a:ln w="12700">
            <a:solidFill>
              <a:srgbClr val="F3F4F6"/>
            </a:solidFill>
            <a:prstDash val="solid"/>
          </a:ln>
        </p:spPr>
      </p:sp>
      <p:sp>
        <p:nvSpPr>
          <p:cNvPr id="11" name="Text 9"/>
          <p:cNvSpPr txBox="1"/>
          <p:nvPr/>
        </p:nvSpPr>
        <p:spPr>
          <a:xfrm>
            <a:off x="4892040"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2</a:t>
            </a:r>
            <a:endParaRPr lang="en-US" sz="900" dirty="0"/>
          </a:p>
        </p:txBody>
      </p:sp>
      <p:sp>
        <p:nvSpPr>
          <p:cNvPr id="12" name="Text 10"/>
          <p:cNvSpPr txBox="1"/>
          <p:nvPr/>
        </p:nvSpPr>
        <p:spPr>
          <a:xfrm>
            <a:off x="4892040" y="1645920"/>
            <a:ext cx="356616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two alerts</a:t>
            </a:r>
            <a:endParaRPr lang="en-US" sz="1500" dirty="0"/>
          </a:p>
        </p:txBody>
      </p:sp>
      <p:sp>
        <p:nvSpPr>
          <p:cNvPr id="13" name="Text 11"/>
          <p:cNvSpPr txBox="1"/>
          <p:nvPr/>
        </p:nvSpPr>
        <p:spPr>
          <a:xfrm>
            <a:off x="4892040" y="1975104"/>
            <a:ext cx="3566160" cy="5029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Fast on 1 hour, slow on 24 hours, routed differently.</a:t>
            </a:r>
            <a:endParaRPr lang="en-US" sz="1200" dirty="0"/>
          </a:p>
        </p:txBody>
      </p:sp>
      <p:sp>
        <p:nvSpPr>
          <p:cNvPr id="14" name="Shape 12"/>
          <p:cNvSpPr/>
          <p:nvPr/>
        </p:nvSpPr>
        <p:spPr>
          <a:xfrm>
            <a:off x="457200" y="2743200"/>
            <a:ext cx="4023360" cy="1280160"/>
          </a:xfrm>
          <a:prstGeom prst="roundRect">
            <a:avLst>
              <a:gd name="adj" fmla="val 5714"/>
            </a:avLst>
          </a:prstGeom>
          <a:solidFill>
            <a:srgbClr val="F3F4F6"/>
          </a:solidFill>
          <a:ln w="12700">
            <a:solidFill>
              <a:srgbClr val="F3F4F6"/>
            </a:solidFill>
            <a:prstDash val="solid"/>
          </a:ln>
        </p:spPr>
      </p:sp>
      <p:sp>
        <p:nvSpPr>
          <p:cNvPr id="15" name="Text 13"/>
          <p:cNvSpPr txBox="1"/>
          <p:nvPr/>
        </p:nvSpPr>
        <p:spPr>
          <a:xfrm>
            <a:off x="685800"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3</a:t>
            </a:r>
            <a:endParaRPr lang="en-US" sz="900" dirty="0"/>
          </a:p>
        </p:txBody>
      </p:sp>
      <p:sp>
        <p:nvSpPr>
          <p:cNvPr id="16" name="Text 14"/>
          <p:cNvSpPr txBox="1"/>
          <p:nvPr/>
        </p:nvSpPr>
        <p:spPr>
          <a:xfrm>
            <a:off x="685800" y="3108960"/>
            <a:ext cx="356616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Routing</a:t>
            </a:r>
            <a:endParaRPr lang="en-US" sz="1500" dirty="0"/>
          </a:p>
        </p:txBody>
      </p:sp>
      <p:sp>
        <p:nvSpPr>
          <p:cNvPr id="17" name="Text 15"/>
          <p:cNvSpPr txBox="1"/>
          <p:nvPr/>
        </p:nvSpPr>
        <p:spPr>
          <a:xfrm>
            <a:off x="685800" y="3438144"/>
            <a:ext cx="3566160" cy="5029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step type to a cheaper model; compare cost and quality.</a:t>
            </a:r>
            <a:endParaRPr lang="en-US" sz="1200" dirty="0"/>
          </a:p>
        </p:txBody>
      </p:sp>
      <p:sp>
        <p:nvSpPr>
          <p:cNvPr id="18" name="Shape 16"/>
          <p:cNvSpPr/>
          <p:nvPr/>
        </p:nvSpPr>
        <p:spPr>
          <a:xfrm>
            <a:off x="4663440" y="2743200"/>
            <a:ext cx="4023360" cy="1280160"/>
          </a:xfrm>
          <a:prstGeom prst="roundRect">
            <a:avLst>
              <a:gd name="adj" fmla="val 5714"/>
            </a:avLst>
          </a:prstGeom>
          <a:solidFill>
            <a:srgbClr val="111827"/>
          </a:solidFill>
          <a:ln w="12700">
            <a:solidFill>
              <a:srgbClr val="111827"/>
            </a:solidFill>
            <a:prstDash val="solid"/>
          </a:ln>
        </p:spPr>
      </p:sp>
      <p:sp>
        <p:nvSpPr>
          <p:cNvPr id="19" name="Text 17"/>
          <p:cNvSpPr txBox="1"/>
          <p:nvPr/>
        </p:nvSpPr>
        <p:spPr>
          <a:xfrm>
            <a:off x="4892040" y="2862072"/>
            <a:ext cx="1828800" cy="228600"/>
          </a:xfrm>
          <a:prstGeom prst="rect">
            <a:avLst/>
          </a:prstGeom>
          <a:noFill/>
          <a:ln/>
        </p:spPr>
        <p:txBody>
          <a:bodyPr wrap="square" lIns="0" tIns="0" rIns="0" bIns="0" rtlCol="0" anchor="t"/>
          <a:lstStyle/>
          <a:p>
            <a:pPr indent="0" marL="0">
              <a:buNone/>
            </a:pPr>
            <a:r>
              <a:rPr lang="en-US" sz="900" b="1" spc="200" kern="0" dirty="0">
                <a:solidFill>
                  <a:srgbClr val="F59E0B"/>
                </a:solidFill>
                <a:latin typeface="Calibri" pitchFamily="34" charset="0"/>
                <a:ea typeface="Calibri" pitchFamily="34" charset="-122"/>
                <a:cs typeface="Calibri" pitchFamily="34" charset="-120"/>
              </a:rPr>
              <a:t>STAGE 4</a:t>
            </a:r>
            <a:endParaRPr lang="en-US" sz="900" dirty="0"/>
          </a:p>
        </p:txBody>
      </p:sp>
      <p:sp>
        <p:nvSpPr>
          <p:cNvPr id="20" name="Text 18"/>
          <p:cNvSpPr txBox="1"/>
          <p:nvPr/>
        </p:nvSpPr>
        <p:spPr>
          <a:xfrm>
            <a:off x="4892040" y="3108960"/>
            <a:ext cx="356616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capstone</a:t>
            </a:r>
            <a:endParaRPr lang="en-US" sz="1500" dirty="0"/>
          </a:p>
        </p:txBody>
      </p:sp>
      <p:sp>
        <p:nvSpPr>
          <p:cNvPr id="21" name="Text 19"/>
          <p:cNvSpPr txBox="1"/>
          <p:nvPr/>
        </p:nvSpPr>
        <p:spPr>
          <a:xfrm>
            <a:off x="4892040" y="3438144"/>
            <a:ext cx="3566160" cy="502920"/>
          </a:xfrm>
          <a:prstGeom prst="rect">
            <a:avLst/>
          </a:prstGeom>
          <a:noFill/>
          <a:ln/>
        </p:spPr>
        <p:txBody>
          <a:bodyPr wrap="square" lIns="0" tIns="0" rIns="0" bIns="0" rtlCol="0" anchor="t"/>
          <a:lstStyle/>
          <a:p>
            <a:pPr indent="0" marL="0">
              <a:buNone/>
            </a:pPr>
            <a:r>
              <a:rPr lang="en-US" sz="1200" dirty="0">
                <a:solidFill>
                  <a:srgbClr val="9CA3AF"/>
                </a:solidFill>
                <a:latin typeface="Calibri" pitchFamily="34" charset="0"/>
                <a:ea typeface="Calibri" pitchFamily="34" charset="-122"/>
                <a:cs typeface="Calibri" pitchFamily="34" charset="-120"/>
              </a:rPr>
              <a:t>Module 1's runaway against your fully built agent.</a:t>
            </a:r>
            <a:endParaRPr lang="en-US" sz="1200" dirty="0"/>
          </a:p>
        </p:txBody>
      </p:sp>
      <p:sp>
        <p:nvSpPr>
          <p:cNvPr id="22" name="Text 2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Prometheus and Grafana run locally; everything else is the agent you have been building since module two.</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SETUP</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Start Prometheus and Grafana</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365760" y="123444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23444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docker compose up -d prometheus grafana</a:t>
            </a:r>
            <a:endParaRPr lang="en-US" sz="1600" dirty="0"/>
          </a:p>
        </p:txBody>
      </p:sp>
      <p:sp>
        <p:nvSpPr>
          <p:cNvPr id="8" name="Shape 6"/>
          <p:cNvSpPr/>
          <p:nvPr/>
        </p:nvSpPr>
        <p:spPr>
          <a:xfrm>
            <a:off x="457200" y="2286000"/>
            <a:ext cx="8229600" cy="914400"/>
          </a:xfrm>
          <a:prstGeom prst="roundRect">
            <a:avLst>
              <a:gd name="adj" fmla="val 8000"/>
            </a:avLst>
          </a:prstGeom>
          <a:solidFill>
            <a:srgbClr val="F3F4F6"/>
          </a:solidFill>
          <a:ln w="12700">
            <a:solidFill>
              <a:srgbClr val="F3F4F6"/>
            </a:solidFill>
            <a:prstDash val="solid"/>
          </a:ln>
        </p:spPr>
      </p:sp>
      <p:sp>
        <p:nvSpPr>
          <p:cNvPr id="9" name="Text 7"/>
          <p:cNvSpPr txBox="1"/>
          <p:nvPr/>
        </p:nvSpPr>
        <p:spPr>
          <a:xfrm>
            <a:off x="731520" y="2286000"/>
            <a:ext cx="7680960" cy="9144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Two containers, one command. Prometheus answers on port 9090; Grafana opens on port 3000.</a:t>
            </a:r>
            <a:endParaRPr lang="en-US" sz="1500" dirty="0"/>
          </a:p>
        </p:txBody>
      </p:sp>
      <p:sp>
        <p:nvSpPr>
          <p:cNvPr id="10" name="Shape 8"/>
          <p:cNvSpPr/>
          <p:nvPr/>
        </p:nvSpPr>
        <p:spPr>
          <a:xfrm>
            <a:off x="457200" y="3383280"/>
            <a:ext cx="8229600" cy="914400"/>
          </a:xfrm>
          <a:prstGeom prst="roundRect">
            <a:avLst>
              <a:gd name="adj" fmla="val 8000"/>
            </a:avLst>
          </a:prstGeom>
          <a:solidFill>
            <a:srgbClr val="FEF3C7"/>
          </a:solidFill>
          <a:ln w="12700">
            <a:solidFill>
              <a:srgbClr val="FEF3C7"/>
            </a:solidFill>
            <a:prstDash val="solid"/>
          </a:ln>
        </p:spPr>
      </p:sp>
      <p:sp>
        <p:nvSpPr>
          <p:cNvPr id="11" name="Text 9"/>
          <p:cNvSpPr txBox="1"/>
          <p:nvPr/>
        </p:nvSpPr>
        <p:spPr>
          <a:xfrm>
            <a:off x="731520" y="3383280"/>
            <a:ext cx="7680960" cy="91440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Test every query in the terminal before pasting it into a Grafana panel. Debugging PromQL inside a panel is miserable.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1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four panels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457200" y="1143000"/>
            <a:ext cx="8229600" cy="5943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In Grafana, create a dashboard with exactly four panels: cost per hour, cost per successful task, cost by team, failed-run tax. Title each one with the question, not the metric.</a:t>
            </a:r>
            <a:endParaRPr lang="en-US" sz="1350" dirty="0"/>
          </a:p>
        </p:txBody>
      </p:sp>
      <p:sp>
        <p:nvSpPr>
          <p:cNvPr id="7" name="Shape 5"/>
          <p:cNvSpPr/>
          <p:nvPr/>
        </p:nvSpPr>
        <p:spPr>
          <a:xfrm>
            <a:off x="365760" y="1783080"/>
            <a:ext cx="8412480" cy="1188720"/>
          </a:xfrm>
          <a:prstGeom prst="roundRect">
            <a:avLst>
              <a:gd name="adj" fmla="val 6154"/>
            </a:avLst>
          </a:prstGeom>
          <a:solidFill>
            <a:srgbClr val="0F172A"/>
          </a:solidFill>
          <a:ln w="12700">
            <a:solidFill>
              <a:srgbClr val="0F172A"/>
            </a:solidFill>
            <a:prstDash val="solid"/>
          </a:ln>
        </p:spPr>
      </p:sp>
      <p:sp>
        <p:nvSpPr>
          <p:cNvPr id="8" name="Text 6"/>
          <p:cNvSpPr txBox="1"/>
          <p:nvPr/>
        </p:nvSpPr>
        <p:spPr>
          <a:xfrm>
            <a:off x="594360" y="1783080"/>
            <a:ext cx="8092440" cy="1188720"/>
          </a:xfrm>
          <a:prstGeom prst="rect">
            <a:avLst/>
          </a:prstGeom>
          <a:noFill/>
          <a:ln/>
        </p:spPr>
        <p:txBody>
          <a:bodyPr wrap="square" lIns="0" tIns="0" rIns="0" bIns="0" rtlCol="0" anchor="ctr"/>
          <a:lstStyle/>
          <a:p>
            <a:pPr indent="0" marL="0">
              <a:buNone/>
            </a:pPr>
            <a:r>
              <a:rPr lang="en-US" sz="1050" b="1" dirty="0">
                <a:solidFill>
                  <a:srgbClr val="F59E0B"/>
                </a:solidFill>
                <a:latin typeface="Courier New" pitchFamily="34" charset="0"/>
                <a:ea typeface="Courier New" pitchFamily="34" charset="-122"/>
                <a:cs typeface="Courier New" pitchFamily="34" charset="-120"/>
              </a:rPr>
              <a:t>$ </a:t>
            </a:r>
            <a:pPr indent="0" marL="0">
              <a:buNone/>
            </a:pPr>
            <a:r>
              <a:rPr lang="en-US" sz="1050" dirty="0">
                <a:solidFill>
                  <a:srgbClr val="E8EAED"/>
                </a:solidFill>
                <a:latin typeface="Courier New" pitchFamily="34" charset="0"/>
                <a:ea typeface="Courier New" pitchFamily="34" charset="-122"/>
                <a:cs typeface="Courier New" pitchFamily="34" charset="-120"/>
              </a:rPr>
              <a:t>curl -s localhost:9090/api/v1/query --data-urlencode 'query=sum(rate(agent_cost_usd_total[1h]))*3600'</a:t>
            </a:r>
            <a:endParaRPr lang="en-US" sz="1050" dirty="0"/>
          </a:p>
        </p:txBody>
      </p:sp>
      <p:sp>
        <p:nvSpPr>
          <p:cNvPr id="9" name="Shape 7"/>
          <p:cNvSpPr/>
          <p:nvPr/>
        </p:nvSpPr>
        <p:spPr>
          <a:xfrm>
            <a:off x="457200" y="3108960"/>
            <a:ext cx="8229600" cy="685800"/>
          </a:xfrm>
          <a:prstGeom prst="roundRect">
            <a:avLst>
              <a:gd name="adj" fmla="val 10667"/>
            </a:avLst>
          </a:prstGeom>
          <a:solidFill>
            <a:srgbClr val="F3F4F6"/>
          </a:solidFill>
          <a:ln w="12700">
            <a:solidFill>
              <a:srgbClr val="F3F4F6"/>
            </a:solidFill>
            <a:prstDash val="solid"/>
          </a:ln>
        </p:spPr>
      </p:sp>
      <p:sp>
        <p:nvSpPr>
          <p:cNvPr id="10" name="Text 8"/>
          <p:cNvSpPr txBox="1"/>
          <p:nvPr/>
        </p:nvSpPr>
        <p:spPr>
          <a:xfrm>
            <a:off x="731520" y="3108960"/>
            <a:ext cx="76809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Panel one's query. Rate gives spend per second; multiplying by 3,600 gives spend per hour.</a:t>
            </a:r>
            <a:endParaRPr lang="en-US" sz="1300" dirty="0"/>
          </a:p>
        </p:txBody>
      </p:sp>
      <p:sp>
        <p:nvSpPr>
          <p:cNvPr id="11" name="Shape 9"/>
          <p:cNvSpPr/>
          <p:nvPr/>
        </p:nvSpPr>
        <p:spPr>
          <a:xfrm>
            <a:off x="365760" y="3886200"/>
            <a:ext cx="8412480" cy="1188720"/>
          </a:xfrm>
          <a:prstGeom prst="roundRect">
            <a:avLst>
              <a:gd name="adj" fmla="val 6154"/>
            </a:avLst>
          </a:prstGeom>
          <a:solidFill>
            <a:srgbClr val="0F172A"/>
          </a:solidFill>
          <a:ln w="12700">
            <a:solidFill>
              <a:srgbClr val="0F172A"/>
            </a:solidFill>
            <a:prstDash val="solid"/>
          </a:ln>
        </p:spPr>
      </p:sp>
      <p:sp>
        <p:nvSpPr>
          <p:cNvPr id="12" name="Text 10"/>
          <p:cNvSpPr txBox="1"/>
          <p:nvPr/>
        </p:nvSpPr>
        <p:spPr>
          <a:xfrm>
            <a:off x="594360" y="3886200"/>
            <a:ext cx="8092440" cy="1188720"/>
          </a:xfrm>
          <a:prstGeom prst="rect">
            <a:avLst/>
          </a:prstGeom>
          <a:noFill/>
          <a:ln/>
        </p:spPr>
        <p:txBody>
          <a:bodyPr wrap="square" lIns="0" tIns="0" rIns="0" bIns="0" rtlCol="0" anchor="ctr"/>
          <a:lstStyle/>
          <a:p>
            <a:pPr indent="0" marL="0">
              <a:buNone/>
            </a:pPr>
            <a:r>
              <a:rPr lang="en-US" sz="1050" b="1" dirty="0">
                <a:solidFill>
                  <a:srgbClr val="F59E0B"/>
                </a:solidFill>
                <a:latin typeface="Courier New" pitchFamily="34" charset="0"/>
                <a:ea typeface="Courier New" pitchFamily="34" charset="-122"/>
                <a:cs typeface="Courier New" pitchFamily="34" charset="-120"/>
              </a:rPr>
              <a:t>$ </a:t>
            </a:r>
            <a:pPr indent="0" marL="0">
              <a:buNone/>
            </a:pPr>
            <a:r>
              <a:rPr lang="en-US" sz="1050" dirty="0">
                <a:solidFill>
                  <a:srgbClr val="E8EAED"/>
                </a:solidFill>
                <a:latin typeface="Courier New" pitchFamily="34" charset="0"/>
                <a:ea typeface="Courier New" pitchFamily="34" charset="-122"/>
                <a:cs typeface="Courier New" pitchFamily="34" charset="-120"/>
              </a:rPr>
              <a:t>curl -s localhost:9090/api/v1/query --data-urlencode 'query=sum(increase(agent_cost_usd_total[24h])) / sum(increase(agent_runs_total{result="success"}[24h]))'</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2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two alerts, and proving one fires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
        <p:nvSpPr>
          <p:cNvPr id="6" name="Text 4"/>
          <p:cNvSpPr txBox="1"/>
          <p:nvPr/>
        </p:nvSpPr>
        <p:spPr>
          <a:xfrm>
            <a:off x="457200" y="1143000"/>
            <a:ext cx="8229600" cy="7772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Write a fast rule on a one-hour window that fires when projected monthly spend exceeds your budget by a wide margin. Then a slow rule on twenty-four hours with a tighter threshold. Route the fast one somewhere noisy and the slow one somewhere quiet.</a:t>
            </a:r>
            <a:endParaRPr lang="en-US" sz="1350" dirty="0"/>
          </a:p>
        </p:txBody>
      </p:sp>
      <p:sp>
        <p:nvSpPr>
          <p:cNvPr id="7" name="Shape 5"/>
          <p:cNvSpPr/>
          <p:nvPr/>
        </p:nvSpPr>
        <p:spPr>
          <a:xfrm>
            <a:off x="365760" y="20116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11680"/>
            <a:ext cx="8092440" cy="868680"/>
          </a:xfrm>
          <a:prstGeom prst="rect">
            <a:avLst/>
          </a:prstGeom>
          <a:noFill/>
          <a:ln/>
        </p:spPr>
        <p:txBody>
          <a:bodyPr wrap="square" lIns="0" tIns="0" rIns="0" bIns="0" rtlCol="0" anchor="ctr"/>
          <a:lstStyle/>
          <a:p>
            <a:pPr indent="0" marL="0">
              <a:buNone/>
            </a:pPr>
            <a:r>
              <a:rPr lang="en-US" sz="1590" b="1" dirty="0">
                <a:solidFill>
                  <a:srgbClr val="F59E0B"/>
                </a:solidFill>
                <a:latin typeface="Courier New" pitchFamily="34" charset="0"/>
                <a:ea typeface="Courier New" pitchFamily="34" charset="-122"/>
                <a:cs typeface="Courier New" pitchFamily="34" charset="-120"/>
              </a:rPr>
              <a:t>$ </a:t>
            </a:r>
            <a:pPr indent="0" marL="0">
              <a:buNone/>
            </a:pPr>
            <a:r>
              <a:rPr lang="en-US" sz="1590" dirty="0">
                <a:solidFill>
                  <a:srgbClr val="E8EAED"/>
                </a:solidFill>
                <a:latin typeface="Courier New" pitchFamily="34" charset="0"/>
                <a:ea typeface="Courier New" pitchFamily="34" charset="-122"/>
                <a:cs typeface="Courier New" pitchFamily="34" charset="-120"/>
              </a:rPr>
              <a:t>python3 run_agent.py --input samples/malformed.json --no-caps &amp;</a:t>
            </a:r>
            <a:endParaRPr lang="en-US" sz="1590" dirty="0"/>
          </a:p>
        </p:txBody>
      </p:sp>
      <p:sp>
        <p:nvSpPr>
          <p:cNvPr id="9" name="Shape 7"/>
          <p:cNvSpPr/>
          <p:nvPr/>
        </p:nvSpPr>
        <p:spPr>
          <a:xfrm>
            <a:off x="457200" y="3108960"/>
            <a:ext cx="8229600" cy="1234440"/>
          </a:xfrm>
          <a:prstGeom prst="roundRect">
            <a:avLst>
              <a:gd name="adj" fmla="val 5926"/>
            </a:avLst>
          </a:prstGeom>
          <a:solidFill>
            <a:srgbClr val="FEF2F2"/>
          </a:solidFill>
          <a:ln w="12700">
            <a:solidFill>
              <a:srgbClr val="FEF2F2"/>
            </a:solidFill>
            <a:prstDash val="solid"/>
          </a:ln>
        </p:spPr>
      </p:sp>
      <p:pic>
        <p:nvPicPr>
          <p:cNvPr id="10" name="Image 0" descr="preencoded.png">    </p:cNvPr>
          <p:cNvPicPr>
            <a:picLocks noChangeAspect="1"/>
          </p:cNvPicPr>
          <p:nvPr/>
        </p:nvPicPr>
        <p:blipFill>
          <a:blip r:embed="rId1"/>
          <a:stretch>
            <a:fillRect/>
          </a:stretch>
        </p:blipFill>
        <p:spPr>
          <a:xfrm>
            <a:off x="731520" y="3520440"/>
            <a:ext cx="411480" cy="411480"/>
          </a:xfrm>
          <a:prstGeom prst="rect">
            <a:avLst/>
          </a:prstGeom>
        </p:spPr>
      </p:pic>
      <p:sp>
        <p:nvSpPr>
          <p:cNvPr id="11" name="Text 8"/>
          <p:cNvSpPr txBox="1"/>
          <p:nvPr/>
        </p:nvSpPr>
        <p:spPr>
          <a:xfrm>
            <a:off x="1325880" y="3108960"/>
            <a:ext cx="7132320" cy="1234440"/>
          </a:xfrm>
          <a:prstGeom prst="rect">
            <a:avLst/>
          </a:prstGeom>
          <a:noFill/>
          <a:ln/>
        </p:spPr>
        <p:txBody>
          <a:bodyPr wrap="square" lIns="0" tIns="0" rIns="0" bIns="0" rtlCol="0" anchor="ctr"/>
          <a:lstStyle/>
          <a:p>
            <a:pPr indent="0" marL="0">
              <a:buNone/>
            </a:pPr>
            <a:r>
              <a:rPr lang="en-US" sz="1400" b="1" dirty="0">
                <a:solidFill>
                  <a:srgbClr val="B91C1C"/>
                </a:solidFill>
                <a:latin typeface="Calibri" pitchFamily="34" charset="0"/>
                <a:ea typeface="Calibri" pitchFamily="34" charset="-122"/>
                <a:cs typeface="Calibri" pitchFamily="34" charset="-120"/>
              </a:rPr>
              <a:t>Run the runaway with caps disabled, deliberately, to prove the alert fires. </a:t>
            </a:r>
            <a:pPr indent="0" marL="0">
              <a:buNone/>
            </a:pPr>
            <a:r>
              <a:rPr lang="en-US" sz="1400" dirty="0">
                <a:solidFill>
                  <a:srgbClr val="1F2937"/>
                </a:solidFill>
                <a:latin typeface="Calibri" pitchFamily="34" charset="0"/>
                <a:ea typeface="Calibri" pitchFamily="34" charset="-122"/>
                <a:cs typeface="Calibri" pitchFamily="34" charset="-120"/>
              </a:rPr>
              <a:t>Watch your fast alert go off within a couple of minutes. Then stop it, and turn the caps back on immediately.</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3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Route one step type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Text 4"/>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Pick the one step type in your agent that is most obviously mechanical. Send only that step to a cheaper model. Run twenty tasks and compare both cost and output quality against the previous twenty.</a:t>
            </a:r>
            <a:endParaRPr lang="en-US" sz="1400" dirty="0"/>
          </a:p>
        </p:txBody>
      </p:sp>
      <p:sp>
        <p:nvSpPr>
          <p:cNvPr id="7" name="Shape 5"/>
          <p:cNvSpPr/>
          <p:nvPr/>
        </p:nvSpPr>
        <p:spPr>
          <a:xfrm>
            <a:off x="365760" y="196596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96596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compare_runs.py --before baseline --after routed</a:t>
            </a:r>
            <a:endParaRPr lang="en-US" sz="1600" dirty="0"/>
          </a:p>
        </p:txBody>
      </p:sp>
      <p:sp>
        <p:nvSpPr>
          <p:cNvPr id="9" name="Shape 7"/>
          <p:cNvSpPr/>
          <p:nvPr/>
        </p:nvSpPr>
        <p:spPr>
          <a:xfrm>
            <a:off x="457200" y="3063240"/>
            <a:ext cx="8229600" cy="1280160"/>
          </a:xfrm>
          <a:prstGeom prst="roundRect">
            <a:avLst>
              <a:gd name="adj" fmla="val 5714"/>
            </a:avLst>
          </a:prstGeom>
          <a:solidFill>
            <a:srgbClr val="F3F4F6"/>
          </a:solidFill>
          <a:ln w="12700">
            <a:solidFill>
              <a:srgbClr val="F3F4F6"/>
            </a:solidFill>
            <a:prstDash val="solid"/>
          </a:ln>
        </p:spPr>
      </p:sp>
      <p:sp>
        <p:nvSpPr>
          <p:cNvPr id="10" name="Text 8"/>
          <p:cNvSpPr txBox="1"/>
          <p:nvPr/>
        </p:nvSpPr>
        <p:spPr>
          <a:xfrm>
            <a:off x="731520" y="3063240"/>
            <a:ext cx="7680960" cy="128016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Two numbers: how much you saved, and whether anything got worse. </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If quality moved at all, put that step back on the expensive model. The saving is not worth an argument about quality.</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4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capstone: the bill that never arrived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32</a:t>
            </a:r>
            <a:endParaRPr lang="en-US" sz="900" dirty="0"/>
          </a:p>
        </p:txBody>
      </p:sp>
      <p:sp>
        <p:nvSpPr>
          <p:cNvPr id="6" name="Text 4"/>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Take the malformed input from module one and run it against everything you have built.</a:t>
            </a:r>
            <a:endParaRPr lang="en-US" sz="1400" dirty="0"/>
          </a:p>
        </p:txBody>
      </p:sp>
      <p:sp>
        <p:nvSpPr>
          <p:cNvPr id="7" name="Shape 5"/>
          <p:cNvSpPr/>
          <p:nvPr/>
        </p:nvSpPr>
        <p:spPr>
          <a:xfrm>
            <a:off x="365760" y="15544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55448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samples/malformed.json</a:t>
            </a:r>
            <a:endParaRPr lang="en-US" sz="1600" dirty="0"/>
          </a:p>
        </p:txBody>
      </p:sp>
      <p:sp>
        <p:nvSpPr>
          <p:cNvPr id="9" name="Shape 7"/>
          <p:cNvSpPr/>
          <p:nvPr/>
        </p:nvSpPr>
        <p:spPr>
          <a:xfrm>
            <a:off x="457200" y="2468880"/>
            <a:ext cx="2606040" cy="640080"/>
          </a:xfrm>
          <a:prstGeom prst="roundRect">
            <a:avLst>
              <a:gd name="adj" fmla="val 11429"/>
            </a:avLst>
          </a:prstGeom>
          <a:solidFill>
            <a:srgbClr val="ECFDF5"/>
          </a:solidFill>
          <a:ln w="12700">
            <a:solidFill>
              <a:srgbClr val="ECFDF5"/>
            </a:solidFill>
            <a:prstDash val="solid"/>
          </a:ln>
        </p:spPr>
      </p:sp>
      <p:sp>
        <p:nvSpPr>
          <p:cNvPr id="10" name="Text 8"/>
          <p:cNvSpPr txBox="1"/>
          <p:nvPr/>
        </p:nvSpPr>
        <p:spPr>
          <a:xfrm>
            <a:off x="640080" y="2523744"/>
            <a:ext cx="2286000" cy="256032"/>
          </a:xfrm>
          <a:prstGeom prst="rect">
            <a:avLst/>
          </a:prstGeom>
          <a:noFill/>
          <a:ln/>
        </p:spPr>
        <p:txBody>
          <a:bodyPr wrap="square" lIns="0" tIns="0" rIns="0" bIns="0" rtlCol="0" anchor="t"/>
          <a:lstStyle/>
          <a:p>
            <a:pPr indent="0" marL="0">
              <a:buNone/>
            </a:pPr>
            <a:r>
              <a:rPr lang="en-US" sz="1200" b="1" dirty="0">
                <a:solidFill>
                  <a:srgbClr val="047857"/>
                </a:solidFill>
                <a:latin typeface="Calibri" pitchFamily="34" charset="0"/>
                <a:ea typeface="Calibri" pitchFamily="34" charset="-122"/>
                <a:cs typeface="Calibri" pitchFamily="34" charset="-120"/>
              </a:rPr>
              <a:t>Instrumented</a:t>
            </a:r>
            <a:endParaRPr lang="en-US" sz="1200" dirty="0"/>
          </a:p>
        </p:txBody>
      </p:sp>
      <p:sp>
        <p:nvSpPr>
          <p:cNvPr id="11" name="Text 9"/>
          <p:cNvSpPr txBox="1"/>
          <p:nvPr/>
        </p:nvSpPr>
        <p:spPr>
          <a:xfrm>
            <a:off x="640080" y="2779776"/>
            <a:ext cx="2331720" cy="25603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you can see the cost</a:t>
            </a:r>
            <a:endParaRPr lang="en-US" sz="1000" dirty="0"/>
          </a:p>
        </p:txBody>
      </p:sp>
      <p:sp>
        <p:nvSpPr>
          <p:cNvPr id="12" name="Shape 10"/>
          <p:cNvSpPr/>
          <p:nvPr/>
        </p:nvSpPr>
        <p:spPr>
          <a:xfrm>
            <a:off x="3246120" y="2468880"/>
            <a:ext cx="2606040" cy="640080"/>
          </a:xfrm>
          <a:prstGeom prst="roundRect">
            <a:avLst>
              <a:gd name="adj" fmla="val 11429"/>
            </a:avLst>
          </a:prstGeom>
          <a:solidFill>
            <a:srgbClr val="ECFDF5"/>
          </a:solidFill>
          <a:ln w="12700">
            <a:solidFill>
              <a:srgbClr val="ECFDF5"/>
            </a:solidFill>
            <a:prstDash val="solid"/>
          </a:ln>
        </p:spPr>
      </p:sp>
      <p:sp>
        <p:nvSpPr>
          <p:cNvPr id="13" name="Text 11"/>
          <p:cNvSpPr txBox="1"/>
          <p:nvPr/>
        </p:nvSpPr>
        <p:spPr>
          <a:xfrm>
            <a:off x="3429000" y="2523744"/>
            <a:ext cx="2286000" cy="256032"/>
          </a:xfrm>
          <a:prstGeom prst="rect">
            <a:avLst/>
          </a:prstGeom>
          <a:noFill/>
          <a:ln/>
        </p:spPr>
        <p:txBody>
          <a:bodyPr wrap="square" lIns="0" tIns="0" rIns="0" bIns="0" rtlCol="0" anchor="t"/>
          <a:lstStyle/>
          <a:p>
            <a:pPr indent="0" marL="0">
              <a:buNone/>
            </a:pPr>
            <a:r>
              <a:rPr lang="en-US" sz="1200" b="1" dirty="0">
                <a:solidFill>
                  <a:srgbClr val="047857"/>
                </a:solidFill>
                <a:latin typeface="Calibri" pitchFamily="34" charset="0"/>
                <a:ea typeface="Calibri" pitchFamily="34" charset="-122"/>
                <a:cs typeface="Calibri" pitchFamily="34" charset="-120"/>
              </a:rPr>
              <a:t>Ceiling and detection</a:t>
            </a:r>
            <a:endParaRPr lang="en-US" sz="1200" dirty="0"/>
          </a:p>
        </p:txBody>
      </p:sp>
      <p:sp>
        <p:nvSpPr>
          <p:cNvPr id="14" name="Text 12"/>
          <p:cNvSpPr txBox="1"/>
          <p:nvPr/>
        </p:nvSpPr>
        <p:spPr>
          <a:xfrm>
            <a:off x="3429000" y="2779776"/>
            <a:ext cx="2331720" cy="25603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it stops in seconds</a:t>
            </a:r>
            <a:endParaRPr lang="en-US" sz="1000" dirty="0"/>
          </a:p>
        </p:txBody>
      </p:sp>
      <p:sp>
        <p:nvSpPr>
          <p:cNvPr id="15" name="Shape 13"/>
          <p:cNvSpPr/>
          <p:nvPr/>
        </p:nvSpPr>
        <p:spPr>
          <a:xfrm>
            <a:off x="6035040" y="2468880"/>
            <a:ext cx="2606040" cy="640080"/>
          </a:xfrm>
          <a:prstGeom prst="roundRect">
            <a:avLst>
              <a:gd name="adj" fmla="val 11429"/>
            </a:avLst>
          </a:prstGeom>
          <a:solidFill>
            <a:srgbClr val="ECFDF5"/>
          </a:solidFill>
          <a:ln w="12700">
            <a:solidFill>
              <a:srgbClr val="ECFDF5"/>
            </a:solidFill>
            <a:prstDash val="solid"/>
          </a:ln>
        </p:spPr>
      </p:sp>
      <p:sp>
        <p:nvSpPr>
          <p:cNvPr id="16" name="Text 14"/>
          <p:cNvSpPr txBox="1"/>
          <p:nvPr/>
        </p:nvSpPr>
        <p:spPr>
          <a:xfrm>
            <a:off x="6217920" y="2523744"/>
            <a:ext cx="2286000" cy="256032"/>
          </a:xfrm>
          <a:prstGeom prst="rect">
            <a:avLst/>
          </a:prstGeom>
          <a:noFill/>
          <a:ln/>
        </p:spPr>
        <p:txBody>
          <a:bodyPr wrap="square" lIns="0" tIns="0" rIns="0" bIns="0" rtlCol="0" anchor="t"/>
          <a:lstStyle/>
          <a:p>
            <a:pPr indent="0" marL="0">
              <a:buNone/>
            </a:pPr>
            <a:r>
              <a:rPr lang="en-US" sz="1200" b="1" dirty="0">
                <a:solidFill>
                  <a:srgbClr val="047857"/>
                </a:solidFill>
                <a:latin typeface="Calibri" pitchFamily="34" charset="0"/>
                <a:ea typeface="Calibri" pitchFamily="34" charset="-122"/>
                <a:cs typeface="Calibri" pitchFamily="34" charset="-120"/>
              </a:rPr>
              <a:t>Capped</a:t>
            </a:r>
            <a:endParaRPr lang="en-US" sz="1200" dirty="0"/>
          </a:p>
        </p:txBody>
      </p:sp>
      <p:sp>
        <p:nvSpPr>
          <p:cNvPr id="17" name="Text 15"/>
          <p:cNvSpPr txBox="1"/>
          <p:nvPr/>
        </p:nvSpPr>
        <p:spPr>
          <a:xfrm>
            <a:off x="6217920" y="2779776"/>
            <a:ext cx="2331720" cy="25603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the spend is bounded anyway</a:t>
            </a:r>
            <a:endParaRPr lang="en-US" sz="1000" dirty="0"/>
          </a:p>
        </p:txBody>
      </p:sp>
      <p:sp>
        <p:nvSpPr>
          <p:cNvPr id="18" name="Shape 16"/>
          <p:cNvSpPr/>
          <p:nvPr/>
        </p:nvSpPr>
        <p:spPr>
          <a:xfrm>
            <a:off x="457200" y="3145536"/>
            <a:ext cx="2606040" cy="640080"/>
          </a:xfrm>
          <a:prstGeom prst="roundRect">
            <a:avLst>
              <a:gd name="adj" fmla="val 11429"/>
            </a:avLst>
          </a:prstGeom>
          <a:solidFill>
            <a:srgbClr val="ECFDF5"/>
          </a:solidFill>
          <a:ln w="12700">
            <a:solidFill>
              <a:srgbClr val="ECFDF5"/>
            </a:solidFill>
            <a:prstDash val="solid"/>
          </a:ln>
        </p:spPr>
      </p:sp>
      <p:sp>
        <p:nvSpPr>
          <p:cNvPr id="19" name="Text 17"/>
          <p:cNvSpPr txBox="1"/>
          <p:nvPr/>
        </p:nvSpPr>
        <p:spPr>
          <a:xfrm>
            <a:off x="640080" y="3200400"/>
            <a:ext cx="2286000" cy="256032"/>
          </a:xfrm>
          <a:prstGeom prst="rect">
            <a:avLst/>
          </a:prstGeom>
          <a:noFill/>
          <a:ln/>
        </p:spPr>
        <p:txBody>
          <a:bodyPr wrap="square" lIns="0" tIns="0" rIns="0" bIns="0" rtlCol="0" anchor="t"/>
          <a:lstStyle/>
          <a:p>
            <a:pPr indent="0" marL="0">
              <a:buNone/>
            </a:pPr>
            <a:r>
              <a:rPr lang="en-US" sz="1200" b="1" dirty="0">
                <a:solidFill>
                  <a:srgbClr val="047857"/>
                </a:solidFill>
                <a:latin typeface="Calibri" pitchFamily="34" charset="0"/>
                <a:ea typeface="Calibri" pitchFamily="34" charset="-122"/>
                <a:cs typeface="Calibri" pitchFamily="34" charset="-120"/>
              </a:rPr>
              <a:t>Checkpointed</a:t>
            </a:r>
            <a:endParaRPr lang="en-US" sz="1200" dirty="0"/>
          </a:p>
        </p:txBody>
      </p:sp>
      <p:sp>
        <p:nvSpPr>
          <p:cNvPr id="20" name="Text 18"/>
          <p:cNvSpPr txBox="1"/>
          <p:nvPr/>
        </p:nvSpPr>
        <p:spPr>
          <a:xfrm>
            <a:off x="640080" y="3456432"/>
            <a:ext cx="2331720" cy="25603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nothing finished is wasted</a:t>
            </a:r>
            <a:endParaRPr lang="en-US" sz="1000" dirty="0"/>
          </a:p>
        </p:txBody>
      </p:sp>
      <p:sp>
        <p:nvSpPr>
          <p:cNvPr id="21" name="Shape 19"/>
          <p:cNvSpPr/>
          <p:nvPr/>
        </p:nvSpPr>
        <p:spPr>
          <a:xfrm>
            <a:off x="3246120" y="3145536"/>
            <a:ext cx="2606040" cy="640080"/>
          </a:xfrm>
          <a:prstGeom prst="roundRect">
            <a:avLst>
              <a:gd name="adj" fmla="val 11429"/>
            </a:avLst>
          </a:prstGeom>
          <a:solidFill>
            <a:srgbClr val="ECFDF5"/>
          </a:solidFill>
          <a:ln w="12700">
            <a:solidFill>
              <a:srgbClr val="ECFDF5"/>
            </a:solidFill>
            <a:prstDash val="solid"/>
          </a:ln>
        </p:spPr>
      </p:sp>
      <p:sp>
        <p:nvSpPr>
          <p:cNvPr id="22" name="Text 20"/>
          <p:cNvSpPr txBox="1"/>
          <p:nvPr/>
        </p:nvSpPr>
        <p:spPr>
          <a:xfrm>
            <a:off x="3429000" y="3200400"/>
            <a:ext cx="2286000" cy="256032"/>
          </a:xfrm>
          <a:prstGeom prst="rect">
            <a:avLst/>
          </a:prstGeom>
          <a:noFill/>
          <a:ln/>
        </p:spPr>
        <p:txBody>
          <a:bodyPr wrap="square" lIns="0" tIns="0" rIns="0" bIns="0" rtlCol="0" anchor="t"/>
          <a:lstStyle/>
          <a:p>
            <a:pPr indent="0" marL="0">
              <a:buNone/>
            </a:pPr>
            <a:r>
              <a:rPr lang="en-US" sz="1200" b="1" dirty="0">
                <a:solidFill>
                  <a:srgbClr val="047857"/>
                </a:solidFill>
                <a:latin typeface="Calibri" pitchFamily="34" charset="0"/>
                <a:ea typeface="Calibri" pitchFamily="34" charset="-122"/>
                <a:cs typeface="Calibri" pitchFamily="34" charset="-120"/>
              </a:rPr>
              <a:t>Labelled</a:t>
            </a:r>
            <a:endParaRPr lang="en-US" sz="1200" dirty="0"/>
          </a:p>
        </p:txBody>
      </p:sp>
      <p:sp>
        <p:nvSpPr>
          <p:cNvPr id="23" name="Text 21"/>
          <p:cNvSpPr txBox="1"/>
          <p:nvPr/>
        </p:nvSpPr>
        <p:spPr>
          <a:xfrm>
            <a:off x="3429000" y="3456432"/>
            <a:ext cx="2331720" cy="25603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it counts correctly in your metrics</a:t>
            </a:r>
            <a:endParaRPr lang="en-US" sz="1000" dirty="0"/>
          </a:p>
        </p:txBody>
      </p:sp>
      <p:sp>
        <p:nvSpPr>
          <p:cNvPr id="24" name="Shape 22"/>
          <p:cNvSpPr/>
          <p:nvPr/>
        </p:nvSpPr>
        <p:spPr>
          <a:xfrm>
            <a:off x="6035040" y="3145536"/>
            <a:ext cx="2606040" cy="640080"/>
          </a:xfrm>
          <a:prstGeom prst="roundRect">
            <a:avLst>
              <a:gd name="adj" fmla="val 11429"/>
            </a:avLst>
          </a:prstGeom>
          <a:solidFill>
            <a:srgbClr val="ECFDF5"/>
          </a:solidFill>
          <a:ln w="12700">
            <a:solidFill>
              <a:srgbClr val="ECFDF5"/>
            </a:solidFill>
            <a:prstDash val="solid"/>
          </a:ln>
        </p:spPr>
      </p:sp>
      <p:sp>
        <p:nvSpPr>
          <p:cNvPr id="25" name="Text 23"/>
          <p:cNvSpPr txBox="1"/>
          <p:nvPr/>
        </p:nvSpPr>
        <p:spPr>
          <a:xfrm>
            <a:off x="6217920" y="3200400"/>
            <a:ext cx="2286000" cy="256032"/>
          </a:xfrm>
          <a:prstGeom prst="rect">
            <a:avLst/>
          </a:prstGeom>
          <a:noFill/>
          <a:ln/>
        </p:spPr>
        <p:txBody>
          <a:bodyPr wrap="square" lIns="0" tIns="0" rIns="0" bIns="0" rtlCol="0" anchor="t"/>
          <a:lstStyle/>
          <a:p>
            <a:pPr indent="0" marL="0">
              <a:buNone/>
            </a:pPr>
            <a:r>
              <a:rPr lang="en-US" sz="1200" b="1" dirty="0">
                <a:solidFill>
                  <a:srgbClr val="047857"/>
                </a:solidFill>
                <a:latin typeface="Calibri" pitchFamily="34" charset="0"/>
                <a:ea typeface="Calibri" pitchFamily="34" charset="-122"/>
                <a:cs typeface="Calibri" pitchFamily="34" charset="-120"/>
              </a:rPr>
              <a:t>Alerted</a:t>
            </a:r>
            <a:endParaRPr lang="en-US" sz="1200" dirty="0"/>
          </a:p>
        </p:txBody>
      </p:sp>
      <p:sp>
        <p:nvSpPr>
          <p:cNvPr id="26" name="Text 24"/>
          <p:cNvSpPr txBox="1"/>
          <p:nvPr/>
        </p:nvSpPr>
        <p:spPr>
          <a:xfrm>
            <a:off x="6217920" y="3456432"/>
            <a:ext cx="2331720" cy="25603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it would have fired if it had not stopped</a:t>
            </a:r>
            <a:endParaRPr lang="en-US" sz="1000" dirty="0"/>
          </a:p>
        </p:txBody>
      </p:sp>
      <p:sp>
        <p:nvSpPr>
          <p:cNvPr id="27" name="Shape 25"/>
          <p:cNvSpPr/>
          <p:nvPr/>
        </p:nvSpPr>
        <p:spPr>
          <a:xfrm>
            <a:off x="365760" y="3840480"/>
            <a:ext cx="8412480" cy="868680"/>
          </a:xfrm>
          <a:prstGeom prst="roundRect">
            <a:avLst>
              <a:gd name="adj" fmla="val 8421"/>
            </a:avLst>
          </a:prstGeom>
          <a:solidFill>
            <a:srgbClr val="0F172A"/>
          </a:solidFill>
          <a:ln w="12700">
            <a:solidFill>
              <a:srgbClr val="0F172A"/>
            </a:solidFill>
            <a:prstDash val="solid"/>
          </a:ln>
        </p:spPr>
      </p:sp>
      <p:sp>
        <p:nvSpPr>
          <p:cNvPr id="28" name="Text 26"/>
          <p:cNvSpPr txBox="1"/>
          <p:nvPr/>
        </p:nvSpPr>
        <p:spPr>
          <a:xfrm>
            <a:off x="594360" y="3840480"/>
            <a:ext cx="8092440" cy="868680"/>
          </a:xfrm>
          <a:prstGeom prst="rect">
            <a:avLst/>
          </a:prstGeom>
          <a:noFill/>
          <a:ln/>
        </p:spPr>
        <p:txBody>
          <a:bodyPr wrap="square" lIns="0" tIns="0" rIns="0" bIns="0" rtlCol="0" anchor="ctr"/>
          <a:lstStyle/>
          <a:p>
            <a:pPr indent="0" marL="0">
              <a:buNone/>
            </a:pPr>
            <a:r>
              <a:rPr lang="en-US" sz="1044" b="1" dirty="0">
                <a:solidFill>
                  <a:srgbClr val="F59E0B"/>
                </a:solidFill>
                <a:latin typeface="Courier New" pitchFamily="34" charset="0"/>
                <a:ea typeface="Courier New" pitchFamily="34" charset="-122"/>
                <a:cs typeface="Courier New" pitchFamily="34" charset="-120"/>
              </a:rPr>
              <a:t>$ </a:t>
            </a:r>
            <a:pPr indent="0" marL="0">
              <a:buNone/>
            </a:pPr>
            <a:r>
              <a:rPr lang="en-US" sz="1044" dirty="0">
                <a:solidFill>
                  <a:srgbClr val="E8EAED"/>
                </a:solidFill>
                <a:latin typeface="Courier New" pitchFamily="34" charset="0"/>
                <a:ea typeface="Courier New" pitchFamily="34" charset="-122"/>
                <a:cs typeface="Courier New" pitchFamily="34" charset="-120"/>
              </a:rPr>
              <a:t>curl localhost:9090/api/v1/query --data-urlencode 'query=sum(increase(agent_cost_usd_total[1h]))'</a:t>
            </a:r>
            <a:endParaRPr lang="en-US" sz="1044"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THE WHOLE COURSE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modules ago, and now</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457200" y="1234440"/>
            <a:ext cx="4023360" cy="2103120"/>
          </a:xfrm>
          <a:prstGeom prst="roundRect">
            <a:avLst>
              <a:gd name="adj" fmla="val 3478"/>
            </a:avLst>
          </a:prstGeom>
          <a:solidFill>
            <a:srgbClr val="FEF2F2"/>
          </a:solidFill>
          <a:ln w="12700">
            <a:solidFill>
              <a:srgbClr val="FEF2F2"/>
            </a:solidFill>
            <a:prstDash val="solid"/>
          </a:ln>
        </p:spPr>
      </p:sp>
      <p:sp>
        <p:nvSpPr>
          <p:cNvPr id="7" name="Text 5"/>
          <p:cNvSpPr txBox="1"/>
          <p:nvPr/>
        </p:nvSpPr>
        <p:spPr>
          <a:xfrm>
            <a:off x="685800" y="137160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SIX MODULES AGO</a:t>
            </a:r>
            <a:endParaRPr lang="en-US" sz="1000" dirty="0"/>
          </a:p>
        </p:txBody>
      </p:sp>
      <p:sp>
        <p:nvSpPr>
          <p:cNvPr id="8" name="Text 6"/>
          <p:cNvSpPr txBox="1"/>
          <p:nvPr/>
        </p:nvSpPr>
        <p:spPr>
          <a:xfrm>
            <a:off x="685800" y="1737360"/>
            <a:ext cx="3566160" cy="9144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An agent that could spend four figures overnight while every dashboard stayed green.</a:t>
            </a:r>
            <a:endParaRPr lang="en-US" sz="1500" dirty="0"/>
          </a:p>
        </p:txBody>
      </p:sp>
      <p:sp>
        <p:nvSpPr>
          <p:cNvPr id="9" name="Text 7"/>
          <p:cNvSpPr txBox="1"/>
          <p:nvPr/>
        </p:nvSpPr>
        <p:spPr>
          <a:xfrm>
            <a:off x="685800" y="2743200"/>
            <a:ext cx="3566160" cy="457200"/>
          </a:xfrm>
          <a:prstGeom prst="rect">
            <a:avLst/>
          </a:prstGeom>
          <a:noFill/>
          <a:ln/>
        </p:spPr>
        <p:txBody>
          <a:bodyPr wrap="square" lIns="0" tIns="0" rIns="0" bIns="0" rtlCol="0" anchor="t"/>
          <a:lstStyle/>
          <a:p>
            <a:pPr indent="0" marL="0">
              <a:buNone/>
            </a:pPr>
            <a:r>
              <a:rPr lang="en-US" sz="1500" b="1" i="1" dirty="0">
                <a:solidFill>
                  <a:srgbClr val="B91C1C"/>
                </a:solidFill>
                <a:latin typeface="Calibri" pitchFamily="34" charset="0"/>
                <a:ea typeface="Calibri" pitchFamily="34" charset="-122"/>
                <a:cs typeface="Calibri" pitchFamily="34" charset="-120"/>
              </a:rPr>
              <a:t>One number, and a shrug.</a:t>
            </a:r>
            <a:endParaRPr lang="en-US" sz="1500" dirty="0"/>
          </a:p>
        </p:txBody>
      </p:sp>
      <p:sp>
        <p:nvSpPr>
          <p:cNvPr id="10" name="Shape 8"/>
          <p:cNvSpPr/>
          <p:nvPr/>
        </p:nvSpPr>
        <p:spPr>
          <a:xfrm>
            <a:off x="4663440" y="1234440"/>
            <a:ext cx="4023360" cy="2103120"/>
          </a:xfrm>
          <a:prstGeom prst="roundRect">
            <a:avLst>
              <a:gd name="adj" fmla="val 3478"/>
            </a:avLst>
          </a:prstGeom>
          <a:solidFill>
            <a:srgbClr val="ECFDF5"/>
          </a:solidFill>
          <a:ln w="12700">
            <a:solidFill>
              <a:srgbClr val="ECFDF5"/>
            </a:solidFill>
            <a:prstDash val="solid"/>
          </a:ln>
        </p:spPr>
      </p:sp>
      <p:sp>
        <p:nvSpPr>
          <p:cNvPr id="11" name="Text 9"/>
          <p:cNvSpPr txBox="1"/>
          <p:nvPr/>
        </p:nvSpPr>
        <p:spPr>
          <a:xfrm>
            <a:off x="4892040" y="137160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NOW</a:t>
            </a:r>
            <a:endParaRPr lang="en-US" sz="1000" dirty="0"/>
          </a:p>
        </p:txBody>
      </p:sp>
      <p:sp>
        <p:nvSpPr>
          <p:cNvPr id="12" name="Text 10"/>
          <p:cNvSpPr txBox="1"/>
          <p:nvPr/>
        </p:nvSpPr>
        <p:spPr>
          <a:xfrm>
            <a:off x="4892040" y="1737360"/>
            <a:ext cx="3566160" cy="15544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Receipts with four labels</a:t>
            </a:r>
            <a:endParaRPr lang="en-US" sz="1150" dirty="0"/>
          </a:p>
          <a:p>
            <a:pPr marL="342900" indent="-3429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Caps per run and per day</a:t>
            </a:r>
            <a:endParaRPr lang="en-US" sz="1150" dirty="0"/>
          </a:p>
          <a:p>
            <a:pPr marL="342900" indent="-3429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A switch anyone can flip</a:t>
            </a:r>
            <a:endParaRPr lang="en-US" sz="1150" dirty="0"/>
          </a:p>
          <a:p>
            <a:pPr marL="342900" indent="-3429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Loops caught, work saved</a:t>
            </a:r>
            <a:endParaRPr lang="en-US" sz="1150" dirty="0"/>
          </a:p>
          <a:p>
            <a:pPr marL="342900" indent="-3429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Cost per successful task</a:t>
            </a:r>
            <a:endParaRPr lang="en-US" sz="1150" dirty="0"/>
          </a:p>
          <a:p>
            <a:pPr marL="342900" indent="-3429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A dashboard, alerts and a weekly habit</a:t>
            </a:r>
            <a:endParaRPr lang="en-US" sz="1150" dirty="0"/>
          </a:p>
        </p:txBody>
      </p:sp>
      <p:sp>
        <p:nvSpPr>
          <p:cNvPr id="13" name="Shape 11"/>
          <p:cNvSpPr/>
          <p:nvPr/>
        </p:nvSpPr>
        <p:spPr>
          <a:xfrm>
            <a:off x="457200" y="3566160"/>
            <a:ext cx="8229600" cy="1005840"/>
          </a:xfrm>
          <a:prstGeom prst="roundRect">
            <a:avLst>
              <a:gd name="adj" fmla="val 7273"/>
            </a:avLst>
          </a:prstGeom>
          <a:solidFill>
            <a:srgbClr val="111827"/>
          </a:solidFill>
          <a:ln w="12700">
            <a:solidFill>
              <a:srgbClr val="111827"/>
            </a:solidFill>
            <a:prstDash val="solid"/>
          </a:ln>
        </p:spPr>
      </p:sp>
      <p:sp>
        <p:nvSpPr>
          <p:cNvPr id="14" name="Text 12"/>
          <p:cNvSpPr txBox="1"/>
          <p:nvPr/>
        </p:nvSpPr>
        <p:spPr>
          <a:xfrm>
            <a:off x="731520" y="3566160"/>
            <a:ext cx="7680960" cy="10058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runaway that started this course now stops on its own, in seconds, at a cost you chose in advance.</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THE IDEA WORTH KEEPING</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6</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
        <p:nvSpPr>
          <p:cNvPr id="5" name="Text 3"/>
          <p:cNvSpPr txBox="1"/>
          <p:nvPr/>
        </p:nvSpPr>
        <p:spPr>
          <a:xfrm>
            <a:off x="457200" y="914400"/>
            <a:ext cx="822960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Almost everything in this course</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is a decision moved earlier.</a:t>
            </a:r>
            <a:endParaRPr lang="en-US" sz="3400" dirty="0"/>
          </a:p>
        </p:txBody>
      </p:sp>
      <p:sp>
        <p:nvSpPr>
          <p:cNvPr id="6" name="Text 4"/>
          <p:cNvSpPr txBox="1"/>
          <p:nvPr/>
        </p:nvSpPr>
        <p:spPr>
          <a:xfrm>
            <a:off x="457200" y="2377440"/>
            <a:ext cx="2286000" cy="5486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 cap</a:t>
            </a:r>
            <a:endParaRPr lang="en-US" sz="1400" dirty="0"/>
          </a:p>
        </p:txBody>
      </p:sp>
      <p:sp>
        <p:nvSpPr>
          <p:cNvPr id="7" name="Text 5"/>
          <p:cNvSpPr txBox="1"/>
          <p:nvPr/>
        </p:nvSpPr>
        <p:spPr>
          <a:xfrm>
            <a:off x="2834640" y="2377440"/>
            <a:ext cx="5669280" cy="548640"/>
          </a:xfrm>
          <a:prstGeom prst="rect">
            <a:avLst/>
          </a:prstGeom>
          <a:noFill/>
          <a:ln/>
        </p:spPr>
        <p:txBody>
          <a:bodyPr wrap="square" lIns="0" tIns="0" rIns="0" bIns="0" rtlCol="0" anchor="ctr"/>
          <a:lstStyle/>
          <a:p>
            <a:pPr indent="0" marL="0">
              <a:buNone/>
            </a:pPr>
            <a:r>
              <a:rPr lang="en-US" sz="1350" dirty="0">
                <a:solidFill>
                  <a:srgbClr val="9CA3AF"/>
                </a:solidFill>
                <a:latin typeface="Calibri" pitchFamily="34" charset="0"/>
                <a:ea typeface="Calibri" pitchFamily="34" charset="-122"/>
                <a:cs typeface="Calibri" pitchFamily="34" charset="-120"/>
              </a:rPr>
              <a:t>deciding what a task is worth before it runs, instead of after</a:t>
            </a:r>
            <a:endParaRPr lang="en-US" sz="1350" dirty="0"/>
          </a:p>
        </p:txBody>
      </p:sp>
      <p:sp>
        <p:nvSpPr>
          <p:cNvPr id="8" name="Text 6"/>
          <p:cNvSpPr txBox="1"/>
          <p:nvPr/>
        </p:nvSpPr>
        <p:spPr>
          <a:xfrm>
            <a:off x="457200" y="3035808"/>
            <a:ext cx="2286000" cy="5486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 step limit</a:t>
            </a:r>
            <a:endParaRPr lang="en-US" sz="1400" dirty="0"/>
          </a:p>
        </p:txBody>
      </p:sp>
      <p:sp>
        <p:nvSpPr>
          <p:cNvPr id="9" name="Text 7"/>
          <p:cNvSpPr txBox="1"/>
          <p:nvPr/>
        </p:nvSpPr>
        <p:spPr>
          <a:xfrm>
            <a:off x="2834640" y="3035808"/>
            <a:ext cx="5669280" cy="548640"/>
          </a:xfrm>
          <a:prstGeom prst="rect">
            <a:avLst/>
          </a:prstGeom>
          <a:noFill/>
          <a:ln/>
        </p:spPr>
        <p:txBody>
          <a:bodyPr wrap="square" lIns="0" tIns="0" rIns="0" bIns="0" rtlCol="0" anchor="ctr"/>
          <a:lstStyle/>
          <a:p>
            <a:pPr indent="0" marL="0">
              <a:buNone/>
            </a:pPr>
            <a:r>
              <a:rPr lang="en-US" sz="1350" dirty="0">
                <a:solidFill>
                  <a:srgbClr val="9CA3AF"/>
                </a:solidFill>
                <a:latin typeface="Calibri" pitchFamily="34" charset="0"/>
                <a:ea typeface="Calibri" pitchFamily="34" charset="-122"/>
                <a:cs typeface="Calibri" pitchFamily="34" charset="-120"/>
              </a:rPr>
              <a:t>deciding how long is too long while you are calm, rather than during an incident</a:t>
            </a:r>
            <a:endParaRPr lang="en-US" sz="1350" dirty="0"/>
          </a:p>
        </p:txBody>
      </p:sp>
      <p:sp>
        <p:nvSpPr>
          <p:cNvPr id="10" name="Text 8"/>
          <p:cNvSpPr txBox="1"/>
          <p:nvPr/>
        </p:nvSpPr>
        <p:spPr>
          <a:xfrm>
            <a:off x="457200" y="3694176"/>
            <a:ext cx="2286000" cy="5486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 definition of success</a:t>
            </a:r>
            <a:endParaRPr lang="en-US" sz="1400" dirty="0"/>
          </a:p>
        </p:txBody>
      </p:sp>
      <p:sp>
        <p:nvSpPr>
          <p:cNvPr id="11" name="Text 9"/>
          <p:cNvSpPr txBox="1"/>
          <p:nvPr/>
        </p:nvSpPr>
        <p:spPr>
          <a:xfrm>
            <a:off x="2834640" y="3694176"/>
            <a:ext cx="5669280" cy="548640"/>
          </a:xfrm>
          <a:prstGeom prst="rect">
            <a:avLst/>
          </a:prstGeom>
          <a:noFill/>
          <a:ln/>
        </p:spPr>
        <p:txBody>
          <a:bodyPr wrap="square" lIns="0" tIns="0" rIns="0" bIns="0" rtlCol="0" anchor="ctr"/>
          <a:lstStyle/>
          <a:p>
            <a:pPr indent="0" marL="0">
              <a:buNone/>
            </a:pPr>
            <a:r>
              <a:rPr lang="en-US" sz="1350" dirty="0">
                <a:solidFill>
                  <a:srgbClr val="9CA3AF"/>
                </a:solidFill>
                <a:latin typeface="Calibri" pitchFamily="34" charset="0"/>
                <a:ea typeface="Calibri" pitchFamily="34" charset="-122"/>
                <a:cs typeface="Calibri" pitchFamily="34" charset="-120"/>
              </a:rPr>
              <a:t>deciding what you mean before you report a number, rather than being asked in a meeting</a:t>
            </a:r>
            <a:endParaRPr lang="en-US" sz="1350" dirty="0"/>
          </a:p>
        </p:txBody>
      </p:sp>
      <p:sp>
        <p:nvSpPr>
          <p:cNvPr id="12" name="Text 10"/>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300" i="1" dirty="0">
                <a:solidFill>
                  <a:srgbClr val="9CA3AF"/>
                </a:solidFill>
                <a:latin typeface="Calibri" pitchFamily="34" charset="0"/>
                <a:ea typeface="Calibri" pitchFamily="34" charset="-122"/>
                <a:cs typeface="Calibri" pitchFamily="34" charset="-120"/>
              </a:rPr>
              <a:t>None of these are hard in advance. All of them are hard at three in the morning.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97280"/>
            <a:ext cx="73152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COURSE COMPLETE</a:t>
            </a:r>
            <a:endParaRPr lang="en-US" sz="1100" dirty="0"/>
          </a:p>
        </p:txBody>
      </p:sp>
      <p:sp>
        <p:nvSpPr>
          <p:cNvPr id="3" name="Text 1"/>
          <p:cNvSpPr txBox="1"/>
          <p:nvPr/>
        </p:nvSpPr>
        <p:spPr>
          <a:xfrm>
            <a:off x="548640" y="1508760"/>
            <a:ext cx="8046720" cy="14630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Decide early. Write it down.</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Let a machine enforce it.</a:t>
            </a:r>
            <a:endParaRPr lang="en-US" sz="3800" dirty="0"/>
          </a:p>
        </p:txBody>
      </p:sp>
      <p:sp>
        <p:nvSpPr>
          <p:cNvPr id="4" name="Text 2"/>
          <p:cNvSpPr txBox="1"/>
          <p:nvPr/>
        </p:nvSpPr>
        <p:spPr>
          <a:xfrm>
            <a:off x="548640" y="3108960"/>
            <a:ext cx="7498080" cy="54864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Go and run the capstone on your own agent. Then show somebody the two numbers.</a:t>
            </a:r>
            <a:endParaRPr lang="en-US" sz="1800" dirty="0"/>
          </a:p>
        </p:txBody>
      </p:sp>
      <p:sp>
        <p:nvSpPr>
          <p:cNvPr id="5" name="Text 3"/>
          <p:cNvSpPr txBox="1"/>
          <p:nvPr/>
        </p:nvSpPr>
        <p:spPr>
          <a:xfrm>
            <a:off x="548640" y="3840480"/>
            <a:ext cx="7498080" cy="457200"/>
          </a:xfrm>
          <a:prstGeom prst="rect">
            <a:avLst/>
          </a:prstGeom>
          <a:noFill/>
          <a:ln/>
        </p:spPr>
        <p:txBody>
          <a:bodyPr wrap="square" lIns="0" tIns="0" rIns="0" bIns="0" rtlCol="0" anchor="t"/>
          <a:lstStyle/>
          <a:p>
            <a:pPr indent="0" marL="0">
              <a:buNone/>
            </a:pPr>
            <a:r>
              <a:rPr lang="en-US" sz="1800" i="1" dirty="0">
                <a:solidFill>
                  <a:srgbClr val="F59E0B"/>
                </a:solidFill>
                <a:latin typeface="Cambria" pitchFamily="34" charset="0"/>
                <a:ea typeface="Cambria" pitchFamily="34" charset="-122"/>
                <a:cs typeface="Cambria" pitchFamily="34" charset="-120"/>
              </a:rPr>
              <a:t>Thank you for spending six modules with me.</a:t>
            </a:r>
            <a:endParaRPr lang="en-US" sz="1800" dirty="0"/>
          </a:p>
        </p:txBody>
      </p:sp>
      <p:sp>
        <p:nvSpPr>
          <p:cNvPr id="6" name="Text 4"/>
          <p:cNvSpPr txBox="1"/>
          <p:nvPr/>
        </p:nvSpPr>
        <p:spPr>
          <a:xfrm>
            <a:off x="548640" y="4389120"/>
            <a:ext cx="73152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Emmanuel Naweji  ·  github.com/Here2ServeU/agent-cost-control</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 and the capstone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01</a:t>
            </a:r>
            <a:endParaRPr lang="en-US" sz="2000" dirty="0"/>
          </a:p>
        </p:txBody>
      </p:sp>
      <p:sp>
        <p:nvSpPr>
          <p:cNvPr id="8" name="Text 6"/>
          <p:cNvSpPr txBox="1"/>
          <p:nvPr/>
        </p:nvSpPr>
        <p:spPr>
          <a:xfrm>
            <a:off x="621792" y="1801368"/>
            <a:ext cx="1691640" cy="32004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Build exactly four panels</a:t>
            </a:r>
            <a:endParaRPr lang="en-US" sz="1100" dirty="0"/>
          </a:p>
        </p:txBody>
      </p:sp>
      <p:sp>
        <p:nvSpPr>
          <p:cNvPr id="9" name="Text 7"/>
          <p:cNvSpPr txBox="1"/>
          <p:nvPr/>
        </p:nvSpPr>
        <p:spPr>
          <a:xfrm>
            <a:off x="621792" y="2130552"/>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No more. Title each with the question it answers, not the metric name.</a:t>
            </a:r>
            <a:endParaRPr lang="en-US" sz="85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02</a:t>
            </a:r>
            <a:endParaRPr lang="en-US" sz="2000" dirty="0"/>
          </a:p>
        </p:txBody>
      </p:sp>
      <p:sp>
        <p:nvSpPr>
          <p:cNvPr id="12" name="Text 10"/>
          <p:cNvSpPr txBox="1"/>
          <p:nvPr/>
        </p:nvSpPr>
        <p:spPr>
          <a:xfrm>
            <a:off x="2706624" y="1801368"/>
            <a:ext cx="1691640" cy="32004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Test every query in the terminal</a:t>
            </a:r>
            <a:endParaRPr lang="en-US" sz="1100" dirty="0"/>
          </a:p>
        </p:txBody>
      </p:sp>
      <p:sp>
        <p:nvSpPr>
          <p:cNvPr id="13" name="Text 11"/>
          <p:cNvSpPr txBox="1"/>
          <p:nvPr/>
        </p:nvSpPr>
        <p:spPr>
          <a:xfrm>
            <a:off x="2706624" y="2130552"/>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Use the Prometheus API before pasting anything into Grafana.</a:t>
            </a:r>
            <a:endParaRPr lang="en-US" sz="85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03</a:t>
            </a:r>
            <a:endParaRPr lang="en-US" sz="2000" dirty="0"/>
          </a:p>
        </p:txBody>
      </p:sp>
      <p:sp>
        <p:nvSpPr>
          <p:cNvPr id="16" name="Text 14"/>
          <p:cNvSpPr txBox="1"/>
          <p:nvPr/>
        </p:nvSpPr>
        <p:spPr>
          <a:xfrm>
            <a:off x="4791456" y="1801368"/>
            <a:ext cx="1691640" cy="32004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Build both alerts</a:t>
            </a:r>
            <a:endParaRPr lang="en-US" sz="1100" dirty="0"/>
          </a:p>
        </p:txBody>
      </p:sp>
      <p:sp>
        <p:nvSpPr>
          <p:cNvPr id="17" name="Text 15"/>
          <p:cNvSpPr txBox="1"/>
          <p:nvPr/>
        </p:nvSpPr>
        <p:spPr>
          <a:xfrm>
            <a:off x="4791456" y="2130552"/>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Fast on 1 hour routed somewhere noisy; slow on 24 hours routed somewhere quiet.</a:t>
            </a:r>
            <a:endParaRPr lang="en-US" sz="85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04</a:t>
            </a:r>
            <a:endParaRPr lang="en-US" sz="2000" dirty="0"/>
          </a:p>
        </p:txBody>
      </p:sp>
      <p:sp>
        <p:nvSpPr>
          <p:cNvPr id="20" name="Text 18"/>
          <p:cNvSpPr txBox="1"/>
          <p:nvPr/>
        </p:nvSpPr>
        <p:spPr>
          <a:xfrm>
            <a:off x="6876288" y="1801368"/>
            <a:ext cx="1691640" cy="32004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Prove the fast alert fires</a:t>
            </a:r>
            <a:endParaRPr lang="en-US" sz="1100" dirty="0"/>
          </a:p>
        </p:txBody>
      </p:sp>
      <p:sp>
        <p:nvSpPr>
          <p:cNvPr id="21" name="Text 19"/>
          <p:cNvSpPr txBox="1"/>
          <p:nvPr/>
        </p:nvSpPr>
        <p:spPr>
          <a:xfrm>
            <a:off x="6876288" y="2130552"/>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Run the runaway with caps disabled, then stop it and turn caps back on.</a:t>
            </a:r>
            <a:endParaRPr lang="en-US" sz="85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05</a:t>
            </a:r>
            <a:endParaRPr lang="en-US" sz="2000" dirty="0"/>
          </a:p>
        </p:txBody>
      </p:sp>
      <p:sp>
        <p:nvSpPr>
          <p:cNvPr id="24" name="Text 22"/>
          <p:cNvSpPr txBox="1"/>
          <p:nvPr/>
        </p:nvSpPr>
        <p:spPr>
          <a:xfrm>
            <a:off x="621792" y="3447288"/>
            <a:ext cx="1691640" cy="32004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Route one step type</a:t>
            </a:r>
            <a:endParaRPr lang="en-US" sz="1100" dirty="0"/>
          </a:p>
        </p:txBody>
      </p:sp>
      <p:sp>
        <p:nvSpPr>
          <p:cNvPr id="25" name="Text 23"/>
          <p:cNvSpPr txBox="1"/>
          <p:nvPr/>
        </p:nvSpPr>
        <p:spPr>
          <a:xfrm>
            <a:off x="621792" y="3776472"/>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Your most mechanical step. Twenty tasks, compare cost AND quality. If quality moved, revert.</a:t>
            </a:r>
            <a:endParaRPr lang="en-US" sz="85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06</a:t>
            </a:r>
            <a:endParaRPr lang="en-US" sz="2000" dirty="0"/>
          </a:p>
        </p:txBody>
      </p:sp>
      <p:sp>
        <p:nvSpPr>
          <p:cNvPr id="28" name="Text 26"/>
          <p:cNvSpPr txBox="1"/>
          <p:nvPr/>
        </p:nvSpPr>
        <p:spPr>
          <a:xfrm>
            <a:off x="2706624" y="3447288"/>
            <a:ext cx="1691640" cy="32004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Do the caching test</a:t>
            </a:r>
            <a:endParaRPr lang="en-US" sz="1100" dirty="0"/>
          </a:p>
        </p:txBody>
      </p:sp>
      <p:sp>
        <p:nvSpPr>
          <p:cNvPr id="29" name="Text 27"/>
          <p:cNvSpPr txBox="1"/>
          <p:nvPr/>
        </p:nvSpPr>
        <p:spPr>
          <a:xfrm>
            <a:off x="2706624" y="3776472"/>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For each candidate: should two different people get the same answer? Unsure means do not cache.</a:t>
            </a:r>
            <a:endParaRPr lang="en-US" sz="85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07</a:t>
            </a:r>
            <a:endParaRPr lang="en-US" sz="2000" dirty="0"/>
          </a:p>
        </p:txBody>
      </p:sp>
      <p:sp>
        <p:nvSpPr>
          <p:cNvPr id="32" name="Text 30"/>
          <p:cNvSpPr txBox="1"/>
          <p:nvPr/>
        </p:nvSpPr>
        <p:spPr>
          <a:xfrm>
            <a:off x="4791456" y="3447288"/>
            <a:ext cx="1691640" cy="32004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Put the review in a calendar</a:t>
            </a:r>
            <a:endParaRPr lang="en-US" sz="1100" dirty="0"/>
          </a:p>
        </p:txBody>
      </p:sp>
      <p:sp>
        <p:nvSpPr>
          <p:cNvPr id="33" name="Text 31"/>
          <p:cNvSpPr txBox="1"/>
          <p:nvPr/>
        </p:nvSpPr>
        <p:spPr>
          <a:xfrm>
            <a:off x="4791456" y="3776472"/>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Weekly, same slot, one name, dashboard link in the invite. Do it before you finish.</a:t>
            </a:r>
            <a:endParaRPr lang="en-US" sz="850" dirty="0"/>
          </a:p>
        </p:txBody>
      </p:sp>
      <p:sp>
        <p:nvSpPr>
          <p:cNvPr id="34" name="Shape 32"/>
          <p:cNvSpPr/>
          <p:nvPr/>
        </p:nvSpPr>
        <p:spPr>
          <a:xfrm>
            <a:off x="6711696" y="2971800"/>
            <a:ext cx="1938528" cy="1481328"/>
          </a:xfrm>
          <a:prstGeom prst="roundRect">
            <a:avLst>
              <a:gd name="adj" fmla="val 4938"/>
            </a:avLst>
          </a:prstGeom>
          <a:solidFill>
            <a:srgbClr val="111827"/>
          </a:solidFill>
          <a:ln w="12700">
            <a:solidFill>
              <a:srgbClr val="111827"/>
            </a:solidFill>
            <a:prstDash val="solid"/>
          </a:ln>
        </p:spPr>
      </p:sp>
      <p:sp>
        <p:nvSpPr>
          <p:cNvPr id="35" name="Text 33"/>
          <p:cNvSpPr txBox="1"/>
          <p:nvPr/>
        </p:nvSpPr>
        <p:spPr>
          <a:xfrm>
            <a:off x="6876288" y="3090672"/>
            <a:ext cx="731520" cy="365760"/>
          </a:xfrm>
          <a:prstGeom prst="rect">
            <a:avLst/>
          </a:prstGeom>
          <a:noFill/>
          <a:ln/>
        </p:spPr>
        <p:txBody>
          <a:bodyPr wrap="square" lIns="0" tIns="0" rIns="0" bIns="0" rtlCol="0" anchor="t"/>
          <a:lstStyle/>
          <a:p>
            <a:pPr indent="0" marL="0">
              <a:buNone/>
            </a:pPr>
            <a:r>
              <a:rPr lang="en-US" sz="2000" b="1" dirty="0">
                <a:solidFill>
                  <a:srgbClr val="F59E0B"/>
                </a:solidFill>
                <a:latin typeface="Cambria" pitchFamily="34" charset="0"/>
                <a:ea typeface="Cambria" pitchFamily="34" charset="-122"/>
                <a:cs typeface="Cambria" pitchFamily="34" charset="-120"/>
              </a:rPr>
              <a:t>08</a:t>
            </a:r>
            <a:endParaRPr lang="en-US" sz="2000" dirty="0"/>
          </a:p>
        </p:txBody>
      </p:sp>
      <p:sp>
        <p:nvSpPr>
          <p:cNvPr id="36" name="Text 34"/>
          <p:cNvSpPr txBox="1"/>
          <p:nvPr/>
        </p:nvSpPr>
        <p:spPr>
          <a:xfrm>
            <a:off x="6876288" y="3447288"/>
            <a:ext cx="169164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THE CAPSTONE</a:t>
            </a:r>
            <a:endParaRPr lang="en-US" sz="1100" dirty="0"/>
          </a:p>
        </p:txBody>
      </p:sp>
      <p:sp>
        <p:nvSpPr>
          <p:cNvPr id="37" name="Text 35"/>
          <p:cNvSpPr txBox="1"/>
          <p:nvPr/>
        </p:nvSpPr>
        <p:spPr>
          <a:xfrm>
            <a:off x="6876288" y="3776472"/>
            <a:ext cx="1664208" cy="621792"/>
          </a:xfrm>
          <a:prstGeom prst="rect">
            <a:avLst/>
          </a:prstGeom>
          <a:noFill/>
          <a:ln/>
        </p:spPr>
        <p:txBody>
          <a:bodyPr wrap="square" lIns="0" tIns="0" rIns="0" bIns="0" rtlCol="0" anchor="t"/>
          <a:lstStyle/>
          <a:p>
            <a:pPr indent="0" marL="0">
              <a:buNone/>
            </a:pPr>
            <a:r>
              <a:rPr lang="en-US" sz="850" dirty="0">
                <a:solidFill>
                  <a:srgbClr val="9CA3AF"/>
                </a:solidFill>
                <a:latin typeface="Calibri" pitchFamily="34" charset="0"/>
                <a:ea typeface="Calibri" pitchFamily="34" charset="-122"/>
                <a:cs typeface="Calibri" pitchFamily="34" charset="-120"/>
              </a:rPr>
              <a:t>Module 1's malformed input against your finished agent. Record cost and time to stop; put it beside your module 1 extrapolation.</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watching it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3560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01</a:t>
            </a:r>
            <a:endParaRPr lang="en-US" sz="1050" dirty="0"/>
          </a:p>
        </p:txBody>
      </p:sp>
      <p:sp>
        <p:nvSpPr>
          <p:cNvPr id="8" name="Text 6"/>
          <p:cNvSpPr txBox="1"/>
          <p:nvPr/>
        </p:nvSpPr>
        <p:spPr>
          <a:xfrm>
            <a:off x="621792" y="170992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The four-panel rule</a:t>
            </a:r>
            <a:endParaRPr lang="en-US" sz="1150" dirty="0"/>
          </a:p>
        </p:txBody>
      </p:sp>
      <p:sp>
        <p:nvSpPr>
          <p:cNvPr id="9" name="Text 7"/>
          <p:cNvSpPr txBox="1"/>
          <p:nvPr/>
        </p:nvSpPr>
        <p:spPr>
          <a:xfrm>
            <a:off x="621792" y="214884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A dashboard nobody can read in ten seconds is a dashboard nobody reads. One question per panel.</a:t>
            </a:r>
            <a:endParaRPr lang="en-US" sz="85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3560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02</a:t>
            </a:r>
            <a:endParaRPr lang="en-US" sz="1050" dirty="0"/>
          </a:p>
        </p:txBody>
      </p:sp>
      <p:sp>
        <p:nvSpPr>
          <p:cNvPr id="12" name="Text 10"/>
          <p:cNvSpPr txBox="1"/>
          <p:nvPr/>
        </p:nvSpPr>
        <p:spPr>
          <a:xfrm>
            <a:off x="2706624" y="170992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Burn rate</a:t>
            </a:r>
            <a:endParaRPr lang="en-US" sz="1150" dirty="0"/>
          </a:p>
        </p:txBody>
      </p:sp>
      <p:sp>
        <p:nvSpPr>
          <p:cNvPr id="13" name="Text 11"/>
          <p:cNvSpPr txBox="1"/>
          <p:nvPr/>
        </p:nvSpPr>
        <p:spPr>
          <a:xfrm>
            <a:off x="2706624" y="214884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How fast the budget is being consumed compared with how fast it should be. Fires while it is happening.</a:t>
            </a:r>
            <a:endParaRPr lang="en-US" sz="85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3560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03</a:t>
            </a:r>
            <a:endParaRPr lang="en-US" sz="1050" dirty="0"/>
          </a:p>
        </p:txBody>
      </p:sp>
      <p:sp>
        <p:nvSpPr>
          <p:cNvPr id="16" name="Text 14"/>
          <p:cNvSpPr txBox="1"/>
          <p:nvPr/>
        </p:nvSpPr>
        <p:spPr>
          <a:xfrm>
            <a:off x="4791456" y="170992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Fast and slow windows</a:t>
            </a:r>
            <a:endParaRPr lang="en-US" sz="1150" dirty="0"/>
          </a:p>
        </p:txBody>
      </p:sp>
      <p:sp>
        <p:nvSpPr>
          <p:cNvPr id="17" name="Text 15"/>
          <p:cNvSpPr txBox="1"/>
          <p:nvPr/>
        </p:nvSpPr>
        <p:spPr>
          <a:xfrm>
            <a:off x="4791456" y="214884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1 hour catches runaways and is worth waking someone for; 24 hours catches drift and belongs at standup.</a:t>
            </a:r>
            <a:endParaRPr lang="en-US" sz="85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3560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04</a:t>
            </a:r>
            <a:endParaRPr lang="en-US" sz="1050" dirty="0"/>
          </a:p>
        </p:txBody>
      </p:sp>
      <p:sp>
        <p:nvSpPr>
          <p:cNvPr id="20" name="Text 18"/>
          <p:cNvSpPr txBox="1"/>
          <p:nvPr/>
        </p:nvSpPr>
        <p:spPr>
          <a:xfrm>
            <a:off x="6876288" y="170992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The cap is the seatbelt</a:t>
            </a:r>
            <a:endParaRPr lang="en-US" sz="1150" dirty="0"/>
          </a:p>
        </p:txBody>
      </p:sp>
      <p:sp>
        <p:nvSpPr>
          <p:cNvPr id="21" name="Text 19"/>
          <p:cNvSpPr txBox="1"/>
          <p:nvPr/>
        </p:nvSpPr>
        <p:spPr>
          <a:xfrm>
            <a:off x="6876288" y="214884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Module 3's caps stop the bleeding regardless, so the alert can inform rather than panic.</a:t>
            </a:r>
            <a:endParaRPr lang="en-US" sz="85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8152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05</a:t>
            </a:r>
            <a:endParaRPr lang="en-US" sz="1050" dirty="0"/>
          </a:p>
        </p:txBody>
      </p:sp>
      <p:sp>
        <p:nvSpPr>
          <p:cNvPr id="24" name="Text 22"/>
          <p:cNvSpPr txBox="1"/>
          <p:nvPr/>
        </p:nvSpPr>
        <p:spPr>
          <a:xfrm>
            <a:off x="621792" y="335584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Model routing</a:t>
            </a:r>
            <a:endParaRPr lang="en-US" sz="1150" dirty="0"/>
          </a:p>
        </p:txBody>
      </p:sp>
      <p:sp>
        <p:nvSpPr>
          <p:cNvPr id="25" name="Text 23"/>
          <p:cNvSpPr txBox="1"/>
          <p:nvPr/>
        </p:nvSpPr>
        <p:spPr>
          <a:xfrm>
            <a:off x="621792" y="379476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Easy steps to a cheaper model, the hard part on the expensive one. Around 65% less in the worked example.</a:t>
            </a:r>
            <a:endParaRPr lang="en-US" sz="85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8152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06</a:t>
            </a:r>
            <a:endParaRPr lang="en-US" sz="1050" dirty="0"/>
          </a:p>
        </p:txBody>
      </p:sp>
      <p:sp>
        <p:nvSpPr>
          <p:cNvPr id="28" name="Text 26"/>
          <p:cNvSpPr txBox="1"/>
          <p:nvPr/>
        </p:nvSpPr>
        <p:spPr>
          <a:xfrm>
            <a:off x="2706624" y="335584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Why routing goes last</a:t>
            </a:r>
            <a:endParaRPr lang="en-US" sz="1150" dirty="0"/>
          </a:p>
        </p:txBody>
      </p:sp>
      <p:sp>
        <p:nvSpPr>
          <p:cNvPr id="29" name="Text 27"/>
          <p:cNvSpPr txBox="1"/>
          <p:nvPr/>
        </p:nvSpPr>
        <p:spPr>
          <a:xfrm>
            <a:off x="2706624" y="379476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It is the only change here that can make answers worse. Fix the free waste first, then route carefully.</a:t>
            </a:r>
            <a:endParaRPr lang="en-US" sz="85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8152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07</a:t>
            </a:r>
            <a:endParaRPr lang="en-US" sz="1050" dirty="0"/>
          </a:p>
        </p:txBody>
      </p:sp>
      <p:sp>
        <p:nvSpPr>
          <p:cNvPr id="32" name="Text 30"/>
          <p:cNvSpPr txBox="1"/>
          <p:nvPr/>
        </p:nvSpPr>
        <p:spPr>
          <a:xfrm>
            <a:off x="4791456" y="335584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Caching</a:t>
            </a:r>
            <a:endParaRPr lang="en-US" sz="1150" dirty="0"/>
          </a:p>
        </p:txBody>
      </p:sp>
      <p:sp>
        <p:nvSpPr>
          <p:cNvPr id="33" name="Text 31"/>
          <p:cNvSpPr txBox="1"/>
          <p:nvPr/>
        </p:nvSpPr>
        <p:spPr>
          <a:xfrm>
            <a:off x="4791456" y="379476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If you already answered this exact question, give back the previous answer. The closest thing to free money.</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keeping it alive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3560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08</a:t>
            </a:r>
            <a:endParaRPr lang="en-US" sz="1050" dirty="0"/>
          </a:p>
        </p:txBody>
      </p:sp>
      <p:sp>
        <p:nvSpPr>
          <p:cNvPr id="8" name="Text 6"/>
          <p:cNvSpPr txBox="1"/>
          <p:nvPr/>
        </p:nvSpPr>
        <p:spPr>
          <a:xfrm>
            <a:off x="621792" y="170992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The caching test</a:t>
            </a:r>
            <a:endParaRPr lang="en-US" sz="1150" dirty="0"/>
          </a:p>
        </p:txBody>
      </p:sp>
      <p:sp>
        <p:nvSpPr>
          <p:cNvPr id="9" name="Text 7"/>
          <p:cNvSpPr txBox="1"/>
          <p:nvPr/>
        </p:nvSpPr>
        <p:spPr>
          <a:xfrm>
            <a:off x="621792" y="214884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If two different people ask this, should they get the same answer? Yes is safe; no is never.</a:t>
            </a:r>
            <a:endParaRPr lang="en-US" sz="85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3560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09</a:t>
            </a:r>
            <a:endParaRPr lang="en-US" sz="1050" dirty="0"/>
          </a:p>
        </p:txBody>
      </p:sp>
      <p:sp>
        <p:nvSpPr>
          <p:cNvPr id="12" name="Text 10"/>
          <p:cNvSpPr txBox="1"/>
          <p:nvPr/>
        </p:nvSpPr>
        <p:spPr>
          <a:xfrm>
            <a:off x="2706624" y="170992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Cache on the whole call</a:t>
            </a:r>
            <a:endParaRPr lang="en-US" sz="1150" dirty="0"/>
          </a:p>
        </p:txBody>
      </p:sp>
      <p:sp>
        <p:nvSpPr>
          <p:cNvPr id="13" name="Text 11"/>
          <p:cNvSpPr txBox="1"/>
          <p:nvPr/>
        </p:nvSpPr>
        <p:spPr>
          <a:xfrm>
            <a:off x="2706624" y="214884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Include the system prompt and everything else, or you serve answers made under old instructions.</a:t>
            </a:r>
            <a:endParaRPr lang="en-US" sz="85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3560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10</a:t>
            </a:r>
            <a:endParaRPr lang="en-US" sz="1050" dirty="0"/>
          </a:p>
        </p:txBody>
      </p:sp>
      <p:sp>
        <p:nvSpPr>
          <p:cNvPr id="16" name="Text 14"/>
          <p:cNvSpPr txBox="1"/>
          <p:nvPr/>
        </p:nvSpPr>
        <p:spPr>
          <a:xfrm>
            <a:off x="4791456" y="170992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The weekly review</a:t>
            </a:r>
            <a:endParaRPr lang="en-US" sz="1150" dirty="0"/>
          </a:p>
        </p:txBody>
      </p:sp>
      <p:sp>
        <p:nvSpPr>
          <p:cNvPr id="17" name="Text 15"/>
          <p:cNvSpPr txBox="1"/>
          <p:nvPr/>
        </p:nvSpPr>
        <p:spPr>
          <a:xfrm>
            <a:off x="4791456" y="214884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Four questions, fifteen minutes: what changed, who spent, what was wasted, did an alert fire.</a:t>
            </a:r>
            <a:endParaRPr lang="en-US" sz="85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3560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11</a:t>
            </a:r>
            <a:endParaRPr lang="en-US" sz="1050" dirty="0"/>
          </a:p>
        </p:txBody>
      </p:sp>
      <p:sp>
        <p:nvSpPr>
          <p:cNvPr id="20" name="Text 18"/>
          <p:cNvSpPr txBox="1"/>
          <p:nvPr/>
        </p:nvSpPr>
        <p:spPr>
          <a:xfrm>
            <a:off x="6876288" y="170992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An ignored alert</a:t>
            </a:r>
            <a:endParaRPr lang="en-US" sz="1150" dirty="0"/>
          </a:p>
        </p:txBody>
      </p:sp>
      <p:sp>
        <p:nvSpPr>
          <p:cNvPr id="21" name="Text 19"/>
          <p:cNvSpPr txBox="1"/>
          <p:nvPr/>
        </p:nvSpPr>
        <p:spPr>
          <a:xfrm>
            <a:off x="6876288" y="214884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Worse than no alert: it teaches everyone that alerts do not matter. Fix it or delete it.</a:t>
            </a:r>
            <a:endParaRPr lang="en-US" sz="85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8152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12</a:t>
            </a:r>
            <a:endParaRPr lang="en-US" sz="1050" dirty="0"/>
          </a:p>
        </p:txBody>
      </p:sp>
      <p:sp>
        <p:nvSpPr>
          <p:cNvPr id="24" name="Text 22"/>
          <p:cNvSpPr txBox="1"/>
          <p:nvPr/>
        </p:nvSpPr>
        <p:spPr>
          <a:xfrm>
            <a:off x="621792" y="335584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It needs a name</a:t>
            </a:r>
            <a:endParaRPr lang="en-US" sz="1150" dirty="0"/>
          </a:p>
        </p:txBody>
      </p:sp>
      <p:sp>
        <p:nvSpPr>
          <p:cNvPr id="25" name="Text 23"/>
          <p:cNvSpPr txBox="1"/>
          <p:nvPr/>
        </p:nvSpPr>
        <p:spPr>
          <a:xfrm>
            <a:off x="621792" y="379476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The team owns nothing. A rota is fine, a person is better. A shared habit lasts about three weeks.</a:t>
            </a:r>
            <a:endParaRPr lang="en-US" sz="85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81528"/>
            <a:ext cx="548640" cy="274320"/>
          </a:xfrm>
          <a:prstGeom prst="rect">
            <a:avLst/>
          </a:prstGeom>
          <a:noFill/>
          <a:ln/>
        </p:spPr>
        <p:txBody>
          <a:bodyPr wrap="square" lIns="0" tIns="0" rIns="0" bIns="0" rtlCol="0" anchor="t"/>
          <a:lstStyle/>
          <a:p>
            <a:pPr indent="0" marL="0">
              <a:buNone/>
            </a:pPr>
            <a:r>
              <a:rPr lang="en-US" sz="1050" b="1" dirty="0">
                <a:solidFill>
                  <a:srgbClr val="B45309"/>
                </a:solidFill>
                <a:latin typeface="Calibri" pitchFamily="34" charset="0"/>
                <a:ea typeface="Calibri" pitchFamily="34" charset="-122"/>
                <a:cs typeface="Calibri" pitchFamily="34" charset="-120"/>
              </a:rPr>
              <a:t>13</a:t>
            </a:r>
            <a:endParaRPr lang="en-US" sz="1050" dirty="0"/>
          </a:p>
        </p:txBody>
      </p:sp>
      <p:sp>
        <p:nvSpPr>
          <p:cNvPr id="28" name="Text 26"/>
          <p:cNvSpPr txBox="1"/>
          <p:nvPr/>
        </p:nvSpPr>
        <p:spPr>
          <a:xfrm>
            <a:off x="2706624" y="3355848"/>
            <a:ext cx="169164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The whole course in one idea</a:t>
            </a:r>
            <a:endParaRPr lang="en-US" sz="1150" dirty="0"/>
          </a:p>
        </p:txBody>
      </p:sp>
      <p:sp>
        <p:nvSpPr>
          <p:cNvPr id="29" name="Text 27"/>
          <p:cNvSpPr txBox="1"/>
          <p:nvPr/>
        </p:nvSpPr>
        <p:spPr>
          <a:xfrm>
            <a:off x="2706624" y="3794760"/>
            <a:ext cx="1664208" cy="621792"/>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Almost everything here is a decision moved earlier: made calmly, written down, enforced by a machine.</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Running the stack</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docker compose up -d prometheus grafana</a:t>
            </a:r>
            <a:endParaRPr lang="en-US" sz="800" dirty="0"/>
          </a:p>
        </p:txBody>
      </p:sp>
      <p:sp>
        <p:nvSpPr>
          <p:cNvPr id="8" name="Text 6"/>
          <p:cNvSpPr txBox="1"/>
          <p:nvPr/>
        </p:nvSpPr>
        <p:spPr>
          <a:xfrm>
            <a:off x="4114800" y="1325880"/>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Start both containers in the background. Prometheus on 9090, Grafana on 3000.</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curl -s localhost:9090/api/v1/query</a:t>
            </a:r>
            <a:endParaRPr lang="en-US" sz="800" dirty="0"/>
          </a:p>
        </p:txBody>
      </p:sp>
      <p:sp>
        <p:nvSpPr>
          <p:cNvPr id="11" name="Text 9"/>
          <p:cNvSpPr txBox="1"/>
          <p:nvPr/>
        </p:nvSpPr>
        <p:spPr>
          <a:xfrm>
            <a:off x="4114800" y="1947672"/>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Ask Prometheus a question from the terminal, before you build the panel.</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--data-urlencode 'query=…'</a:t>
            </a:r>
            <a:endParaRPr lang="en-US" sz="800" dirty="0"/>
          </a:p>
        </p:txBody>
      </p:sp>
      <p:sp>
        <p:nvSpPr>
          <p:cNvPr id="14" name="Text 12"/>
          <p:cNvSpPr txBox="1"/>
          <p:nvPr/>
        </p:nvSpPr>
        <p:spPr>
          <a:xfrm>
            <a:off x="4114800" y="2569464"/>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Send the query safely, so characters like { } and " are not mangled by the shell.</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sum(rate(agent_cost_usd_total[1h]))*3600</a:t>
            </a:r>
            <a:endParaRPr lang="en-US" sz="800" dirty="0"/>
          </a:p>
        </p:txBody>
      </p:sp>
      <p:sp>
        <p:nvSpPr>
          <p:cNvPr id="17" name="Text 15"/>
          <p:cNvSpPr txBox="1"/>
          <p:nvPr/>
        </p:nvSpPr>
        <p:spPr>
          <a:xfrm>
            <a:off x="4114800" y="3191256"/>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Spend per second over the last hour, added up, multiplied into spend per hour.</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sum(increase(...[24h]))</a:t>
            </a:r>
            <a:endParaRPr lang="en-US" sz="800" dirty="0"/>
          </a:p>
        </p:txBody>
      </p:sp>
      <p:sp>
        <p:nvSpPr>
          <p:cNvPr id="20" name="Text 18"/>
          <p:cNvSpPr txBox="1"/>
          <p:nvPr/>
        </p:nvSpPr>
        <p:spPr>
          <a:xfrm>
            <a:off x="4114800" y="3813048"/>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How much a counter grew over 24 hours; the form you use for both halves of the metric.</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Testing and finishing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6</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--no-caps</a:t>
            </a:r>
            <a:endParaRPr lang="en-US" sz="800" dirty="0"/>
          </a:p>
        </p:txBody>
      </p:sp>
      <p:sp>
        <p:nvSpPr>
          <p:cNvPr id="8" name="Text 6"/>
          <p:cNvSpPr txBox="1"/>
          <p:nvPr/>
        </p:nvSpPr>
        <p:spPr>
          <a:xfrm>
            <a:off x="4114800" y="1325880"/>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flag on the course script: run with the module 3 caps turned off, to prove the alert fires.</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&amp;</a:t>
            </a:r>
            <a:endParaRPr lang="en-US" sz="800" dirty="0"/>
          </a:p>
        </p:txBody>
      </p:sp>
      <p:sp>
        <p:nvSpPr>
          <p:cNvPr id="11" name="Text 9"/>
          <p:cNvSpPr txBox="1"/>
          <p:nvPr/>
        </p:nvSpPr>
        <p:spPr>
          <a:xfrm>
            <a:off x="4114800" y="1947672"/>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At the end of a line: run it in the background so you keep your prompt while it runs.</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compare_runs.py --before baseline --after routed</a:t>
            </a:r>
            <a:endParaRPr lang="en-US" sz="800" dirty="0"/>
          </a:p>
        </p:txBody>
      </p:sp>
      <p:sp>
        <p:nvSpPr>
          <p:cNvPr id="14" name="Text 12"/>
          <p:cNvSpPr txBox="1"/>
          <p:nvPr/>
        </p:nvSpPr>
        <p:spPr>
          <a:xfrm>
            <a:off x="4114800" y="2569464"/>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Your own script: two batches of runs, compared on cost and on quality.</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docker compose down</a:t>
            </a:r>
            <a:endParaRPr lang="en-US" sz="800" dirty="0"/>
          </a:p>
        </p:txBody>
      </p:sp>
      <p:sp>
        <p:nvSpPr>
          <p:cNvPr id="17" name="Text 15"/>
          <p:cNvSpPr txBox="1"/>
          <p:nvPr/>
        </p:nvSpPr>
        <p:spPr>
          <a:xfrm>
            <a:off x="4114800" y="3191256"/>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Stop the containers when you are finished for the day.</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localhost:3000</a:t>
            </a:r>
            <a:endParaRPr lang="en-US" sz="800" dirty="0"/>
          </a:p>
        </p:txBody>
      </p:sp>
      <p:sp>
        <p:nvSpPr>
          <p:cNvPr id="20" name="Text 18"/>
          <p:cNvSpPr txBox="1"/>
          <p:nvPr/>
        </p:nvSpPr>
        <p:spPr>
          <a:xfrm>
            <a:off x="4114800" y="3813048"/>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Where Grafana opens in your browser. The dashboard link you paste into the calendar invite.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Operating It</dc:title>
  <dc:subject>PptxGenJS Presentation</dc:subject>
  <dc:creator>Emmanuel Naweji</dc:creator>
  <cp:lastModifiedBy>Emmanuel Naweji</cp:lastModifiedBy>
  <cp:revision>1</cp:revision>
  <dcterms:created xsi:type="dcterms:W3CDTF">2026-09-23T19:41:57Z</dcterms:created>
  <dcterms:modified xsi:type="dcterms:W3CDTF">2026-09-23T19:41:57Z</dcterms:modified>
</cp:coreProperties>
</file>