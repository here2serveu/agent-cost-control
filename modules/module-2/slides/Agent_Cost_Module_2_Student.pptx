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notesMasterIdLst>
    <p:notesMasterId r:id="rId4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988e722d-91da-8ec4-57c7-74d116fa4434}">
          <p14:sldIdLst>
            <p14:sldId id="256"/>
            <p14:sldId id="257"/>
            <p14:sldId id="258"/>
          </p14:sldIdLst>
        </p14:section>
        <p14:section name="Before you start" id="{20b21d81-b41c-ce20-1cdb-356eba5b3e11}">
          <p14:sldIdLst>
            <p14:sldId id="259"/>
            <p14:sldId id="260"/>
          </p14:sldIdLst>
        </p14:section>
        <p14:section name="01 · No Receipts" id="{9f4ade57-ee72-a0dd-627e-a05ed0c61d6c}">
          <p14:sldIdLst>
            <p14:sldId id="261"/>
            <p14:sldId id="262"/>
            <p14:sldId id="263"/>
          </p14:sldIdLst>
        </p14:section>
        <p14:section name="02 · The Usage Note" id="{a27a6759-5461-fd49-29e0-72328c768f37}">
          <p14:sldIdLst>
            <p14:sldId id="264"/>
            <p14:sldId id="265"/>
            <p14:sldId id="266"/>
          </p14:sldIdLst>
        </p14:section>
        <p14:section name="03 · Wrap, Don't Rewrite" id="{f4bbc065-a103-1281-8247-b8f6a61e9e43}">
          <p14:sldIdLst>
            <p14:sldId id="267"/>
            <p14:sldId id="268"/>
            <p14:sldId id="269"/>
          </p14:sldIdLst>
        </p14:section>
        <p14:section name="04 · Four Labels" id="{332e943a-2178-a811-b1b7-0ae5a84f0c6f}">
          <p14:sldIdLst>
            <p14:sldId id="270"/>
            <p14:sldId id="271"/>
            <p14:sldId id="272"/>
            <p14:sldId id="273"/>
          </p14:sldIdLst>
        </p14:section>
        <p14:section name="05 · Number to Picture" id="{883d9b88-28c9-83ef-95d2-4ad6037b98b5}">
          <p14:sldIdLst>
            <p14:sldId id="274"/>
            <p14:sldId id="275"/>
            <p14:sldId id="276"/>
          </p14:sldIdLst>
        </p14:section>
        <p14:section name="06 · Build It" id="{2055709f-7754-cf9e-13e8-03e49ab8214e}">
          <p14:sldIdLst>
            <p14:sldId id="277"/>
            <p14:sldId id="278"/>
            <p14:sldId id="279"/>
            <p14:sldId id="280"/>
            <p14:sldId id="281"/>
            <p14:sldId id="282"/>
            <p14:sldId id="283"/>
            <p14:sldId id="284"/>
            <p14:sldId id="285"/>
          </p14:sldIdLst>
        </p14:section>
        <p14:section name="Wrap-up" id="{e3efed5a-c36c-8572-23c1-e7407b170f27}">
          <p14:sldIdLst>
            <p14:sldId id="286"/>
            <p14:sldId id="287"/>
            <p14:sldId id="288"/>
          </p14:sldIdLst>
        </p14:section>
        <p14:section name="Appendix" id="{2f4bcaba-4510-8de1-d8af-f6753a56ad90}">
          <p14:sldIdLst>
            <p14:sldId id="289"/>
            <p14:sldId id="290"/>
            <p14:sldId id="291"/>
            <p14:sldId id="292"/>
            <p14:sldId id="29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youtu.be/8ZIiXg4XOY0" TargetMode="External"/><Relationship Id="rId2" Type="http://schemas.openxmlformats.org/officeDocument/2006/relationships/hyperlink" Target="https://youtu.be/3e2-GRBibWc" TargetMode="External"/><Relationship Id="rId3" Type="http://schemas.openxmlformats.org/officeDocument/2006/relationships/hyperlink" Target="https://python.org/downloads" TargetMode="External"/><Relationship Id="rId4" Type="http://schemas.openxmlformats.org/officeDocument/2006/relationships/hyperlink" Target="https://docs.python.org/3/library/venv.html" TargetMode="External"/><Relationship Id="rId5" Type="http://schemas.openxmlformats.org/officeDocument/2006/relationships/hyperlink" Target="https://learn.microsoft.com/windows/package-manager/winget" TargetMode="External"/><Relationship Id="rId6" Type="http://schemas.openxmlformats.org/officeDocument/2006/relationships/hyperlink" Target="https://grafana.com/docs/grafana/latest/fundamentals" TargetMode="External"/><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827"/>
        </a:solidFill>
      </p:bgPr>
    </p:bg>
    <p:spTree>
      <p:nvGrpSpPr>
        <p:cNvPr id="1" name=""/>
        <p:cNvGrpSpPr/>
        <p:nvPr/>
      </p:nvGrpSpPr>
      <p:grpSpPr>
        <a:xfrm>
          <a:off x="0" y="0"/>
          <a:ext cx="0" cy="0"/>
          <a:chOff x="0" y="0"/>
          <a:chExt cx="0" cy="0"/>
        </a:xfrm>
      </p:grpSpPr>
      <p:sp>
        <p:nvSpPr>
          <p:cNvPr id="2" name="Text 0"/>
          <p:cNvSpPr txBox="1"/>
          <p:nvPr/>
        </p:nvSpPr>
        <p:spPr>
          <a:xfrm>
            <a:off x="548640" y="822960"/>
            <a:ext cx="7315200" cy="274320"/>
          </a:xfrm>
          <a:prstGeom prst="rect">
            <a:avLst/>
          </a:prstGeom>
          <a:noFill/>
          <a:ln/>
        </p:spPr>
        <p:txBody>
          <a:bodyPr wrap="square" lIns="0" tIns="0" rIns="0" bIns="0" rtlCol="0" anchor="t"/>
          <a:lstStyle/>
          <a:p>
            <a:pPr indent="0" marL="0">
              <a:buNone/>
            </a:pPr>
            <a:r>
              <a:rPr lang="en-US" sz="1100" b="1" spc="300" kern="0" dirty="0">
                <a:solidFill>
                  <a:srgbClr val="F59E0B"/>
                </a:solidFill>
                <a:latin typeface="Calibri" pitchFamily="34" charset="0"/>
                <a:ea typeface="Calibri" pitchFamily="34" charset="-122"/>
                <a:cs typeface="Calibri" pitchFamily="34" charset="-120"/>
              </a:rPr>
              <a:t>THE AGENT COST PROBLEM  ·  MODULE 2 OF 6</a:t>
            </a:r>
            <a:endParaRPr lang="en-US" sz="1100" dirty="0"/>
          </a:p>
        </p:txBody>
      </p:sp>
      <p:sp>
        <p:nvSpPr>
          <p:cNvPr id="3" name="Text 1"/>
          <p:cNvSpPr txBox="1"/>
          <p:nvPr/>
        </p:nvSpPr>
        <p:spPr>
          <a:xfrm>
            <a:off x="548640" y="1234440"/>
            <a:ext cx="7772400" cy="1554480"/>
          </a:xfrm>
          <a:prstGeom prst="rect">
            <a:avLst/>
          </a:prstGeom>
          <a:noFill/>
          <a:ln/>
        </p:spPr>
        <p:txBody>
          <a:bodyPr wrap="square" lIns="0" tIns="0" rIns="0" bIns="0" rtlCol="0" anchor="t"/>
          <a:lstStyle/>
          <a:p>
            <a:pPr indent="0" marL="0">
              <a:buNone/>
            </a:pPr>
            <a:r>
              <a:rPr lang="en-US" sz="4800" b="1" dirty="0">
                <a:solidFill>
                  <a:srgbClr val="FFFFFF"/>
                </a:solidFill>
                <a:latin typeface="Cambria" pitchFamily="34" charset="0"/>
                <a:ea typeface="Cambria" pitchFamily="34" charset="-122"/>
                <a:cs typeface="Cambria" pitchFamily="34" charset="-120"/>
              </a:rPr>
              <a:t>Making Cost</a:t>
            </a:r>
            <a:endParaRPr lang="en-US" sz="4800" dirty="0"/>
          </a:p>
          <a:p>
            <a:pPr indent="0" marL="0">
              <a:buNone/>
            </a:pPr>
            <a:r>
              <a:rPr lang="en-US" sz="4800" b="1" dirty="0">
                <a:solidFill>
                  <a:srgbClr val="FFFFFF"/>
                </a:solidFill>
                <a:latin typeface="Cambria" pitchFamily="34" charset="0"/>
                <a:ea typeface="Cambria" pitchFamily="34" charset="-122"/>
                <a:cs typeface="Cambria" pitchFamily="34" charset="-120"/>
              </a:rPr>
              <a:t>Visible</a:t>
            </a:r>
            <a:endParaRPr lang="en-US" sz="4800" dirty="0"/>
          </a:p>
        </p:txBody>
      </p:sp>
      <p:sp>
        <p:nvSpPr>
          <p:cNvPr id="4" name="Text 2"/>
          <p:cNvSpPr txBox="1"/>
          <p:nvPr/>
        </p:nvSpPr>
        <p:spPr>
          <a:xfrm>
            <a:off x="548640" y="2880360"/>
            <a:ext cx="7772400" cy="640080"/>
          </a:xfrm>
          <a:prstGeom prst="rect">
            <a:avLst/>
          </a:prstGeom>
          <a:noFill/>
          <a:ln/>
        </p:spPr>
        <p:txBody>
          <a:bodyPr wrap="square" lIns="0" tIns="0" rIns="0" bIns="0" rtlCol="0" anchor="t"/>
          <a:lstStyle/>
          <a:p>
            <a:pPr indent="0" marL="0">
              <a:buNone/>
            </a:pPr>
            <a:r>
              <a:rPr lang="en-US" sz="1800" dirty="0">
                <a:solidFill>
                  <a:srgbClr val="9CA3AF"/>
                </a:solidFill>
                <a:latin typeface="Calibri" pitchFamily="34" charset="0"/>
                <a:ea typeface="Calibri" pitchFamily="34" charset="-122"/>
                <a:cs typeface="Calibri" pitchFamily="34" charset="-120"/>
              </a:rPr>
              <a:t>Right now your agent spends money and nobody writes down what it was for. </a:t>
            </a:r>
            <a:pPr indent="0" marL="0">
              <a:buNone/>
            </a:pPr>
            <a:r>
              <a:rPr lang="en-US" sz="1800" b="1" dirty="0">
                <a:solidFill>
                  <a:srgbClr val="FFFFFF"/>
                </a:solidFill>
                <a:latin typeface="Calibri" pitchFamily="34" charset="0"/>
                <a:ea typeface="Calibri" pitchFamily="34" charset="-122"/>
                <a:cs typeface="Calibri" pitchFamily="34" charset="-120"/>
              </a:rPr>
              <a:t>This module fixes that.</a:t>
            </a:r>
            <a:endParaRPr lang="en-US" sz="1800" dirty="0"/>
          </a:p>
        </p:txBody>
      </p:sp>
      <p:sp>
        <p:nvSpPr>
          <p:cNvPr id="5" name="Text 3"/>
          <p:cNvSpPr txBox="1"/>
          <p:nvPr/>
        </p:nvSpPr>
        <p:spPr>
          <a:xfrm>
            <a:off x="548640" y="3931920"/>
            <a:ext cx="1920240" cy="228600"/>
          </a:xfrm>
          <a:prstGeom prst="rect">
            <a:avLst/>
          </a:prstGeom>
          <a:noFill/>
          <a:ln/>
        </p:spPr>
        <p:txBody>
          <a:bodyPr wrap="square" lIns="0" tIns="0" rIns="0" bIns="0" rtlCol="0" anchor="t"/>
          <a:lstStyle/>
          <a:p>
            <a:pPr indent="0" marL="0">
              <a:buNone/>
            </a:pPr>
            <a:r>
              <a:rPr lang="en-US" sz="900" b="1" spc="200" kern="0" dirty="0">
                <a:solidFill>
                  <a:srgbClr val="6B7280"/>
                </a:solidFill>
                <a:latin typeface="Calibri" pitchFamily="34" charset="0"/>
                <a:ea typeface="Calibri" pitchFamily="34" charset="-122"/>
                <a:cs typeface="Calibri" pitchFamily="34" charset="-120"/>
              </a:rPr>
              <a:t>PRESENTER</a:t>
            </a:r>
            <a:endParaRPr lang="en-US" sz="900" dirty="0"/>
          </a:p>
        </p:txBody>
      </p:sp>
      <p:sp>
        <p:nvSpPr>
          <p:cNvPr id="6" name="Text 4"/>
          <p:cNvSpPr txBox="1"/>
          <p:nvPr/>
        </p:nvSpPr>
        <p:spPr>
          <a:xfrm>
            <a:off x="548640" y="4160520"/>
            <a:ext cx="1920240" cy="27432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Emmanuel Naweji</a:t>
            </a:r>
            <a:endParaRPr lang="en-US" sz="1200" dirty="0"/>
          </a:p>
        </p:txBody>
      </p:sp>
      <p:sp>
        <p:nvSpPr>
          <p:cNvPr id="7" name="Text 5"/>
          <p:cNvSpPr txBox="1"/>
          <p:nvPr/>
        </p:nvSpPr>
        <p:spPr>
          <a:xfrm>
            <a:off x="2651760" y="3931920"/>
            <a:ext cx="1920240" cy="228600"/>
          </a:xfrm>
          <a:prstGeom prst="rect">
            <a:avLst/>
          </a:prstGeom>
          <a:noFill/>
          <a:ln/>
        </p:spPr>
        <p:txBody>
          <a:bodyPr wrap="square" lIns="0" tIns="0" rIns="0" bIns="0" rtlCol="0" anchor="t"/>
          <a:lstStyle/>
          <a:p>
            <a:pPr indent="0" marL="0">
              <a:buNone/>
            </a:pPr>
            <a:r>
              <a:rPr lang="en-US" sz="900" b="1" spc="200" kern="0" dirty="0">
                <a:solidFill>
                  <a:srgbClr val="6B7280"/>
                </a:solidFill>
                <a:latin typeface="Calibri" pitchFamily="34" charset="0"/>
                <a:ea typeface="Calibri" pitchFamily="34" charset="-122"/>
                <a:cs typeface="Calibri" pitchFamily="34" charset="-120"/>
              </a:rPr>
              <a:t>RUNTIME</a:t>
            </a:r>
            <a:endParaRPr lang="en-US" sz="900" dirty="0"/>
          </a:p>
        </p:txBody>
      </p:sp>
      <p:sp>
        <p:nvSpPr>
          <p:cNvPr id="8" name="Text 6"/>
          <p:cNvSpPr txBox="1"/>
          <p:nvPr/>
        </p:nvSpPr>
        <p:spPr>
          <a:xfrm>
            <a:off x="2651760" y="4160520"/>
            <a:ext cx="1920240" cy="27432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~45 min · 6 sections</a:t>
            </a:r>
            <a:endParaRPr lang="en-US" sz="1200" dirty="0"/>
          </a:p>
        </p:txBody>
      </p:sp>
      <p:sp>
        <p:nvSpPr>
          <p:cNvPr id="9" name="Text 7"/>
          <p:cNvSpPr txBox="1"/>
          <p:nvPr/>
        </p:nvSpPr>
        <p:spPr>
          <a:xfrm>
            <a:off x="4754880" y="3931920"/>
            <a:ext cx="3840480" cy="228600"/>
          </a:xfrm>
          <a:prstGeom prst="rect">
            <a:avLst/>
          </a:prstGeom>
          <a:noFill/>
          <a:ln/>
        </p:spPr>
        <p:txBody>
          <a:bodyPr wrap="square" lIns="0" tIns="0" rIns="0" bIns="0" rtlCol="0" anchor="t"/>
          <a:lstStyle/>
          <a:p>
            <a:pPr indent="0" marL="0">
              <a:buNone/>
            </a:pPr>
            <a:r>
              <a:rPr lang="en-US" sz="900" b="1" spc="200" kern="0" dirty="0">
                <a:solidFill>
                  <a:srgbClr val="6B7280"/>
                </a:solidFill>
                <a:latin typeface="Calibri" pitchFamily="34" charset="0"/>
                <a:ea typeface="Calibri" pitchFamily="34" charset="-122"/>
                <a:cs typeface="Calibri" pitchFamily="34" charset="-120"/>
              </a:rPr>
              <a:t>COURSE REPO</a:t>
            </a:r>
            <a:endParaRPr lang="en-US" sz="900" dirty="0"/>
          </a:p>
        </p:txBody>
      </p:sp>
      <p:sp>
        <p:nvSpPr>
          <p:cNvPr id="10" name="Text 8"/>
          <p:cNvSpPr txBox="1"/>
          <p:nvPr/>
        </p:nvSpPr>
        <p:spPr>
          <a:xfrm>
            <a:off x="4754880" y="4160520"/>
            <a:ext cx="3840480" cy="27432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github.com/Here2ServeU/agent-cost-control</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WHAT THIS MODULE DOES; AND DOESN'T</a:t>
            </a:r>
            <a:endParaRPr lang="en-US" sz="1000" dirty="0"/>
          </a:p>
        </p:txBody>
      </p:sp>
      <p:sp>
        <p:nvSpPr>
          <p:cNvPr id="3" name="Text 1"/>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2</a:t>
            </a:r>
            <a:endParaRPr lang="en-US" sz="900" dirty="0"/>
          </a:p>
        </p:txBody>
      </p:sp>
      <p:sp>
        <p:nvSpPr>
          <p:cNvPr id="4" name="Text 2"/>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2</a:t>
            </a:r>
            <a:endParaRPr lang="en-US" sz="900" dirty="0"/>
          </a:p>
        </p:txBody>
      </p:sp>
      <p:sp>
        <p:nvSpPr>
          <p:cNvPr id="5" name="Text 3"/>
          <p:cNvSpPr txBox="1"/>
          <p:nvPr/>
        </p:nvSpPr>
        <p:spPr>
          <a:xfrm>
            <a:off x="457200" y="731520"/>
            <a:ext cx="8229600" cy="1371600"/>
          </a:xfrm>
          <a:prstGeom prst="rect">
            <a:avLst/>
          </a:prstGeom>
          <a:noFill/>
          <a:ln/>
        </p:spPr>
        <p:txBody>
          <a:bodyPr wrap="square" lIns="0" tIns="0" rIns="0" bIns="0" rtlCol="0" anchor="t"/>
          <a:lstStyle/>
          <a:p>
            <a:pPr indent="0" marL="0">
              <a:buNone/>
            </a:pPr>
            <a:r>
              <a:rPr lang="en-US" sz="3600" b="1" dirty="0">
                <a:solidFill>
                  <a:srgbClr val="111827"/>
                </a:solidFill>
                <a:latin typeface="Cambria" pitchFamily="34" charset="0"/>
                <a:ea typeface="Cambria" pitchFamily="34" charset="-122"/>
                <a:cs typeface="Cambria" pitchFamily="34" charset="-120"/>
              </a:rPr>
              <a:t>You cannot control something</a:t>
            </a:r>
            <a:endParaRPr lang="en-US" sz="3600" dirty="0"/>
          </a:p>
          <a:p>
            <a:pPr indent="0" marL="0">
              <a:buNone/>
            </a:pPr>
            <a:r>
              <a:rPr lang="en-US" sz="3600" b="1" dirty="0">
                <a:solidFill>
                  <a:srgbClr val="111827"/>
                </a:solidFill>
                <a:latin typeface="Cambria" pitchFamily="34" charset="0"/>
                <a:ea typeface="Cambria" pitchFamily="34" charset="-122"/>
                <a:cs typeface="Cambria" pitchFamily="34" charset="-120"/>
              </a:rPr>
              <a:t>you cannot see.</a:t>
            </a:r>
            <a:endParaRPr lang="en-US" sz="3600" dirty="0"/>
          </a:p>
        </p:txBody>
      </p:sp>
      <p:sp>
        <p:nvSpPr>
          <p:cNvPr id="6" name="Shape 4"/>
          <p:cNvSpPr/>
          <p:nvPr/>
        </p:nvSpPr>
        <p:spPr>
          <a:xfrm>
            <a:off x="457200" y="2514600"/>
            <a:ext cx="2606040" cy="1920240"/>
          </a:xfrm>
          <a:prstGeom prst="roundRect">
            <a:avLst>
              <a:gd name="adj" fmla="val 3810"/>
            </a:avLst>
          </a:prstGeom>
          <a:solidFill>
            <a:srgbClr val="F3F4F6"/>
          </a:solidFill>
          <a:ln w="12700">
            <a:solidFill>
              <a:srgbClr val="F3F4F6"/>
            </a:solidFill>
            <a:prstDash val="solid"/>
          </a:ln>
        </p:spPr>
      </p:sp>
      <p:sp>
        <p:nvSpPr>
          <p:cNvPr id="7" name="Shape 5"/>
          <p:cNvSpPr/>
          <p:nvPr/>
        </p:nvSpPr>
        <p:spPr>
          <a:xfrm>
            <a:off x="685800" y="2697480"/>
            <a:ext cx="384048" cy="384048"/>
          </a:xfrm>
          <a:prstGeom prst="roundRect">
            <a:avLst>
              <a:gd name="adj" fmla="val 19048"/>
            </a:avLst>
          </a:prstGeom>
          <a:solidFill>
            <a:srgbClr val="047857"/>
          </a:solidFill>
          <a:ln w="12700">
            <a:solidFill>
              <a:srgbClr val="047857"/>
            </a:solidFill>
            <a:prstDash val="solid"/>
          </a:ln>
        </p:spPr>
      </p:sp>
      <p:pic>
        <p:nvPicPr>
          <p:cNvPr id="8" name="Image 0" descr="preencoded.png">    </p:cNvPr>
          <p:cNvPicPr>
            <a:picLocks noChangeAspect="1"/>
          </p:cNvPicPr>
          <p:nvPr/>
        </p:nvPicPr>
        <p:blipFill>
          <a:blip r:embed="rId1"/>
          <a:stretch>
            <a:fillRect/>
          </a:stretch>
        </p:blipFill>
        <p:spPr>
          <a:xfrm>
            <a:off x="768096" y="2779776"/>
            <a:ext cx="219456" cy="219456"/>
          </a:xfrm>
          <a:prstGeom prst="rect">
            <a:avLst/>
          </a:prstGeom>
        </p:spPr>
      </p:pic>
      <p:sp>
        <p:nvSpPr>
          <p:cNvPr id="9" name="Text 6"/>
          <p:cNvSpPr txBox="1"/>
          <p:nvPr/>
        </p:nvSpPr>
        <p:spPr>
          <a:xfrm>
            <a:off x="685800" y="3200400"/>
            <a:ext cx="2194560" cy="41148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We keep receipts</a:t>
            </a:r>
            <a:endParaRPr lang="en-US" sz="1500" dirty="0"/>
          </a:p>
        </p:txBody>
      </p:sp>
      <p:sp>
        <p:nvSpPr>
          <p:cNvPr id="10" name="Text 7"/>
          <p:cNvSpPr txBox="1"/>
          <p:nvPr/>
        </p:nvSpPr>
        <p:spPr>
          <a:xfrm>
            <a:off x="685800" y="3657600"/>
            <a:ext cx="2194560" cy="7315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Every model call writes down what it cost and what it was for.</a:t>
            </a:r>
            <a:endParaRPr lang="en-US" sz="1200" dirty="0"/>
          </a:p>
        </p:txBody>
      </p:sp>
      <p:sp>
        <p:nvSpPr>
          <p:cNvPr id="11" name="Shape 8"/>
          <p:cNvSpPr/>
          <p:nvPr/>
        </p:nvSpPr>
        <p:spPr>
          <a:xfrm>
            <a:off x="3246120" y="2514600"/>
            <a:ext cx="2606040" cy="1920240"/>
          </a:xfrm>
          <a:prstGeom prst="roundRect">
            <a:avLst>
              <a:gd name="adj" fmla="val 3810"/>
            </a:avLst>
          </a:prstGeom>
          <a:solidFill>
            <a:srgbClr val="F3F4F6"/>
          </a:solidFill>
          <a:ln w="12700">
            <a:solidFill>
              <a:srgbClr val="F3F4F6"/>
            </a:solidFill>
            <a:prstDash val="solid"/>
          </a:ln>
        </p:spPr>
      </p:sp>
      <p:sp>
        <p:nvSpPr>
          <p:cNvPr id="12" name="Shape 9"/>
          <p:cNvSpPr/>
          <p:nvPr/>
        </p:nvSpPr>
        <p:spPr>
          <a:xfrm>
            <a:off x="3474720" y="2697480"/>
            <a:ext cx="384048" cy="384048"/>
          </a:xfrm>
          <a:prstGeom prst="roundRect">
            <a:avLst>
              <a:gd name="adj" fmla="val 19048"/>
            </a:avLst>
          </a:prstGeom>
          <a:solidFill>
            <a:srgbClr val="B45309"/>
          </a:solidFill>
          <a:ln w="12700">
            <a:solidFill>
              <a:srgbClr val="B45309"/>
            </a:solidFill>
            <a:prstDash val="solid"/>
          </a:ln>
        </p:spPr>
      </p:sp>
      <p:pic>
        <p:nvPicPr>
          <p:cNvPr id="13" name="Image 1" descr="preencoded.png">    </p:cNvPr>
          <p:cNvPicPr>
            <a:picLocks noChangeAspect="1"/>
          </p:cNvPicPr>
          <p:nvPr/>
        </p:nvPicPr>
        <p:blipFill>
          <a:blip r:embed="rId2"/>
          <a:stretch>
            <a:fillRect/>
          </a:stretch>
        </p:blipFill>
        <p:spPr>
          <a:xfrm>
            <a:off x="3557016" y="2779776"/>
            <a:ext cx="219456" cy="219456"/>
          </a:xfrm>
          <a:prstGeom prst="rect">
            <a:avLst/>
          </a:prstGeom>
        </p:spPr>
      </p:pic>
      <p:sp>
        <p:nvSpPr>
          <p:cNvPr id="14" name="Text 10"/>
          <p:cNvSpPr txBox="1"/>
          <p:nvPr/>
        </p:nvSpPr>
        <p:spPr>
          <a:xfrm>
            <a:off x="3474720" y="3200400"/>
            <a:ext cx="2194560" cy="41148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Nothing is stopped yet</a:t>
            </a:r>
            <a:endParaRPr lang="en-US" sz="1500" dirty="0"/>
          </a:p>
        </p:txBody>
      </p:sp>
      <p:sp>
        <p:nvSpPr>
          <p:cNvPr id="15" name="Text 11"/>
          <p:cNvSpPr txBox="1"/>
          <p:nvPr/>
        </p:nvSpPr>
        <p:spPr>
          <a:xfrm>
            <a:off x="3474720" y="3657600"/>
            <a:ext cx="2194560" cy="7315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No limits, no blocking, no kill switch. Your agent behaves exactly as before.</a:t>
            </a:r>
            <a:endParaRPr lang="en-US" sz="1200" dirty="0"/>
          </a:p>
        </p:txBody>
      </p:sp>
      <p:sp>
        <p:nvSpPr>
          <p:cNvPr id="16" name="Shape 12"/>
          <p:cNvSpPr/>
          <p:nvPr/>
        </p:nvSpPr>
        <p:spPr>
          <a:xfrm>
            <a:off x="6035040" y="2514600"/>
            <a:ext cx="2606040" cy="1920240"/>
          </a:xfrm>
          <a:prstGeom prst="roundRect">
            <a:avLst>
              <a:gd name="adj" fmla="val 3810"/>
            </a:avLst>
          </a:prstGeom>
          <a:solidFill>
            <a:srgbClr val="F3F4F6"/>
          </a:solidFill>
          <a:ln w="12700">
            <a:solidFill>
              <a:srgbClr val="F3F4F6"/>
            </a:solidFill>
            <a:prstDash val="solid"/>
          </a:ln>
        </p:spPr>
      </p:sp>
      <p:sp>
        <p:nvSpPr>
          <p:cNvPr id="17" name="Shape 13"/>
          <p:cNvSpPr/>
          <p:nvPr/>
        </p:nvSpPr>
        <p:spPr>
          <a:xfrm>
            <a:off x="6263640" y="2697480"/>
            <a:ext cx="384048" cy="384048"/>
          </a:xfrm>
          <a:prstGeom prst="roundRect">
            <a:avLst>
              <a:gd name="adj" fmla="val 19048"/>
            </a:avLst>
          </a:prstGeom>
          <a:solidFill>
            <a:srgbClr val="1D4ED8"/>
          </a:solidFill>
          <a:ln w="12700">
            <a:solidFill>
              <a:srgbClr val="1D4ED8"/>
            </a:solidFill>
            <a:prstDash val="solid"/>
          </a:ln>
        </p:spPr>
      </p:sp>
      <p:pic>
        <p:nvPicPr>
          <p:cNvPr id="18" name="Image 2" descr="preencoded.png">    </p:cNvPr>
          <p:cNvPicPr>
            <a:picLocks noChangeAspect="1"/>
          </p:cNvPicPr>
          <p:nvPr/>
        </p:nvPicPr>
        <p:blipFill>
          <a:blip r:embed="rId3"/>
          <a:stretch>
            <a:fillRect/>
          </a:stretch>
        </p:blipFill>
        <p:spPr>
          <a:xfrm>
            <a:off x="6345936" y="2779776"/>
            <a:ext cx="219456" cy="219456"/>
          </a:xfrm>
          <a:prstGeom prst="rect">
            <a:avLst/>
          </a:prstGeom>
        </p:spPr>
      </p:pic>
      <p:sp>
        <p:nvSpPr>
          <p:cNvPr id="19" name="Text 14"/>
          <p:cNvSpPr txBox="1"/>
          <p:nvPr/>
        </p:nvSpPr>
        <p:spPr>
          <a:xfrm>
            <a:off x="6263640" y="3200400"/>
            <a:ext cx="2194560" cy="41148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Seeing comes first</a:t>
            </a:r>
            <a:endParaRPr lang="en-US" sz="1500" dirty="0"/>
          </a:p>
        </p:txBody>
      </p:sp>
      <p:sp>
        <p:nvSpPr>
          <p:cNvPr id="20" name="Text 15"/>
          <p:cNvSpPr txBox="1"/>
          <p:nvPr/>
        </p:nvSpPr>
        <p:spPr>
          <a:xfrm>
            <a:off x="6263640" y="3657600"/>
            <a:ext cx="2194560" cy="7315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You cannot sensibly choose a limit until you can see what normal looks like.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SECTIONS AT A GLANCE</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Six sections, one habit: write it down</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2</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3</a:t>
            </a:r>
            <a:endParaRPr lang="en-US" sz="900" dirty="0"/>
          </a:p>
        </p:txBody>
      </p:sp>
      <p:sp>
        <p:nvSpPr>
          <p:cNvPr id="6" name="Shape 4"/>
          <p:cNvSpPr/>
          <p:nvPr/>
        </p:nvSpPr>
        <p:spPr>
          <a:xfrm>
            <a:off x="457200" y="1417320"/>
            <a:ext cx="2606040" cy="1371600"/>
          </a:xfrm>
          <a:prstGeom prst="roundRect">
            <a:avLst>
              <a:gd name="adj" fmla="val 5333"/>
            </a:avLst>
          </a:prstGeom>
          <a:solidFill>
            <a:srgbClr val="F3F4F6"/>
          </a:solidFill>
          <a:ln w="12700">
            <a:solidFill>
              <a:srgbClr val="F3F4F6"/>
            </a:solidFill>
            <a:prstDash val="solid"/>
          </a:ln>
        </p:spPr>
      </p:sp>
      <p:sp>
        <p:nvSpPr>
          <p:cNvPr id="7" name="Text 5"/>
          <p:cNvSpPr txBox="1"/>
          <p:nvPr/>
        </p:nvSpPr>
        <p:spPr>
          <a:xfrm>
            <a:off x="685800" y="1600200"/>
            <a:ext cx="914400" cy="457200"/>
          </a:xfrm>
          <a:prstGeom prst="rect">
            <a:avLst/>
          </a:prstGeom>
          <a:noFill/>
          <a:ln/>
        </p:spPr>
        <p:txBody>
          <a:bodyPr wrap="square" lIns="0" tIns="0" rIns="0" bIns="0" rtlCol="0" anchor="t"/>
          <a:lstStyle/>
          <a:p>
            <a:pPr indent="0" marL="0">
              <a:buNone/>
            </a:pPr>
            <a:r>
              <a:rPr lang="en-US" sz="2800" b="1" dirty="0">
                <a:solidFill>
                  <a:srgbClr val="B45309"/>
                </a:solidFill>
                <a:latin typeface="Cambria" pitchFamily="34" charset="0"/>
                <a:ea typeface="Cambria" pitchFamily="34" charset="-122"/>
                <a:cs typeface="Cambria" pitchFamily="34" charset="-120"/>
              </a:rPr>
              <a:t>01</a:t>
            </a:r>
            <a:endParaRPr lang="en-US" sz="2800" dirty="0"/>
          </a:p>
        </p:txBody>
      </p:sp>
      <p:sp>
        <p:nvSpPr>
          <p:cNvPr id="8" name="Text 6"/>
          <p:cNvSpPr txBox="1"/>
          <p:nvPr/>
        </p:nvSpPr>
        <p:spPr>
          <a:xfrm>
            <a:off x="1920240" y="1664208"/>
            <a:ext cx="960120" cy="274320"/>
          </a:xfrm>
          <a:prstGeom prst="rect">
            <a:avLst/>
          </a:prstGeom>
          <a:noFill/>
          <a:ln/>
        </p:spPr>
        <p:txBody>
          <a:bodyPr wrap="square" lIns="0" tIns="0" rIns="0" bIns="0" rtlCol="0" anchor="t"/>
          <a:lstStyle/>
          <a:p>
            <a:pPr algn="r" indent="0" marL="0">
              <a:buNone/>
            </a:pPr>
            <a:r>
              <a:rPr lang="en-US" sz="1100" dirty="0">
                <a:solidFill>
                  <a:srgbClr val="6B7280"/>
                </a:solidFill>
                <a:latin typeface="Calibri" pitchFamily="34" charset="0"/>
                <a:ea typeface="Calibri" pitchFamily="34" charset="-122"/>
                <a:cs typeface="Calibri" pitchFamily="34" charset="-120"/>
              </a:rPr>
              <a:t>~7 min</a:t>
            </a:r>
            <a:endParaRPr lang="en-US" sz="1100" dirty="0"/>
          </a:p>
        </p:txBody>
      </p:sp>
      <p:sp>
        <p:nvSpPr>
          <p:cNvPr id="9" name="Text 7"/>
          <p:cNvSpPr txBox="1"/>
          <p:nvPr/>
        </p:nvSpPr>
        <p:spPr>
          <a:xfrm>
            <a:off x="685800" y="2167128"/>
            <a:ext cx="2194560" cy="45720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No Receipts</a:t>
            </a:r>
            <a:endParaRPr lang="en-US" sz="1400" dirty="0"/>
          </a:p>
        </p:txBody>
      </p:sp>
      <p:sp>
        <p:nvSpPr>
          <p:cNvPr id="10" name="Shape 8"/>
          <p:cNvSpPr/>
          <p:nvPr/>
        </p:nvSpPr>
        <p:spPr>
          <a:xfrm>
            <a:off x="3246120" y="1417320"/>
            <a:ext cx="2606040" cy="1371600"/>
          </a:xfrm>
          <a:prstGeom prst="roundRect">
            <a:avLst>
              <a:gd name="adj" fmla="val 5333"/>
            </a:avLst>
          </a:prstGeom>
          <a:solidFill>
            <a:srgbClr val="F3F4F6"/>
          </a:solidFill>
          <a:ln w="12700">
            <a:solidFill>
              <a:srgbClr val="F3F4F6"/>
            </a:solidFill>
            <a:prstDash val="solid"/>
          </a:ln>
        </p:spPr>
      </p:sp>
      <p:sp>
        <p:nvSpPr>
          <p:cNvPr id="11" name="Text 9"/>
          <p:cNvSpPr txBox="1"/>
          <p:nvPr/>
        </p:nvSpPr>
        <p:spPr>
          <a:xfrm>
            <a:off x="3474720" y="1600200"/>
            <a:ext cx="914400" cy="457200"/>
          </a:xfrm>
          <a:prstGeom prst="rect">
            <a:avLst/>
          </a:prstGeom>
          <a:noFill/>
          <a:ln/>
        </p:spPr>
        <p:txBody>
          <a:bodyPr wrap="square" lIns="0" tIns="0" rIns="0" bIns="0" rtlCol="0" anchor="t"/>
          <a:lstStyle/>
          <a:p>
            <a:pPr indent="0" marL="0">
              <a:buNone/>
            </a:pPr>
            <a:r>
              <a:rPr lang="en-US" sz="2800" b="1" dirty="0">
                <a:solidFill>
                  <a:srgbClr val="B45309"/>
                </a:solidFill>
                <a:latin typeface="Cambria" pitchFamily="34" charset="0"/>
                <a:ea typeface="Cambria" pitchFamily="34" charset="-122"/>
                <a:cs typeface="Cambria" pitchFamily="34" charset="-120"/>
              </a:rPr>
              <a:t>02</a:t>
            </a:r>
            <a:endParaRPr lang="en-US" sz="2800" dirty="0"/>
          </a:p>
        </p:txBody>
      </p:sp>
      <p:sp>
        <p:nvSpPr>
          <p:cNvPr id="12" name="Text 10"/>
          <p:cNvSpPr txBox="1"/>
          <p:nvPr/>
        </p:nvSpPr>
        <p:spPr>
          <a:xfrm>
            <a:off x="4709160" y="1664208"/>
            <a:ext cx="960120" cy="274320"/>
          </a:xfrm>
          <a:prstGeom prst="rect">
            <a:avLst/>
          </a:prstGeom>
          <a:noFill/>
          <a:ln/>
        </p:spPr>
        <p:txBody>
          <a:bodyPr wrap="square" lIns="0" tIns="0" rIns="0" bIns="0" rtlCol="0" anchor="t"/>
          <a:lstStyle/>
          <a:p>
            <a:pPr algn="r" indent="0" marL="0">
              <a:buNone/>
            </a:pPr>
            <a:r>
              <a:rPr lang="en-US" sz="1100" dirty="0">
                <a:solidFill>
                  <a:srgbClr val="6B7280"/>
                </a:solidFill>
                <a:latin typeface="Calibri" pitchFamily="34" charset="0"/>
                <a:ea typeface="Calibri" pitchFamily="34" charset="-122"/>
                <a:cs typeface="Calibri" pitchFamily="34" charset="-120"/>
              </a:rPr>
              <a:t>~7 min</a:t>
            </a:r>
            <a:endParaRPr lang="en-US" sz="1100" dirty="0"/>
          </a:p>
        </p:txBody>
      </p:sp>
      <p:sp>
        <p:nvSpPr>
          <p:cNvPr id="13" name="Text 11"/>
          <p:cNvSpPr txBox="1"/>
          <p:nvPr/>
        </p:nvSpPr>
        <p:spPr>
          <a:xfrm>
            <a:off x="3474720" y="2167128"/>
            <a:ext cx="2194560" cy="45720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The Usage Note</a:t>
            </a:r>
            <a:endParaRPr lang="en-US" sz="1400" dirty="0"/>
          </a:p>
        </p:txBody>
      </p:sp>
      <p:sp>
        <p:nvSpPr>
          <p:cNvPr id="14" name="Shape 12"/>
          <p:cNvSpPr/>
          <p:nvPr/>
        </p:nvSpPr>
        <p:spPr>
          <a:xfrm>
            <a:off x="6035040" y="1417320"/>
            <a:ext cx="2606040" cy="1371600"/>
          </a:xfrm>
          <a:prstGeom prst="roundRect">
            <a:avLst>
              <a:gd name="adj" fmla="val 5333"/>
            </a:avLst>
          </a:prstGeom>
          <a:solidFill>
            <a:srgbClr val="F3F4F6"/>
          </a:solidFill>
          <a:ln w="12700">
            <a:solidFill>
              <a:srgbClr val="F3F4F6"/>
            </a:solidFill>
            <a:prstDash val="solid"/>
          </a:ln>
        </p:spPr>
      </p:sp>
      <p:sp>
        <p:nvSpPr>
          <p:cNvPr id="15" name="Text 13"/>
          <p:cNvSpPr txBox="1"/>
          <p:nvPr/>
        </p:nvSpPr>
        <p:spPr>
          <a:xfrm>
            <a:off x="6263640" y="1600200"/>
            <a:ext cx="914400" cy="457200"/>
          </a:xfrm>
          <a:prstGeom prst="rect">
            <a:avLst/>
          </a:prstGeom>
          <a:noFill/>
          <a:ln/>
        </p:spPr>
        <p:txBody>
          <a:bodyPr wrap="square" lIns="0" tIns="0" rIns="0" bIns="0" rtlCol="0" anchor="t"/>
          <a:lstStyle/>
          <a:p>
            <a:pPr indent="0" marL="0">
              <a:buNone/>
            </a:pPr>
            <a:r>
              <a:rPr lang="en-US" sz="2800" b="1" dirty="0">
                <a:solidFill>
                  <a:srgbClr val="B45309"/>
                </a:solidFill>
                <a:latin typeface="Cambria" pitchFamily="34" charset="0"/>
                <a:ea typeface="Cambria" pitchFamily="34" charset="-122"/>
                <a:cs typeface="Cambria" pitchFamily="34" charset="-120"/>
              </a:rPr>
              <a:t>03</a:t>
            </a:r>
            <a:endParaRPr lang="en-US" sz="2800" dirty="0"/>
          </a:p>
        </p:txBody>
      </p:sp>
      <p:sp>
        <p:nvSpPr>
          <p:cNvPr id="16" name="Text 14"/>
          <p:cNvSpPr txBox="1"/>
          <p:nvPr/>
        </p:nvSpPr>
        <p:spPr>
          <a:xfrm>
            <a:off x="7498080" y="1664208"/>
            <a:ext cx="960120" cy="274320"/>
          </a:xfrm>
          <a:prstGeom prst="rect">
            <a:avLst/>
          </a:prstGeom>
          <a:noFill/>
          <a:ln/>
        </p:spPr>
        <p:txBody>
          <a:bodyPr wrap="square" lIns="0" tIns="0" rIns="0" bIns="0" rtlCol="0" anchor="t"/>
          <a:lstStyle/>
          <a:p>
            <a:pPr algn="r" indent="0" marL="0">
              <a:buNone/>
            </a:pPr>
            <a:r>
              <a:rPr lang="en-US" sz="1100" dirty="0">
                <a:solidFill>
                  <a:srgbClr val="6B7280"/>
                </a:solidFill>
                <a:latin typeface="Calibri" pitchFamily="34" charset="0"/>
                <a:ea typeface="Calibri" pitchFamily="34" charset="-122"/>
                <a:cs typeface="Calibri" pitchFamily="34" charset="-120"/>
              </a:rPr>
              <a:t>~8 min</a:t>
            </a:r>
            <a:endParaRPr lang="en-US" sz="1100" dirty="0"/>
          </a:p>
        </p:txBody>
      </p:sp>
      <p:sp>
        <p:nvSpPr>
          <p:cNvPr id="17" name="Text 15"/>
          <p:cNvSpPr txBox="1"/>
          <p:nvPr/>
        </p:nvSpPr>
        <p:spPr>
          <a:xfrm>
            <a:off x="6263640" y="2167128"/>
            <a:ext cx="2194560" cy="45720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Wrap, Don't Rewrite</a:t>
            </a:r>
            <a:endParaRPr lang="en-US" sz="1400" dirty="0"/>
          </a:p>
        </p:txBody>
      </p:sp>
      <p:sp>
        <p:nvSpPr>
          <p:cNvPr id="18" name="Shape 16"/>
          <p:cNvSpPr/>
          <p:nvPr/>
        </p:nvSpPr>
        <p:spPr>
          <a:xfrm>
            <a:off x="457200" y="2971800"/>
            <a:ext cx="2606040" cy="1371600"/>
          </a:xfrm>
          <a:prstGeom prst="roundRect">
            <a:avLst>
              <a:gd name="adj" fmla="val 5333"/>
            </a:avLst>
          </a:prstGeom>
          <a:solidFill>
            <a:srgbClr val="F3F4F6"/>
          </a:solidFill>
          <a:ln w="12700">
            <a:solidFill>
              <a:srgbClr val="F3F4F6"/>
            </a:solidFill>
            <a:prstDash val="solid"/>
          </a:ln>
        </p:spPr>
      </p:sp>
      <p:sp>
        <p:nvSpPr>
          <p:cNvPr id="19" name="Text 17"/>
          <p:cNvSpPr txBox="1"/>
          <p:nvPr/>
        </p:nvSpPr>
        <p:spPr>
          <a:xfrm>
            <a:off x="685800" y="3154680"/>
            <a:ext cx="914400" cy="457200"/>
          </a:xfrm>
          <a:prstGeom prst="rect">
            <a:avLst/>
          </a:prstGeom>
          <a:noFill/>
          <a:ln/>
        </p:spPr>
        <p:txBody>
          <a:bodyPr wrap="square" lIns="0" tIns="0" rIns="0" bIns="0" rtlCol="0" anchor="t"/>
          <a:lstStyle/>
          <a:p>
            <a:pPr indent="0" marL="0">
              <a:buNone/>
            </a:pPr>
            <a:r>
              <a:rPr lang="en-US" sz="2800" b="1" dirty="0">
                <a:solidFill>
                  <a:srgbClr val="B45309"/>
                </a:solidFill>
                <a:latin typeface="Cambria" pitchFamily="34" charset="0"/>
                <a:ea typeface="Cambria" pitchFamily="34" charset="-122"/>
                <a:cs typeface="Cambria" pitchFamily="34" charset="-120"/>
              </a:rPr>
              <a:t>04</a:t>
            </a:r>
            <a:endParaRPr lang="en-US" sz="2800" dirty="0"/>
          </a:p>
        </p:txBody>
      </p:sp>
      <p:sp>
        <p:nvSpPr>
          <p:cNvPr id="20" name="Text 18"/>
          <p:cNvSpPr txBox="1"/>
          <p:nvPr/>
        </p:nvSpPr>
        <p:spPr>
          <a:xfrm>
            <a:off x="1920240" y="3218688"/>
            <a:ext cx="960120" cy="274320"/>
          </a:xfrm>
          <a:prstGeom prst="rect">
            <a:avLst/>
          </a:prstGeom>
          <a:noFill/>
          <a:ln/>
        </p:spPr>
        <p:txBody>
          <a:bodyPr wrap="square" lIns="0" tIns="0" rIns="0" bIns="0" rtlCol="0" anchor="t"/>
          <a:lstStyle/>
          <a:p>
            <a:pPr algn="r" indent="0" marL="0">
              <a:buNone/>
            </a:pPr>
            <a:r>
              <a:rPr lang="en-US" sz="1100" dirty="0">
                <a:solidFill>
                  <a:srgbClr val="6B7280"/>
                </a:solidFill>
                <a:latin typeface="Calibri" pitchFamily="34" charset="0"/>
                <a:ea typeface="Calibri" pitchFamily="34" charset="-122"/>
                <a:cs typeface="Calibri" pitchFamily="34" charset="-120"/>
              </a:rPr>
              <a:t>~8 min</a:t>
            </a:r>
            <a:endParaRPr lang="en-US" sz="1100" dirty="0"/>
          </a:p>
        </p:txBody>
      </p:sp>
      <p:sp>
        <p:nvSpPr>
          <p:cNvPr id="21" name="Text 19"/>
          <p:cNvSpPr txBox="1"/>
          <p:nvPr/>
        </p:nvSpPr>
        <p:spPr>
          <a:xfrm>
            <a:off x="685800" y="3721608"/>
            <a:ext cx="2194560" cy="45720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Four Labels</a:t>
            </a:r>
            <a:endParaRPr lang="en-US" sz="1400" dirty="0"/>
          </a:p>
        </p:txBody>
      </p:sp>
      <p:sp>
        <p:nvSpPr>
          <p:cNvPr id="22" name="Shape 20"/>
          <p:cNvSpPr/>
          <p:nvPr/>
        </p:nvSpPr>
        <p:spPr>
          <a:xfrm>
            <a:off x="3246120" y="2971800"/>
            <a:ext cx="2606040" cy="1371600"/>
          </a:xfrm>
          <a:prstGeom prst="roundRect">
            <a:avLst>
              <a:gd name="adj" fmla="val 5333"/>
            </a:avLst>
          </a:prstGeom>
          <a:solidFill>
            <a:srgbClr val="F3F4F6"/>
          </a:solidFill>
          <a:ln w="12700">
            <a:solidFill>
              <a:srgbClr val="F3F4F6"/>
            </a:solidFill>
            <a:prstDash val="solid"/>
          </a:ln>
        </p:spPr>
      </p:sp>
      <p:sp>
        <p:nvSpPr>
          <p:cNvPr id="23" name="Text 21"/>
          <p:cNvSpPr txBox="1"/>
          <p:nvPr/>
        </p:nvSpPr>
        <p:spPr>
          <a:xfrm>
            <a:off x="3474720" y="3154680"/>
            <a:ext cx="914400" cy="457200"/>
          </a:xfrm>
          <a:prstGeom prst="rect">
            <a:avLst/>
          </a:prstGeom>
          <a:noFill/>
          <a:ln/>
        </p:spPr>
        <p:txBody>
          <a:bodyPr wrap="square" lIns="0" tIns="0" rIns="0" bIns="0" rtlCol="0" anchor="t"/>
          <a:lstStyle/>
          <a:p>
            <a:pPr indent="0" marL="0">
              <a:buNone/>
            </a:pPr>
            <a:r>
              <a:rPr lang="en-US" sz="2800" b="1" dirty="0">
                <a:solidFill>
                  <a:srgbClr val="B45309"/>
                </a:solidFill>
                <a:latin typeface="Cambria" pitchFamily="34" charset="0"/>
                <a:ea typeface="Cambria" pitchFamily="34" charset="-122"/>
                <a:cs typeface="Cambria" pitchFamily="34" charset="-120"/>
              </a:rPr>
              <a:t>05</a:t>
            </a:r>
            <a:endParaRPr lang="en-US" sz="2800" dirty="0"/>
          </a:p>
        </p:txBody>
      </p:sp>
      <p:sp>
        <p:nvSpPr>
          <p:cNvPr id="24" name="Text 22"/>
          <p:cNvSpPr txBox="1"/>
          <p:nvPr/>
        </p:nvSpPr>
        <p:spPr>
          <a:xfrm>
            <a:off x="4709160" y="3218688"/>
            <a:ext cx="960120" cy="274320"/>
          </a:xfrm>
          <a:prstGeom prst="rect">
            <a:avLst/>
          </a:prstGeom>
          <a:noFill/>
          <a:ln/>
        </p:spPr>
        <p:txBody>
          <a:bodyPr wrap="square" lIns="0" tIns="0" rIns="0" bIns="0" rtlCol="0" anchor="t"/>
          <a:lstStyle/>
          <a:p>
            <a:pPr algn="r" indent="0" marL="0">
              <a:buNone/>
            </a:pPr>
            <a:r>
              <a:rPr lang="en-US" sz="1100" dirty="0">
                <a:solidFill>
                  <a:srgbClr val="6B7280"/>
                </a:solidFill>
                <a:latin typeface="Calibri" pitchFamily="34" charset="0"/>
                <a:ea typeface="Calibri" pitchFamily="34" charset="-122"/>
                <a:cs typeface="Calibri" pitchFamily="34" charset="-120"/>
              </a:rPr>
              <a:t>~7 min</a:t>
            </a:r>
            <a:endParaRPr lang="en-US" sz="1100" dirty="0"/>
          </a:p>
        </p:txBody>
      </p:sp>
      <p:sp>
        <p:nvSpPr>
          <p:cNvPr id="25" name="Text 23"/>
          <p:cNvSpPr txBox="1"/>
          <p:nvPr/>
        </p:nvSpPr>
        <p:spPr>
          <a:xfrm>
            <a:off x="3474720" y="3721608"/>
            <a:ext cx="2194560" cy="45720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Number to Picture</a:t>
            </a:r>
            <a:endParaRPr lang="en-US" sz="1400" dirty="0"/>
          </a:p>
        </p:txBody>
      </p:sp>
      <p:sp>
        <p:nvSpPr>
          <p:cNvPr id="26" name="Shape 24"/>
          <p:cNvSpPr/>
          <p:nvPr/>
        </p:nvSpPr>
        <p:spPr>
          <a:xfrm>
            <a:off x="6035040" y="2971800"/>
            <a:ext cx="2606040" cy="1371600"/>
          </a:xfrm>
          <a:prstGeom prst="roundRect">
            <a:avLst>
              <a:gd name="adj" fmla="val 5333"/>
            </a:avLst>
          </a:prstGeom>
          <a:solidFill>
            <a:srgbClr val="111827"/>
          </a:solidFill>
          <a:ln w="12700">
            <a:solidFill>
              <a:srgbClr val="111827"/>
            </a:solidFill>
            <a:prstDash val="solid"/>
          </a:ln>
        </p:spPr>
      </p:sp>
      <p:sp>
        <p:nvSpPr>
          <p:cNvPr id="27" name="Text 25"/>
          <p:cNvSpPr txBox="1"/>
          <p:nvPr/>
        </p:nvSpPr>
        <p:spPr>
          <a:xfrm>
            <a:off x="6263640" y="3154680"/>
            <a:ext cx="914400" cy="457200"/>
          </a:xfrm>
          <a:prstGeom prst="rect">
            <a:avLst/>
          </a:prstGeom>
          <a:noFill/>
          <a:ln/>
        </p:spPr>
        <p:txBody>
          <a:bodyPr wrap="square" lIns="0" tIns="0" rIns="0" bIns="0" rtlCol="0" anchor="t"/>
          <a:lstStyle/>
          <a:p>
            <a:pPr indent="0" marL="0">
              <a:buNone/>
            </a:pPr>
            <a:r>
              <a:rPr lang="en-US" sz="2800" b="1" dirty="0">
                <a:solidFill>
                  <a:srgbClr val="F59E0B"/>
                </a:solidFill>
                <a:latin typeface="Cambria" pitchFamily="34" charset="0"/>
                <a:ea typeface="Cambria" pitchFamily="34" charset="-122"/>
                <a:cs typeface="Cambria" pitchFamily="34" charset="-120"/>
              </a:rPr>
              <a:t>06</a:t>
            </a:r>
            <a:endParaRPr lang="en-US" sz="2800" dirty="0"/>
          </a:p>
        </p:txBody>
      </p:sp>
      <p:sp>
        <p:nvSpPr>
          <p:cNvPr id="28" name="Text 26"/>
          <p:cNvSpPr txBox="1"/>
          <p:nvPr/>
        </p:nvSpPr>
        <p:spPr>
          <a:xfrm>
            <a:off x="7498080" y="3218688"/>
            <a:ext cx="960120" cy="274320"/>
          </a:xfrm>
          <a:prstGeom prst="rect">
            <a:avLst/>
          </a:prstGeom>
          <a:noFill/>
          <a:ln/>
        </p:spPr>
        <p:txBody>
          <a:bodyPr wrap="square" lIns="0" tIns="0" rIns="0" bIns="0" rtlCol="0" anchor="t"/>
          <a:lstStyle/>
          <a:p>
            <a:pPr algn="r" indent="0" marL="0">
              <a:buNone/>
            </a:pPr>
            <a:r>
              <a:rPr lang="en-US" sz="1100" dirty="0">
                <a:solidFill>
                  <a:srgbClr val="9CA3AF"/>
                </a:solidFill>
                <a:latin typeface="Calibri" pitchFamily="34" charset="0"/>
                <a:ea typeface="Calibri" pitchFamily="34" charset="-122"/>
                <a:cs typeface="Calibri" pitchFamily="34" charset="-120"/>
              </a:rPr>
              <a:t>~10 min</a:t>
            </a:r>
            <a:endParaRPr lang="en-US" sz="1100" dirty="0"/>
          </a:p>
        </p:txBody>
      </p:sp>
      <p:sp>
        <p:nvSpPr>
          <p:cNvPr id="29" name="Text 27"/>
          <p:cNvSpPr txBox="1"/>
          <p:nvPr/>
        </p:nvSpPr>
        <p:spPr>
          <a:xfrm>
            <a:off x="6263640" y="3721608"/>
            <a:ext cx="2194560" cy="45720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Build It</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BEFORE YOU START</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Install what you need</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2</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4</a:t>
            </a:r>
            <a:endParaRPr lang="en-US" sz="900" dirty="0"/>
          </a:p>
        </p:txBody>
      </p:sp>
      <p:sp>
        <p:nvSpPr>
          <p:cNvPr id="6" name="Text 4"/>
          <p:cNvSpPr txBox="1"/>
          <p:nvPr/>
        </p:nvSpPr>
        <p:spPr>
          <a:xfrm>
            <a:off x="457200" y="1188720"/>
            <a:ext cx="8229600" cy="320040"/>
          </a:xfrm>
          <a:prstGeom prst="rect">
            <a:avLst/>
          </a:prstGeom>
          <a:noFill/>
          <a:ln/>
        </p:spPr>
        <p:txBody>
          <a:bodyPr wrap="square" lIns="0" tIns="0" rIns="0" bIns="0" rtlCol="0" anchor="t"/>
          <a:lstStyle/>
          <a:p>
            <a:pPr indent="0" marL="0">
              <a:buNone/>
            </a:pPr>
            <a:r>
              <a:rPr lang="en-US" sz="1400" dirty="0">
                <a:solidFill>
                  <a:srgbClr val="6B7280"/>
                </a:solidFill>
                <a:latin typeface="Calibri" pitchFamily="34" charset="0"/>
                <a:ea typeface="Calibri" pitchFamily="34" charset="-122"/>
                <a:cs typeface="Calibri" pitchFamily="34" charset="-120"/>
              </a:rPr>
              <a:t>Ten minutes once, and every command in this module will run. Pick your side.</a:t>
            </a:r>
            <a:endParaRPr lang="en-US" sz="1400" dirty="0"/>
          </a:p>
        </p:txBody>
      </p:sp>
      <p:sp>
        <p:nvSpPr>
          <p:cNvPr id="7" name="Shape 5"/>
          <p:cNvSpPr/>
          <p:nvPr/>
        </p:nvSpPr>
        <p:spPr>
          <a:xfrm>
            <a:off x="457200" y="1600200"/>
            <a:ext cx="4023360" cy="2148840"/>
          </a:xfrm>
          <a:prstGeom prst="roundRect">
            <a:avLst>
              <a:gd name="adj" fmla="val 3404"/>
            </a:avLst>
          </a:prstGeom>
          <a:solidFill>
            <a:srgbClr val="F3F4F6"/>
          </a:solidFill>
          <a:ln w="12700">
            <a:solidFill>
              <a:srgbClr val="F3F4F6"/>
            </a:solidFill>
            <a:prstDash val="solid"/>
          </a:ln>
        </p:spPr>
      </p:sp>
      <p:sp>
        <p:nvSpPr>
          <p:cNvPr id="8" name="Text 6"/>
          <p:cNvSpPr txBox="1"/>
          <p:nvPr/>
        </p:nvSpPr>
        <p:spPr>
          <a:xfrm>
            <a:off x="685800" y="1737360"/>
            <a:ext cx="3566160" cy="274320"/>
          </a:xfrm>
          <a:prstGeom prst="rect">
            <a:avLst/>
          </a:prstGeom>
          <a:noFill/>
          <a:ln/>
        </p:spPr>
        <p:txBody>
          <a:bodyPr wrap="square" lIns="0" tIns="0" rIns="0" bIns="0" rtlCol="0" anchor="t"/>
          <a:lstStyle/>
          <a:p>
            <a:pPr indent="0" marL="0">
              <a:buNone/>
            </a:pPr>
            <a:r>
              <a:rPr lang="en-US" sz="1100" b="1" spc="100" kern="0" dirty="0">
                <a:solidFill>
                  <a:srgbClr val="1D4ED8"/>
                </a:solidFill>
                <a:latin typeface="Calibri" pitchFamily="34" charset="0"/>
                <a:ea typeface="Calibri" pitchFamily="34" charset="-122"/>
                <a:cs typeface="Calibri" pitchFamily="34" charset="-120"/>
              </a:rPr>
              <a:t>macOS  ·  TERMINAL</a:t>
            </a:r>
            <a:endParaRPr lang="en-US" sz="1100" dirty="0"/>
          </a:p>
        </p:txBody>
      </p:sp>
      <p:sp>
        <p:nvSpPr>
          <p:cNvPr id="9" name="Shape 7"/>
          <p:cNvSpPr/>
          <p:nvPr/>
        </p:nvSpPr>
        <p:spPr>
          <a:xfrm>
            <a:off x="685800" y="2057400"/>
            <a:ext cx="3566160" cy="1508760"/>
          </a:xfrm>
          <a:prstGeom prst="roundRect">
            <a:avLst>
              <a:gd name="adj" fmla="val 4848"/>
            </a:avLst>
          </a:prstGeom>
          <a:solidFill>
            <a:srgbClr val="0F172A"/>
          </a:solidFill>
          <a:ln w="12700">
            <a:solidFill>
              <a:srgbClr val="0F172A"/>
            </a:solidFill>
            <a:prstDash val="solid"/>
          </a:ln>
        </p:spPr>
      </p:sp>
      <p:sp>
        <p:nvSpPr>
          <p:cNvPr id="10" name="Text 8"/>
          <p:cNvSpPr txBox="1"/>
          <p:nvPr/>
        </p:nvSpPr>
        <p:spPr>
          <a:xfrm>
            <a:off x="868680" y="2194560"/>
            <a:ext cx="3291840" cy="1280160"/>
          </a:xfrm>
          <a:prstGeom prst="rect">
            <a:avLst/>
          </a:prstGeom>
          <a:noFill/>
          <a:ln/>
        </p:spPr>
        <p:txBody>
          <a:bodyPr wrap="square" lIns="0" tIns="0" rIns="0" bIns="0" rtlCol="0" anchor="t"/>
          <a:lstStyle/>
          <a:p>
            <a:pPr indent="0" marL="0">
              <a:buNone/>
            </a:pPr>
            <a:r>
              <a:rPr lang="en-US" sz="950" dirty="0">
                <a:solidFill>
                  <a:srgbClr val="9CA3AF"/>
                </a:solidFill>
                <a:latin typeface="Courier New" pitchFamily="34" charset="0"/>
                <a:ea typeface="Courier New" pitchFamily="34" charset="-122"/>
                <a:cs typeface="Courier New" pitchFamily="34" charset="-120"/>
              </a:rPr>
              <a:t># install Homebrew first: brew.sh</a:t>
            </a:r>
            <a:endParaRPr lang="en-US" sz="950" dirty="0"/>
          </a:p>
          <a:p>
            <a:pPr indent="0" marL="0">
              <a:buNone/>
            </a:pPr>
            <a:r>
              <a:rPr lang="en-US" sz="950" dirty="0">
                <a:solidFill>
                  <a:srgbClr val="E8EAED"/>
                </a:solidFill>
                <a:latin typeface="Courier New" pitchFamily="34" charset="0"/>
                <a:ea typeface="Courier New" pitchFamily="34" charset="-122"/>
                <a:cs typeface="Courier New" pitchFamily="34" charset="-120"/>
              </a:rPr>
              <a:t>$ brew install python git</a:t>
            </a:r>
            <a:endParaRPr lang="en-US" sz="950" dirty="0"/>
          </a:p>
          <a:p>
            <a:pPr indent="0" marL="0">
              <a:buNone/>
            </a:pPr>
            <a:r>
              <a:rPr lang="en-US" sz="950" dirty="0">
                <a:solidFill>
                  <a:srgbClr val="E8EAED"/>
                </a:solidFill>
                <a:latin typeface="Courier New" pitchFamily="34" charset="0"/>
                <a:ea typeface="Courier New" pitchFamily="34" charset="-122"/>
                <a:cs typeface="Courier New" pitchFamily="34" charset="-120"/>
              </a:rPr>
              <a:t>$ brew install --cask \</a:t>
            </a:r>
            <a:endParaRPr lang="en-US" sz="950" dirty="0"/>
          </a:p>
          <a:p>
            <a:pPr indent="0" marL="0">
              <a:buNone/>
            </a:pPr>
            <a:r>
              <a:rPr lang="en-US" sz="950" dirty="0">
                <a:solidFill>
                  <a:srgbClr val="E8EAED"/>
                </a:solidFill>
                <a:latin typeface="Courier New" pitchFamily="34" charset="0"/>
                <a:ea typeface="Courier New" pitchFamily="34" charset="-122"/>
                <a:cs typeface="Courier New" pitchFamily="34" charset="-120"/>
              </a:rPr>
              <a:t>      visual-studio-code</a:t>
            </a:r>
            <a:endParaRPr lang="en-US" sz="950" dirty="0"/>
          </a:p>
          <a:p>
            <a:pPr indent="0" marL="0">
              <a:buNone/>
            </a:pPr>
            <a:r>
              <a:rPr lang="en-US" sz="950" dirty="0">
                <a:solidFill>
                  <a:srgbClr val="E8EAED"/>
                </a:solidFill>
                <a:latin typeface="Courier New" pitchFamily="34" charset="0"/>
                <a:ea typeface="Courier New" pitchFamily="34" charset="-122"/>
                <a:cs typeface="Courier New" pitchFamily="34" charset="-120"/>
              </a:rPr>
              <a:t>$ python3 --version &amp;&amp; git --version</a:t>
            </a:r>
            <a:endParaRPr lang="en-US" sz="950" dirty="0"/>
          </a:p>
        </p:txBody>
      </p:sp>
      <p:sp>
        <p:nvSpPr>
          <p:cNvPr id="11" name="Shape 9"/>
          <p:cNvSpPr/>
          <p:nvPr/>
        </p:nvSpPr>
        <p:spPr>
          <a:xfrm>
            <a:off x="4663440" y="1600200"/>
            <a:ext cx="4023360" cy="2148840"/>
          </a:xfrm>
          <a:prstGeom prst="roundRect">
            <a:avLst>
              <a:gd name="adj" fmla="val 3404"/>
            </a:avLst>
          </a:prstGeom>
          <a:solidFill>
            <a:srgbClr val="F3F4F6"/>
          </a:solidFill>
          <a:ln w="12700">
            <a:solidFill>
              <a:srgbClr val="F3F4F6"/>
            </a:solidFill>
            <a:prstDash val="solid"/>
          </a:ln>
        </p:spPr>
      </p:sp>
      <p:sp>
        <p:nvSpPr>
          <p:cNvPr id="12" name="Text 10"/>
          <p:cNvSpPr txBox="1"/>
          <p:nvPr/>
        </p:nvSpPr>
        <p:spPr>
          <a:xfrm>
            <a:off x="4892040" y="1737360"/>
            <a:ext cx="3566160" cy="274320"/>
          </a:xfrm>
          <a:prstGeom prst="rect">
            <a:avLst/>
          </a:prstGeom>
          <a:noFill/>
          <a:ln/>
        </p:spPr>
        <p:txBody>
          <a:bodyPr wrap="square" lIns="0" tIns="0" rIns="0" bIns="0" rtlCol="0" anchor="t"/>
          <a:lstStyle/>
          <a:p>
            <a:pPr indent="0" marL="0">
              <a:buNone/>
            </a:pPr>
            <a:r>
              <a:rPr lang="en-US" sz="1100" b="1" spc="100" kern="0" dirty="0">
                <a:solidFill>
                  <a:srgbClr val="6D28D9"/>
                </a:solidFill>
                <a:latin typeface="Calibri" pitchFamily="34" charset="0"/>
                <a:ea typeface="Calibri" pitchFamily="34" charset="-122"/>
                <a:cs typeface="Calibri" pitchFamily="34" charset="-120"/>
              </a:rPr>
              <a:t>WINDOWS  ·  POWERSHELL</a:t>
            </a:r>
            <a:endParaRPr lang="en-US" sz="1100" dirty="0"/>
          </a:p>
        </p:txBody>
      </p:sp>
      <p:sp>
        <p:nvSpPr>
          <p:cNvPr id="13" name="Shape 11"/>
          <p:cNvSpPr/>
          <p:nvPr/>
        </p:nvSpPr>
        <p:spPr>
          <a:xfrm>
            <a:off x="4892040" y="2057400"/>
            <a:ext cx="3566160" cy="1508760"/>
          </a:xfrm>
          <a:prstGeom prst="roundRect">
            <a:avLst>
              <a:gd name="adj" fmla="val 4848"/>
            </a:avLst>
          </a:prstGeom>
          <a:solidFill>
            <a:srgbClr val="0F172A"/>
          </a:solidFill>
          <a:ln w="12700">
            <a:solidFill>
              <a:srgbClr val="0F172A"/>
            </a:solidFill>
            <a:prstDash val="solid"/>
          </a:ln>
        </p:spPr>
      </p:sp>
      <p:sp>
        <p:nvSpPr>
          <p:cNvPr id="14" name="Text 12"/>
          <p:cNvSpPr txBox="1"/>
          <p:nvPr/>
        </p:nvSpPr>
        <p:spPr>
          <a:xfrm>
            <a:off x="5074920" y="2194560"/>
            <a:ext cx="3291840" cy="1280160"/>
          </a:xfrm>
          <a:prstGeom prst="rect">
            <a:avLst/>
          </a:prstGeom>
          <a:noFill/>
          <a:ln/>
        </p:spPr>
        <p:txBody>
          <a:bodyPr wrap="square" lIns="0" tIns="0" rIns="0" bIns="0" rtlCol="0" anchor="t"/>
          <a:lstStyle/>
          <a:p>
            <a:pPr indent="0" marL="0">
              <a:buNone/>
            </a:pPr>
            <a:r>
              <a:rPr lang="en-US" sz="950" dirty="0">
                <a:solidFill>
                  <a:srgbClr val="9CA3AF"/>
                </a:solidFill>
                <a:latin typeface="Courier New" pitchFamily="34" charset="0"/>
                <a:ea typeface="Courier New" pitchFamily="34" charset="-122"/>
                <a:cs typeface="Courier New" pitchFamily="34" charset="-120"/>
              </a:rPr>
              <a:t># winget ships with Windows 11</a:t>
            </a:r>
            <a:endParaRPr lang="en-US" sz="950" dirty="0"/>
          </a:p>
          <a:p>
            <a:pPr indent="0" marL="0">
              <a:buNone/>
            </a:pPr>
            <a:r>
              <a:rPr lang="en-US" sz="950" dirty="0">
                <a:solidFill>
                  <a:srgbClr val="E8EAED"/>
                </a:solidFill>
                <a:latin typeface="Courier New" pitchFamily="34" charset="0"/>
                <a:ea typeface="Courier New" pitchFamily="34" charset="-122"/>
                <a:cs typeface="Courier New" pitchFamily="34" charset="-120"/>
              </a:rPr>
              <a:t>&gt; winget install Python.Python.3.12</a:t>
            </a:r>
            <a:endParaRPr lang="en-US" sz="950" dirty="0"/>
          </a:p>
          <a:p>
            <a:pPr indent="0" marL="0">
              <a:buNone/>
            </a:pPr>
            <a:r>
              <a:rPr lang="en-US" sz="950" dirty="0">
                <a:solidFill>
                  <a:srgbClr val="E8EAED"/>
                </a:solidFill>
                <a:latin typeface="Courier New" pitchFamily="34" charset="0"/>
                <a:ea typeface="Courier New" pitchFamily="34" charset="-122"/>
                <a:cs typeface="Courier New" pitchFamily="34" charset="-120"/>
              </a:rPr>
              <a:t>&gt; winget install Git.Git</a:t>
            </a:r>
            <a:endParaRPr lang="en-US" sz="950" dirty="0"/>
          </a:p>
          <a:p>
            <a:pPr indent="0" marL="0">
              <a:buNone/>
            </a:pPr>
            <a:r>
              <a:rPr lang="en-US" sz="950" dirty="0">
                <a:solidFill>
                  <a:srgbClr val="E8EAED"/>
                </a:solidFill>
                <a:latin typeface="Courier New" pitchFamily="34" charset="0"/>
                <a:ea typeface="Courier New" pitchFamily="34" charset="-122"/>
                <a:cs typeface="Courier New" pitchFamily="34" charset="-120"/>
              </a:rPr>
              <a:t>&gt; winget install \</a:t>
            </a:r>
            <a:endParaRPr lang="en-US" sz="950" dirty="0"/>
          </a:p>
          <a:p>
            <a:pPr indent="0" marL="0">
              <a:buNone/>
            </a:pPr>
            <a:r>
              <a:rPr lang="en-US" sz="950" dirty="0">
                <a:solidFill>
                  <a:srgbClr val="E8EAED"/>
                </a:solidFill>
                <a:latin typeface="Courier New" pitchFamily="34" charset="0"/>
                <a:ea typeface="Courier New" pitchFamily="34" charset="-122"/>
                <a:cs typeface="Courier New" pitchFamily="34" charset="-120"/>
              </a:rPr>
              <a:t>      Microsoft.VisualStudioCode</a:t>
            </a:r>
            <a:endParaRPr lang="en-US" sz="950" dirty="0"/>
          </a:p>
          <a:p>
            <a:pPr indent="0" marL="0">
              <a:buNone/>
            </a:pPr>
            <a:r>
              <a:rPr lang="en-US" sz="950" dirty="0">
                <a:solidFill>
                  <a:srgbClr val="E8EAED"/>
                </a:solidFill>
                <a:latin typeface="Courier New" pitchFamily="34" charset="0"/>
                <a:ea typeface="Courier New" pitchFamily="34" charset="-122"/>
                <a:cs typeface="Courier New" pitchFamily="34" charset="-120"/>
              </a:rPr>
              <a:t>&gt; py --version; git --version</a:t>
            </a:r>
            <a:endParaRPr lang="en-US" sz="950" dirty="0"/>
          </a:p>
        </p:txBody>
      </p:sp>
      <p:sp>
        <p:nvSpPr>
          <p:cNvPr id="15" name="Text 13"/>
          <p:cNvSpPr txBox="1"/>
          <p:nvPr/>
        </p:nvSpPr>
        <p:spPr>
          <a:xfrm>
            <a:off x="457200" y="3840480"/>
            <a:ext cx="8229600" cy="274320"/>
          </a:xfrm>
          <a:prstGeom prst="rect">
            <a:avLst/>
          </a:prstGeom>
          <a:noFill/>
          <a:ln/>
        </p:spPr>
        <p:txBody>
          <a:bodyPr wrap="square" lIns="0" tIns="0" rIns="0" bIns="0" rtlCol="0" anchor="t"/>
          <a:lstStyle/>
          <a:p>
            <a:pPr indent="0" marL="0">
              <a:buNone/>
            </a:pPr>
            <a:r>
              <a:rPr lang="en-US" sz="1000" b="1" spc="200" kern="0" dirty="0">
                <a:solidFill>
                  <a:srgbClr val="6B7280"/>
                </a:solidFill>
                <a:latin typeface="Calibri" pitchFamily="34" charset="0"/>
                <a:ea typeface="Calibri" pitchFamily="34" charset="-122"/>
                <a:cs typeface="Calibri" pitchFamily="34" charset="-120"/>
              </a:rPr>
              <a:t>WHAT MODULE 2 ADDS</a:t>
            </a:r>
            <a:endParaRPr lang="en-US" sz="1000" dirty="0"/>
          </a:p>
        </p:txBody>
      </p:sp>
      <p:sp>
        <p:nvSpPr>
          <p:cNvPr id="16" name="Shape 14"/>
          <p:cNvSpPr/>
          <p:nvPr/>
        </p:nvSpPr>
        <p:spPr>
          <a:xfrm>
            <a:off x="457200" y="4114800"/>
            <a:ext cx="2606040" cy="594360"/>
          </a:xfrm>
          <a:prstGeom prst="roundRect">
            <a:avLst>
              <a:gd name="adj" fmla="val 12308"/>
            </a:avLst>
          </a:prstGeom>
          <a:solidFill>
            <a:srgbClr val="ECFDF5"/>
          </a:solidFill>
          <a:ln w="12700">
            <a:solidFill>
              <a:srgbClr val="ECFDF5"/>
            </a:solidFill>
            <a:prstDash val="solid"/>
          </a:ln>
        </p:spPr>
      </p:sp>
      <p:sp>
        <p:nvSpPr>
          <p:cNvPr id="17" name="Text 15"/>
          <p:cNvSpPr txBox="1"/>
          <p:nvPr/>
        </p:nvSpPr>
        <p:spPr>
          <a:xfrm>
            <a:off x="640080" y="4160520"/>
            <a:ext cx="2286000" cy="274320"/>
          </a:xfrm>
          <a:prstGeom prst="rect">
            <a:avLst/>
          </a:prstGeom>
          <a:noFill/>
          <a:ln/>
        </p:spPr>
        <p:txBody>
          <a:bodyPr wrap="square" lIns="0" tIns="0" rIns="0" bIns="0" rtlCol="0" anchor="t"/>
          <a:lstStyle/>
          <a:p>
            <a:pPr indent="0" marL="0">
              <a:buNone/>
            </a:pPr>
            <a:r>
              <a:rPr lang="en-US" sz="1150" b="1" dirty="0">
                <a:solidFill>
                  <a:srgbClr val="047857"/>
                </a:solidFill>
                <a:latin typeface="Calibri" pitchFamily="34" charset="0"/>
                <a:ea typeface="Calibri" pitchFamily="34" charset="-122"/>
                <a:cs typeface="Calibri" pitchFamily="34" charset="-120"/>
              </a:rPr>
              <a:t>venv</a:t>
            </a:r>
            <a:endParaRPr lang="en-US" sz="1150" dirty="0"/>
          </a:p>
        </p:txBody>
      </p:sp>
      <p:sp>
        <p:nvSpPr>
          <p:cNvPr id="18" name="Text 16"/>
          <p:cNvSpPr txBox="1"/>
          <p:nvPr/>
        </p:nvSpPr>
        <p:spPr>
          <a:xfrm>
            <a:off x="640080" y="4407408"/>
            <a:ext cx="2331720" cy="256032"/>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built into Python 3</a:t>
            </a:r>
            <a:endParaRPr lang="en-US" sz="950" dirty="0"/>
          </a:p>
        </p:txBody>
      </p:sp>
      <p:sp>
        <p:nvSpPr>
          <p:cNvPr id="19" name="Shape 17"/>
          <p:cNvSpPr/>
          <p:nvPr/>
        </p:nvSpPr>
        <p:spPr>
          <a:xfrm>
            <a:off x="3246120" y="4114800"/>
            <a:ext cx="2606040" cy="594360"/>
          </a:xfrm>
          <a:prstGeom prst="roundRect">
            <a:avLst>
              <a:gd name="adj" fmla="val 12308"/>
            </a:avLst>
          </a:prstGeom>
          <a:solidFill>
            <a:srgbClr val="ECFDF5"/>
          </a:solidFill>
          <a:ln w="12700">
            <a:solidFill>
              <a:srgbClr val="ECFDF5"/>
            </a:solidFill>
            <a:prstDash val="solid"/>
          </a:ln>
        </p:spPr>
      </p:sp>
      <p:sp>
        <p:nvSpPr>
          <p:cNvPr id="20" name="Text 18"/>
          <p:cNvSpPr txBox="1"/>
          <p:nvPr/>
        </p:nvSpPr>
        <p:spPr>
          <a:xfrm>
            <a:off x="3429000" y="4160520"/>
            <a:ext cx="2286000" cy="274320"/>
          </a:xfrm>
          <a:prstGeom prst="rect">
            <a:avLst/>
          </a:prstGeom>
          <a:noFill/>
          <a:ln/>
        </p:spPr>
        <p:txBody>
          <a:bodyPr wrap="square" lIns="0" tIns="0" rIns="0" bIns="0" rtlCol="0" anchor="t"/>
          <a:lstStyle/>
          <a:p>
            <a:pPr indent="0" marL="0">
              <a:buNone/>
            </a:pPr>
            <a:r>
              <a:rPr lang="en-US" sz="1150" b="1" dirty="0">
                <a:solidFill>
                  <a:srgbClr val="047857"/>
                </a:solidFill>
                <a:latin typeface="Calibri" pitchFamily="34" charset="0"/>
                <a:ea typeface="Calibri" pitchFamily="34" charset="-122"/>
                <a:cs typeface="Calibri" pitchFamily="34" charset="-120"/>
              </a:rPr>
              <a:t>prometheus-client</a:t>
            </a:r>
            <a:endParaRPr lang="en-US" sz="1150" dirty="0"/>
          </a:p>
        </p:txBody>
      </p:sp>
      <p:sp>
        <p:nvSpPr>
          <p:cNvPr id="21" name="Text 19"/>
          <p:cNvSpPr txBox="1"/>
          <p:nvPr/>
        </p:nvSpPr>
        <p:spPr>
          <a:xfrm>
            <a:off x="3429000" y="4407408"/>
            <a:ext cx="2331720" cy="256032"/>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one pip install, in section 6</a:t>
            </a:r>
            <a:endParaRPr lang="en-US" sz="950" dirty="0"/>
          </a:p>
        </p:txBody>
      </p:sp>
      <p:sp>
        <p:nvSpPr>
          <p:cNvPr id="22" name="Shape 20"/>
          <p:cNvSpPr/>
          <p:nvPr/>
        </p:nvSpPr>
        <p:spPr>
          <a:xfrm>
            <a:off x="6035040" y="4114800"/>
            <a:ext cx="2606040" cy="594360"/>
          </a:xfrm>
          <a:prstGeom prst="roundRect">
            <a:avLst>
              <a:gd name="adj" fmla="val 12308"/>
            </a:avLst>
          </a:prstGeom>
          <a:solidFill>
            <a:srgbClr val="ECFDF5"/>
          </a:solidFill>
          <a:ln w="12700">
            <a:solidFill>
              <a:srgbClr val="ECFDF5"/>
            </a:solidFill>
            <a:prstDash val="solid"/>
          </a:ln>
        </p:spPr>
      </p:sp>
      <p:sp>
        <p:nvSpPr>
          <p:cNvPr id="23" name="Text 21"/>
          <p:cNvSpPr txBox="1"/>
          <p:nvPr/>
        </p:nvSpPr>
        <p:spPr>
          <a:xfrm>
            <a:off x="6217920" y="4160520"/>
            <a:ext cx="2286000" cy="274320"/>
          </a:xfrm>
          <a:prstGeom prst="rect">
            <a:avLst/>
          </a:prstGeom>
          <a:noFill/>
          <a:ln/>
        </p:spPr>
        <p:txBody>
          <a:bodyPr wrap="square" lIns="0" tIns="0" rIns="0" bIns="0" rtlCol="0" anchor="t"/>
          <a:lstStyle/>
          <a:p>
            <a:pPr indent="0" marL="0">
              <a:buNone/>
            </a:pPr>
            <a:r>
              <a:rPr lang="en-US" sz="1150" b="1" dirty="0">
                <a:solidFill>
                  <a:srgbClr val="047857"/>
                </a:solidFill>
                <a:latin typeface="Calibri" pitchFamily="34" charset="0"/>
                <a:ea typeface="Calibri" pitchFamily="34" charset="-122"/>
                <a:cs typeface="Calibri" pitchFamily="34" charset="-120"/>
              </a:rPr>
              <a:t>curl</a:t>
            </a:r>
            <a:endParaRPr lang="en-US" sz="1150" dirty="0"/>
          </a:p>
        </p:txBody>
      </p:sp>
      <p:sp>
        <p:nvSpPr>
          <p:cNvPr id="24" name="Text 22"/>
          <p:cNvSpPr txBox="1"/>
          <p:nvPr/>
        </p:nvSpPr>
        <p:spPr>
          <a:xfrm>
            <a:off x="6217920" y="4407408"/>
            <a:ext cx="2331720" cy="256032"/>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already on Mac and Windows</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BEFORE YOU START</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Watch these before you install anything</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2</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5</a:t>
            </a:r>
            <a:endParaRPr lang="en-US" sz="900" dirty="0"/>
          </a:p>
        </p:txBody>
      </p:sp>
      <p:sp>
        <p:nvSpPr>
          <p:cNvPr id="6" name="Text 4"/>
          <p:cNvSpPr txBox="1"/>
          <p:nvPr/>
        </p:nvSpPr>
        <p:spPr>
          <a:xfrm>
            <a:off x="457200" y="1143000"/>
            <a:ext cx="8229600" cy="320040"/>
          </a:xfrm>
          <a:prstGeom prst="rect">
            <a:avLst/>
          </a:prstGeom>
          <a:noFill/>
          <a:ln/>
        </p:spPr>
        <p:txBody>
          <a:bodyPr wrap="square" lIns="0" tIns="0" rIns="0" bIns="0" rtlCol="0" anchor="t"/>
          <a:lstStyle/>
          <a:p>
            <a:pPr indent="0" marL="0">
              <a:buNone/>
            </a:pPr>
            <a:r>
              <a:rPr lang="en-US" sz="1300" dirty="0">
                <a:solidFill>
                  <a:srgbClr val="6B7280"/>
                </a:solidFill>
                <a:latin typeface="Calibri" pitchFamily="34" charset="0"/>
                <a:ea typeface="Calibri" pitchFamily="34" charset="-122"/>
                <a:cs typeface="Calibri" pitchFamily="34" charset="-120"/>
              </a:rPr>
              <a:t>Two short videos take you from a blank machine to Git, Python and VS Code installed. Pick the one for your computer.</a:t>
            </a:r>
            <a:endParaRPr lang="en-US" sz="1300" dirty="0"/>
          </a:p>
        </p:txBody>
      </p:sp>
      <p:sp>
        <p:nvSpPr>
          <p:cNvPr id="7" name="Shape 5"/>
          <p:cNvSpPr/>
          <p:nvPr/>
        </p:nvSpPr>
        <p:spPr>
          <a:xfrm>
            <a:off x="457200" y="1554480"/>
            <a:ext cx="4023360" cy="1371600"/>
          </a:xfrm>
          <a:prstGeom prst="roundRect">
            <a:avLst>
              <a:gd name="adj" fmla="val 5333"/>
            </a:avLst>
          </a:prstGeom>
          <a:solidFill>
            <a:srgbClr val="F3F4F6"/>
          </a:solidFill>
          <a:ln w="12700">
            <a:solidFill>
              <a:srgbClr val="F3F4F6"/>
            </a:solidFill>
            <a:prstDash val="solid"/>
          </a:ln>
        </p:spPr>
      </p:sp>
      <p:sp>
        <p:nvSpPr>
          <p:cNvPr id="8" name="Shape 6"/>
          <p:cNvSpPr/>
          <p:nvPr/>
        </p:nvSpPr>
        <p:spPr>
          <a:xfrm>
            <a:off x="685800" y="1737360"/>
            <a:ext cx="1143000" cy="292608"/>
          </a:xfrm>
          <a:prstGeom prst="roundRect">
            <a:avLst>
              <a:gd name="adj" fmla="val 50000"/>
            </a:avLst>
          </a:prstGeom>
          <a:solidFill>
            <a:srgbClr val="1D4ED8"/>
          </a:solidFill>
          <a:ln w="12700">
            <a:solidFill>
              <a:srgbClr val="1D4ED8"/>
            </a:solidFill>
            <a:prstDash val="solid"/>
          </a:ln>
        </p:spPr>
      </p:sp>
      <p:sp>
        <p:nvSpPr>
          <p:cNvPr id="9" name="Text 7"/>
          <p:cNvSpPr txBox="1"/>
          <p:nvPr/>
        </p:nvSpPr>
        <p:spPr>
          <a:xfrm>
            <a:off x="685800" y="1737360"/>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macOS</a:t>
            </a:r>
            <a:endParaRPr lang="en-US" sz="950" dirty="0"/>
          </a:p>
        </p:txBody>
      </p:sp>
      <p:sp>
        <p:nvSpPr>
          <p:cNvPr id="10" name="Text 8"/>
          <p:cNvSpPr txBox="1"/>
          <p:nvPr/>
        </p:nvSpPr>
        <p:spPr>
          <a:xfrm>
            <a:off x="685800" y="2121408"/>
            <a:ext cx="3566160" cy="45720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Install Git, Python and VS Code on a Mac</a:t>
            </a:r>
            <a:endParaRPr lang="en-US" sz="1400" dirty="0"/>
          </a:p>
        </p:txBody>
      </p:sp>
      <p:sp>
        <p:nvSpPr>
          <p:cNvPr id="11" name="Text 9">
            <a:hlinkClick r:id="rId1" tooltip=""/>
          </p:cNvPr>
          <p:cNvSpPr txBox="1"/>
          <p:nvPr/>
        </p:nvSpPr>
        <p:spPr>
          <a:xfrm>
            <a:off x="685800" y="2560320"/>
            <a:ext cx="3566160" cy="274320"/>
          </a:xfrm>
          <a:prstGeom prst="rect">
            <a:avLst/>
          </a:prstGeom>
          <a:noFill/>
          <a:ln/>
        </p:spPr>
        <p:txBody>
          <a:bodyPr wrap="square" lIns="0" tIns="0" rIns="0" bIns="0" rtlCol="0" anchor="ctr"/>
          <a:lstStyle/>
          <a:p>
            <a:pPr indent="0" marL="0">
              <a:buNone/>
            </a:pPr>
            <a:r>
              <a:rPr lang="en-US" sz="1100" u="sng" dirty="0">
                <a:solidFill>
                  <a:srgbClr val="1D4ED8"/>
                </a:solidFill>
                <a:latin typeface="Courier New" pitchFamily="34" charset="0"/>
                <a:ea typeface="Courier New" pitchFamily="34" charset="-122"/>
                <a:cs typeface="Courier New"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https://youtu.be/8ZIiXg4XOY0</a:t>
            </a:r>
            <a:endParaRPr lang="en-US" sz="1100" dirty="0"/>
          </a:p>
        </p:txBody>
      </p:sp>
      <p:sp>
        <p:nvSpPr>
          <p:cNvPr id="12" name="Shape 10"/>
          <p:cNvSpPr/>
          <p:nvPr/>
        </p:nvSpPr>
        <p:spPr>
          <a:xfrm>
            <a:off x="4663440" y="1554480"/>
            <a:ext cx="4023360" cy="1371600"/>
          </a:xfrm>
          <a:prstGeom prst="roundRect">
            <a:avLst>
              <a:gd name="adj" fmla="val 5333"/>
            </a:avLst>
          </a:prstGeom>
          <a:solidFill>
            <a:srgbClr val="F3F4F6"/>
          </a:solidFill>
          <a:ln w="12700">
            <a:solidFill>
              <a:srgbClr val="F3F4F6"/>
            </a:solidFill>
            <a:prstDash val="solid"/>
          </a:ln>
        </p:spPr>
      </p:sp>
      <p:sp>
        <p:nvSpPr>
          <p:cNvPr id="13" name="Shape 11"/>
          <p:cNvSpPr/>
          <p:nvPr/>
        </p:nvSpPr>
        <p:spPr>
          <a:xfrm>
            <a:off x="4892040" y="1737360"/>
            <a:ext cx="1143000" cy="292608"/>
          </a:xfrm>
          <a:prstGeom prst="roundRect">
            <a:avLst>
              <a:gd name="adj" fmla="val 50000"/>
            </a:avLst>
          </a:prstGeom>
          <a:solidFill>
            <a:srgbClr val="6D28D9"/>
          </a:solidFill>
          <a:ln w="12700">
            <a:solidFill>
              <a:srgbClr val="6D28D9"/>
            </a:solidFill>
            <a:prstDash val="solid"/>
          </a:ln>
        </p:spPr>
      </p:sp>
      <p:sp>
        <p:nvSpPr>
          <p:cNvPr id="14" name="Text 12"/>
          <p:cNvSpPr txBox="1"/>
          <p:nvPr/>
        </p:nvSpPr>
        <p:spPr>
          <a:xfrm>
            <a:off x="4892040" y="1737360"/>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WINDOWS</a:t>
            </a:r>
            <a:endParaRPr lang="en-US" sz="950" dirty="0"/>
          </a:p>
        </p:txBody>
      </p:sp>
      <p:sp>
        <p:nvSpPr>
          <p:cNvPr id="15" name="Text 13"/>
          <p:cNvSpPr txBox="1"/>
          <p:nvPr/>
        </p:nvSpPr>
        <p:spPr>
          <a:xfrm>
            <a:off x="4892040" y="2121408"/>
            <a:ext cx="3566160" cy="45720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Install Git, Python and VS Code on Windows</a:t>
            </a:r>
            <a:endParaRPr lang="en-US" sz="1400" dirty="0"/>
          </a:p>
        </p:txBody>
      </p:sp>
      <p:sp>
        <p:nvSpPr>
          <p:cNvPr id="16" name="Text 14">
            <a:hlinkClick r:id="rId2" tooltip=""/>
          </p:cNvPr>
          <p:cNvSpPr txBox="1"/>
          <p:nvPr/>
        </p:nvSpPr>
        <p:spPr>
          <a:xfrm>
            <a:off x="4892040" y="2560320"/>
            <a:ext cx="3566160" cy="274320"/>
          </a:xfrm>
          <a:prstGeom prst="rect">
            <a:avLst/>
          </a:prstGeom>
          <a:noFill/>
          <a:ln/>
        </p:spPr>
        <p:txBody>
          <a:bodyPr wrap="square" lIns="0" tIns="0" rIns="0" bIns="0" rtlCol="0" anchor="ctr"/>
          <a:lstStyle/>
          <a:p>
            <a:pPr indent="0" marL="0">
              <a:buNone/>
            </a:pPr>
            <a:r>
              <a:rPr lang="en-US" sz="1100" u="sng" dirty="0">
                <a:solidFill>
                  <a:srgbClr val="6D28D9"/>
                </a:solidFill>
                <a:latin typeface="Courier New" pitchFamily="34" charset="0"/>
                <a:ea typeface="Courier New" pitchFamily="34" charset="-122"/>
                <a:cs typeface="Courier New"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https://youtu.be/3e2-GRBibWc</a:t>
            </a:r>
            <a:endParaRPr lang="en-US" sz="1100" dirty="0"/>
          </a:p>
        </p:txBody>
      </p:sp>
      <p:sp>
        <p:nvSpPr>
          <p:cNvPr id="17" name="Text 15"/>
          <p:cNvSpPr txBox="1"/>
          <p:nvPr/>
        </p:nvSpPr>
        <p:spPr>
          <a:xfrm>
            <a:off x="457200" y="3108960"/>
            <a:ext cx="8229600" cy="274320"/>
          </a:xfrm>
          <a:prstGeom prst="rect">
            <a:avLst/>
          </a:prstGeom>
          <a:noFill/>
          <a:ln/>
        </p:spPr>
        <p:txBody>
          <a:bodyPr wrap="square" lIns="0" tIns="0" rIns="0" bIns="0" rtlCol="0" anchor="t"/>
          <a:lstStyle/>
          <a:p>
            <a:pPr indent="0" marL="0">
              <a:buNone/>
            </a:pPr>
            <a:r>
              <a:rPr lang="en-US" sz="950" b="1" spc="200" kern="0" dirty="0">
                <a:solidFill>
                  <a:srgbClr val="6B7280"/>
                </a:solidFill>
                <a:latin typeface="Calibri" pitchFamily="34" charset="0"/>
                <a:ea typeface="Calibri" pitchFamily="34" charset="-122"/>
                <a:cs typeface="Calibri" pitchFamily="34" charset="-120"/>
              </a:rPr>
              <a:t>OFFICIAL PAGES, IF YOU PREFER TO READ</a:t>
            </a:r>
            <a:endParaRPr lang="en-US" sz="950" dirty="0"/>
          </a:p>
        </p:txBody>
      </p:sp>
      <p:sp>
        <p:nvSpPr>
          <p:cNvPr id="18" name="Shape 16"/>
          <p:cNvSpPr/>
          <p:nvPr/>
        </p:nvSpPr>
        <p:spPr>
          <a:xfrm>
            <a:off x="457200" y="3429000"/>
            <a:ext cx="4023360" cy="566928"/>
          </a:xfrm>
          <a:prstGeom prst="roundRect">
            <a:avLst>
              <a:gd name="adj" fmla="val 12903"/>
            </a:avLst>
          </a:prstGeom>
          <a:solidFill>
            <a:srgbClr val="F3F4F6"/>
          </a:solidFill>
          <a:ln w="12700">
            <a:solidFill>
              <a:srgbClr val="F3F4F6"/>
            </a:solidFill>
            <a:prstDash val="solid"/>
          </a:ln>
        </p:spPr>
      </p:sp>
      <p:sp>
        <p:nvSpPr>
          <p:cNvPr id="19" name="Text 17"/>
          <p:cNvSpPr txBox="1"/>
          <p:nvPr/>
        </p:nvSpPr>
        <p:spPr>
          <a:xfrm>
            <a:off x="658368" y="3483864"/>
            <a:ext cx="1920240" cy="237744"/>
          </a:xfrm>
          <a:prstGeom prst="rect">
            <a:avLst/>
          </a:prstGeom>
          <a:noFill/>
          <a:ln/>
        </p:spPr>
        <p:txBody>
          <a:bodyPr wrap="square" lIns="0" tIns="0" rIns="0" bIns="0" rtlCol="0" anchor="t"/>
          <a:lstStyle/>
          <a:p>
            <a:pPr indent="0" marL="0">
              <a:buNone/>
            </a:pPr>
            <a:r>
              <a:rPr lang="en-US" sz="1150" b="1" dirty="0">
                <a:solidFill>
                  <a:srgbClr val="111827"/>
                </a:solidFill>
                <a:latin typeface="Calibri" pitchFamily="34" charset="0"/>
                <a:ea typeface="Calibri" pitchFamily="34" charset="-122"/>
                <a:cs typeface="Calibri" pitchFamily="34" charset="-120"/>
              </a:rPr>
              <a:t>Install Python</a:t>
            </a:r>
            <a:endParaRPr lang="en-US" sz="1150" dirty="0"/>
          </a:p>
        </p:txBody>
      </p:sp>
      <p:sp>
        <p:nvSpPr>
          <p:cNvPr id="20" name="Text 18"/>
          <p:cNvSpPr txBox="1"/>
          <p:nvPr/>
        </p:nvSpPr>
        <p:spPr>
          <a:xfrm>
            <a:off x="658368" y="3721608"/>
            <a:ext cx="2011680" cy="219456"/>
          </a:xfrm>
          <a:prstGeom prst="rect">
            <a:avLst/>
          </a:prstGeom>
          <a:noFill/>
          <a:ln/>
        </p:spPr>
        <p:txBody>
          <a:bodyPr wrap="square" lIns="0" tIns="0" rIns="0" bIns="0" rtlCol="0" anchor="t"/>
          <a:lstStyle/>
          <a:p>
            <a:pPr indent="0" marL="0">
              <a:buNone/>
            </a:pPr>
            <a:r>
              <a:rPr lang="en-US" sz="900" dirty="0">
                <a:solidFill>
                  <a:srgbClr val="6B7280"/>
                </a:solidFill>
                <a:latin typeface="Calibri" pitchFamily="34" charset="0"/>
                <a:ea typeface="Calibri" pitchFamily="34" charset="-122"/>
                <a:cs typeface="Calibri" pitchFamily="34" charset="-120"/>
              </a:rPr>
              <a:t>Official downloads, Mac and Windows</a:t>
            </a:r>
            <a:endParaRPr lang="en-US" sz="900" dirty="0"/>
          </a:p>
        </p:txBody>
      </p:sp>
      <p:sp>
        <p:nvSpPr>
          <p:cNvPr id="21" name="Text 19">
            <a:hlinkClick r:id="rId3" tooltip=""/>
          </p:cNvPr>
          <p:cNvSpPr txBox="1"/>
          <p:nvPr/>
        </p:nvSpPr>
        <p:spPr>
          <a:xfrm>
            <a:off x="2697480" y="3429000"/>
            <a:ext cx="1691640" cy="566928"/>
          </a:xfrm>
          <a:prstGeom prst="rect">
            <a:avLst/>
          </a:prstGeom>
          <a:noFill/>
          <a:ln/>
        </p:spPr>
        <p:txBody>
          <a:bodyPr wrap="square" lIns="0" tIns="0" rIns="0" bIns="0" rtlCol="0" anchor="ctr"/>
          <a:lstStyle/>
          <a:p>
            <a:pPr indent="0" marL="0">
              <a:buNone/>
            </a:pPr>
            <a:r>
              <a:rPr lang="en-US" sz="800" u="sng" dirty="0">
                <a:solidFill>
                  <a:srgbClr val="6D28D9"/>
                </a:solidFill>
                <a:latin typeface="Courier New" pitchFamily="34" charset="0"/>
                <a:ea typeface="Courier New" pitchFamily="34" charset="-122"/>
                <a:cs typeface="Courier New" pitchFamily="34" charset="-120"/>
                <a:hlinkClick r:id="rId3" invalidUrl="" action="" tgtFrame="" tooltip="" history="1" highlightClick="0" endSnd="0">
                  <a:extLst>
                    <a:ext uri="{A12FA001-AC4F-418D-AE19-62706E023703}">
                      <ahyp:hlinkClr xmlns:ahyp="http://schemas.microsoft.com/office/drawing/2018/hyperlinkcolor" val="tx"/>
                    </a:ext>
                  </a:extLst>
                </a:hlinkClick>
              </a:rPr>
              <a:t>python.org/downloads</a:t>
            </a:r>
            <a:endParaRPr lang="en-US" sz="800" dirty="0"/>
          </a:p>
        </p:txBody>
      </p:sp>
      <p:sp>
        <p:nvSpPr>
          <p:cNvPr id="22" name="Shape 20"/>
          <p:cNvSpPr/>
          <p:nvPr/>
        </p:nvSpPr>
        <p:spPr>
          <a:xfrm>
            <a:off x="4663440" y="3429000"/>
            <a:ext cx="4023360" cy="566928"/>
          </a:xfrm>
          <a:prstGeom prst="roundRect">
            <a:avLst>
              <a:gd name="adj" fmla="val 12903"/>
            </a:avLst>
          </a:prstGeom>
          <a:solidFill>
            <a:srgbClr val="F3F4F6"/>
          </a:solidFill>
          <a:ln w="12700">
            <a:solidFill>
              <a:srgbClr val="F3F4F6"/>
            </a:solidFill>
            <a:prstDash val="solid"/>
          </a:ln>
        </p:spPr>
      </p:sp>
      <p:sp>
        <p:nvSpPr>
          <p:cNvPr id="23" name="Text 21"/>
          <p:cNvSpPr txBox="1"/>
          <p:nvPr/>
        </p:nvSpPr>
        <p:spPr>
          <a:xfrm>
            <a:off x="4864608" y="3483864"/>
            <a:ext cx="1920240" cy="237744"/>
          </a:xfrm>
          <a:prstGeom prst="rect">
            <a:avLst/>
          </a:prstGeom>
          <a:noFill/>
          <a:ln/>
        </p:spPr>
        <p:txBody>
          <a:bodyPr wrap="square" lIns="0" tIns="0" rIns="0" bIns="0" rtlCol="0" anchor="t"/>
          <a:lstStyle/>
          <a:p>
            <a:pPr indent="0" marL="0">
              <a:buNone/>
            </a:pPr>
            <a:r>
              <a:rPr lang="en-US" sz="1150" b="1" dirty="0">
                <a:solidFill>
                  <a:srgbClr val="111827"/>
                </a:solidFill>
                <a:latin typeface="Calibri" pitchFamily="34" charset="0"/>
                <a:ea typeface="Calibri" pitchFamily="34" charset="-122"/>
                <a:cs typeface="Calibri" pitchFamily="34" charset="-120"/>
              </a:rPr>
              <a:t>Virtual environments</a:t>
            </a:r>
            <a:endParaRPr lang="en-US" sz="1150" dirty="0"/>
          </a:p>
        </p:txBody>
      </p:sp>
      <p:sp>
        <p:nvSpPr>
          <p:cNvPr id="24" name="Text 22"/>
          <p:cNvSpPr txBox="1"/>
          <p:nvPr/>
        </p:nvSpPr>
        <p:spPr>
          <a:xfrm>
            <a:off x="4864608" y="3721608"/>
            <a:ext cx="2011680" cy="219456"/>
          </a:xfrm>
          <a:prstGeom prst="rect">
            <a:avLst/>
          </a:prstGeom>
          <a:noFill/>
          <a:ln/>
        </p:spPr>
        <p:txBody>
          <a:bodyPr wrap="square" lIns="0" tIns="0" rIns="0" bIns="0" rtlCol="0" anchor="t"/>
          <a:lstStyle/>
          <a:p>
            <a:pPr indent="0" marL="0">
              <a:buNone/>
            </a:pPr>
            <a:r>
              <a:rPr lang="en-US" sz="900" dirty="0">
                <a:solidFill>
                  <a:srgbClr val="6B7280"/>
                </a:solidFill>
                <a:latin typeface="Calibri" pitchFamily="34" charset="0"/>
                <a:ea typeface="Calibri" pitchFamily="34" charset="-122"/>
                <a:cs typeface="Calibri" pitchFamily="34" charset="-120"/>
              </a:rPr>
              <a:t>The official venv how-to</a:t>
            </a:r>
            <a:endParaRPr lang="en-US" sz="900" dirty="0"/>
          </a:p>
        </p:txBody>
      </p:sp>
      <p:sp>
        <p:nvSpPr>
          <p:cNvPr id="25" name="Text 23">
            <a:hlinkClick r:id="rId4" tooltip=""/>
          </p:cNvPr>
          <p:cNvSpPr txBox="1"/>
          <p:nvPr/>
        </p:nvSpPr>
        <p:spPr>
          <a:xfrm>
            <a:off x="6903720" y="3429000"/>
            <a:ext cx="1691640" cy="566928"/>
          </a:xfrm>
          <a:prstGeom prst="rect">
            <a:avLst/>
          </a:prstGeom>
          <a:noFill/>
          <a:ln/>
        </p:spPr>
        <p:txBody>
          <a:bodyPr wrap="square" lIns="0" tIns="0" rIns="0" bIns="0" rtlCol="0" anchor="ctr"/>
          <a:lstStyle/>
          <a:p>
            <a:pPr indent="0" marL="0">
              <a:buNone/>
            </a:pPr>
            <a:r>
              <a:rPr lang="en-US" sz="800" u="sng" dirty="0">
                <a:solidFill>
                  <a:srgbClr val="6D28D9"/>
                </a:solidFill>
                <a:latin typeface="Courier New" pitchFamily="34" charset="0"/>
                <a:ea typeface="Courier New" pitchFamily="34" charset="-122"/>
                <a:cs typeface="Courier New" pitchFamily="34" charset="-120"/>
                <a:hlinkClick r:id="rId4" invalidUrl="" action="" tgtFrame="" tooltip="" history="1" highlightClick="0" endSnd="0">
                  <a:extLst>
                    <a:ext uri="{A12FA001-AC4F-418D-AE19-62706E023703}">
                      <ahyp:hlinkClr xmlns:ahyp="http://schemas.microsoft.com/office/drawing/2018/hyperlinkcolor" val="tx"/>
                    </a:ext>
                  </a:extLst>
                </a:hlinkClick>
              </a:rPr>
              <a:t>docs.python.org/3/library/venv.html</a:t>
            </a:r>
            <a:endParaRPr lang="en-US" sz="800" dirty="0"/>
          </a:p>
        </p:txBody>
      </p:sp>
      <p:sp>
        <p:nvSpPr>
          <p:cNvPr id="26" name="Shape 24"/>
          <p:cNvSpPr/>
          <p:nvPr/>
        </p:nvSpPr>
        <p:spPr>
          <a:xfrm>
            <a:off x="457200" y="4087368"/>
            <a:ext cx="4023360" cy="566928"/>
          </a:xfrm>
          <a:prstGeom prst="roundRect">
            <a:avLst>
              <a:gd name="adj" fmla="val 12903"/>
            </a:avLst>
          </a:prstGeom>
          <a:solidFill>
            <a:srgbClr val="F3F4F6"/>
          </a:solidFill>
          <a:ln w="12700">
            <a:solidFill>
              <a:srgbClr val="F3F4F6"/>
            </a:solidFill>
            <a:prstDash val="solid"/>
          </a:ln>
        </p:spPr>
      </p:sp>
      <p:sp>
        <p:nvSpPr>
          <p:cNvPr id="27" name="Text 25"/>
          <p:cNvSpPr txBox="1"/>
          <p:nvPr/>
        </p:nvSpPr>
        <p:spPr>
          <a:xfrm>
            <a:off x="658368" y="4142232"/>
            <a:ext cx="1920240" cy="237744"/>
          </a:xfrm>
          <a:prstGeom prst="rect">
            <a:avLst/>
          </a:prstGeom>
          <a:noFill/>
          <a:ln/>
        </p:spPr>
        <p:txBody>
          <a:bodyPr wrap="square" lIns="0" tIns="0" rIns="0" bIns="0" rtlCol="0" anchor="t"/>
          <a:lstStyle/>
          <a:p>
            <a:pPr indent="0" marL="0">
              <a:buNone/>
            </a:pPr>
            <a:r>
              <a:rPr lang="en-US" sz="1150" b="1" dirty="0">
                <a:solidFill>
                  <a:srgbClr val="111827"/>
                </a:solidFill>
                <a:latin typeface="Calibri" pitchFamily="34" charset="0"/>
                <a:ea typeface="Calibri" pitchFamily="34" charset="-122"/>
                <a:cs typeface="Calibri" pitchFamily="34" charset="-120"/>
              </a:rPr>
              <a:t>WinGet on Windows</a:t>
            </a:r>
            <a:endParaRPr lang="en-US" sz="1150" dirty="0"/>
          </a:p>
        </p:txBody>
      </p:sp>
      <p:sp>
        <p:nvSpPr>
          <p:cNvPr id="28" name="Text 26"/>
          <p:cNvSpPr txBox="1"/>
          <p:nvPr/>
        </p:nvSpPr>
        <p:spPr>
          <a:xfrm>
            <a:off x="658368" y="4379976"/>
            <a:ext cx="2011680" cy="219456"/>
          </a:xfrm>
          <a:prstGeom prst="rect">
            <a:avLst/>
          </a:prstGeom>
          <a:noFill/>
          <a:ln/>
        </p:spPr>
        <p:txBody>
          <a:bodyPr wrap="square" lIns="0" tIns="0" rIns="0" bIns="0" rtlCol="0" anchor="t"/>
          <a:lstStyle/>
          <a:p>
            <a:pPr indent="0" marL="0">
              <a:buNone/>
            </a:pPr>
            <a:r>
              <a:rPr lang="en-US" sz="900" dirty="0">
                <a:solidFill>
                  <a:srgbClr val="6B7280"/>
                </a:solidFill>
                <a:latin typeface="Calibri" pitchFamily="34" charset="0"/>
                <a:ea typeface="Calibri" pitchFamily="34" charset="-122"/>
                <a:cs typeface="Calibri" pitchFamily="34" charset="-120"/>
              </a:rPr>
              <a:t>Official package manager docs</a:t>
            </a:r>
            <a:endParaRPr lang="en-US" sz="900" dirty="0"/>
          </a:p>
        </p:txBody>
      </p:sp>
      <p:sp>
        <p:nvSpPr>
          <p:cNvPr id="29" name="Text 27">
            <a:hlinkClick r:id="rId5" tooltip=""/>
          </p:cNvPr>
          <p:cNvSpPr txBox="1"/>
          <p:nvPr/>
        </p:nvSpPr>
        <p:spPr>
          <a:xfrm>
            <a:off x="2697480" y="4087368"/>
            <a:ext cx="1691640" cy="566928"/>
          </a:xfrm>
          <a:prstGeom prst="rect">
            <a:avLst/>
          </a:prstGeom>
          <a:noFill/>
          <a:ln/>
        </p:spPr>
        <p:txBody>
          <a:bodyPr wrap="square" lIns="0" tIns="0" rIns="0" bIns="0" rtlCol="0" anchor="ctr"/>
          <a:lstStyle/>
          <a:p>
            <a:pPr indent="0" marL="0">
              <a:buNone/>
            </a:pPr>
            <a:r>
              <a:rPr lang="en-US" sz="800" u="sng" dirty="0">
                <a:solidFill>
                  <a:srgbClr val="6D28D9"/>
                </a:solidFill>
                <a:latin typeface="Courier New" pitchFamily="34" charset="0"/>
                <a:ea typeface="Courier New" pitchFamily="34" charset="-122"/>
                <a:cs typeface="Courier New" pitchFamily="34" charset="-120"/>
                <a:hlinkClick r:id="rId5" invalidUrl="" action="" tgtFrame="" tooltip="" history="1" highlightClick="0" endSnd="0">
                  <a:extLst>
                    <a:ext uri="{A12FA001-AC4F-418D-AE19-62706E023703}">
                      <ahyp:hlinkClr xmlns:ahyp="http://schemas.microsoft.com/office/drawing/2018/hyperlinkcolor" val="tx"/>
                    </a:ext>
                  </a:extLst>
                </a:hlinkClick>
              </a:rPr>
              <a:t>learn.microsoft.com/windows/package-manager/winget</a:t>
            </a:r>
            <a:endParaRPr lang="en-US" sz="800" dirty="0"/>
          </a:p>
        </p:txBody>
      </p:sp>
      <p:sp>
        <p:nvSpPr>
          <p:cNvPr id="30" name="Shape 28"/>
          <p:cNvSpPr/>
          <p:nvPr/>
        </p:nvSpPr>
        <p:spPr>
          <a:xfrm>
            <a:off x="4663440" y="4087368"/>
            <a:ext cx="4023360" cy="566928"/>
          </a:xfrm>
          <a:prstGeom prst="roundRect">
            <a:avLst>
              <a:gd name="adj" fmla="val 12903"/>
            </a:avLst>
          </a:prstGeom>
          <a:solidFill>
            <a:srgbClr val="F3F4F6"/>
          </a:solidFill>
          <a:ln w="12700">
            <a:solidFill>
              <a:srgbClr val="F3F4F6"/>
            </a:solidFill>
            <a:prstDash val="solid"/>
          </a:ln>
        </p:spPr>
      </p:sp>
      <p:sp>
        <p:nvSpPr>
          <p:cNvPr id="31" name="Text 29"/>
          <p:cNvSpPr txBox="1"/>
          <p:nvPr/>
        </p:nvSpPr>
        <p:spPr>
          <a:xfrm>
            <a:off x="4864608" y="4142232"/>
            <a:ext cx="1920240" cy="237744"/>
          </a:xfrm>
          <a:prstGeom prst="rect">
            <a:avLst/>
          </a:prstGeom>
          <a:noFill/>
          <a:ln/>
        </p:spPr>
        <p:txBody>
          <a:bodyPr wrap="square" lIns="0" tIns="0" rIns="0" bIns="0" rtlCol="0" anchor="t"/>
          <a:lstStyle/>
          <a:p>
            <a:pPr indent="0" marL="0">
              <a:buNone/>
            </a:pPr>
            <a:r>
              <a:rPr lang="en-US" sz="1150" b="1" dirty="0">
                <a:solidFill>
                  <a:srgbClr val="111827"/>
                </a:solidFill>
                <a:latin typeface="Calibri" pitchFamily="34" charset="0"/>
                <a:ea typeface="Calibri" pitchFamily="34" charset="-122"/>
                <a:cs typeface="Calibri" pitchFamily="34" charset="-120"/>
              </a:rPr>
              <a:t>Grafana with Prometheus</a:t>
            </a:r>
            <a:endParaRPr lang="en-US" sz="1150" dirty="0"/>
          </a:p>
        </p:txBody>
      </p:sp>
      <p:sp>
        <p:nvSpPr>
          <p:cNvPr id="32" name="Text 30"/>
          <p:cNvSpPr txBox="1"/>
          <p:nvPr/>
        </p:nvSpPr>
        <p:spPr>
          <a:xfrm>
            <a:off x="4864608" y="4379976"/>
            <a:ext cx="2011680" cy="219456"/>
          </a:xfrm>
          <a:prstGeom prst="rect">
            <a:avLst/>
          </a:prstGeom>
          <a:noFill/>
          <a:ln/>
        </p:spPr>
        <p:txBody>
          <a:bodyPr wrap="square" lIns="0" tIns="0" rIns="0" bIns="0" rtlCol="0" anchor="t"/>
          <a:lstStyle/>
          <a:p>
            <a:pPr indent="0" marL="0">
              <a:buNone/>
            </a:pPr>
            <a:r>
              <a:rPr lang="en-US" sz="900" dirty="0">
                <a:solidFill>
                  <a:srgbClr val="6B7280"/>
                </a:solidFill>
                <a:latin typeface="Calibri" pitchFamily="34" charset="0"/>
                <a:ea typeface="Calibri" pitchFamily="34" charset="-122"/>
                <a:cs typeface="Calibri" pitchFamily="34" charset="-120"/>
              </a:rPr>
              <a:t>Official getting-started guide</a:t>
            </a:r>
            <a:endParaRPr lang="en-US" sz="900" dirty="0"/>
          </a:p>
        </p:txBody>
      </p:sp>
      <p:sp>
        <p:nvSpPr>
          <p:cNvPr id="33" name="Text 31">
            <a:hlinkClick r:id="rId6" tooltip=""/>
          </p:cNvPr>
          <p:cNvSpPr txBox="1"/>
          <p:nvPr/>
        </p:nvSpPr>
        <p:spPr>
          <a:xfrm>
            <a:off x="6903720" y="4087368"/>
            <a:ext cx="1691640" cy="566928"/>
          </a:xfrm>
          <a:prstGeom prst="rect">
            <a:avLst/>
          </a:prstGeom>
          <a:noFill/>
          <a:ln/>
        </p:spPr>
        <p:txBody>
          <a:bodyPr wrap="square" lIns="0" tIns="0" rIns="0" bIns="0" rtlCol="0" anchor="ctr"/>
          <a:lstStyle/>
          <a:p>
            <a:pPr indent="0" marL="0">
              <a:buNone/>
            </a:pPr>
            <a:r>
              <a:rPr lang="en-US" sz="800" u="sng" dirty="0">
                <a:solidFill>
                  <a:srgbClr val="6D28D9"/>
                </a:solidFill>
                <a:latin typeface="Courier New" pitchFamily="34" charset="0"/>
                <a:ea typeface="Courier New" pitchFamily="34" charset="-122"/>
                <a:cs typeface="Courier New" pitchFamily="34" charset="-120"/>
                <a:hlinkClick r:id="rId6" invalidUrl="" action="" tgtFrame="" tooltip="" history="1" highlightClick="0" endSnd="0">
                  <a:extLst>
                    <a:ext uri="{A12FA001-AC4F-418D-AE19-62706E023703}">
                      <ahyp:hlinkClr xmlns:ahyp="http://schemas.microsoft.com/office/drawing/2018/hyperlinkcolor" val="tx"/>
                    </a:ext>
                  </a:extLst>
                </a:hlinkClick>
              </a:rPr>
              <a:t>grafana.com/docs/grafana/latest/fundamentals</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11827"/>
        </a:solidFill>
      </p:bgPr>
    </p:bg>
    <p:spTree>
      <p:nvGrpSpPr>
        <p:cNvPr id="1" name=""/>
        <p:cNvGrpSpPr/>
        <p:nvPr/>
      </p:nvGrpSpPr>
      <p:grpSpPr>
        <a:xfrm>
          <a:off x="0" y="0"/>
          <a:ext cx="0" cy="0"/>
          <a:chOff x="0" y="0"/>
          <a:chExt cx="0" cy="0"/>
        </a:xfrm>
      </p:grpSpPr>
      <p:sp>
        <p:nvSpPr>
          <p:cNvPr id="2" name="Text 0"/>
          <p:cNvSpPr txBox="1"/>
          <p:nvPr/>
        </p:nvSpPr>
        <p:spPr>
          <a:xfrm>
            <a:off x="548640" y="1005840"/>
            <a:ext cx="2743200" cy="1280160"/>
          </a:xfrm>
          <a:prstGeom prst="rect">
            <a:avLst/>
          </a:prstGeom>
          <a:noFill/>
          <a:ln/>
        </p:spPr>
        <p:txBody>
          <a:bodyPr wrap="square" lIns="0" tIns="0" rIns="0" bIns="0" rtlCol="0" anchor="t"/>
          <a:lstStyle/>
          <a:p>
            <a:pPr indent="0" marL="0">
              <a:buNone/>
            </a:pPr>
            <a:r>
              <a:rPr lang="en-US" sz="9600" b="1" dirty="0">
                <a:solidFill>
                  <a:srgbClr val="F59E0B"/>
                </a:solidFill>
                <a:latin typeface="Cambria" pitchFamily="34" charset="0"/>
                <a:ea typeface="Cambria" pitchFamily="34" charset="-122"/>
                <a:cs typeface="Cambria" pitchFamily="34" charset="-120"/>
              </a:rPr>
              <a:t>01</a:t>
            </a:r>
            <a:endParaRPr lang="en-US" sz="9600" dirty="0"/>
          </a:p>
        </p:txBody>
      </p:sp>
      <p:sp>
        <p:nvSpPr>
          <p:cNvPr id="3" name="Text 1"/>
          <p:cNvSpPr txBox="1"/>
          <p:nvPr/>
        </p:nvSpPr>
        <p:spPr>
          <a:xfrm>
            <a:off x="548640" y="2377440"/>
            <a:ext cx="8046720" cy="91440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A Shop That Keeps No Receipts</a:t>
            </a:r>
            <a:endParaRPr lang="en-US" sz="3600" dirty="0"/>
          </a:p>
        </p:txBody>
      </p:sp>
      <p:sp>
        <p:nvSpPr>
          <p:cNvPr id="4" name="Text 2"/>
          <p:cNvSpPr txBox="1"/>
          <p:nvPr/>
        </p:nvSpPr>
        <p:spPr>
          <a:xfrm>
            <a:off x="548640" y="3383280"/>
            <a:ext cx="2743200" cy="320040"/>
          </a:xfrm>
          <a:prstGeom prst="rect">
            <a:avLst/>
          </a:prstGeom>
          <a:noFill/>
          <a:ln/>
        </p:spPr>
        <p:txBody>
          <a:bodyPr wrap="square" lIns="0" tIns="0" rIns="0" bIns="0" rtlCol="0" anchor="t"/>
          <a:lstStyle/>
          <a:p>
            <a:pPr indent="0" marL="0">
              <a:buNone/>
            </a:pPr>
            <a:r>
              <a:rPr lang="en-US" sz="1400" dirty="0">
                <a:solidFill>
                  <a:srgbClr val="9CA3AF"/>
                </a:solidFill>
                <a:latin typeface="Calibri" pitchFamily="34" charset="0"/>
                <a:ea typeface="Calibri" pitchFamily="34" charset="-122"/>
                <a:cs typeface="Calibri" pitchFamily="34" charset="-120"/>
              </a:rPr>
              <a:t>~7 min</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01 · NO RECEIPTS</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One number a month. Nothing else.</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2</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7</a:t>
            </a:r>
            <a:endParaRPr lang="en-US" sz="900" dirty="0"/>
          </a:p>
        </p:txBody>
      </p:sp>
      <p:sp>
        <p:nvSpPr>
          <p:cNvPr id="6" name="Text 4"/>
          <p:cNvSpPr txBox="1"/>
          <p:nvPr/>
        </p:nvSpPr>
        <p:spPr>
          <a:xfrm>
            <a:off x="457200" y="1234440"/>
            <a:ext cx="3931920" cy="1371600"/>
          </a:xfrm>
          <a:prstGeom prst="rect">
            <a:avLst/>
          </a:prstGeom>
          <a:noFill/>
          <a:ln/>
        </p:spPr>
        <p:txBody>
          <a:bodyPr wrap="square" lIns="0" tIns="0" rIns="0" bIns="0" rtlCol="0" anchor="t"/>
          <a:lstStyle/>
          <a:p>
            <a:pPr indent="0" marL="0">
              <a:buNone/>
            </a:pPr>
            <a:r>
              <a:rPr lang="en-US" sz="1500" dirty="0">
                <a:solidFill>
                  <a:srgbClr val="1F2937"/>
                </a:solidFill>
                <a:latin typeface="Calibri" pitchFamily="34" charset="0"/>
                <a:ea typeface="Calibri" pitchFamily="34" charset="-122"/>
                <a:cs typeface="Calibri" pitchFamily="34" charset="-120"/>
              </a:rPr>
              <a:t>Imagine you own a small shop. At the end of every month the bank sends you one number: how much money came in. No till roll. No receipts. No record of which items sold.</a:t>
            </a:r>
            <a:endParaRPr lang="en-US" sz="1500" dirty="0"/>
          </a:p>
        </p:txBody>
      </p:sp>
      <p:sp>
        <p:nvSpPr>
          <p:cNvPr id="7" name="Text 5"/>
          <p:cNvSpPr txBox="1"/>
          <p:nvPr/>
        </p:nvSpPr>
        <p:spPr>
          <a:xfrm>
            <a:off x="457200" y="2743200"/>
            <a:ext cx="3931920" cy="914400"/>
          </a:xfrm>
          <a:prstGeom prst="rect">
            <a:avLst/>
          </a:prstGeom>
          <a:noFill/>
          <a:ln/>
        </p:spPr>
        <p:txBody>
          <a:bodyPr wrap="square" lIns="0" tIns="0" rIns="0" bIns="0" rtlCol="0" anchor="t"/>
          <a:lstStyle/>
          <a:p>
            <a:pPr indent="0" marL="0">
              <a:buNone/>
            </a:pPr>
            <a:r>
              <a:rPr lang="en-US" sz="1500" b="1" i="1" dirty="0">
                <a:solidFill>
                  <a:srgbClr val="B45309"/>
                </a:solidFill>
                <a:latin typeface="Calibri" pitchFamily="34" charset="0"/>
                <a:ea typeface="Calibri" pitchFamily="34" charset="-122"/>
                <a:cs typeface="Calibri" pitchFamily="34" charset="-120"/>
              </a:rPr>
              <a:t>You could keep the shop open. You could never answer the questions that matter.</a:t>
            </a:r>
            <a:endParaRPr lang="en-US" sz="1500" dirty="0"/>
          </a:p>
        </p:txBody>
      </p:sp>
      <p:sp>
        <p:nvSpPr>
          <p:cNvPr id="8" name="Text 6"/>
          <p:cNvSpPr txBox="1"/>
          <p:nvPr/>
        </p:nvSpPr>
        <p:spPr>
          <a:xfrm>
            <a:off x="457200" y="3794760"/>
            <a:ext cx="3931920" cy="640080"/>
          </a:xfrm>
          <a:prstGeom prst="rect">
            <a:avLst/>
          </a:prstGeom>
          <a:noFill/>
          <a:ln/>
        </p:spPr>
        <p:txBody>
          <a:bodyPr wrap="square" lIns="0" tIns="0" rIns="0" bIns="0" rtlCol="0" anchor="t"/>
          <a:lstStyle/>
          <a:p>
            <a:pPr indent="0" marL="0">
              <a:buNone/>
            </a:pPr>
            <a:r>
              <a:rPr lang="en-US" sz="1400" dirty="0">
                <a:solidFill>
                  <a:srgbClr val="6B7280"/>
                </a:solidFill>
                <a:latin typeface="Calibri" pitchFamily="34" charset="0"/>
                <a:ea typeface="Calibri" pitchFamily="34" charset="-122"/>
                <a:cs typeface="Calibri" pitchFamily="34" charset="-120"/>
              </a:rPr>
              <a:t>That is exactly where you are with your agent today.</a:t>
            </a:r>
            <a:endParaRPr lang="en-US" sz="1400" dirty="0"/>
          </a:p>
        </p:txBody>
      </p:sp>
      <p:sp>
        <p:nvSpPr>
          <p:cNvPr id="9" name="Shape 7"/>
          <p:cNvSpPr/>
          <p:nvPr/>
        </p:nvSpPr>
        <p:spPr>
          <a:xfrm>
            <a:off x="4754880" y="1234440"/>
            <a:ext cx="3931920" cy="3200400"/>
          </a:xfrm>
          <a:prstGeom prst="roundRect">
            <a:avLst>
              <a:gd name="adj" fmla="val 2286"/>
            </a:avLst>
          </a:prstGeom>
          <a:solidFill>
            <a:srgbClr val="F3F4F6"/>
          </a:solidFill>
          <a:ln w="12700">
            <a:solidFill>
              <a:srgbClr val="F3F4F6"/>
            </a:solidFill>
            <a:prstDash val="solid"/>
          </a:ln>
        </p:spPr>
      </p:sp>
      <p:sp>
        <p:nvSpPr>
          <p:cNvPr id="10" name="Text 8"/>
          <p:cNvSpPr txBox="1"/>
          <p:nvPr/>
        </p:nvSpPr>
        <p:spPr>
          <a:xfrm>
            <a:off x="5029200" y="1463040"/>
            <a:ext cx="3383280" cy="274320"/>
          </a:xfrm>
          <a:prstGeom prst="rect">
            <a:avLst/>
          </a:prstGeom>
          <a:noFill/>
          <a:ln/>
        </p:spPr>
        <p:txBody>
          <a:bodyPr wrap="square" lIns="0" tIns="0" rIns="0" bIns="0" rtlCol="0" anchor="t"/>
          <a:lstStyle/>
          <a:p>
            <a:pPr indent="0" marL="0">
              <a:buNone/>
            </a:pPr>
            <a:r>
              <a:rPr lang="en-US" sz="1000" b="1" spc="200" kern="0" dirty="0">
                <a:solidFill>
                  <a:srgbClr val="6B7280"/>
                </a:solidFill>
                <a:latin typeface="Calibri" pitchFamily="34" charset="0"/>
                <a:ea typeface="Calibri" pitchFamily="34" charset="-122"/>
                <a:cs typeface="Calibri" pitchFamily="34" charset="-120"/>
              </a:rPr>
              <a:t>WHAT YOU CAN SEE</a:t>
            </a:r>
            <a:endParaRPr lang="en-US" sz="1000" dirty="0"/>
          </a:p>
        </p:txBody>
      </p:sp>
      <p:sp>
        <p:nvSpPr>
          <p:cNvPr id="11" name="Shape 9"/>
          <p:cNvSpPr/>
          <p:nvPr/>
        </p:nvSpPr>
        <p:spPr>
          <a:xfrm>
            <a:off x="5029200" y="1828800"/>
            <a:ext cx="3383280" cy="1234440"/>
          </a:xfrm>
          <a:prstGeom prst="roundRect">
            <a:avLst>
              <a:gd name="adj" fmla="val 5926"/>
            </a:avLst>
          </a:prstGeom>
          <a:solidFill>
            <a:srgbClr val="111827"/>
          </a:solidFill>
          <a:ln w="12700">
            <a:solidFill>
              <a:srgbClr val="111827"/>
            </a:solidFill>
            <a:prstDash val="solid"/>
          </a:ln>
        </p:spPr>
      </p:sp>
      <p:sp>
        <p:nvSpPr>
          <p:cNvPr id="12" name="Text 10"/>
          <p:cNvSpPr txBox="1"/>
          <p:nvPr/>
        </p:nvSpPr>
        <p:spPr>
          <a:xfrm>
            <a:off x="5212080" y="1965960"/>
            <a:ext cx="3017520" cy="274320"/>
          </a:xfrm>
          <a:prstGeom prst="rect">
            <a:avLst/>
          </a:prstGeom>
          <a:noFill/>
          <a:ln/>
        </p:spPr>
        <p:txBody>
          <a:bodyPr wrap="square" lIns="0" tIns="0" rIns="0" bIns="0" rtlCol="0" anchor="t"/>
          <a:lstStyle/>
          <a:p>
            <a:pPr indent="0" marL="0">
              <a:buNone/>
            </a:pPr>
            <a:r>
              <a:rPr lang="en-US" sz="1100" dirty="0">
                <a:solidFill>
                  <a:srgbClr val="9CA3AF"/>
                </a:solidFill>
                <a:latin typeface="Calibri" pitchFamily="34" charset="0"/>
                <a:ea typeface="Calibri" pitchFamily="34" charset="-122"/>
                <a:cs typeface="Calibri" pitchFamily="34" charset="-120"/>
              </a:rPr>
              <a:t>monthly total</a:t>
            </a:r>
            <a:endParaRPr lang="en-US" sz="1100" dirty="0"/>
          </a:p>
        </p:txBody>
      </p:sp>
      <p:sp>
        <p:nvSpPr>
          <p:cNvPr id="13" name="Text 11"/>
          <p:cNvSpPr txBox="1"/>
          <p:nvPr/>
        </p:nvSpPr>
        <p:spPr>
          <a:xfrm>
            <a:off x="5212080" y="2240280"/>
            <a:ext cx="3017520" cy="73152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$4,218</a:t>
            </a:r>
            <a:endParaRPr lang="en-US" sz="4000" dirty="0"/>
          </a:p>
        </p:txBody>
      </p:sp>
      <p:sp>
        <p:nvSpPr>
          <p:cNvPr id="14" name="Text 12"/>
          <p:cNvSpPr txBox="1"/>
          <p:nvPr/>
        </p:nvSpPr>
        <p:spPr>
          <a:xfrm>
            <a:off x="5029200" y="3246120"/>
            <a:ext cx="3383280" cy="32004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One number, once a month.</a:t>
            </a:r>
            <a:endParaRPr lang="en-US" sz="1400" dirty="0"/>
          </a:p>
        </p:txBody>
      </p:sp>
      <p:sp>
        <p:nvSpPr>
          <p:cNvPr id="15" name="Text 13"/>
          <p:cNvSpPr txBox="1"/>
          <p:nvPr/>
        </p:nvSpPr>
        <p:spPr>
          <a:xfrm>
            <a:off x="5029200" y="3611880"/>
            <a:ext cx="3383280" cy="320040"/>
          </a:xfrm>
          <a:prstGeom prst="rect">
            <a:avLst/>
          </a:prstGeom>
          <a:noFill/>
          <a:ln/>
        </p:spPr>
        <p:txBody>
          <a:bodyPr wrap="square" lIns="0" tIns="0" rIns="0" bIns="0" rtlCol="0" anchor="t"/>
          <a:lstStyle/>
          <a:p>
            <a:pPr indent="0" marL="0">
              <a:buNone/>
            </a:pPr>
            <a:r>
              <a:rPr lang="en-US" sz="1400" dirty="0">
                <a:solidFill>
                  <a:srgbClr val="B91C1C"/>
                </a:solidFill>
                <a:latin typeface="Calibri" pitchFamily="34" charset="0"/>
                <a:ea typeface="Calibri" pitchFamily="34" charset="-122"/>
                <a:cs typeface="Calibri" pitchFamily="34" charset="-120"/>
              </a:rPr>
              <a:t>And nothing else at all.</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01 · NO RECEIPTS</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Four questions you cannot answer</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2</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8</a:t>
            </a:r>
            <a:endParaRPr lang="en-US" sz="900" dirty="0"/>
          </a:p>
        </p:txBody>
      </p:sp>
      <p:sp>
        <p:nvSpPr>
          <p:cNvPr id="6" name="Shape 4"/>
          <p:cNvSpPr/>
          <p:nvPr/>
        </p:nvSpPr>
        <p:spPr>
          <a:xfrm>
            <a:off x="457200" y="1234440"/>
            <a:ext cx="4023360" cy="914400"/>
          </a:xfrm>
          <a:prstGeom prst="roundRect">
            <a:avLst>
              <a:gd name="adj" fmla="val 8000"/>
            </a:avLst>
          </a:prstGeom>
          <a:solidFill>
            <a:srgbClr val="FFFFFF"/>
          </a:solidFill>
          <a:ln w="15875">
            <a:solidFill>
              <a:srgbClr val="6B7280"/>
            </a:solidFill>
            <a:prstDash val="dash"/>
          </a:ln>
        </p:spPr>
      </p:sp>
      <p:sp>
        <p:nvSpPr>
          <p:cNvPr id="7" name="Text 5"/>
          <p:cNvSpPr txBox="1"/>
          <p:nvPr/>
        </p:nvSpPr>
        <p:spPr>
          <a:xfrm>
            <a:off x="685800" y="1353312"/>
            <a:ext cx="3657600"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Which agent spent it?</a:t>
            </a:r>
            <a:endParaRPr lang="en-US" sz="1500" dirty="0"/>
          </a:p>
        </p:txBody>
      </p:sp>
      <p:sp>
        <p:nvSpPr>
          <p:cNvPr id="8" name="Text 6"/>
          <p:cNvSpPr txBox="1"/>
          <p:nvPr/>
        </p:nvSpPr>
        <p:spPr>
          <a:xfrm>
            <a:off x="685800" y="1691640"/>
            <a:ext cx="3657600" cy="320040"/>
          </a:xfrm>
          <a:prstGeom prst="rect">
            <a:avLst/>
          </a:prstGeom>
          <a:noFill/>
          <a:ln/>
        </p:spPr>
        <p:txBody>
          <a:bodyPr wrap="square" lIns="0" tIns="0" rIns="0" bIns="0" rtlCol="0" anchor="t"/>
          <a:lstStyle/>
          <a:p>
            <a:pPr indent="0" marL="0">
              <a:buNone/>
            </a:pPr>
            <a:r>
              <a:rPr lang="en-US" sz="1200" dirty="0">
                <a:solidFill>
                  <a:srgbClr val="B91C1C"/>
                </a:solidFill>
                <a:latin typeface="Calibri" pitchFamily="34" charset="0"/>
                <a:ea typeface="Calibri" pitchFamily="34" charset="-122"/>
                <a:cs typeface="Calibri" pitchFamily="34" charset="-120"/>
              </a:rPr>
              <a:t>You do not know.</a:t>
            </a:r>
            <a:endParaRPr lang="en-US" sz="1200" dirty="0"/>
          </a:p>
        </p:txBody>
      </p:sp>
      <p:sp>
        <p:nvSpPr>
          <p:cNvPr id="9" name="Shape 7"/>
          <p:cNvSpPr/>
          <p:nvPr/>
        </p:nvSpPr>
        <p:spPr>
          <a:xfrm>
            <a:off x="4663440" y="1234440"/>
            <a:ext cx="4023360" cy="914400"/>
          </a:xfrm>
          <a:prstGeom prst="roundRect">
            <a:avLst>
              <a:gd name="adj" fmla="val 8000"/>
            </a:avLst>
          </a:prstGeom>
          <a:solidFill>
            <a:srgbClr val="FFFFFF"/>
          </a:solidFill>
          <a:ln w="15875">
            <a:solidFill>
              <a:srgbClr val="6B7280"/>
            </a:solidFill>
            <a:prstDash val="dash"/>
          </a:ln>
        </p:spPr>
      </p:sp>
      <p:sp>
        <p:nvSpPr>
          <p:cNvPr id="10" name="Text 8"/>
          <p:cNvSpPr txBox="1"/>
          <p:nvPr/>
        </p:nvSpPr>
        <p:spPr>
          <a:xfrm>
            <a:off x="4892040" y="1353312"/>
            <a:ext cx="3657600"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Which team should pay?</a:t>
            </a:r>
            <a:endParaRPr lang="en-US" sz="1500" dirty="0"/>
          </a:p>
        </p:txBody>
      </p:sp>
      <p:sp>
        <p:nvSpPr>
          <p:cNvPr id="11" name="Text 9"/>
          <p:cNvSpPr txBox="1"/>
          <p:nvPr/>
        </p:nvSpPr>
        <p:spPr>
          <a:xfrm>
            <a:off x="4892040" y="1691640"/>
            <a:ext cx="3657600" cy="320040"/>
          </a:xfrm>
          <a:prstGeom prst="rect">
            <a:avLst/>
          </a:prstGeom>
          <a:noFill/>
          <a:ln/>
        </p:spPr>
        <p:txBody>
          <a:bodyPr wrap="square" lIns="0" tIns="0" rIns="0" bIns="0" rtlCol="0" anchor="t"/>
          <a:lstStyle/>
          <a:p>
            <a:pPr indent="0" marL="0">
              <a:buNone/>
            </a:pPr>
            <a:r>
              <a:rPr lang="en-US" sz="1200" dirty="0">
                <a:solidFill>
                  <a:srgbClr val="B91C1C"/>
                </a:solidFill>
                <a:latin typeface="Calibri" pitchFamily="34" charset="0"/>
                <a:ea typeface="Calibri" pitchFamily="34" charset="-122"/>
                <a:cs typeface="Calibri" pitchFamily="34" charset="-120"/>
              </a:rPr>
              <a:t>You do not know.</a:t>
            </a:r>
            <a:endParaRPr lang="en-US" sz="1200" dirty="0"/>
          </a:p>
        </p:txBody>
      </p:sp>
      <p:sp>
        <p:nvSpPr>
          <p:cNvPr id="12" name="Shape 10"/>
          <p:cNvSpPr/>
          <p:nvPr/>
        </p:nvSpPr>
        <p:spPr>
          <a:xfrm>
            <a:off x="457200" y="2286000"/>
            <a:ext cx="4023360" cy="914400"/>
          </a:xfrm>
          <a:prstGeom prst="roundRect">
            <a:avLst>
              <a:gd name="adj" fmla="val 8000"/>
            </a:avLst>
          </a:prstGeom>
          <a:solidFill>
            <a:srgbClr val="FFFFFF"/>
          </a:solidFill>
          <a:ln w="15875">
            <a:solidFill>
              <a:srgbClr val="6B7280"/>
            </a:solidFill>
            <a:prstDash val="dash"/>
          </a:ln>
        </p:spPr>
      </p:sp>
      <p:sp>
        <p:nvSpPr>
          <p:cNvPr id="13" name="Text 11"/>
          <p:cNvSpPr txBox="1"/>
          <p:nvPr/>
        </p:nvSpPr>
        <p:spPr>
          <a:xfrm>
            <a:off x="685800" y="2404872"/>
            <a:ext cx="3657600"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Which customer was it for?</a:t>
            </a:r>
            <a:endParaRPr lang="en-US" sz="1500" dirty="0"/>
          </a:p>
        </p:txBody>
      </p:sp>
      <p:sp>
        <p:nvSpPr>
          <p:cNvPr id="14" name="Text 12"/>
          <p:cNvSpPr txBox="1"/>
          <p:nvPr/>
        </p:nvSpPr>
        <p:spPr>
          <a:xfrm>
            <a:off x="685800" y="2743200"/>
            <a:ext cx="3657600" cy="320040"/>
          </a:xfrm>
          <a:prstGeom prst="rect">
            <a:avLst/>
          </a:prstGeom>
          <a:noFill/>
          <a:ln/>
        </p:spPr>
        <p:txBody>
          <a:bodyPr wrap="square" lIns="0" tIns="0" rIns="0" bIns="0" rtlCol="0" anchor="t"/>
          <a:lstStyle/>
          <a:p>
            <a:pPr indent="0" marL="0">
              <a:buNone/>
            </a:pPr>
            <a:r>
              <a:rPr lang="en-US" sz="1200" dirty="0">
                <a:solidFill>
                  <a:srgbClr val="B91C1C"/>
                </a:solidFill>
                <a:latin typeface="Calibri" pitchFamily="34" charset="0"/>
                <a:ea typeface="Calibri" pitchFamily="34" charset="-122"/>
                <a:cs typeface="Calibri" pitchFamily="34" charset="-120"/>
              </a:rPr>
              <a:t>You do not know.</a:t>
            </a:r>
            <a:endParaRPr lang="en-US" sz="1200" dirty="0"/>
          </a:p>
        </p:txBody>
      </p:sp>
      <p:sp>
        <p:nvSpPr>
          <p:cNvPr id="15" name="Shape 13"/>
          <p:cNvSpPr/>
          <p:nvPr/>
        </p:nvSpPr>
        <p:spPr>
          <a:xfrm>
            <a:off x="4663440" y="2286000"/>
            <a:ext cx="4023360" cy="914400"/>
          </a:xfrm>
          <a:prstGeom prst="roundRect">
            <a:avLst>
              <a:gd name="adj" fmla="val 8000"/>
            </a:avLst>
          </a:prstGeom>
          <a:solidFill>
            <a:srgbClr val="FFFFFF"/>
          </a:solidFill>
          <a:ln w="15875">
            <a:solidFill>
              <a:srgbClr val="6B7280"/>
            </a:solidFill>
            <a:prstDash val="dash"/>
          </a:ln>
        </p:spPr>
      </p:sp>
      <p:sp>
        <p:nvSpPr>
          <p:cNvPr id="16" name="Text 14"/>
          <p:cNvSpPr txBox="1"/>
          <p:nvPr/>
        </p:nvSpPr>
        <p:spPr>
          <a:xfrm>
            <a:off x="4892040" y="2404872"/>
            <a:ext cx="3657600"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Did the work even succeed?</a:t>
            </a:r>
            <a:endParaRPr lang="en-US" sz="1500" dirty="0"/>
          </a:p>
        </p:txBody>
      </p:sp>
      <p:sp>
        <p:nvSpPr>
          <p:cNvPr id="17" name="Text 15"/>
          <p:cNvSpPr txBox="1"/>
          <p:nvPr/>
        </p:nvSpPr>
        <p:spPr>
          <a:xfrm>
            <a:off x="4892040" y="2743200"/>
            <a:ext cx="3657600" cy="320040"/>
          </a:xfrm>
          <a:prstGeom prst="rect">
            <a:avLst/>
          </a:prstGeom>
          <a:noFill/>
          <a:ln/>
        </p:spPr>
        <p:txBody>
          <a:bodyPr wrap="square" lIns="0" tIns="0" rIns="0" bIns="0" rtlCol="0" anchor="t"/>
          <a:lstStyle/>
          <a:p>
            <a:pPr indent="0" marL="0">
              <a:buNone/>
            </a:pPr>
            <a:r>
              <a:rPr lang="en-US" sz="1200" dirty="0">
                <a:solidFill>
                  <a:srgbClr val="B91C1C"/>
                </a:solidFill>
                <a:latin typeface="Calibri" pitchFamily="34" charset="0"/>
                <a:ea typeface="Calibri" pitchFamily="34" charset="-122"/>
                <a:cs typeface="Calibri" pitchFamily="34" charset="-120"/>
              </a:rPr>
              <a:t>No idea at all.</a:t>
            </a:r>
            <a:endParaRPr lang="en-US" sz="1200" dirty="0"/>
          </a:p>
        </p:txBody>
      </p:sp>
      <p:sp>
        <p:nvSpPr>
          <p:cNvPr id="18" name="Shape 16"/>
          <p:cNvSpPr/>
          <p:nvPr/>
        </p:nvSpPr>
        <p:spPr>
          <a:xfrm>
            <a:off x="457200" y="3474720"/>
            <a:ext cx="8229600" cy="1005840"/>
          </a:xfrm>
          <a:prstGeom prst="roundRect">
            <a:avLst>
              <a:gd name="adj" fmla="val 7273"/>
            </a:avLst>
          </a:prstGeom>
          <a:solidFill>
            <a:srgbClr val="111827"/>
          </a:solidFill>
          <a:ln w="12700">
            <a:solidFill>
              <a:srgbClr val="111827"/>
            </a:solidFill>
            <a:prstDash val="solid"/>
          </a:ln>
        </p:spPr>
      </p:sp>
      <p:sp>
        <p:nvSpPr>
          <p:cNvPr id="19" name="Text 17"/>
          <p:cNvSpPr txBox="1"/>
          <p:nvPr/>
        </p:nvSpPr>
        <p:spPr>
          <a:xfrm>
            <a:off x="731520" y="3474720"/>
            <a:ext cx="7680960" cy="1005840"/>
          </a:xfrm>
          <a:prstGeom prst="rect">
            <a:avLst/>
          </a:prstGeom>
          <a:noFill/>
          <a:ln/>
        </p:spPr>
        <p:txBody>
          <a:bodyPr wrap="square" lIns="0" tIns="0" rIns="0" bIns="0" rtlCol="0" anchor="ctr"/>
          <a:lstStyle/>
          <a:p>
            <a:pPr indent="0" marL="0">
              <a:buNone/>
            </a:pPr>
            <a:r>
              <a:rPr lang="en-US" sz="1500" b="1" dirty="0">
                <a:solidFill>
                  <a:srgbClr val="F59E0B"/>
                </a:solidFill>
                <a:latin typeface="Calibri" pitchFamily="34" charset="0"/>
                <a:ea typeface="Calibri" pitchFamily="34" charset="-122"/>
                <a:cs typeface="Calibri" pitchFamily="34" charset="-120"/>
              </a:rPr>
              <a:t>The fix is not a better bill. </a:t>
            </a:r>
            <a:pPr indent="0" marL="0">
              <a:buNone/>
            </a:pPr>
            <a:r>
              <a:rPr lang="en-US" sz="1500" dirty="0">
                <a:solidFill>
                  <a:srgbClr val="FFFFFF"/>
                </a:solidFill>
                <a:latin typeface="Calibri" pitchFamily="34" charset="0"/>
                <a:ea typeface="Calibri" pitchFamily="34" charset="-122"/>
                <a:cs typeface="Calibri" pitchFamily="34" charset="-120"/>
              </a:rPr>
              <a:t>You are not waiting for the provider to build you a nicer dashboard; you start writing a receipt yourself, every time the agent spends money.</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11827"/>
        </a:solidFill>
      </p:bgPr>
    </p:bg>
    <p:spTree>
      <p:nvGrpSpPr>
        <p:cNvPr id="1" name=""/>
        <p:cNvGrpSpPr/>
        <p:nvPr/>
      </p:nvGrpSpPr>
      <p:grpSpPr>
        <a:xfrm>
          <a:off x="0" y="0"/>
          <a:ext cx="0" cy="0"/>
          <a:chOff x="0" y="0"/>
          <a:chExt cx="0" cy="0"/>
        </a:xfrm>
      </p:grpSpPr>
      <p:sp>
        <p:nvSpPr>
          <p:cNvPr id="2" name="Text 0"/>
          <p:cNvSpPr txBox="1"/>
          <p:nvPr/>
        </p:nvSpPr>
        <p:spPr>
          <a:xfrm>
            <a:off x="548640" y="1005840"/>
            <a:ext cx="2743200" cy="1280160"/>
          </a:xfrm>
          <a:prstGeom prst="rect">
            <a:avLst/>
          </a:prstGeom>
          <a:noFill/>
          <a:ln/>
        </p:spPr>
        <p:txBody>
          <a:bodyPr wrap="square" lIns="0" tIns="0" rIns="0" bIns="0" rtlCol="0" anchor="t"/>
          <a:lstStyle/>
          <a:p>
            <a:pPr indent="0" marL="0">
              <a:buNone/>
            </a:pPr>
            <a:r>
              <a:rPr lang="en-US" sz="9600" b="1" dirty="0">
                <a:solidFill>
                  <a:srgbClr val="F59E0B"/>
                </a:solidFill>
                <a:latin typeface="Cambria" pitchFamily="34" charset="0"/>
                <a:ea typeface="Cambria" pitchFamily="34" charset="-122"/>
                <a:cs typeface="Cambria" pitchFamily="34" charset="-120"/>
              </a:rPr>
              <a:t>02</a:t>
            </a:r>
            <a:endParaRPr lang="en-US" sz="9600" dirty="0"/>
          </a:p>
        </p:txBody>
      </p:sp>
      <p:sp>
        <p:nvSpPr>
          <p:cNvPr id="3" name="Text 1"/>
          <p:cNvSpPr txBox="1"/>
          <p:nvPr/>
        </p:nvSpPr>
        <p:spPr>
          <a:xfrm>
            <a:off x="548640" y="2377440"/>
            <a:ext cx="8046720" cy="91440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The Receipt Is Already in the Box</a:t>
            </a:r>
            <a:endParaRPr lang="en-US" sz="3600" dirty="0"/>
          </a:p>
        </p:txBody>
      </p:sp>
      <p:sp>
        <p:nvSpPr>
          <p:cNvPr id="4" name="Text 2"/>
          <p:cNvSpPr txBox="1"/>
          <p:nvPr/>
        </p:nvSpPr>
        <p:spPr>
          <a:xfrm>
            <a:off x="548640" y="3383280"/>
            <a:ext cx="2743200" cy="320040"/>
          </a:xfrm>
          <a:prstGeom prst="rect">
            <a:avLst/>
          </a:prstGeom>
          <a:noFill/>
          <a:ln/>
        </p:spPr>
        <p:txBody>
          <a:bodyPr wrap="square" lIns="0" tIns="0" rIns="0" bIns="0" rtlCol="0" anchor="t"/>
          <a:lstStyle/>
          <a:p>
            <a:pPr indent="0" marL="0">
              <a:buNone/>
            </a:pPr>
            <a:r>
              <a:rPr lang="en-US" sz="1400" dirty="0">
                <a:solidFill>
                  <a:srgbClr val="9CA3AF"/>
                </a:solidFill>
                <a:latin typeface="Calibri" pitchFamily="34" charset="0"/>
                <a:ea typeface="Calibri" pitchFamily="34" charset="-122"/>
                <a:cs typeface="Calibri" pitchFamily="34" charset="-120"/>
              </a:rPr>
              <a:t>~7 min</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02 · THE USAGE NOTE</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What actually comes back</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2</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10</a:t>
            </a:r>
            <a:endParaRPr lang="en-US" sz="900" dirty="0"/>
          </a:p>
        </p:txBody>
      </p:sp>
      <p:sp>
        <p:nvSpPr>
          <p:cNvPr id="6" name="Shape 4"/>
          <p:cNvSpPr/>
          <p:nvPr/>
        </p:nvSpPr>
        <p:spPr>
          <a:xfrm>
            <a:off x="457200" y="1325880"/>
            <a:ext cx="1828800" cy="914400"/>
          </a:xfrm>
          <a:prstGeom prst="roundRect">
            <a:avLst>
              <a:gd name="adj" fmla="val 8000"/>
            </a:avLst>
          </a:prstGeom>
          <a:solidFill>
            <a:srgbClr val="F3F4F6"/>
          </a:solidFill>
          <a:ln w="12700">
            <a:solidFill>
              <a:srgbClr val="F3F4F6"/>
            </a:solidFill>
            <a:prstDash val="solid"/>
          </a:ln>
        </p:spPr>
      </p:sp>
      <p:sp>
        <p:nvSpPr>
          <p:cNvPr id="7" name="Text 5"/>
          <p:cNvSpPr txBox="1"/>
          <p:nvPr/>
        </p:nvSpPr>
        <p:spPr>
          <a:xfrm>
            <a:off x="640080" y="1444752"/>
            <a:ext cx="1554480" cy="274320"/>
          </a:xfrm>
          <a:prstGeom prst="rect">
            <a:avLst/>
          </a:prstGeom>
          <a:noFill/>
          <a:ln/>
        </p:spPr>
        <p:txBody>
          <a:bodyPr wrap="square" lIns="0" tIns="0" rIns="0" bIns="0" rtlCol="0" anchor="t"/>
          <a:lstStyle/>
          <a:p>
            <a:pPr indent="0" marL="0">
              <a:buNone/>
            </a:pPr>
            <a:r>
              <a:rPr lang="en-US" sz="1200" b="1" dirty="0">
                <a:solidFill>
                  <a:srgbClr val="1D4ED8"/>
                </a:solidFill>
                <a:latin typeface="Calibri" pitchFamily="34" charset="0"/>
                <a:ea typeface="Calibri" pitchFamily="34" charset="-122"/>
                <a:cs typeface="Calibri" pitchFamily="34" charset="-120"/>
              </a:rPr>
              <a:t>YOUR AGENT</a:t>
            </a:r>
            <a:endParaRPr lang="en-US" sz="1200" dirty="0"/>
          </a:p>
        </p:txBody>
      </p:sp>
      <p:sp>
        <p:nvSpPr>
          <p:cNvPr id="8" name="Text 6"/>
          <p:cNvSpPr txBox="1"/>
          <p:nvPr/>
        </p:nvSpPr>
        <p:spPr>
          <a:xfrm>
            <a:off x="640080" y="1737360"/>
            <a:ext cx="1554480" cy="27432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asks a question</a:t>
            </a:r>
            <a:endParaRPr lang="en-US" sz="1100" dirty="0"/>
          </a:p>
        </p:txBody>
      </p:sp>
      <p:pic>
        <p:nvPicPr>
          <p:cNvPr id="9" name="Image 0" descr="preencoded.png">    </p:cNvPr>
          <p:cNvPicPr>
            <a:picLocks noChangeAspect="1"/>
          </p:cNvPicPr>
          <p:nvPr/>
        </p:nvPicPr>
        <p:blipFill>
          <a:blip r:embed="rId1"/>
          <a:stretch>
            <a:fillRect/>
          </a:stretch>
        </p:blipFill>
        <p:spPr>
          <a:xfrm>
            <a:off x="2359152" y="1673352"/>
            <a:ext cx="182880" cy="182880"/>
          </a:xfrm>
          <a:prstGeom prst="rect">
            <a:avLst/>
          </a:prstGeom>
        </p:spPr>
      </p:pic>
      <p:sp>
        <p:nvSpPr>
          <p:cNvPr id="10" name="Shape 7"/>
          <p:cNvSpPr/>
          <p:nvPr/>
        </p:nvSpPr>
        <p:spPr>
          <a:xfrm>
            <a:off x="2606040" y="1325880"/>
            <a:ext cx="1828800" cy="914400"/>
          </a:xfrm>
          <a:prstGeom prst="roundRect">
            <a:avLst>
              <a:gd name="adj" fmla="val 8000"/>
            </a:avLst>
          </a:prstGeom>
          <a:solidFill>
            <a:srgbClr val="F3F4F6"/>
          </a:solidFill>
          <a:ln w="12700">
            <a:solidFill>
              <a:srgbClr val="F3F4F6"/>
            </a:solidFill>
            <a:prstDash val="solid"/>
          </a:ln>
        </p:spPr>
      </p:sp>
      <p:sp>
        <p:nvSpPr>
          <p:cNvPr id="11" name="Text 8"/>
          <p:cNvSpPr txBox="1"/>
          <p:nvPr/>
        </p:nvSpPr>
        <p:spPr>
          <a:xfrm>
            <a:off x="2788920" y="1444752"/>
            <a:ext cx="1554480" cy="274320"/>
          </a:xfrm>
          <a:prstGeom prst="rect">
            <a:avLst/>
          </a:prstGeom>
          <a:noFill/>
          <a:ln/>
        </p:spPr>
        <p:txBody>
          <a:bodyPr wrap="square" lIns="0" tIns="0" rIns="0" bIns="0" rtlCol="0" anchor="t"/>
          <a:lstStyle/>
          <a:p>
            <a:pPr indent="0" marL="0">
              <a:buNone/>
            </a:pPr>
            <a:r>
              <a:rPr lang="en-US" sz="1200" b="1" dirty="0">
                <a:solidFill>
                  <a:srgbClr val="6D28D9"/>
                </a:solidFill>
                <a:latin typeface="Calibri" pitchFamily="34" charset="0"/>
                <a:ea typeface="Calibri" pitchFamily="34" charset="-122"/>
                <a:cs typeface="Calibri" pitchFamily="34" charset="-120"/>
              </a:rPr>
              <a:t>THE MODEL</a:t>
            </a:r>
            <a:endParaRPr lang="en-US" sz="1200" dirty="0"/>
          </a:p>
        </p:txBody>
      </p:sp>
      <p:sp>
        <p:nvSpPr>
          <p:cNvPr id="12" name="Text 9"/>
          <p:cNvSpPr txBox="1"/>
          <p:nvPr/>
        </p:nvSpPr>
        <p:spPr>
          <a:xfrm>
            <a:off x="2788920" y="1737360"/>
            <a:ext cx="1554480" cy="27432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thinks, answers</a:t>
            </a:r>
            <a:endParaRPr lang="en-US" sz="1100" dirty="0"/>
          </a:p>
        </p:txBody>
      </p:sp>
      <p:pic>
        <p:nvPicPr>
          <p:cNvPr id="13" name="Image 1" descr="preencoded.png">    </p:cNvPr>
          <p:cNvPicPr>
            <a:picLocks noChangeAspect="1"/>
          </p:cNvPicPr>
          <p:nvPr/>
        </p:nvPicPr>
        <p:blipFill>
          <a:blip r:embed="rId2"/>
          <a:stretch>
            <a:fillRect/>
          </a:stretch>
        </p:blipFill>
        <p:spPr>
          <a:xfrm>
            <a:off x="4507992" y="1673352"/>
            <a:ext cx="182880" cy="182880"/>
          </a:xfrm>
          <a:prstGeom prst="rect">
            <a:avLst/>
          </a:prstGeom>
        </p:spPr>
      </p:pic>
      <p:sp>
        <p:nvSpPr>
          <p:cNvPr id="14" name="Shape 10"/>
          <p:cNvSpPr/>
          <p:nvPr/>
        </p:nvSpPr>
        <p:spPr>
          <a:xfrm>
            <a:off x="4754880" y="1325880"/>
            <a:ext cx="3931920" cy="2331720"/>
          </a:xfrm>
          <a:prstGeom prst="roundRect">
            <a:avLst>
              <a:gd name="adj" fmla="val 3137"/>
            </a:avLst>
          </a:prstGeom>
          <a:solidFill>
            <a:srgbClr val="0F172A"/>
          </a:solidFill>
          <a:ln w="12700">
            <a:solidFill>
              <a:srgbClr val="0F172A"/>
            </a:solidFill>
            <a:prstDash val="solid"/>
          </a:ln>
        </p:spPr>
      </p:sp>
      <p:sp>
        <p:nvSpPr>
          <p:cNvPr id="15" name="Text 11"/>
          <p:cNvSpPr txBox="1"/>
          <p:nvPr/>
        </p:nvSpPr>
        <p:spPr>
          <a:xfrm>
            <a:off x="4983480" y="1463040"/>
            <a:ext cx="3474720" cy="228600"/>
          </a:xfrm>
          <a:prstGeom prst="rect">
            <a:avLst/>
          </a:prstGeom>
          <a:noFill/>
          <a:ln/>
        </p:spPr>
        <p:txBody>
          <a:bodyPr wrap="square" lIns="0" tIns="0" rIns="0" bIns="0" rtlCol="0" anchor="t"/>
          <a:lstStyle/>
          <a:p>
            <a:pPr indent="0" marL="0">
              <a:buNone/>
            </a:pPr>
            <a:r>
              <a:rPr lang="en-US" sz="900" b="1" spc="200" kern="0" dirty="0">
                <a:solidFill>
                  <a:srgbClr val="6B7280"/>
                </a:solidFill>
                <a:latin typeface="Calibri" pitchFamily="34" charset="0"/>
                <a:ea typeface="Calibri" pitchFamily="34" charset="-122"/>
                <a:cs typeface="Calibri" pitchFamily="34" charset="-120"/>
              </a:rPr>
              <a:t>WHAT COMES BACK</a:t>
            </a:r>
            <a:endParaRPr lang="en-US" sz="900" dirty="0"/>
          </a:p>
        </p:txBody>
      </p:sp>
      <p:sp>
        <p:nvSpPr>
          <p:cNvPr id="16" name="Text 12"/>
          <p:cNvSpPr txBox="1"/>
          <p:nvPr/>
        </p:nvSpPr>
        <p:spPr>
          <a:xfrm>
            <a:off x="4983480" y="1783080"/>
            <a:ext cx="3566160" cy="1783080"/>
          </a:xfrm>
          <a:prstGeom prst="rect">
            <a:avLst/>
          </a:prstGeom>
          <a:noFill/>
          <a:ln/>
        </p:spPr>
        <p:txBody>
          <a:bodyPr wrap="square" lIns="0" tIns="0" rIns="0" bIns="0" rtlCol="0" anchor="t"/>
          <a:lstStyle/>
          <a:p>
            <a:pPr indent="0" marL="0">
              <a:buNone/>
            </a:pPr>
            <a:r>
              <a:rPr lang="en-US" sz="1100" dirty="0">
                <a:solidFill>
                  <a:srgbClr val="E8EAED"/>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E8EAED"/>
                </a:solidFill>
                <a:latin typeface="Courier New" pitchFamily="34" charset="0"/>
                <a:ea typeface="Courier New" pitchFamily="34" charset="-122"/>
                <a:cs typeface="Courier New" pitchFamily="34" charset="-120"/>
              </a:rPr>
              <a:t>  "text": "…the answer…",</a:t>
            </a:r>
            <a:endParaRPr lang="en-US" sz="1100" dirty="0"/>
          </a:p>
          <a:p>
            <a:pPr indent="0" marL="0">
              <a:buNone/>
            </a:pPr>
            <a:r>
              <a:rPr lang="en-US" sz="1100" dirty="0">
                <a:solidFill>
                  <a:srgbClr val="E8EAED"/>
                </a:solidFill>
                <a:latin typeface="Courier New" pitchFamily="34" charset="0"/>
                <a:ea typeface="Courier New" pitchFamily="34" charset="-122"/>
                <a:cs typeface="Courier New" pitchFamily="34" charset="-120"/>
              </a:rPr>
              <a:t>  "usage": {</a:t>
            </a:r>
            <a:endParaRPr lang="en-US" sz="1100" dirty="0"/>
          </a:p>
          <a:p>
            <a:pPr indent="0" marL="0">
              <a:buNone/>
            </a:pPr>
            <a:r>
              <a:rPr lang="en-US" sz="1100" dirty="0">
                <a:solidFill>
                  <a:srgbClr val="34D399"/>
                </a:solidFill>
                <a:latin typeface="Courier New" pitchFamily="34" charset="0"/>
                <a:ea typeface="Courier New" pitchFamily="34" charset="-122"/>
                <a:cs typeface="Courier New" pitchFamily="34" charset="-120"/>
              </a:rPr>
              <a:t>     "input_tokens": 2214,</a:t>
            </a:r>
            <a:endParaRPr lang="en-US" sz="1100" dirty="0"/>
          </a:p>
          <a:p>
            <a:pPr indent="0" marL="0">
              <a:buNone/>
            </a:pPr>
            <a:r>
              <a:rPr lang="en-US" sz="1100" dirty="0">
                <a:solidFill>
                  <a:srgbClr val="34D399"/>
                </a:solidFill>
                <a:latin typeface="Courier New" pitchFamily="34" charset="0"/>
                <a:ea typeface="Courier New" pitchFamily="34" charset="-122"/>
                <a:cs typeface="Courier New" pitchFamily="34" charset="-120"/>
              </a:rPr>
              <a:t>     "output_tokens": 187</a:t>
            </a:r>
            <a:endParaRPr lang="en-US" sz="1100" dirty="0"/>
          </a:p>
          <a:p>
            <a:pPr indent="0" marL="0">
              <a:buNone/>
            </a:pPr>
            <a:r>
              <a:rPr lang="en-US" sz="1100" dirty="0">
                <a:solidFill>
                  <a:srgbClr val="E8EAED"/>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E8EAED"/>
                </a:solidFill>
                <a:latin typeface="Courier New" pitchFamily="34" charset="0"/>
                <a:ea typeface="Courier New" pitchFamily="34" charset="-122"/>
                <a:cs typeface="Courier New" pitchFamily="34" charset="-120"/>
              </a:rPr>
              <a:t>}</a:t>
            </a:r>
            <a:endParaRPr lang="en-US" sz="1100" dirty="0"/>
          </a:p>
        </p:txBody>
      </p:sp>
      <p:sp>
        <p:nvSpPr>
          <p:cNvPr id="17" name="Text 13"/>
          <p:cNvSpPr txBox="1"/>
          <p:nvPr/>
        </p:nvSpPr>
        <p:spPr>
          <a:xfrm>
            <a:off x="4754880" y="3749040"/>
            <a:ext cx="3931920" cy="548640"/>
          </a:xfrm>
          <a:prstGeom prst="rect">
            <a:avLst/>
          </a:prstGeom>
          <a:noFill/>
          <a:ln/>
        </p:spPr>
        <p:txBody>
          <a:bodyPr wrap="square" lIns="0" tIns="0" rIns="0" bIns="0" rtlCol="0" anchor="t"/>
          <a:lstStyle/>
          <a:p>
            <a:pPr indent="0" marL="0">
              <a:buNone/>
            </a:pPr>
            <a:r>
              <a:rPr lang="en-US" sz="1200" i="1" dirty="0">
                <a:solidFill>
                  <a:srgbClr val="047857"/>
                </a:solidFill>
                <a:latin typeface="Calibri" pitchFamily="34" charset="0"/>
                <a:ea typeface="Calibri" pitchFamily="34" charset="-122"/>
                <a:cs typeface="Calibri" pitchFamily="34" charset="-120"/>
              </a:rPr>
              <a:t>The green lines are the receipt. They arrive whether you read them or not.</a:t>
            </a:r>
            <a:endParaRPr lang="en-US" sz="1200" dirty="0"/>
          </a:p>
        </p:txBody>
      </p:sp>
      <p:sp>
        <p:nvSpPr>
          <p:cNvPr id="18" name="Shape 14"/>
          <p:cNvSpPr/>
          <p:nvPr/>
        </p:nvSpPr>
        <p:spPr>
          <a:xfrm>
            <a:off x="457200" y="2468880"/>
            <a:ext cx="4023360" cy="1188720"/>
          </a:xfrm>
          <a:prstGeom prst="roundRect">
            <a:avLst>
              <a:gd name="adj" fmla="val 6154"/>
            </a:avLst>
          </a:prstGeom>
          <a:solidFill>
            <a:srgbClr val="F3F4F6"/>
          </a:solidFill>
          <a:ln w="12700">
            <a:solidFill>
              <a:srgbClr val="F3F4F6"/>
            </a:solidFill>
            <a:prstDash val="solid"/>
          </a:ln>
        </p:spPr>
      </p:sp>
      <p:sp>
        <p:nvSpPr>
          <p:cNvPr id="19" name="Text 15"/>
          <p:cNvSpPr txBox="1"/>
          <p:nvPr/>
        </p:nvSpPr>
        <p:spPr>
          <a:xfrm>
            <a:off x="685800" y="2606040"/>
            <a:ext cx="3657600" cy="320040"/>
          </a:xfrm>
          <a:prstGeom prst="rect">
            <a:avLst/>
          </a:prstGeom>
          <a:noFill/>
          <a:ln/>
        </p:spPr>
        <p:txBody>
          <a:bodyPr wrap="square" lIns="0" tIns="0" rIns="0" bIns="0" rtlCol="0" anchor="t"/>
          <a:lstStyle/>
          <a:p>
            <a:pPr indent="0" marL="0">
              <a:buNone/>
            </a:pPr>
            <a:r>
              <a:rPr lang="en-US" sz="1600" b="1" dirty="0">
                <a:solidFill>
                  <a:srgbClr val="111827"/>
                </a:solidFill>
                <a:latin typeface="Calibri" pitchFamily="34" charset="0"/>
                <a:ea typeface="Calibri" pitchFamily="34" charset="-122"/>
                <a:cs typeface="Calibri" pitchFamily="34" charset="-120"/>
              </a:rPr>
              <a:t>The usage block</a:t>
            </a:r>
            <a:endParaRPr lang="en-US" sz="1600" dirty="0"/>
          </a:p>
        </p:txBody>
      </p:sp>
      <p:sp>
        <p:nvSpPr>
          <p:cNvPr id="20" name="Text 16"/>
          <p:cNvSpPr txBox="1"/>
          <p:nvPr/>
        </p:nvSpPr>
        <p:spPr>
          <a:xfrm>
            <a:off x="685800" y="2926080"/>
            <a:ext cx="3611880" cy="68580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 small note attached to every response. Every major provider returns one, on every call, whether you asked for it or not.</a:t>
            </a:r>
            <a:endParaRPr lang="en-US" sz="1200" dirty="0"/>
          </a:p>
        </p:txBody>
      </p:sp>
      <p:sp>
        <p:nvSpPr>
          <p:cNvPr id="21" name="Text 17"/>
          <p:cNvSpPr txBox="1"/>
          <p:nvPr/>
        </p:nvSpPr>
        <p:spPr>
          <a:xfrm>
            <a:off x="457200" y="3794760"/>
            <a:ext cx="4023360" cy="548640"/>
          </a:xfrm>
          <a:prstGeom prst="rect">
            <a:avLst/>
          </a:prstGeom>
          <a:noFill/>
          <a:ln/>
        </p:spPr>
        <p:txBody>
          <a:bodyPr wrap="square" lIns="0" tIns="0" rIns="0" bIns="0" rtlCol="0" anchor="t"/>
          <a:lstStyle/>
          <a:p>
            <a:pPr indent="0" marL="0">
              <a:buNone/>
            </a:pPr>
            <a:r>
              <a:rPr lang="en-US" sz="1100" i="1" dirty="0">
                <a:solidFill>
                  <a:srgbClr val="6B7280"/>
                </a:solidFill>
                <a:latin typeface="Calibri" pitchFamily="34" charset="0"/>
                <a:ea typeface="Calibri" pitchFamily="34" charset="-122"/>
                <a:cs typeface="Calibri" pitchFamily="34" charset="-120"/>
              </a:rPr>
              <a:t>A token ≈ four characters of English. Input is what you sent; output is what it wrote back.</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02 · THE USAGE NOTE</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The change is one extra line</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2</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11</a:t>
            </a:r>
            <a:endParaRPr lang="en-US" sz="900" dirty="0"/>
          </a:p>
        </p:txBody>
      </p:sp>
      <p:sp>
        <p:nvSpPr>
          <p:cNvPr id="6" name="Shape 4"/>
          <p:cNvSpPr/>
          <p:nvPr/>
        </p:nvSpPr>
        <p:spPr>
          <a:xfrm>
            <a:off x="457200" y="1325880"/>
            <a:ext cx="4023360" cy="3108960"/>
          </a:xfrm>
          <a:prstGeom prst="roundRect">
            <a:avLst>
              <a:gd name="adj" fmla="val 2353"/>
            </a:avLst>
          </a:prstGeom>
          <a:solidFill>
            <a:srgbClr val="FEF2F2"/>
          </a:solidFill>
          <a:ln w="12700">
            <a:solidFill>
              <a:srgbClr val="FEF2F2"/>
            </a:solidFill>
            <a:prstDash val="solid"/>
          </a:ln>
        </p:spPr>
      </p:sp>
      <p:sp>
        <p:nvSpPr>
          <p:cNvPr id="7" name="Text 5"/>
          <p:cNvSpPr txBox="1"/>
          <p:nvPr/>
        </p:nvSpPr>
        <p:spPr>
          <a:xfrm>
            <a:off x="731520" y="1508760"/>
            <a:ext cx="3566160" cy="365760"/>
          </a:xfrm>
          <a:prstGeom prst="rect">
            <a:avLst/>
          </a:prstGeom>
          <a:noFill/>
          <a:ln/>
        </p:spPr>
        <p:txBody>
          <a:bodyPr wrap="square" lIns="0" tIns="0" rIns="0" bIns="0" rtlCol="0" anchor="t"/>
          <a:lstStyle/>
          <a:p>
            <a:pPr indent="0" marL="0">
              <a:buNone/>
            </a:pPr>
            <a:r>
              <a:rPr lang="en-US" sz="1700" b="1" dirty="0">
                <a:solidFill>
                  <a:srgbClr val="B91C1C"/>
                </a:solidFill>
                <a:latin typeface="Calibri" pitchFamily="34" charset="0"/>
                <a:ea typeface="Calibri" pitchFamily="34" charset="-122"/>
                <a:cs typeface="Calibri" pitchFamily="34" charset="-120"/>
              </a:rPr>
              <a:t>What most programs do</a:t>
            </a:r>
            <a:endParaRPr lang="en-US" sz="1700" dirty="0"/>
          </a:p>
        </p:txBody>
      </p:sp>
      <p:sp>
        <p:nvSpPr>
          <p:cNvPr id="8" name="Text 6"/>
          <p:cNvSpPr txBox="1"/>
          <p:nvPr/>
        </p:nvSpPr>
        <p:spPr>
          <a:xfrm>
            <a:off x="731520" y="2011680"/>
            <a:ext cx="3566160" cy="13716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F2937"/>
                </a:solidFill>
                <a:latin typeface="Calibri" pitchFamily="34" charset="0"/>
                <a:ea typeface="Calibri" pitchFamily="34" charset="-122"/>
                <a:cs typeface="Calibri" pitchFamily="34" charset="-120"/>
              </a:rPr>
              <a:t>Read the answer</a:t>
            </a:r>
            <a:endParaRPr lang="en-US" sz="1400" dirty="0"/>
          </a:p>
          <a:p>
            <a:pPr marL="342900" indent="-342900">
              <a:spcAft>
                <a:spcPts val="800"/>
              </a:spcAft>
              <a:buSzPct val="100000"/>
              <a:buChar char="•"/>
            </a:pPr>
            <a:r>
              <a:rPr lang="en-US" sz="1400" dirty="0">
                <a:solidFill>
                  <a:srgbClr val="1F2937"/>
                </a:solidFill>
                <a:latin typeface="Calibri" pitchFamily="34" charset="0"/>
                <a:ea typeface="Calibri" pitchFamily="34" charset="-122"/>
                <a:cs typeface="Calibri" pitchFamily="34" charset="-120"/>
              </a:rPr>
              <a:t>Use the answer</a:t>
            </a:r>
            <a:endParaRPr lang="en-US" sz="1400" dirty="0"/>
          </a:p>
          <a:p>
            <a:pPr marL="342900" indent="-342900">
              <a:spcAft>
                <a:spcPts val="800"/>
              </a:spcAft>
              <a:buSzPct val="100000"/>
              <a:buChar char="•"/>
            </a:pPr>
            <a:r>
              <a:rPr lang="en-US" sz="1400" dirty="0">
                <a:solidFill>
                  <a:srgbClr val="1F2937"/>
                </a:solidFill>
                <a:latin typeface="Calibri" pitchFamily="34" charset="0"/>
                <a:ea typeface="Calibri" pitchFamily="34" charset="-122"/>
                <a:cs typeface="Calibri" pitchFamily="34" charset="-120"/>
              </a:rPr>
              <a:t>Ignore the usage part completely</a:t>
            </a:r>
            <a:endParaRPr lang="en-US" sz="1400" dirty="0"/>
          </a:p>
        </p:txBody>
      </p:sp>
      <p:sp>
        <p:nvSpPr>
          <p:cNvPr id="9" name="Shape 7"/>
          <p:cNvSpPr/>
          <p:nvPr/>
        </p:nvSpPr>
        <p:spPr>
          <a:xfrm>
            <a:off x="731520" y="3611880"/>
            <a:ext cx="3474720" cy="548640"/>
          </a:xfrm>
          <a:prstGeom prst="roundRect">
            <a:avLst>
              <a:gd name="adj" fmla="val 13333"/>
            </a:avLst>
          </a:prstGeom>
          <a:solidFill>
            <a:srgbClr val="FFFFFF"/>
          </a:solidFill>
          <a:ln w="12700">
            <a:solidFill>
              <a:srgbClr val="FFFFFF"/>
            </a:solidFill>
            <a:prstDash val="solid"/>
          </a:ln>
        </p:spPr>
      </p:sp>
      <p:sp>
        <p:nvSpPr>
          <p:cNvPr id="10" name="Text 8"/>
          <p:cNvSpPr txBox="1"/>
          <p:nvPr/>
        </p:nvSpPr>
        <p:spPr>
          <a:xfrm>
            <a:off x="731520" y="3611880"/>
            <a:ext cx="3474720" cy="548640"/>
          </a:xfrm>
          <a:prstGeom prst="rect">
            <a:avLst/>
          </a:prstGeom>
          <a:noFill/>
          <a:ln/>
        </p:spPr>
        <p:txBody>
          <a:bodyPr wrap="square" lIns="0" tIns="0" rIns="0" bIns="0" rtlCol="0" anchor="ctr"/>
          <a:lstStyle/>
          <a:p>
            <a:pPr algn="ctr" indent="0" marL="0">
              <a:buNone/>
            </a:pPr>
            <a:r>
              <a:rPr lang="en-US" sz="1300" b="1" dirty="0">
                <a:solidFill>
                  <a:srgbClr val="B91C1C"/>
                </a:solidFill>
                <a:latin typeface="Calibri" pitchFamily="34" charset="0"/>
                <a:ea typeface="Calibri" pitchFamily="34" charset="-122"/>
                <a:cs typeface="Calibri" pitchFamily="34" charset="-120"/>
              </a:rPr>
              <a:t>The receipt is thrown in the bin.</a:t>
            </a:r>
            <a:endParaRPr lang="en-US" sz="1300" dirty="0"/>
          </a:p>
        </p:txBody>
      </p:sp>
      <p:sp>
        <p:nvSpPr>
          <p:cNvPr id="11" name="Shape 9"/>
          <p:cNvSpPr/>
          <p:nvPr/>
        </p:nvSpPr>
        <p:spPr>
          <a:xfrm>
            <a:off x="4663440" y="1325880"/>
            <a:ext cx="4023360" cy="3108960"/>
          </a:xfrm>
          <a:prstGeom prst="roundRect">
            <a:avLst>
              <a:gd name="adj" fmla="val 2353"/>
            </a:avLst>
          </a:prstGeom>
          <a:solidFill>
            <a:srgbClr val="ECFDF5"/>
          </a:solidFill>
          <a:ln w="12700">
            <a:solidFill>
              <a:srgbClr val="ECFDF5"/>
            </a:solidFill>
            <a:prstDash val="solid"/>
          </a:ln>
        </p:spPr>
      </p:sp>
      <p:sp>
        <p:nvSpPr>
          <p:cNvPr id="12" name="Text 10"/>
          <p:cNvSpPr txBox="1"/>
          <p:nvPr/>
        </p:nvSpPr>
        <p:spPr>
          <a:xfrm>
            <a:off x="4937760" y="1508760"/>
            <a:ext cx="3566160" cy="365760"/>
          </a:xfrm>
          <a:prstGeom prst="rect">
            <a:avLst/>
          </a:prstGeom>
          <a:noFill/>
          <a:ln/>
        </p:spPr>
        <p:txBody>
          <a:bodyPr wrap="square" lIns="0" tIns="0" rIns="0" bIns="0" rtlCol="0" anchor="t"/>
          <a:lstStyle/>
          <a:p>
            <a:pPr indent="0" marL="0">
              <a:buNone/>
            </a:pPr>
            <a:r>
              <a:rPr lang="en-US" sz="1700" b="1" dirty="0">
                <a:solidFill>
                  <a:srgbClr val="047857"/>
                </a:solidFill>
                <a:latin typeface="Calibri" pitchFamily="34" charset="0"/>
                <a:ea typeface="Calibri" pitchFamily="34" charset="-122"/>
                <a:cs typeface="Calibri" pitchFamily="34" charset="-120"/>
              </a:rPr>
              <a:t>What we will do</a:t>
            </a:r>
            <a:endParaRPr lang="en-US" sz="1700" dirty="0"/>
          </a:p>
        </p:txBody>
      </p:sp>
      <p:sp>
        <p:nvSpPr>
          <p:cNvPr id="13" name="Text 11"/>
          <p:cNvSpPr txBox="1"/>
          <p:nvPr/>
        </p:nvSpPr>
        <p:spPr>
          <a:xfrm>
            <a:off x="4937760" y="2011680"/>
            <a:ext cx="3566160" cy="13716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F2937"/>
                </a:solidFill>
                <a:latin typeface="Calibri" pitchFamily="34" charset="0"/>
                <a:ea typeface="Calibri" pitchFamily="34" charset="-122"/>
                <a:cs typeface="Calibri" pitchFamily="34" charset="-120"/>
              </a:rPr>
              <a:t>Read the answer</a:t>
            </a:r>
            <a:endParaRPr lang="en-US" sz="1400" dirty="0"/>
          </a:p>
          <a:p>
            <a:pPr marL="342900" indent="-342900">
              <a:spcAft>
                <a:spcPts val="800"/>
              </a:spcAft>
              <a:buSzPct val="100000"/>
              <a:buChar char="•"/>
            </a:pPr>
            <a:r>
              <a:rPr lang="en-US" sz="1400" dirty="0">
                <a:solidFill>
                  <a:srgbClr val="1F2937"/>
                </a:solidFill>
                <a:latin typeface="Calibri" pitchFamily="34" charset="0"/>
                <a:ea typeface="Calibri" pitchFamily="34" charset="-122"/>
                <a:cs typeface="Calibri" pitchFamily="34" charset="-120"/>
              </a:rPr>
              <a:t>Use the answer</a:t>
            </a:r>
            <a:endParaRPr lang="en-US" sz="1400" dirty="0"/>
          </a:p>
          <a:p>
            <a:pPr marL="342900" indent="-342900">
              <a:spcAft>
                <a:spcPts val="800"/>
              </a:spcAft>
              <a:buSzPct val="100000"/>
              <a:buChar char="•"/>
            </a:pPr>
            <a:r>
              <a:rPr lang="en-US" sz="1400" b="1" dirty="0">
                <a:solidFill>
                  <a:srgbClr val="1F2937"/>
                </a:solidFill>
                <a:latin typeface="Calibri" pitchFamily="34" charset="0"/>
                <a:ea typeface="Calibri" pitchFamily="34" charset="-122"/>
                <a:cs typeface="Calibri" pitchFamily="34" charset="-120"/>
              </a:rPr>
              <a:t>AND keep the two numbers</a:t>
            </a:r>
            <a:endParaRPr lang="en-US" sz="1400" dirty="0"/>
          </a:p>
        </p:txBody>
      </p:sp>
      <p:sp>
        <p:nvSpPr>
          <p:cNvPr id="14" name="Shape 12"/>
          <p:cNvSpPr/>
          <p:nvPr/>
        </p:nvSpPr>
        <p:spPr>
          <a:xfrm>
            <a:off x="4937760" y="3611880"/>
            <a:ext cx="3474720" cy="548640"/>
          </a:xfrm>
          <a:prstGeom prst="roundRect">
            <a:avLst>
              <a:gd name="adj" fmla="val 13333"/>
            </a:avLst>
          </a:prstGeom>
          <a:solidFill>
            <a:srgbClr val="FFFFFF"/>
          </a:solidFill>
          <a:ln w="12700">
            <a:solidFill>
              <a:srgbClr val="FFFFFF"/>
            </a:solidFill>
            <a:prstDash val="solid"/>
          </a:ln>
        </p:spPr>
      </p:sp>
      <p:sp>
        <p:nvSpPr>
          <p:cNvPr id="15" name="Text 13"/>
          <p:cNvSpPr txBox="1"/>
          <p:nvPr/>
        </p:nvSpPr>
        <p:spPr>
          <a:xfrm>
            <a:off x="4937760" y="3611880"/>
            <a:ext cx="3474720" cy="548640"/>
          </a:xfrm>
          <a:prstGeom prst="rect">
            <a:avLst/>
          </a:prstGeom>
          <a:noFill/>
          <a:ln/>
        </p:spPr>
        <p:txBody>
          <a:bodyPr wrap="square" lIns="0" tIns="0" rIns="0" bIns="0" rtlCol="0" anchor="ctr"/>
          <a:lstStyle/>
          <a:p>
            <a:pPr algn="ctr" indent="0" marL="0">
              <a:buNone/>
            </a:pPr>
            <a:r>
              <a:rPr lang="en-US" sz="1300" b="1" dirty="0">
                <a:solidFill>
                  <a:srgbClr val="047857"/>
                </a:solidFill>
                <a:latin typeface="Calibri" pitchFamily="34" charset="0"/>
                <a:ea typeface="Calibri" pitchFamily="34" charset="-122"/>
                <a:cs typeface="Calibri" pitchFamily="34" charset="-120"/>
              </a:rPr>
              <a:t>That is the entire change.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11827"/>
        </a:solidFill>
      </p:bgPr>
    </p:bg>
    <p:spTree>
      <p:nvGrpSpPr>
        <p:cNvPr id="1" name=""/>
        <p:cNvGrpSpPr/>
        <p:nvPr/>
      </p:nvGrpSpPr>
      <p:grpSpPr>
        <a:xfrm>
          <a:off x="0" y="0"/>
          <a:ext cx="0" cy="0"/>
          <a:chOff x="0" y="0"/>
          <a:chExt cx="0" cy="0"/>
        </a:xfrm>
      </p:grpSpPr>
      <p:sp>
        <p:nvSpPr>
          <p:cNvPr id="2" name="Text 0"/>
          <p:cNvSpPr txBox="1"/>
          <p:nvPr/>
        </p:nvSpPr>
        <p:spPr>
          <a:xfrm>
            <a:off x="548640" y="1005840"/>
            <a:ext cx="2743200" cy="1280160"/>
          </a:xfrm>
          <a:prstGeom prst="rect">
            <a:avLst/>
          </a:prstGeom>
          <a:noFill/>
          <a:ln/>
        </p:spPr>
        <p:txBody>
          <a:bodyPr wrap="square" lIns="0" tIns="0" rIns="0" bIns="0" rtlCol="0" anchor="t"/>
          <a:lstStyle/>
          <a:p>
            <a:pPr indent="0" marL="0">
              <a:buNone/>
            </a:pPr>
            <a:r>
              <a:rPr lang="en-US" sz="9600" b="1" dirty="0">
                <a:solidFill>
                  <a:srgbClr val="F59E0B"/>
                </a:solidFill>
                <a:latin typeface="Cambria" pitchFamily="34" charset="0"/>
                <a:ea typeface="Cambria" pitchFamily="34" charset="-122"/>
                <a:cs typeface="Cambria" pitchFamily="34" charset="-120"/>
              </a:rPr>
              <a:t>03</a:t>
            </a:r>
            <a:endParaRPr lang="en-US" sz="9600" dirty="0"/>
          </a:p>
        </p:txBody>
      </p:sp>
      <p:sp>
        <p:nvSpPr>
          <p:cNvPr id="3" name="Text 1"/>
          <p:cNvSpPr txBox="1"/>
          <p:nvPr/>
        </p:nvSpPr>
        <p:spPr>
          <a:xfrm>
            <a:off x="548640" y="2377440"/>
            <a:ext cx="8046720" cy="91440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Wrap, Don't Rewrite</a:t>
            </a:r>
            <a:endParaRPr lang="en-US" sz="3600" dirty="0"/>
          </a:p>
        </p:txBody>
      </p:sp>
      <p:sp>
        <p:nvSpPr>
          <p:cNvPr id="4" name="Text 2"/>
          <p:cNvSpPr txBox="1"/>
          <p:nvPr/>
        </p:nvSpPr>
        <p:spPr>
          <a:xfrm>
            <a:off x="548640" y="3383280"/>
            <a:ext cx="2743200" cy="320040"/>
          </a:xfrm>
          <a:prstGeom prst="rect">
            <a:avLst/>
          </a:prstGeom>
          <a:noFill/>
          <a:ln/>
        </p:spPr>
        <p:txBody>
          <a:bodyPr wrap="square" lIns="0" tIns="0" rIns="0" bIns="0" rtlCol="0" anchor="t"/>
          <a:lstStyle/>
          <a:p>
            <a:pPr indent="0" marL="0">
              <a:buNone/>
            </a:pPr>
            <a:r>
              <a:rPr lang="en-US" sz="1400" dirty="0">
                <a:solidFill>
                  <a:srgbClr val="9CA3AF"/>
                </a:solidFill>
                <a:latin typeface="Calibri" pitchFamily="34" charset="0"/>
                <a:ea typeface="Calibri" pitchFamily="34" charset="-122"/>
                <a:cs typeface="Calibri" pitchFamily="34" charset="-120"/>
              </a:rPr>
              <a:t>~8 min</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03 · WRAP, DON'T REWRITE</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Put an envelope around the call</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2</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13</a:t>
            </a:r>
            <a:endParaRPr lang="en-US" sz="900" dirty="0"/>
          </a:p>
        </p:txBody>
      </p:sp>
      <p:sp>
        <p:nvSpPr>
          <p:cNvPr id="6" name="Text 4"/>
          <p:cNvSpPr txBox="1"/>
          <p:nvPr/>
        </p:nvSpPr>
        <p:spPr>
          <a:xfrm>
            <a:off x="457200" y="1234440"/>
            <a:ext cx="2286000" cy="274320"/>
          </a:xfrm>
          <a:prstGeom prst="rect">
            <a:avLst/>
          </a:prstGeom>
          <a:noFill/>
          <a:ln/>
        </p:spPr>
        <p:txBody>
          <a:bodyPr wrap="square" lIns="0" tIns="0" rIns="0" bIns="0" rtlCol="0" anchor="t"/>
          <a:lstStyle/>
          <a:p>
            <a:pPr indent="0" marL="0">
              <a:buNone/>
            </a:pPr>
            <a:r>
              <a:rPr lang="en-US" sz="1000" b="1" spc="200" kern="0" dirty="0">
                <a:solidFill>
                  <a:srgbClr val="6B7280"/>
                </a:solidFill>
                <a:latin typeface="Calibri" pitchFamily="34" charset="0"/>
                <a:ea typeface="Calibri" pitchFamily="34" charset="-122"/>
                <a:cs typeface="Calibri" pitchFamily="34" charset="-120"/>
              </a:rPr>
              <a:t>BEFORE</a:t>
            </a:r>
            <a:endParaRPr lang="en-US" sz="1000" dirty="0"/>
          </a:p>
        </p:txBody>
      </p:sp>
      <p:sp>
        <p:nvSpPr>
          <p:cNvPr id="7" name="Shape 5"/>
          <p:cNvSpPr/>
          <p:nvPr/>
        </p:nvSpPr>
        <p:spPr>
          <a:xfrm>
            <a:off x="457200" y="1554480"/>
            <a:ext cx="3017520" cy="1371600"/>
          </a:xfrm>
          <a:prstGeom prst="roundRect">
            <a:avLst>
              <a:gd name="adj" fmla="val 5333"/>
            </a:avLst>
          </a:prstGeom>
          <a:solidFill>
            <a:srgbClr val="F3F4F6"/>
          </a:solidFill>
          <a:ln w="12700">
            <a:solidFill>
              <a:srgbClr val="F3F4F6"/>
            </a:solidFill>
            <a:prstDash val="solid"/>
          </a:ln>
        </p:spPr>
      </p:sp>
      <p:sp>
        <p:nvSpPr>
          <p:cNvPr id="8" name="Shape 6"/>
          <p:cNvSpPr/>
          <p:nvPr/>
        </p:nvSpPr>
        <p:spPr>
          <a:xfrm>
            <a:off x="685800" y="1874520"/>
            <a:ext cx="2560320" cy="777240"/>
          </a:xfrm>
          <a:prstGeom prst="roundRect">
            <a:avLst>
              <a:gd name="adj" fmla="val 9412"/>
            </a:avLst>
          </a:prstGeom>
          <a:solidFill>
            <a:srgbClr val="FFFFFF"/>
          </a:solidFill>
          <a:ln w="12700">
            <a:solidFill>
              <a:srgbClr val="FFFFFF"/>
            </a:solidFill>
            <a:prstDash val="solid"/>
          </a:ln>
        </p:spPr>
      </p:sp>
      <p:sp>
        <p:nvSpPr>
          <p:cNvPr id="9" name="Text 7"/>
          <p:cNvSpPr txBox="1"/>
          <p:nvPr/>
        </p:nvSpPr>
        <p:spPr>
          <a:xfrm>
            <a:off x="868680" y="1874520"/>
            <a:ext cx="2286000" cy="777240"/>
          </a:xfrm>
          <a:prstGeom prst="rect">
            <a:avLst/>
          </a:prstGeom>
          <a:noFill/>
          <a:ln/>
        </p:spPr>
        <p:txBody>
          <a:bodyPr wrap="square" lIns="0" tIns="0" rIns="0" bIns="0" rtlCol="0" anchor="ctr"/>
          <a:lstStyle/>
          <a:p>
            <a:pPr indent="0" marL="0">
              <a:buNone/>
            </a:pPr>
            <a:r>
              <a:rPr lang="en-US" sz="1100" dirty="0">
                <a:solidFill>
                  <a:srgbClr val="111827"/>
                </a:solidFill>
                <a:latin typeface="Courier New" pitchFamily="34" charset="0"/>
                <a:ea typeface="Courier New" pitchFamily="34" charset="-122"/>
                <a:cs typeface="Courier New" pitchFamily="34" charset="-120"/>
              </a:rPr>
              <a:t>ask the model</a:t>
            </a:r>
            <a:endParaRPr lang="en-US" sz="1100" dirty="0"/>
          </a:p>
          <a:p>
            <a:pPr indent="0" marL="0">
              <a:buNone/>
            </a:pPr>
            <a:r>
              <a:rPr lang="en-US" sz="1100" dirty="0">
                <a:solidFill>
                  <a:srgbClr val="111827"/>
                </a:solidFill>
                <a:latin typeface="Courier New" pitchFamily="34" charset="0"/>
                <a:ea typeface="Courier New" pitchFamily="34" charset="-122"/>
                <a:cs typeface="Courier New" pitchFamily="34" charset="-120"/>
              </a:rPr>
              <a:t>use the answer</a:t>
            </a:r>
            <a:endParaRPr lang="en-US" sz="1100" dirty="0"/>
          </a:p>
        </p:txBody>
      </p:sp>
      <p:sp>
        <p:nvSpPr>
          <p:cNvPr id="10" name="Text 8"/>
          <p:cNvSpPr txBox="1"/>
          <p:nvPr/>
        </p:nvSpPr>
        <p:spPr>
          <a:xfrm>
            <a:off x="457200" y="3063240"/>
            <a:ext cx="3017520" cy="320040"/>
          </a:xfrm>
          <a:prstGeom prst="rect">
            <a:avLst/>
          </a:prstGeom>
          <a:noFill/>
          <a:ln/>
        </p:spPr>
        <p:txBody>
          <a:bodyPr wrap="square" lIns="0" tIns="0" rIns="0" bIns="0" rtlCol="0" anchor="t"/>
          <a:lstStyle/>
          <a:p>
            <a:pPr indent="0" marL="0">
              <a:buNone/>
            </a:pPr>
            <a:r>
              <a:rPr lang="en-US" sz="1200" i="1" dirty="0">
                <a:solidFill>
                  <a:srgbClr val="B45309"/>
                </a:solidFill>
                <a:latin typeface="Calibri" pitchFamily="34" charset="0"/>
                <a:ea typeface="Calibri" pitchFamily="34" charset="-122"/>
                <a:cs typeface="Calibri" pitchFamily="34" charset="-120"/>
              </a:rPr>
              <a:t>wrap it  →</a:t>
            </a:r>
            <a:endParaRPr lang="en-US" sz="1200" dirty="0"/>
          </a:p>
        </p:txBody>
      </p:sp>
      <p:sp>
        <p:nvSpPr>
          <p:cNvPr id="11" name="Text 9"/>
          <p:cNvSpPr txBox="1"/>
          <p:nvPr/>
        </p:nvSpPr>
        <p:spPr>
          <a:xfrm>
            <a:off x="3931920" y="1234440"/>
            <a:ext cx="4754880" cy="274320"/>
          </a:xfrm>
          <a:prstGeom prst="rect">
            <a:avLst/>
          </a:prstGeom>
          <a:noFill/>
          <a:ln/>
        </p:spPr>
        <p:txBody>
          <a:bodyPr wrap="square" lIns="0" tIns="0" rIns="0" bIns="0" rtlCol="0" anchor="t"/>
          <a:lstStyle/>
          <a:p>
            <a:pPr indent="0" marL="0">
              <a:buNone/>
            </a:pPr>
            <a:r>
              <a:rPr lang="en-US" sz="1000" b="1" spc="200" kern="0" dirty="0">
                <a:solidFill>
                  <a:srgbClr val="B45309"/>
                </a:solidFill>
                <a:latin typeface="Calibri" pitchFamily="34" charset="0"/>
                <a:ea typeface="Calibri" pitchFamily="34" charset="-122"/>
                <a:cs typeface="Calibri" pitchFamily="34" charset="-120"/>
              </a:rPr>
              <a:t>AFTER: THE ENVELOPE</a:t>
            </a:r>
            <a:endParaRPr lang="en-US" sz="1000" dirty="0"/>
          </a:p>
        </p:txBody>
      </p:sp>
      <p:sp>
        <p:nvSpPr>
          <p:cNvPr id="12" name="Shape 10"/>
          <p:cNvSpPr/>
          <p:nvPr/>
        </p:nvSpPr>
        <p:spPr>
          <a:xfrm>
            <a:off x="3931920" y="1554480"/>
            <a:ext cx="4754880" cy="2514600"/>
          </a:xfrm>
          <a:prstGeom prst="roundRect">
            <a:avLst>
              <a:gd name="adj" fmla="val 2909"/>
            </a:avLst>
          </a:prstGeom>
          <a:solidFill>
            <a:srgbClr val="FEF3C7"/>
          </a:solidFill>
          <a:ln w="12700">
            <a:solidFill>
              <a:srgbClr val="FEF3C7"/>
            </a:solidFill>
            <a:prstDash val="solid"/>
          </a:ln>
        </p:spPr>
      </p:sp>
      <p:sp>
        <p:nvSpPr>
          <p:cNvPr id="13" name="Shape 11"/>
          <p:cNvSpPr/>
          <p:nvPr/>
        </p:nvSpPr>
        <p:spPr>
          <a:xfrm>
            <a:off x="4160520" y="1737360"/>
            <a:ext cx="4297680" cy="457200"/>
          </a:xfrm>
          <a:prstGeom prst="roundRect">
            <a:avLst>
              <a:gd name="adj" fmla="val 16000"/>
            </a:avLst>
          </a:prstGeom>
          <a:solidFill>
            <a:srgbClr val="FFFFFF"/>
          </a:solidFill>
          <a:ln w="12700">
            <a:solidFill>
              <a:srgbClr val="FFFFFF"/>
            </a:solidFill>
            <a:prstDash val="solid"/>
          </a:ln>
        </p:spPr>
      </p:sp>
      <p:sp>
        <p:nvSpPr>
          <p:cNvPr id="14" name="Text 12"/>
          <p:cNvSpPr txBox="1"/>
          <p:nvPr/>
        </p:nvSpPr>
        <p:spPr>
          <a:xfrm>
            <a:off x="4343400" y="1737360"/>
            <a:ext cx="3931920" cy="45720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note the time, note who is asking</a:t>
            </a:r>
            <a:endParaRPr lang="en-US" sz="1200" dirty="0"/>
          </a:p>
        </p:txBody>
      </p:sp>
      <p:sp>
        <p:nvSpPr>
          <p:cNvPr id="15" name="Shape 13"/>
          <p:cNvSpPr/>
          <p:nvPr/>
        </p:nvSpPr>
        <p:spPr>
          <a:xfrm>
            <a:off x="4160520" y="2286000"/>
            <a:ext cx="4297680" cy="777240"/>
          </a:xfrm>
          <a:prstGeom prst="roundRect">
            <a:avLst>
              <a:gd name="adj" fmla="val 9412"/>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6" name="Text 14"/>
          <p:cNvSpPr txBox="1"/>
          <p:nvPr/>
        </p:nvSpPr>
        <p:spPr>
          <a:xfrm>
            <a:off x="4343400" y="2286000"/>
            <a:ext cx="3931920" cy="777240"/>
          </a:xfrm>
          <a:prstGeom prst="rect">
            <a:avLst/>
          </a:prstGeom>
          <a:noFill/>
          <a:ln/>
        </p:spPr>
        <p:txBody>
          <a:bodyPr wrap="square" lIns="0" tIns="0" rIns="0" bIns="0" rtlCol="0" anchor="ctr"/>
          <a:lstStyle/>
          <a:p>
            <a:pPr indent="0" marL="0">
              <a:buNone/>
            </a:pPr>
            <a:r>
              <a:rPr lang="en-US" sz="1100" dirty="0">
                <a:solidFill>
                  <a:srgbClr val="111827"/>
                </a:solidFill>
                <a:latin typeface="Courier New" pitchFamily="34" charset="0"/>
                <a:ea typeface="Courier New" pitchFamily="34" charset="-122"/>
                <a:cs typeface="Courier New" pitchFamily="34" charset="-120"/>
              </a:rPr>
              <a:t>ask the model</a:t>
            </a:r>
            <a:endParaRPr lang="en-US" sz="1100" dirty="0"/>
          </a:p>
          <a:p>
            <a:pPr indent="0" marL="0">
              <a:buNone/>
            </a:pPr>
            <a:r>
              <a:rPr lang="en-US" sz="1100" dirty="0">
                <a:solidFill>
                  <a:srgbClr val="111827"/>
                </a:solidFill>
                <a:latin typeface="Courier New" pitchFamily="34" charset="0"/>
                <a:ea typeface="Courier New" pitchFamily="34" charset="-122"/>
                <a:cs typeface="Courier New" pitchFamily="34" charset="-120"/>
              </a:rPr>
              <a:t>use the answer</a:t>
            </a:r>
            <a:endParaRPr lang="en-US" sz="1100" dirty="0"/>
          </a:p>
        </p:txBody>
      </p:sp>
      <p:sp>
        <p:nvSpPr>
          <p:cNvPr id="17" name="Shape 15"/>
          <p:cNvSpPr/>
          <p:nvPr/>
        </p:nvSpPr>
        <p:spPr>
          <a:xfrm>
            <a:off x="4160520" y="3154680"/>
            <a:ext cx="4297680" cy="457200"/>
          </a:xfrm>
          <a:prstGeom prst="roundRect">
            <a:avLst>
              <a:gd name="adj" fmla="val 16000"/>
            </a:avLst>
          </a:prstGeom>
          <a:solidFill>
            <a:srgbClr val="FFFFFF"/>
          </a:solidFill>
          <a:ln w="12700">
            <a:solidFill>
              <a:srgbClr val="FFFFFF"/>
            </a:solidFill>
            <a:prstDash val="solid"/>
          </a:ln>
        </p:spPr>
      </p:sp>
      <p:sp>
        <p:nvSpPr>
          <p:cNvPr id="18" name="Text 16"/>
          <p:cNvSpPr txBox="1"/>
          <p:nvPr/>
        </p:nvSpPr>
        <p:spPr>
          <a:xfrm>
            <a:off x="4343400" y="3154680"/>
            <a:ext cx="3931920" cy="45720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read the receipt, write it down</a:t>
            </a:r>
            <a:endParaRPr lang="en-US" sz="1200" dirty="0"/>
          </a:p>
        </p:txBody>
      </p:sp>
      <p:sp>
        <p:nvSpPr>
          <p:cNvPr id="19" name="Text 17"/>
          <p:cNvSpPr txBox="1"/>
          <p:nvPr/>
        </p:nvSpPr>
        <p:spPr>
          <a:xfrm>
            <a:off x="3931920" y="4114800"/>
            <a:ext cx="4754880" cy="320040"/>
          </a:xfrm>
          <a:prstGeom prst="rect">
            <a:avLst/>
          </a:prstGeom>
          <a:noFill/>
          <a:ln/>
        </p:spPr>
        <p:txBody>
          <a:bodyPr wrap="square" lIns="0" tIns="0" rIns="0" bIns="0" rtlCol="0" anchor="t"/>
          <a:lstStyle/>
          <a:p>
            <a:pPr indent="0" marL="0">
              <a:buNone/>
            </a:pPr>
            <a:r>
              <a:rPr lang="en-US" sz="1200" b="1" i="1" dirty="0">
                <a:solidFill>
                  <a:srgbClr val="B45309"/>
                </a:solidFill>
                <a:latin typeface="Calibri" pitchFamily="34" charset="0"/>
                <a:ea typeface="Calibri" pitchFamily="34" charset="-122"/>
                <a:cs typeface="Calibri" pitchFamily="34" charset="-120"/>
              </a:rPr>
              <a:t>identical code; the middle is untouched</a:t>
            </a:r>
            <a:endParaRPr lang="en-US" sz="1200" dirty="0"/>
          </a:p>
        </p:txBody>
      </p:sp>
      <p:sp>
        <p:nvSpPr>
          <p:cNvPr id="20" name="Text 18"/>
          <p:cNvSpPr txBox="1"/>
          <p:nvPr/>
        </p:nvSpPr>
        <p:spPr>
          <a:xfrm>
            <a:off x="457200" y="3520440"/>
            <a:ext cx="3200400" cy="91440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If you remember one sentence from this module: wrap, do not rewrite.</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03 · WRAP, DON'T REWRITE</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Three reasons this is the right shape</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2</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14</a:t>
            </a:r>
            <a:endParaRPr lang="en-US" sz="900" dirty="0"/>
          </a:p>
        </p:txBody>
      </p:sp>
      <p:sp>
        <p:nvSpPr>
          <p:cNvPr id="6" name="Shape 4"/>
          <p:cNvSpPr/>
          <p:nvPr/>
        </p:nvSpPr>
        <p:spPr>
          <a:xfrm>
            <a:off x="457200" y="1371600"/>
            <a:ext cx="2606040" cy="2651760"/>
          </a:xfrm>
          <a:prstGeom prst="roundRect">
            <a:avLst>
              <a:gd name="adj" fmla="val 2807"/>
            </a:avLst>
          </a:prstGeom>
          <a:solidFill>
            <a:srgbClr val="F3F4F6"/>
          </a:solidFill>
          <a:ln w="12700">
            <a:solidFill>
              <a:srgbClr val="F3F4F6"/>
            </a:solidFill>
            <a:prstDash val="solid"/>
          </a:ln>
        </p:spPr>
      </p:sp>
      <p:sp>
        <p:nvSpPr>
          <p:cNvPr id="7" name="Shape 5"/>
          <p:cNvSpPr/>
          <p:nvPr/>
        </p:nvSpPr>
        <p:spPr>
          <a:xfrm>
            <a:off x="685800" y="1600200"/>
            <a:ext cx="411480" cy="411480"/>
          </a:xfrm>
          <a:prstGeom prst="roundRect">
            <a:avLst>
              <a:gd name="adj" fmla="val 17778"/>
            </a:avLst>
          </a:prstGeom>
          <a:solidFill>
            <a:srgbClr val="047857"/>
          </a:solidFill>
          <a:ln w="12700">
            <a:solidFill>
              <a:srgbClr val="047857"/>
            </a:solidFill>
            <a:prstDash val="solid"/>
          </a:ln>
        </p:spPr>
      </p:sp>
      <p:pic>
        <p:nvPicPr>
          <p:cNvPr id="8" name="Image 0" descr="preencoded.png">    </p:cNvPr>
          <p:cNvPicPr>
            <a:picLocks noChangeAspect="1"/>
          </p:cNvPicPr>
          <p:nvPr/>
        </p:nvPicPr>
        <p:blipFill>
          <a:blip r:embed="rId1"/>
          <a:stretch>
            <a:fillRect/>
          </a:stretch>
        </p:blipFill>
        <p:spPr>
          <a:xfrm>
            <a:off x="777240" y="1691640"/>
            <a:ext cx="228600" cy="228600"/>
          </a:xfrm>
          <a:prstGeom prst="rect">
            <a:avLst/>
          </a:prstGeom>
        </p:spPr>
      </p:pic>
      <p:sp>
        <p:nvSpPr>
          <p:cNvPr id="9" name="Text 6"/>
          <p:cNvSpPr txBox="1"/>
          <p:nvPr/>
        </p:nvSpPr>
        <p:spPr>
          <a:xfrm>
            <a:off x="685800" y="2148840"/>
            <a:ext cx="2194560" cy="365760"/>
          </a:xfrm>
          <a:prstGeom prst="rect">
            <a:avLst/>
          </a:prstGeom>
          <a:noFill/>
          <a:ln/>
        </p:spPr>
        <p:txBody>
          <a:bodyPr wrap="square" lIns="0" tIns="0" rIns="0" bIns="0" rtlCol="0" anchor="t"/>
          <a:lstStyle/>
          <a:p>
            <a:pPr indent="0" marL="0">
              <a:buNone/>
            </a:pPr>
            <a:r>
              <a:rPr lang="en-US" sz="1600" b="1" dirty="0">
                <a:solidFill>
                  <a:srgbClr val="111827"/>
                </a:solidFill>
                <a:latin typeface="Calibri" pitchFamily="34" charset="0"/>
                <a:ea typeface="Calibri" pitchFamily="34" charset="-122"/>
                <a:cs typeface="Calibri" pitchFamily="34" charset="-120"/>
              </a:rPr>
              <a:t>Nothing breaks</a:t>
            </a:r>
            <a:endParaRPr lang="en-US" sz="1600" dirty="0"/>
          </a:p>
        </p:txBody>
      </p:sp>
      <p:sp>
        <p:nvSpPr>
          <p:cNvPr id="10" name="Text 7"/>
          <p:cNvSpPr txBox="1"/>
          <p:nvPr/>
        </p:nvSpPr>
        <p:spPr>
          <a:xfrm>
            <a:off x="685800" y="2560320"/>
            <a:ext cx="2194560" cy="13258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Your agent behaves precisely as it did before, because you did not change how it works; you added two lines around the outside.</a:t>
            </a:r>
            <a:endParaRPr lang="en-US" sz="1200" dirty="0"/>
          </a:p>
        </p:txBody>
      </p:sp>
      <p:sp>
        <p:nvSpPr>
          <p:cNvPr id="11" name="Shape 8"/>
          <p:cNvSpPr/>
          <p:nvPr/>
        </p:nvSpPr>
        <p:spPr>
          <a:xfrm>
            <a:off x="3246120" y="1371600"/>
            <a:ext cx="2606040" cy="2651760"/>
          </a:xfrm>
          <a:prstGeom prst="roundRect">
            <a:avLst>
              <a:gd name="adj" fmla="val 2807"/>
            </a:avLst>
          </a:prstGeom>
          <a:solidFill>
            <a:srgbClr val="F3F4F6"/>
          </a:solidFill>
          <a:ln w="12700">
            <a:solidFill>
              <a:srgbClr val="F3F4F6"/>
            </a:solidFill>
            <a:prstDash val="solid"/>
          </a:ln>
        </p:spPr>
      </p:sp>
      <p:sp>
        <p:nvSpPr>
          <p:cNvPr id="12" name="Shape 9"/>
          <p:cNvSpPr/>
          <p:nvPr/>
        </p:nvSpPr>
        <p:spPr>
          <a:xfrm>
            <a:off x="3474720" y="1600200"/>
            <a:ext cx="411480" cy="411480"/>
          </a:xfrm>
          <a:prstGeom prst="roundRect">
            <a:avLst>
              <a:gd name="adj" fmla="val 17778"/>
            </a:avLst>
          </a:prstGeom>
          <a:solidFill>
            <a:srgbClr val="1D4ED8"/>
          </a:solidFill>
          <a:ln w="12700">
            <a:solidFill>
              <a:srgbClr val="1D4ED8"/>
            </a:solidFill>
            <a:prstDash val="solid"/>
          </a:ln>
        </p:spPr>
      </p:sp>
      <p:pic>
        <p:nvPicPr>
          <p:cNvPr id="13" name="Image 1" descr="preencoded.png">    </p:cNvPr>
          <p:cNvPicPr>
            <a:picLocks noChangeAspect="1"/>
          </p:cNvPicPr>
          <p:nvPr/>
        </p:nvPicPr>
        <p:blipFill>
          <a:blip r:embed="rId2"/>
          <a:stretch>
            <a:fillRect/>
          </a:stretch>
        </p:blipFill>
        <p:spPr>
          <a:xfrm>
            <a:off x="3566160" y="1691640"/>
            <a:ext cx="228600" cy="228600"/>
          </a:xfrm>
          <a:prstGeom prst="rect">
            <a:avLst/>
          </a:prstGeom>
        </p:spPr>
      </p:pic>
      <p:sp>
        <p:nvSpPr>
          <p:cNvPr id="14" name="Text 10"/>
          <p:cNvSpPr txBox="1"/>
          <p:nvPr/>
        </p:nvSpPr>
        <p:spPr>
          <a:xfrm>
            <a:off x="3474720" y="2148840"/>
            <a:ext cx="2194560" cy="365760"/>
          </a:xfrm>
          <a:prstGeom prst="rect">
            <a:avLst/>
          </a:prstGeom>
          <a:noFill/>
          <a:ln/>
        </p:spPr>
        <p:txBody>
          <a:bodyPr wrap="square" lIns="0" tIns="0" rIns="0" bIns="0" rtlCol="0" anchor="t"/>
          <a:lstStyle/>
          <a:p>
            <a:pPr indent="0" marL="0">
              <a:buNone/>
            </a:pPr>
            <a:r>
              <a:rPr lang="en-US" sz="1600" b="1" dirty="0">
                <a:solidFill>
                  <a:srgbClr val="111827"/>
                </a:solidFill>
                <a:latin typeface="Calibri" pitchFamily="34" charset="0"/>
                <a:ea typeface="Calibri" pitchFamily="34" charset="-122"/>
                <a:cs typeface="Calibri" pitchFamily="34" charset="-120"/>
              </a:rPr>
              <a:t>One place to change</a:t>
            </a:r>
            <a:endParaRPr lang="en-US" sz="1600" dirty="0"/>
          </a:p>
        </p:txBody>
      </p:sp>
      <p:sp>
        <p:nvSpPr>
          <p:cNvPr id="15" name="Text 11"/>
          <p:cNvSpPr txBox="1"/>
          <p:nvPr/>
        </p:nvSpPr>
        <p:spPr>
          <a:xfrm>
            <a:off x="3474720" y="2560320"/>
            <a:ext cx="2194560" cy="13258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Every model call goes through the same envelope. Fix it once and every agent is covered, including ones you write next year.</a:t>
            </a:r>
            <a:endParaRPr lang="en-US" sz="1200" dirty="0"/>
          </a:p>
        </p:txBody>
      </p:sp>
      <p:sp>
        <p:nvSpPr>
          <p:cNvPr id="16" name="Shape 12"/>
          <p:cNvSpPr/>
          <p:nvPr/>
        </p:nvSpPr>
        <p:spPr>
          <a:xfrm>
            <a:off x="6035040" y="1371600"/>
            <a:ext cx="2606040" cy="2651760"/>
          </a:xfrm>
          <a:prstGeom prst="roundRect">
            <a:avLst>
              <a:gd name="adj" fmla="val 2807"/>
            </a:avLst>
          </a:prstGeom>
          <a:solidFill>
            <a:srgbClr val="F3F4F6"/>
          </a:solidFill>
          <a:ln w="12700">
            <a:solidFill>
              <a:srgbClr val="F3F4F6"/>
            </a:solidFill>
            <a:prstDash val="solid"/>
          </a:ln>
        </p:spPr>
      </p:sp>
      <p:sp>
        <p:nvSpPr>
          <p:cNvPr id="17" name="Shape 13"/>
          <p:cNvSpPr/>
          <p:nvPr/>
        </p:nvSpPr>
        <p:spPr>
          <a:xfrm>
            <a:off x="6263640" y="1600200"/>
            <a:ext cx="411480" cy="411480"/>
          </a:xfrm>
          <a:prstGeom prst="roundRect">
            <a:avLst>
              <a:gd name="adj" fmla="val 17778"/>
            </a:avLst>
          </a:prstGeom>
          <a:solidFill>
            <a:srgbClr val="6D28D9"/>
          </a:solidFill>
          <a:ln w="12700">
            <a:solidFill>
              <a:srgbClr val="6D28D9"/>
            </a:solidFill>
            <a:prstDash val="solid"/>
          </a:ln>
        </p:spPr>
      </p:sp>
      <p:pic>
        <p:nvPicPr>
          <p:cNvPr id="18" name="Image 2" descr="preencoded.png">    </p:cNvPr>
          <p:cNvPicPr>
            <a:picLocks noChangeAspect="1"/>
          </p:cNvPicPr>
          <p:nvPr/>
        </p:nvPicPr>
        <p:blipFill>
          <a:blip r:embed="rId3"/>
          <a:stretch>
            <a:fillRect/>
          </a:stretch>
        </p:blipFill>
        <p:spPr>
          <a:xfrm>
            <a:off x="6355080" y="1691640"/>
            <a:ext cx="228600" cy="228600"/>
          </a:xfrm>
          <a:prstGeom prst="rect">
            <a:avLst/>
          </a:prstGeom>
        </p:spPr>
      </p:pic>
      <p:sp>
        <p:nvSpPr>
          <p:cNvPr id="19" name="Text 14"/>
          <p:cNvSpPr txBox="1"/>
          <p:nvPr/>
        </p:nvSpPr>
        <p:spPr>
          <a:xfrm>
            <a:off x="6263640" y="2148840"/>
            <a:ext cx="2194560" cy="365760"/>
          </a:xfrm>
          <a:prstGeom prst="rect">
            <a:avLst/>
          </a:prstGeom>
          <a:noFill/>
          <a:ln/>
        </p:spPr>
        <p:txBody>
          <a:bodyPr wrap="square" lIns="0" tIns="0" rIns="0" bIns="0" rtlCol="0" anchor="t"/>
          <a:lstStyle/>
          <a:p>
            <a:pPr indent="0" marL="0">
              <a:buNone/>
            </a:pPr>
            <a:r>
              <a:rPr lang="en-US" sz="1600" b="1" dirty="0">
                <a:solidFill>
                  <a:srgbClr val="111827"/>
                </a:solidFill>
                <a:latin typeface="Calibri" pitchFamily="34" charset="0"/>
                <a:ea typeface="Calibri" pitchFamily="34" charset="-122"/>
                <a:cs typeface="Calibri" pitchFamily="34" charset="-120"/>
              </a:rPr>
              <a:t>It outlives tools</a:t>
            </a:r>
            <a:endParaRPr lang="en-US" sz="1600" dirty="0"/>
          </a:p>
        </p:txBody>
      </p:sp>
      <p:sp>
        <p:nvSpPr>
          <p:cNvPr id="20" name="Text 15"/>
          <p:cNvSpPr txBox="1"/>
          <p:nvPr/>
        </p:nvSpPr>
        <p:spPr>
          <a:xfrm>
            <a:off x="6263640" y="2560320"/>
            <a:ext cx="2194560" cy="13258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Agent frameworks change constantly. An envelope around a function call works in all of them, because they all call the model the same way.</a:t>
            </a:r>
            <a:endParaRPr lang="en-US" sz="1200" dirty="0"/>
          </a:p>
        </p:txBody>
      </p:sp>
      <p:sp>
        <p:nvSpPr>
          <p:cNvPr id="21" name="Text 16"/>
          <p:cNvSpPr txBox="1"/>
          <p:nvPr/>
        </p:nvSpPr>
        <p:spPr>
          <a:xfrm>
            <a:off x="457200" y="4160520"/>
            <a:ext cx="8229600" cy="411480"/>
          </a:xfrm>
          <a:prstGeom prst="rect">
            <a:avLst/>
          </a:prstGeom>
          <a:noFill/>
          <a:ln/>
        </p:spPr>
        <p:txBody>
          <a:bodyPr wrap="square" lIns="0" tIns="0" rIns="0" bIns="0" rtlCol="0" anchor="t"/>
          <a:lstStyle/>
          <a:p>
            <a:pPr algn="ctr" indent="0" marL="0">
              <a:buNone/>
            </a:pPr>
            <a:r>
              <a:rPr lang="en-US" sz="2000" b="1" dirty="0">
                <a:solidFill>
                  <a:srgbClr val="B45309"/>
                </a:solidFill>
                <a:latin typeface="Cambria" pitchFamily="34" charset="0"/>
                <a:ea typeface="Cambria" pitchFamily="34" charset="-122"/>
                <a:cs typeface="Cambria" pitchFamily="34" charset="-120"/>
              </a:rPr>
              <a:t>Wrap, do not rewrite.</a:t>
            </a: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11827"/>
        </a:solidFill>
      </p:bgPr>
    </p:bg>
    <p:spTree>
      <p:nvGrpSpPr>
        <p:cNvPr id="1" name=""/>
        <p:cNvGrpSpPr/>
        <p:nvPr/>
      </p:nvGrpSpPr>
      <p:grpSpPr>
        <a:xfrm>
          <a:off x="0" y="0"/>
          <a:ext cx="0" cy="0"/>
          <a:chOff x="0" y="0"/>
          <a:chExt cx="0" cy="0"/>
        </a:xfrm>
      </p:grpSpPr>
      <p:sp>
        <p:nvSpPr>
          <p:cNvPr id="2" name="Text 0"/>
          <p:cNvSpPr txBox="1"/>
          <p:nvPr/>
        </p:nvSpPr>
        <p:spPr>
          <a:xfrm>
            <a:off x="548640" y="1005840"/>
            <a:ext cx="2743200" cy="1280160"/>
          </a:xfrm>
          <a:prstGeom prst="rect">
            <a:avLst/>
          </a:prstGeom>
          <a:noFill/>
          <a:ln/>
        </p:spPr>
        <p:txBody>
          <a:bodyPr wrap="square" lIns="0" tIns="0" rIns="0" bIns="0" rtlCol="0" anchor="t"/>
          <a:lstStyle/>
          <a:p>
            <a:pPr indent="0" marL="0">
              <a:buNone/>
            </a:pPr>
            <a:r>
              <a:rPr lang="en-US" sz="9600" b="1" dirty="0">
                <a:solidFill>
                  <a:srgbClr val="F59E0B"/>
                </a:solidFill>
                <a:latin typeface="Cambria" pitchFamily="34" charset="0"/>
                <a:ea typeface="Cambria" pitchFamily="34" charset="-122"/>
                <a:cs typeface="Cambria" pitchFamily="34" charset="-120"/>
              </a:rPr>
              <a:t>04</a:t>
            </a:r>
            <a:endParaRPr lang="en-US" sz="9600" dirty="0"/>
          </a:p>
        </p:txBody>
      </p:sp>
      <p:sp>
        <p:nvSpPr>
          <p:cNvPr id="3" name="Text 1"/>
          <p:cNvSpPr txBox="1"/>
          <p:nvPr/>
        </p:nvSpPr>
        <p:spPr>
          <a:xfrm>
            <a:off x="548640" y="2377440"/>
            <a:ext cx="8046720" cy="91440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Four Labels</a:t>
            </a:r>
            <a:endParaRPr lang="en-US" sz="3600" dirty="0"/>
          </a:p>
        </p:txBody>
      </p:sp>
      <p:sp>
        <p:nvSpPr>
          <p:cNvPr id="4" name="Text 2"/>
          <p:cNvSpPr txBox="1"/>
          <p:nvPr/>
        </p:nvSpPr>
        <p:spPr>
          <a:xfrm>
            <a:off x="548640" y="3383280"/>
            <a:ext cx="2743200" cy="320040"/>
          </a:xfrm>
          <a:prstGeom prst="rect">
            <a:avLst/>
          </a:prstGeom>
          <a:noFill/>
          <a:ln/>
        </p:spPr>
        <p:txBody>
          <a:bodyPr wrap="square" lIns="0" tIns="0" rIns="0" bIns="0" rtlCol="0" anchor="t"/>
          <a:lstStyle/>
          <a:p>
            <a:pPr indent="0" marL="0">
              <a:buNone/>
            </a:pPr>
            <a:r>
              <a:rPr lang="en-US" sz="1400" dirty="0">
                <a:solidFill>
                  <a:srgbClr val="9CA3AF"/>
                </a:solidFill>
                <a:latin typeface="Calibri" pitchFamily="34" charset="0"/>
                <a:ea typeface="Calibri" pitchFamily="34" charset="-122"/>
                <a:cs typeface="Calibri" pitchFamily="34" charset="-120"/>
              </a:rPr>
              <a:t>~8 min</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04 · FOUR LABELS</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The same four cents, twice</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2</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16</a:t>
            </a:r>
            <a:endParaRPr lang="en-US" sz="900" dirty="0"/>
          </a:p>
        </p:txBody>
      </p:sp>
      <p:sp>
        <p:nvSpPr>
          <p:cNvPr id="6" name="Shape 4"/>
          <p:cNvSpPr/>
          <p:nvPr/>
        </p:nvSpPr>
        <p:spPr>
          <a:xfrm>
            <a:off x="457200" y="1325880"/>
            <a:ext cx="3840480" cy="2743200"/>
          </a:xfrm>
          <a:prstGeom prst="roundRect">
            <a:avLst>
              <a:gd name="adj" fmla="val 2667"/>
            </a:avLst>
          </a:prstGeom>
          <a:solidFill>
            <a:srgbClr val="F3F4F6"/>
          </a:solidFill>
          <a:ln w="12700">
            <a:solidFill>
              <a:srgbClr val="F3F4F6"/>
            </a:solidFill>
            <a:prstDash val="solid"/>
          </a:ln>
        </p:spPr>
      </p:sp>
      <p:sp>
        <p:nvSpPr>
          <p:cNvPr id="7" name="Text 5"/>
          <p:cNvSpPr txBox="1"/>
          <p:nvPr/>
        </p:nvSpPr>
        <p:spPr>
          <a:xfrm>
            <a:off x="685800" y="1508760"/>
            <a:ext cx="3383280" cy="274320"/>
          </a:xfrm>
          <a:prstGeom prst="rect">
            <a:avLst/>
          </a:prstGeom>
          <a:noFill/>
          <a:ln/>
        </p:spPr>
        <p:txBody>
          <a:bodyPr wrap="square" lIns="0" tIns="0" rIns="0" bIns="0" rtlCol="0" anchor="t"/>
          <a:lstStyle/>
          <a:p>
            <a:pPr indent="0" marL="0">
              <a:buNone/>
            </a:pPr>
            <a:r>
              <a:rPr lang="en-US" sz="1000" b="1" spc="200" kern="0" dirty="0">
                <a:solidFill>
                  <a:srgbClr val="6B7280"/>
                </a:solidFill>
                <a:latin typeface="Calibri" pitchFamily="34" charset="0"/>
                <a:ea typeface="Calibri" pitchFamily="34" charset="-122"/>
                <a:cs typeface="Calibri" pitchFamily="34" charset="-120"/>
              </a:rPr>
              <a:t>WITHOUT LABELS</a:t>
            </a:r>
            <a:endParaRPr lang="en-US" sz="1000" dirty="0"/>
          </a:p>
        </p:txBody>
      </p:sp>
      <p:sp>
        <p:nvSpPr>
          <p:cNvPr id="8" name="Shape 6"/>
          <p:cNvSpPr/>
          <p:nvPr/>
        </p:nvSpPr>
        <p:spPr>
          <a:xfrm>
            <a:off x="685800" y="1828800"/>
            <a:ext cx="3383280" cy="777240"/>
          </a:xfrm>
          <a:prstGeom prst="roundRect">
            <a:avLst>
              <a:gd name="adj" fmla="val 9412"/>
            </a:avLst>
          </a:prstGeom>
          <a:solidFill>
            <a:srgbClr val="111827"/>
          </a:solidFill>
          <a:ln w="12700">
            <a:solidFill>
              <a:srgbClr val="111827"/>
            </a:solidFill>
            <a:prstDash val="solid"/>
          </a:ln>
        </p:spPr>
      </p:sp>
      <p:sp>
        <p:nvSpPr>
          <p:cNvPr id="9" name="Text 7"/>
          <p:cNvSpPr txBox="1"/>
          <p:nvPr/>
        </p:nvSpPr>
        <p:spPr>
          <a:xfrm>
            <a:off x="685800" y="1828800"/>
            <a:ext cx="3383280" cy="777240"/>
          </a:xfrm>
          <a:prstGeom prst="rect">
            <a:avLst/>
          </a:prstGeom>
          <a:noFill/>
          <a:ln/>
        </p:spPr>
        <p:txBody>
          <a:bodyPr wrap="square" lIns="0" tIns="0" rIns="0" bIns="0" rtlCol="0" anchor="ctr"/>
          <a:lstStyle/>
          <a:p>
            <a:pPr algn="ctr" indent="0" marL="0">
              <a:buNone/>
            </a:pPr>
            <a:r>
              <a:rPr lang="en-US" sz="2200" b="1" dirty="0">
                <a:solidFill>
                  <a:srgbClr val="FFFFFF"/>
                </a:solidFill>
                <a:latin typeface="Courier New" pitchFamily="34" charset="0"/>
                <a:ea typeface="Courier New" pitchFamily="34" charset="-122"/>
                <a:cs typeface="Courier New" pitchFamily="34" charset="-120"/>
              </a:rPr>
              <a:t>$0.04</a:t>
            </a:r>
            <a:endParaRPr lang="en-US" sz="2200" dirty="0"/>
          </a:p>
        </p:txBody>
      </p:sp>
      <p:sp>
        <p:nvSpPr>
          <p:cNvPr id="10" name="Text 8"/>
          <p:cNvSpPr txBox="1"/>
          <p:nvPr/>
        </p:nvSpPr>
        <p:spPr>
          <a:xfrm>
            <a:off x="685800" y="2743200"/>
            <a:ext cx="3383280" cy="914400"/>
          </a:xfrm>
          <a:prstGeom prst="rect">
            <a:avLst/>
          </a:prstGeom>
          <a:noFill/>
          <a:ln/>
        </p:spPr>
        <p:txBody>
          <a:bodyPr wrap="square" lIns="0" tIns="0" rIns="0" bIns="0" rtlCol="0" anchor="t"/>
          <a:lstStyle/>
          <a:p>
            <a:pPr indent="0" marL="0">
              <a:buNone/>
            </a:pPr>
            <a:r>
              <a:rPr lang="en-US" sz="1300" dirty="0">
                <a:solidFill>
                  <a:srgbClr val="B91C1C"/>
                </a:solidFill>
                <a:latin typeface="Calibri" pitchFamily="34" charset="0"/>
                <a:ea typeface="Calibri" pitchFamily="34" charset="-122"/>
                <a:cs typeface="Calibri" pitchFamily="34" charset="-120"/>
              </a:rPr>
              <a:t>True, and useless.</a:t>
            </a:r>
            <a:endParaRPr lang="en-US" sz="1300" dirty="0"/>
          </a:p>
          <a:p>
            <a:pPr indent="0" marL="0">
              <a:buNone/>
            </a:pPr>
            <a:r>
              <a:rPr lang="en-US" sz="1300" dirty="0">
                <a:solidFill>
                  <a:srgbClr val="B91C1C"/>
                </a:solidFill>
                <a:latin typeface="Calibri" pitchFamily="34" charset="0"/>
                <a:ea typeface="Calibri" pitchFamily="34" charset="-122"/>
                <a:cs typeface="Calibri" pitchFamily="34" charset="-120"/>
              </a:rPr>
              <a:t>You cannot ask it a single question.</a:t>
            </a:r>
            <a:endParaRPr lang="en-US" sz="1300" dirty="0"/>
          </a:p>
        </p:txBody>
      </p:sp>
      <p:sp>
        <p:nvSpPr>
          <p:cNvPr id="11" name="Shape 9"/>
          <p:cNvSpPr/>
          <p:nvPr/>
        </p:nvSpPr>
        <p:spPr>
          <a:xfrm>
            <a:off x="4846320" y="1325880"/>
            <a:ext cx="3840480" cy="2743200"/>
          </a:xfrm>
          <a:prstGeom prst="roundRect">
            <a:avLst>
              <a:gd name="adj" fmla="val 2667"/>
            </a:avLst>
          </a:prstGeom>
          <a:solidFill>
            <a:srgbClr val="ECFDF5"/>
          </a:solidFill>
          <a:ln w="12700">
            <a:solidFill>
              <a:srgbClr val="ECFDF5"/>
            </a:solidFill>
            <a:prstDash val="solid"/>
          </a:ln>
        </p:spPr>
      </p:sp>
      <p:sp>
        <p:nvSpPr>
          <p:cNvPr id="12" name="Text 10"/>
          <p:cNvSpPr txBox="1"/>
          <p:nvPr/>
        </p:nvSpPr>
        <p:spPr>
          <a:xfrm>
            <a:off x="5074920" y="1508760"/>
            <a:ext cx="3383280" cy="274320"/>
          </a:xfrm>
          <a:prstGeom prst="rect">
            <a:avLst/>
          </a:prstGeom>
          <a:noFill/>
          <a:ln/>
        </p:spPr>
        <p:txBody>
          <a:bodyPr wrap="square" lIns="0" tIns="0" rIns="0" bIns="0" rtlCol="0" anchor="t"/>
          <a:lstStyle/>
          <a:p>
            <a:pPr indent="0" marL="0">
              <a:buNone/>
            </a:pPr>
            <a:r>
              <a:rPr lang="en-US" sz="1000" b="1" spc="200" kern="0" dirty="0">
                <a:solidFill>
                  <a:srgbClr val="047857"/>
                </a:solidFill>
                <a:latin typeface="Calibri" pitchFamily="34" charset="0"/>
                <a:ea typeface="Calibri" pitchFamily="34" charset="-122"/>
                <a:cs typeface="Calibri" pitchFamily="34" charset="-120"/>
              </a:rPr>
              <a:t>WITH LABELS</a:t>
            </a:r>
            <a:endParaRPr lang="en-US" sz="1000" dirty="0"/>
          </a:p>
        </p:txBody>
      </p:sp>
      <p:sp>
        <p:nvSpPr>
          <p:cNvPr id="13" name="Shape 11"/>
          <p:cNvSpPr/>
          <p:nvPr/>
        </p:nvSpPr>
        <p:spPr>
          <a:xfrm>
            <a:off x="5074920" y="1828800"/>
            <a:ext cx="3383280" cy="1691640"/>
          </a:xfrm>
          <a:prstGeom prst="roundRect">
            <a:avLst>
              <a:gd name="adj" fmla="val 4324"/>
            </a:avLst>
          </a:prstGeom>
          <a:solidFill>
            <a:srgbClr val="111827"/>
          </a:solidFill>
          <a:ln w="12700">
            <a:solidFill>
              <a:srgbClr val="111827"/>
            </a:solidFill>
            <a:prstDash val="solid"/>
          </a:ln>
        </p:spPr>
      </p:sp>
      <p:sp>
        <p:nvSpPr>
          <p:cNvPr id="14" name="Text 12"/>
          <p:cNvSpPr txBox="1"/>
          <p:nvPr/>
        </p:nvSpPr>
        <p:spPr>
          <a:xfrm>
            <a:off x="5303520" y="1920240"/>
            <a:ext cx="3017520" cy="1554480"/>
          </a:xfrm>
          <a:prstGeom prst="rect">
            <a:avLst/>
          </a:prstGeom>
          <a:noFill/>
          <a:ln/>
        </p:spPr>
        <p:txBody>
          <a:bodyPr wrap="square" lIns="0" tIns="0" rIns="0" bIns="0" rtlCol="0" anchor="t"/>
          <a:lstStyle/>
          <a:p>
            <a:pPr indent="0" marL="0">
              <a:buNone/>
            </a:pPr>
            <a:r>
              <a:rPr lang="en-US" sz="1200" b="1" dirty="0">
                <a:solidFill>
                  <a:srgbClr val="FFFFFF"/>
                </a:solidFill>
                <a:latin typeface="Courier New" pitchFamily="34" charset="0"/>
                <a:ea typeface="Courier New" pitchFamily="34" charset="-122"/>
                <a:cs typeface="Courier New" pitchFamily="34" charset="-120"/>
              </a:rPr>
              <a:t>$0.04</a:t>
            </a:r>
            <a:endParaRPr lang="en-US" sz="1200" dirty="0"/>
          </a:p>
          <a:p>
            <a:pPr indent="0" marL="0">
              <a:buNone/>
            </a:pPr>
            <a:r>
              <a:rPr lang="en-US" sz="1200" dirty="0">
                <a:solidFill>
                  <a:srgbClr val="34D399"/>
                </a:solidFill>
                <a:latin typeface="Courier New" pitchFamily="34" charset="0"/>
                <a:ea typeface="Courier New" pitchFamily="34" charset="-122"/>
                <a:cs typeface="Courier New" pitchFamily="34" charset="-120"/>
              </a:rPr>
              <a:t>agent  = invoice-reader</a:t>
            </a:r>
            <a:endParaRPr lang="en-US" sz="1200" dirty="0"/>
          </a:p>
          <a:p>
            <a:pPr indent="0" marL="0">
              <a:buNone/>
            </a:pPr>
            <a:r>
              <a:rPr lang="en-US" sz="1200" dirty="0">
                <a:solidFill>
                  <a:srgbClr val="34D399"/>
                </a:solidFill>
                <a:latin typeface="Courier New" pitchFamily="34" charset="0"/>
                <a:ea typeface="Courier New" pitchFamily="34" charset="-122"/>
                <a:cs typeface="Courier New" pitchFamily="34" charset="-120"/>
              </a:rPr>
              <a:t>team   = finance</a:t>
            </a:r>
            <a:endParaRPr lang="en-US" sz="1200" dirty="0"/>
          </a:p>
          <a:p>
            <a:pPr indent="0" marL="0">
              <a:buNone/>
            </a:pPr>
            <a:r>
              <a:rPr lang="en-US" sz="1200" dirty="0">
                <a:solidFill>
                  <a:srgbClr val="34D399"/>
                </a:solidFill>
                <a:latin typeface="Courier New" pitchFamily="34" charset="0"/>
                <a:ea typeface="Courier New" pitchFamily="34" charset="-122"/>
                <a:cs typeface="Courier New" pitchFamily="34" charset="-120"/>
              </a:rPr>
              <a:t>run    = a41f…</a:t>
            </a:r>
            <a:endParaRPr lang="en-US" sz="1200" dirty="0"/>
          </a:p>
          <a:p>
            <a:pPr indent="0" marL="0">
              <a:buNone/>
            </a:pPr>
            <a:r>
              <a:rPr lang="en-US" sz="1200" dirty="0">
                <a:solidFill>
                  <a:srgbClr val="34D399"/>
                </a:solidFill>
                <a:latin typeface="Courier New" pitchFamily="34" charset="0"/>
                <a:ea typeface="Courier New" pitchFamily="34" charset="-122"/>
                <a:cs typeface="Courier New" pitchFamily="34" charset="-120"/>
              </a:rPr>
              <a:t>result = success</a:t>
            </a:r>
            <a:endParaRPr lang="en-US" sz="1200" dirty="0"/>
          </a:p>
        </p:txBody>
      </p:sp>
      <p:sp>
        <p:nvSpPr>
          <p:cNvPr id="15" name="Text 13"/>
          <p:cNvSpPr txBox="1"/>
          <p:nvPr/>
        </p:nvSpPr>
        <p:spPr>
          <a:xfrm>
            <a:off x="5074920" y="3611880"/>
            <a:ext cx="3383280" cy="365760"/>
          </a:xfrm>
          <a:prstGeom prst="rect">
            <a:avLst/>
          </a:prstGeom>
          <a:noFill/>
          <a:ln/>
        </p:spPr>
        <p:txBody>
          <a:bodyPr wrap="square" lIns="0" tIns="0" rIns="0" bIns="0" rtlCol="0" anchor="t"/>
          <a:lstStyle/>
          <a:p>
            <a:pPr indent="0" marL="0">
              <a:buNone/>
            </a:pPr>
            <a:r>
              <a:rPr lang="en-US" sz="1300" b="1" dirty="0">
                <a:solidFill>
                  <a:srgbClr val="047857"/>
                </a:solidFill>
                <a:latin typeface="Calibri" pitchFamily="34" charset="0"/>
                <a:ea typeface="Calibri" pitchFamily="34" charset="-122"/>
                <a:cs typeface="Calibri" pitchFamily="34" charset="-120"/>
              </a:rPr>
              <a:t>Now it can answer things.</a:t>
            </a:r>
            <a:endParaRPr lang="en-US" sz="1300" dirty="0"/>
          </a:p>
        </p:txBody>
      </p:sp>
      <p:sp>
        <p:nvSpPr>
          <p:cNvPr id="16" name="Text 14"/>
          <p:cNvSpPr txBox="1"/>
          <p:nvPr/>
        </p:nvSpPr>
        <p:spPr>
          <a:xfrm>
            <a:off x="457200" y="4206240"/>
            <a:ext cx="8229600" cy="457200"/>
          </a:xfrm>
          <a:prstGeom prst="rect">
            <a:avLst/>
          </a:prstGeom>
          <a:noFill/>
          <a:ln/>
        </p:spPr>
        <p:txBody>
          <a:bodyPr wrap="square" lIns="0" tIns="0" rIns="0" bIns="0" rtlCol="0" anchor="t"/>
          <a:lstStyle/>
          <a:p>
            <a:pPr indent="0" marL="0">
              <a:buNone/>
            </a:pPr>
            <a:r>
              <a:rPr lang="en-US" sz="1200" i="1" dirty="0">
                <a:solidFill>
                  <a:srgbClr val="6B7280"/>
                </a:solidFill>
                <a:latin typeface="Calibri" pitchFamily="34" charset="0"/>
                <a:ea typeface="Calibri" pitchFamily="34" charset="-122"/>
                <a:cs typeface="Calibri" pitchFamily="34" charset="-120"/>
              </a:rPr>
              <a:t>A label is just a word attached to the number saying what it was about; like writing on the back of a photograph.</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04 · FOUR LABELS</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Four labels, four questions</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2</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17</a:t>
            </a:r>
            <a:endParaRPr lang="en-US" sz="900" dirty="0"/>
          </a:p>
        </p:txBody>
      </p:sp>
      <p:sp>
        <p:nvSpPr>
          <p:cNvPr id="6" name="Shape 4"/>
          <p:cNvSpPr/>
          <p:nvPr/>
        </p:nvSpPr>
        <p:spPr>
          <a:xfrm>
            <a:off x="457200" y="1325880"/>
            <a:ext cx="1920240" cy="2834640"/>
          </a:xfrm>
          <a:prstGeom prst="roundRect">
            <a:avLst>
              <a:gd name="adj" fmla="val 3810"/>
            </a:avLst>
          </a:prstGeom>
          <a:solidFill>
            <a:srgbClr val="F3F4F6"/>
          </a:solidFill>
          <a:ln w="12700">
            <a:solidFill>
              <a:srgbClr val="F3F4F6"/>
            </a:solidFill>
            <a:prstDash val="solid"/>
          </a:ln>
        </p:spPr>
      </p:sp>
      <p:sp>
        <p:nvSpPr>
          <p:cNvPr id="7" name="Shape 5"/>
          <p:cNvSpPr/>
          <p:nvPr/>
        </p:nvSpPr>
        <p:spPr>
          <a:xfrm>
            <a:off x="640080" y="1508760"/>
            <a:ext cx="1554480" cy="411480"/>
          </a:xfrm>
          <a:prstGeom prst="roundRect">
            <a:avLst>
              <a:gd name="adj" fmla="val 17778"/>
            </a:avLst>
          </a:prstGeom>
          <a:solidFill>
            <a:srgbClr val="111827"/>
          </a:solidFill>
          <a:ln w="12700">
            <a:solidFill>
              <a:srgbClr val="111827"/>
            </a:solidFill>
            <a:prstDash val="solid"/>
          </a:ln>
        </p:spPr>
      </p:sp>
      <p:sp>
        <p:nvSpPr>
          <p:cNvPr id="8" name="Text 6"/>
          <p:cNvSpPr txBox="1"/>
          <p:nvPr/>
        </p:nvSpPr>
        <p:spPr>
          <a:xfrm>
            <a:off x="640080" y="1508760"/>
            <a:ext cx="1554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agent</a:t>
            </a:r>
            <a:endParaRPr lang="en-US" sz="1300" dirty="0"/>
          </a:p>
        </p:txBody>
      </p:sp>
      <p:sp>
        <p:nvSpPr>
          <p:cNvPr id="9" name="Text 7"/>
          <p:cNvSpPr txBox="1"/>
          <p:nvPr/>
        </p:nvSpPr>
        <p:spPr>
          <a:xfrm>
            <a:off x="640080" y="2057400"/>
            <a:ext cx="1600200" cy="685800"/>
          </a:xfrm>
          <a:prstGeom prst="rect">
            <a:avLst/>
          </a:prstGeom>
          <a:noFill/>
          <a:ln/>
        </p:spPr>
        <p:txBody>
          <a:bodyPr wrap="square" lIns="0" tIns="0" rIns="0" bIns="0" rtlCol="0" anchor="t"/>
          <a:lstStyle/>
          <a:p>
            <a:pPr indent="0" marL="0">
              <a:buNone/>
            </a:pPr>
            <a:r>
              <a:rPr lang="en-US" sz="1200" b="1" spc="50" kern="0" dirty="0">
                <a:solidFill>
                  <a:srgbClr val="1D4ED8"/>
                </a:solidFill>
                <a:latin typeface="Calibri" pitchFamily="34" charset="0"/>
                <a:ea typeface="Calibri" pitchFamily="34" charset="-122"/>
                <a:cs typeface="Calibri" pitchFamily="34" charset="-120"/>
              </a:rPr>
              <a:t>WHICH ONE SPENT IT?</a:t>
            </a:r>
            <a:endParaRPr lang="en-US" sz="1200" dirty="0"/>
          </a:p>
        </p:txBody>
      </p:sp>
      <p:sp>
        <p:nvSpPr>
          <p:cNvPr id="10" name="Text 8"/>
          <p:cNvSpPr txBox="1"/>
          <p:nvPr/>
        </p:nvSpPr>
        <p:spPr>
          <a:xfrm>
            <a:off x="640080" y="2788920"/>
            <a:ext cx="1600200" cy="118872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So you can find the expensive agent.</a:t>
            </a:r>
            <a:endParaRPr lang="en-US" sz="1100" dirty="0"/>
          </a:p>
        </p:txBody>
      </p:sp>
      <p:sp>
        <p:nvSpPr>
          <p:cNvPr id="11" name="Shape 9"/>
          <p:cNvSpPr/>
          <p:nvPr/>
        </p:nvSpPr>
        <p:spPr>
          <a:xfrm>
            <a:off x="2560320" y="1325880"/>
            <a:ext cx="1920240" cy="2834640"/>
          </a:xfrm>
          <a:prstGeom prst="roundRect">
            <a:avLst>
              <a:gd name="adj" fmla="val 3810"/>
            </a:avLst>
          </a:prstGeom>
          <a:solidFill>
            <a:srgbClr val="F3F4F6"/>
          </a:solidFill>
          <a:ln w="12700">
            <a:solidFill>
              <a:srgbClr val="F3F4F6"/>
            </a:solidFill>
            <a:prstDash val="solid"/>
          </a:ln>
        </p:spPr>
      </p:sp>
      <p:sp>
        <p:nvSpPr>
          <p:cNvPr id="12" name="Shape 10"/>
          <p:cNvSpPr/>
          <p:nvPr/>
        </p:nvSpPr>
        <p:spPr>
          <a:xfrm>
            <a:off x="2743200" y="1508760"/>
            <a:ext cx="1554480" cy="411480"/>
          </a:xfrm>
          <a:prstGeom prst="roundRect">
            <a:avLst>
              <a:gd name="adj" fmla="val 17778"/>
            </a:avLst>
          </a:prstGeom>
          <a:solidFill>
            <a:srgbClr val="111827"/>
          </a:solidFill>
          <a:ln w="12700">
            <a:solidFill>
              <a:srgbClr val="111827"/>
            </a:solidFill>
            <a:prstDash val="solid"/>
          </a:ln>
        </p:spPr>
      </p:sp>
      <p:sp>
        <p:nvSpPr>
          <p:cNvPr id="13" name="Text 11"/>
          <p:cNvSpPr txBox="1"/>
          <p:nvPr/>
        </p:nvSpPr>
        <p:spPr>
          <a:xfrm>
            <a:off x="2743200" y="1508760"/>
            <a:ext cx="1554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team</a:t>
            </a:r>
            <a:endParaRPr lang="en-US" sz="1300" dirty="0"/>
          </a:p>
        </p:txBody>
      </p:sp>
      <p:sp>
        <p:nvSpPr>
          <p:cNvPr id="14" name="Text 12"/>
          <p:cNvSpPr txBox="1"/>
          <p:nvPr/>
        </p:nvSpPr>
        <p:spPr>
          <a:xfrm>
            <a:off x="2743200" y="2057400"/>
            <a:ext cx="1600200" cy="685800"/>
          </a:xfrm>
          <a:prstGeom prst="rect">
            <a:avLst/>
          </a:prstGeom>
          <a:noFill/>
          <a:ln/>
        </p:spPr>
        <p:txBody>
          <a:bodyPr wrap="square" lIns="0" tIns="0" rIns="0" bIns="0" rtlCol="0" anchor="t"/>
          <a:lstStyle/>
          <a:p>
            <a:pPr indent="0" marL="0">
              <a:buNone/>
            </a:pPr>
            <a:r>
              <a:rPr lang="en-US" sz="1200" b="1" spc="50" kern="0" dirty="0">
                <a:solidFill>
                  <a:srgbClr val="6D28D9"/>
                </a:solidFill>
                <a:latin typeface="Calibri" pitchFamily="34" charset="0"/>
                <a:ea typeface="Calibri" pitchFamily="34" charset="-122"/>
                <a:cs typeface="Calibri" pitchFamily="34" charset="-120"/>
              </a:rPr>
              <a:t>WHO SHOULD PAY?</a:t>
            </a:r>
            <a:endParaRPr lang="en-US" sz="1200" dirty="0"/>
          </a:p>
        </p:txBody>
      </p:sp>
      <p:sp>
        <p:nvSpPr>
          <p:cNvPr id="15" name="Text 13"/>
          <p:cNvSpPr txBox="1"/>
          <p:nvPr/>
        </p:nvSpPr>
        <p:spPr>
          <a:xfrm>
            <a:off x="2743200" y="2788920"/>
            <a:ext cx="1600200" cy="118872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So the bill goes to the right budget.</a:t>
            </a:r>
            <a:endParaRPr lang="en-US" sz="1100" dirty="0"/>
          </a:p>
        </p:txBody>
      </p:sp>
      <p:sp>
        <p:nvSpPr>
          <p:cNvPr id="16" name="Shape 14"/>
          <p:cNvSpPr/>
          <p:nvPr/>
        </p:nvSpPr>
        <p:spPr>
          <a:xfrm>
            <a:off x="4663440" y="1325880"/>
            <a:ext cx="1920240" cy="2834640"/>
          </a:xfrm>
          <a:prstGeom prst="roundRect">
            <a:avLst>
              <a:gd name="adj" fmla="val 3810"/>
            </a:avLst>
          </a:prstGeom>
          <a:solidFill>
            <a:srgbClr val="F3F4F6"/>
          </a:solidFill>
          <a:ln w="12700">
            <a:solidFill>
              <a:srgbClr val="F3F4F6"/>
            </a:solidFill>
            <a:prstDash val="solid"/>
          </a:ln>
        </p:spPr>
      </p:sp>
      <p:sp>
        <p:nvSpPr>
          <p:cNvPr id="17" name="Shape 15"/>
          <p:cNvSpPr/>
          <p:nvPr/>
        </p:nvSpPr>
        <p:spPr>
          <a:xfrm>
            <a:off x="4846320" y="1508760"/>
            <a:ext cx="1554480" cy="411480"/>
          </a:xfrm>
          <a:prstGeom prst="roundRect">
            <a:avLst>
              <a:gd name="adj" fmla="val 17778"/>
            </a:avLst>
          </a:prstGeom>
          <a:solidFill>
            <a:srgbClr val="111827"/>
          </a:solidFill>
          <a:ln w="12700">
            <a:solidFill>
              <a:srgbClr val="111827"/>
            </a:solidFill>
            <a:prstDash val="solid"/>
          </a:ln>
        </p:spPr>
      </p:sp>
      <p:sp>
        <p:nvSpPr>
          <p:cNvPr id="18" name="Text 16"/>
          <p:cNvSpPr txBox="1"/>
          <p:nvPr/>
        </p:nvSpPr>
        <p:spPr>
          <a:xfrm>
            <a:off x="4846320" y="1508760"/>
            <a:ext cx="1554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run</a:t>
            </a:r>
            <a:endParaRPr lang="en-US" sz="1300" dirty="0"/>
          </a:p>
        </p:txBody>
      </p:sp>
      <p:sp>
        <p:nvSpPr>
          <p:cNvPr id="19" name="Text 17"/>
          <p:cNvSpPr txBox="1"/>
          <p:nvPr/>
        </p:nvSpPr>
        <p:spPr>
          <a:xfrm>
            <a:off x="4846320" y="2057400"/>
            <a:ext cx="1600200" cy="685800"/>
          </a:xfrm>
          <a:prstGeom prst="rect">
            <a:avLst/>
          </a:prstGeom>
          <a:noFill/>
          <a:ln/>
        </p:spPr>
        <p:txBody>
          <a:bodyPr wrap="square" lIns="0" tIns="0" rIns="0" bIns="0" rtlCol="0" anchor="t"/>
          <a:lstStyle/>
          <a:p>
            <a:pPr indent="0" marL="0">
              <a:buNone/>
            </a:pPr>
            <a:r>
              <a:rPr lang="en-US" sz="1200" b="1" spc="50" kern="0" dirty="0">
                <a:solidFill>
                  <a:srgbClr val="B45309"/>
                </a:solidFill>
                <a:latin typeface="Calibri" pitchFamily="34" charset="0"/>
                <a:ea typeface="Calibri" pitchFamily="34" charset="-122"/>
                <a:cs typeface="Calibri" pitchFamily="34" charset="-120"/>
              </a:rPr>
              <a:t>WHICH ATTEMPT?</a:t>
            </a:r>
            <a:endParaRPr lang="en-US" sz="1200" dirty="0"/>
          </a:p>
        </p:txBody>
      </p:sp>
      <p:sp>
        <p:nvSpPr>
          <p:cNvPr id="20" name="Text 18"/>
          <p:cNvSpPr txBox="1"/>
          <p:nvPr/>
        </p:nvSpPr>
        <p:spPr>
          <a:xfrm>
            <a:off x="4846320" y="2788920"/>
            <a:ext cx="1600200" cy="118872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So you can add up one whole task: twelve calls, one number.</a:t>
            </a:r>
            <a:endParaRPr lang="en-US" sz="1100" dirty="0"/>
          </a:p>
        </p:txBody>
      </p:sp>
      <p:sp>
        <p:nvSpPr>
          <p:cNvPr id="21" name="Shape 19"/>
          <p:cNvSpPr/>
          <p:nvPr/>
        </p:nvSpPr>
        <p:spPr>
          <a:xfrm>
            <a:off x="6766560" y="1325880"/>
            <a:ext cx="1920240" cy="2834640"/>
          </a:xfrm>
          <a:prstGeom prst="roundRect">
            <a:avLst>
              <a:gd name="adj" fmla="val 3810"/>
            </a:avLst>
          </a:prstGeom>
          <a:solidFill>
            <a:srgbClr val="F3F4F6"/>
          </a:solidFill>
          <a:ln w="12700">
            <a:solidFill>
              <a:srgbClr val="F3F4F6"/>
            </a:solidFill>
            <a:prstDash val="solid"/>
          </a:ln>
        </p:spPr>
      </p:sp>
      <p:sp>
        <p:nvSpPr>
          <p:cNvPr id="22" name="Shape 20"/>
          <p:cNvSpPr/>
          <p:nvPr/>
        </p:nvSpPr>
        <p:spPr>
          <a:xfrm>
            <a:off x="6949440" y="1508760"/>
            <a:ext cx="1554480" cy="411480"/>
          </a:xfrm>
          <a:prstGeom prst="roundRect">
            <a:avLst>
              <a:gd name="adj" fmla="val 17778"/>
            </a:avLst>
          </a:prstGeom>
          <a:solidFill>
            <a:srgbClr val="111827"/>
          </a:solidFill>
          <a:ln w="12700">
            <a:solidFill>
              <a:srgbClr val="111827"/>
            </a:solidFill>
            <a:prstDash val="solid"/>
          </a:ln>
        </p:spPr>
      </p:sp>
      <p:sp>
        <p:nvSpPr>
          <p:cNvPr id="23" name="Text 21"/>
          <p:cNvSpPr txBox="1"/>
          <p:nvPr/>
        </p:nvSpPr>
        <p:spPr>
          <a:xfrm>
            <a:off x="6949440" y="1508760"/>
            <a:ext cx="1554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result</a:t>
            </a:r>
            <a:endParaRPr lang="en-US" sz="1300" dirty="0"/>
          </a:p>
        </p:txBody>
      </p:sp>
      <p:sp>
        <p:nvSpPr>
          <p:cNvPr id="24" name="Text 22"/>
          <p:cNvSpPr txBox="1"/>
          <p:nvPr/>
        </p:nvSpPr>
        <p:spPr>
          <a:xfrm>
            <a:off x="6949440" y="2057400"/>
            <a:ext cx="1600200" cy="685800"/>
          </a:xfrm>
          <a:prstGeom prst="rect">
            <a:avLst/>
          </a:prstGeom>
          <a:noFill/>
          <a:ln/>
        </p:spPr>
        <p:txBody>
          <a:bodyPr wrap="square" lIns="0" tIns="0" rIns="0" bIns="0" rtlCol="0" anchor="t"/>
          <a:lstStyle/>
          <a:p>
            <a:pPr indent="0" marL="0">
              <a:buNone/>
            </a:pPr>
            <a:r>
              <a:rPr lang="en-US" sz="1200" b="1" spc="50" kern="0" dirty="0">
                <a:solidFill>
                  <a:srgbClr val="047857"/>
                </a:solidFill>
                <a:latin typeface="Calibri" pitchFamily="34" charset="0"/>
                <a:ea typeface="Calibri" pitchFamily="34" charset="-122"/>
                <a:cs typeface="Calibri" pitchFamily="34" charset="-120"/>
              </a:rPr>
              <a:t>DID IT WORK?</a:t>
            </a:r>
            <a:endParaRPr lang="en-US" sz="1200" dirty="0"/>
          </a:p>
        </p:txBody>
      </p:sp>
      <p:sp>
        <p:nvSpPr>
          <p:cNvPr id="25" name="Text 23"/>
          <p:cNvSpPr txBox="1"/>
          <p:nvPr/>
        </p:nvSpPr>
        <p:spPr>
          <a:xfrm>
            <a:off x="6949440" y="2788920"/>
            <a:ext cx="1600200" cy="118872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So you can separate money well spent from money burned.</a:t>
            </a:r>
            <a:endParaRPr lang="en-US" sz="1100" dirty="0"/>
          </a:p>
        </p:txBody>
      </p:sp>
      <p:sp>
        <p:nvSpPr>
          <p:cNvPr id="26" name="Shape 24"/>
          <p:cNvSpPr/>
          <p:nvPr/>
        </p:nvSpPr>
        <p:spPr>
          <a:xfrm>
            <a:off x="457200" y="4297680"/>
            <a:ext cx="8229600" cy="457200"/>
          </a:xfrm>
          <a:prstGeom prst="roundRect">
            <a:avLst>
              <a:gd name="adj" fmla="val 16000"/>
            </a:avLst>
          </a:prstGeom>
          <a:solidFill>
            <a:srgbClr val="111827"/>
          </a:solidFill>
          <a:ln w="12700">
            <a:solidFill>
              <a:srgbClr val="111827"/>
            </a:solidFill>
            <a:prstDash val="solid"/>
          </a:ln>
        </p:spPr>
      </p:sp>
      <p:sp>
        <p:nvSpPr>
          <p:cNvPr id="27" name="Text 25"/>
          <p:cNvSpPr txBox="1"/>
          <p:nvPr/>
        </p:nvSpPr>
        <p:spPr>
          <a:xfrm>
            <a:off x="685800" y="4297680"/>
            <a:ext cx="7772400" cy="45720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Add a label today and you can ask that question forever. Miss it today and the runs that already happened are gone.</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04 · FOUR LABELS</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One warning: never label something that changes constantly</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2</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18</a:t>
            </a:r>
            <a:endParaRPr lang="en-US" sz="900" dirty="0"/>
          </a:p>
        </p:txBody>
      </p:sp>
      <p:sp>
        <p:nvSpPr>
          <p:cNvPr id="6" name="Shape 4"/>
          <p:cNvSpPr/>
          <p:nvPr/>
        </p:nvSpPr>
        <p:spPr>
          <a:xfrm>
            <a:off x="457200" y="1371600"/>
            <a:ext cx="4023360" cy="2011680"/>
          </a:xfrm>
          <a:prstGeom prst="roundRect">
            <a:avLst>
              <a:gd name="adj" fmla="val 3636"/>
            </a:avLst>
          </a:prstGeom>
          <a:solidFill>
            <a:srgbClr val="FEF2F2"/>
          </a:solidFill>
          <a:ln w="12700">
            <a:solidFill>
              <a:srgbClr val="FEF2F2"/>
            </a:solidFill>
            <a:prstDash val="solid"/>
          </a:ln>
        </p:spPr>
      </p:sp>
      <p:pic>
        <p:nvPicPr>
          <p:cNvPr id="7" name="Image 0" descr="preencoded.png">    </p:cNvPr>
          <p:cNvPicPr>
            <a:picLocks noChangeAspect="1"/>
          </p:cNvPicPr>
          <p:nvPr/>
        </p:nvPicPr>
        <p:blipFill>
          <a:blip r:embed="rId1"/>
          <a:stretch>
            <a:fillRect/>
          </a:stretch>
        </p:blipFill>
        <p:spPr>
          <a:xfrm>
            <a:off x="731520" y="1600200"/>
            <a:ext cx="411480" cy="411480"/>
          </a:xfrm>
          <a:prstGeom prst="rect">
            <a:avLst/>
          </a:prstGeom>
        </p:spPr>
      </p:pic>
      <p:sp>
        <p:nvSpPr>
          <p:cNvPr id="8" name="Text 5"/>
          <p:cNvSpPr txBox="1"/>
          <p:nvPr/>
        </p:nvSpPr>
        <p:spPr>
          <a:xfrm>
            <a:off x="1325880" y="1600200"/>
            <a:ext cx="2926080" cy="365760"/>
          </a:xfrm>
          <a:prstGeom prst="rect">
            <a:avLst/>
          </a:prstGeom>
          <a:noFill/>
          <a:ln/>
        </p:spPr>
        <p:txBody>
          <a:bodyPr wrap="square" lIns="0" tIns="0" rIns="0" bIns="0" rtlCol="0" anchor="t"/>
          <a:lstStyle/>
          <a:p>
            <a:pPr indent="0" marL="0">
              <a:buNone/>
            </a:pPr>
            <a:r>
              <a:rPr lang="en-US" sz="1600" b="1" dirty="0">
                <a:solidFill>
                  <a:srgbClr val="B91C1C"/>
                </a:solidFill>
                <a:latin typeface="Calibri" pitchFamily="34" charset="0"/>
                <a:ea typeface="Calibri" pitchFamily="34" charset="-122"/>
                <a:cs typeface="Calibri" pitchFamily="34" charset="-120"/>
              </a:rPr>
              <a:t>Don't do this</a:t>
            </a:r>
            <a:endParaRPr lang="en-US" sz="1600" dirty="0"/>
          </a:p>
        </p:txBody>
      </p:sp>
      <p:sp>
        <p:nvSpPr>
          <p:cNvPr id="9" name="Text 6"/>
          <p:cNvSpPr txBox="1"/>
          <p:nvPr/>
        </p:nvSpPr>
        <p:spPr>
          <a:xfrm>
            <a:off x="731520" y="2194560"/>
            <a:ext cx="3566160" cy="10058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F2937"/>
                </a:solidFill>
                <a:latin typeface="Courier New" pitchFamily="34" charset="0"/>
                <a:ea typeface="Courier New" pitchFamily="34" charset="-122"/>
                <a:cs typeface="Courier New" pitchFamily="34" charset="-120"/>
              </a:rPr>
              <a:t>customer email address</a:t>
            </a:r>
            <a:endParaRPr lang="en-US" sz="1300" dirty="0"/>
          </a:p>
          <a:p>
            <a:pPr marL="342900" indent="-342900">
              <a:spcAft>
                <a:spcPts val="600"/>
              </a:spcAft>
              <a:buSzPct val="100000"/>
              <a:buChar char="•"/>
            </a:pPr>
            <a:r>
              <a:rPr lang="en-US" sz="1300" dirty="0">
                <a:solidFill>
                  <a:srgbClr val="1F2937"/>
                </a:solidFill>
                <a:latin typeface="Courier New" pitchFamily="34" charset="0"/>
                <a:ea typeface="Courier New" pitchFamily="34" charset="-122"/>
                <a:cs typeface="Courier New" pitchFamily="34" charset="-120"/>
              </a:rPr>
              <a:t>document ID</a:t>
            </a:r>
            <a:endParaRPr lang="en-US" sz="1300" dirty="0"/>
          </a:p>
          <a:p>
            <a:pPr marL="342900" indent="-342900">
              <a:spcAft>
                <a:spcPts val="600"/>
              </a:spcAft>
              <a:buSzPct val="100000"/>
              <a:buChar char="•"/>
            </a:pPr>
            <a:r>
              <a:rPr lang="en-US" sz="1300" dirty="0">
                <a:solidFill>
                  <a:srgbClr val="1F2937"/>
                </a:solidFill>
                <a:latin typeface="Courier New" pitchFamily="34" charset="0"/>
                <a:ea typeface="Courier New" pitchFamily="34" charset="-122"/>
                <a:cs typeface="Courier New" pitchFamily="34" charset="-120"/>
              </a:rPr>
              <a:t>timestamp</a:t>
            </a:r>
            <a:endParaRPr lang="en-US" sz="1300" dirty="0"/>
          </a:p>
        </p:txBody>
      </p:sp>
      <p:sp>
        <p:nvSpPr>
          <p:cNvPr id="10" name="Shape 7"/>
          <p:cNvSpPr/>
          <p:nvPr/>
        </p:nvSpPr>
        <p:spPr>
          <a:xfrm>
            <a:off x="4663440" y="1371600"/>
            <a:ext cx="4023360" cy="2011680"/>
          </a:xfrm>
          <a:prstGeom prst="roundRect">
            <a:avLst>
              <a:gd name="adj" fmla="val 3636"/>
            </a:avLst>
          </a:prstGeom>
          <a:solidFill>
            <a:srgbClr val="ECFDF5"/>
          </a:solidFill>
          <a:ln w="12700">
            <a:solidFill>
              <a:srgbClr val="ECFDF5"/>
            </a:solidFill>
            <a:prstDash val="solid"/>
          </a:ln>
        </p:spPr>
      </p:sp>
      <p:sp>
        <p:nvSpPr>
          <p:cNvPr id="11" name="Shape 8"/>
          <p:cNvSpPr/>
          <p:nvPr/>
        </p:nvSpPr>
        <p:spPr>
          <a:xfrm>
            <a:off x="4937760" y="1600200"/>
            <a:ext cx="411480" cy="411480"/>
          </a:xfrm>
          <a:prstGeom prst="ellipse">
            <a:avLst/>
          </a:prstGeom>
          <a:solidFill>
            <a:srgbClr val="047857"/>
          </a:solidFill>
          <a:ln w="12700">
            <a:solidFill>
              <a:srgbClr val="047857"/>
            </a:solidFill>
            <a:prstDash val="solid"/>
          </a:ln>
        </p:spPr>
      </p:sp>
      <p:pic>
        <p:nvPicPr>
          <p:cNvPr id="12" name="Image 1" descr="preencoded.png">    </p:cNvPr>
          <p:cNvPicPr>
            <a:picLocks noChangeAspect="1"/>
          </p:cNvPicPr>
          <p:nvPr/>
        </p:nvPicPr>
        <p:blipFill>
          <a:blip r:embed="rId2"/>
          <a:stretch>
            <a:fillRect/>
          </a:stretch>
        </p:blipFill>
        <p:spPr>
          <a:xfrm>
            <a:off x="5028286" y="1690726"/>
            <a:ext cx="230429" cy="230429"/>
          </a:xfrm>
          <a:prstGeom prst="rect">
            <a:avLst/>
          </a:prstGeom>
        </p:spPr>
      </p:pic>
      <p:sp>
        <p:nvSpPr>
          <p:cNvPr id="13" name="Text 9"/>
          <p:cNvSpPr txBox="1"/>
          <p:nvPr/>
        </p:nvSpPr>
        <p:spPr>
          <a:xfrm>
            <a:off x="5532120" y="1600200"/>
            <a:ext cx="2926080" cy="365760"/>
          </a:xfrm>
          <a:prstGeom prst="rect">
            <a:avLst/>
          </a:prstGeom>
          <a:noFill/>
          <a:ln/>
        </p:spPr>
        <p:txBody>
          <a:bodyPr wrap="square" lIns="0" tIns="0" rIns="0" bIns="0" rtlCol="0" anchor="t"/>
          <a:lstStyle/>
          <a:p>
            <a:pPr indent="0" marL="0">
              <a:buNone/>
            </a:pPr>
            <a:r>
              <a:rPr lang="en-US" sz="1600" b="1" dirty="0">
                <a:solidFill>
                  <a:srgbClr val="047857"/>
                </a:solidFill>
                <a:latin typeface="Calibri" pitchFamily="34" charset="0"/>
                <a:ea typeface="Calibri" pitchFamily="34" charset="-122"/>
                <a:cs typeface="Calibri" pitchFamily="34" charset="-120"/>
              </a:rPr>
              <a:t>Do this</a:t>
            </a:r>
            <a:endParaRPr lang="en-US" sz="1600" dirty="0"/>
          </a:p>
        </p:txBody>
      </p:sp>
      <p:sp>
        <p:nvSpPr>
          <p:cNvPr id="14" name="Text 10"/>
          <p:cNvSpPr txBox="1"/>
          <p:nvPr/>
        </p:nvSpPr>
        <p:spPr>
          <a:xfrm>
            <a:off x="4937760" y="2194560"/>
            <a:ext cx="3566160" cy="10058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agent name: a handful of values</a:t>
            </a:r>
            <a:endParaRPr lang="en-US" sz="1300" dirty="0"/>
          </a:p>
          <a:p>
            <a:pPr marL="342900" indent="-3429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team name: a handful of values</a:t>
            </a:r>
            <a:endParaRPr lang="en-US" sz="1300" dirty="0"/>
          </a:p>
          <a:p>
            <a:pPr marL="342900" indent="-3429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result: success or failure</a:t>
            </a:r>
            <a:endParaRPr lang="en-US" sz="1300" dirty="0"/>
          </a:p>
        </p:txBody>
      </p:sp>
      <p:sp>
        <p:nvSpPr>
          <p:cNvPr id="15" name="Shape 11"/>
          <p:cNvSpPr/>
          <p:nvPr/>
        </p:nvSpPr>
        <p:spPr>
          <a:xfrm>
            <a:off x="457200" y="3611880"/>
            <a:ext cx="8229600" cy="914400"/>
          </a:xfrm>
          <a:prstGeom prst="roundRect">
            <a:avLst>
              <a:gd name="adj" fmla="val 8000"/>
            </a:avLst>
          </a:prstGeom>
          <a:solidFill>
            <a:srgbClr val="F3F4F6"/>
          </a:solidFill>
          <a:ln w="12700">
            <a:solidFill>
              <a:srgbClr val="F3F4F6"/>
            </a:solidFill>
            <a:prstDash val="solid"/>
          </a:ln>
        </p:spPr>
      </p:sp>
      <p:sp>
        <p:nvSpPr>
          <p:cNvPr id="16" name="Text 12"/>
          <p:cNvSpPr txBox="1"/>
          <p:nvPr/>
        </p:nvSpPr>
        <p:spPr>
          <a:xfrm>
            <a:off x="731520" y="3611880"/>
            <a:ext cx="7680960" cy="91440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Labels with unlimited possible values make your monitoring system slow and expensive; an unfortunate way to end a course about cost. Keep labels to small, fixed sets of values.</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11827"/>
        </a:solidFill>
      </p:bgPr>
    </p:bg>
    <p:spTree>
      <p:nvGrpSpPr>
        <p:cNvPr id="1" name=""/>
        <p:cNvGrpSpPr/>
        <p:nvPr/>
      </p:nvGrpSpPr>
      <p:grpSpPr>
        <a:xfrm>
          <a:off x="0" y="0"/>
          <a:ext cx="0" cy="0"/>
          <a:chOff x="0" y="0"/>
          <a:chExt cx="0" cy="0"/>
        </a:xfrm>
      </p:grpSpPr>
      <p:sp>
        <p:nvSpPr>
          <p:cNvPr id="2" name="Text 0"/>
          <p:cNvSpPr txBox="1"/>
          <p:nvPr/>
        </p:nvSpPr>
        <p:spPr>
          <a:xfrm>
            <a:off x="548640" y="1005840"/>
            <a:ext cx="2743200" cy="1280160"/>
          </a:xfrm>
          <a:prstGeom prst="rect">
            <a:avLst/>
          </a:prstGeom>
          <a:noFill/>
          <a:ln/>
        </p:spPr>
        <p:txBody>
          <a:bodyPr wrap="square" lIns="0" tIns="0" rIns="0" bIns="0" rtlCol="0" anchor="t"/>
          <a:lstStyle/>
          <a:p>
            <a:pPr indent="0" marL="0">
              <a:buNone/>
            </a:pPr>
            <a:r>
              <a:rPr lang="en-US" sz="9600" b="1" dirty="0">
                <a:solidFill>
                  <a:srgbClr val="F59E0B"/>
                </a:solidFill>
                <a:latin typeface="Cambria" pitchFamily="34" charset="0"/>
                <a:ea typeface="Cambria" pitchFamily="34" charset="-122"/>
                <a:cs typeface="Cambria" pitchFamily="34" charset="-120"/>
              </a:rPr>
              <a:t>05</a:t>
            </a:r>
            <a:endParaRPr lang="en-US" sz="9600" dirty="0"/>
          </a:p>
        </p:txBody>
      </p:sp>
      <p:sp>
        <p:nvSpPr>
          <p:cNvPr id="3" name="Text 1"/>
          <p:cNvSpPr txBox="1"/>
          <p:nvPr/>
        </p:nvSpPr>
        <p:spPr>
          <a:xfrm>
            <a:off x="548640" y="2377440"/>
            <a:ext cx="8046720" cy="91440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From a Number to a Picture</a:t>
            </a:r>
            <a:endParaRPr lang="en-US" sz="3600" dirty="0"/>
          </a:p>
        </p:txBody>
      </p:sp>
      <p:sp>
        <p:nvSpPr>
          <p:cNvPr id="4" name="Text 2"/>
          <p:cNvSpPr txBox="1"/>
          <p:nvPr/>
        </p:nvSpPr>
        <p:spPr>
          <a:xfrm>
            <a:off x="548640" y="3383280"/>
            <a:ext cx="2743200" cy="320040"/>
          </a:xfrm>
          <a:prstGeom prst="rect">
            <a:avLst/>
          </a:prstGeom>
          <a:noFill/>
          <a:ln/>
        </p:spPr>
        <p:txBody>
          <a:bodyPr wrap="square" lIns="0" tIns="0" rIns="0" bIns="0" rtlCol="0" anchor="t"/>
          <a:lstStyle/>
          <a:p>
            <a:pPr indent="0" marL="0">
              <a:buNone/>
            </a:pPr>
            <a:r>
              <a:rPr lang="en-US" sz="1400" dirty="0">
                <a:solidFill>
                  <a:srgbClr val="9CA3AF"/>
                </a:solidFill>
                <a:latin typeface="Calibri" pitchFamily="34" charset="0"/>
                <a:ea typeface="Calibri" pitchFamily="34" charset="-122"/>
                <a:cs typeface="Calibri" pitchFamily="34" charset="-120"/>
              </a:rPr>
              <a:t>~7 min</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05 · NUMBER TO PICTURE</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Three stages</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2</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20</a:t>
            </a:r>
            <a:endParaRPr lang="en-US" sz="900" dirty="0"/>
          </a:p>
        </p:txBody>
      </p:sp>
      <p:sp>
        <p:nvSpPr>
          <p:cNvPr id="6" name="Shape 4"/>
          <p:cNvSpPr/>
          <p:nvPr/>
        </p:nvSpPr>
        <p:spPr>
          <a:xfrm>
            <a:off x="457200" y="1325880"/>
            <a:ext cx="2606040" cy="2377440"/>
          </a:xfrm>
          <a:prstGeom prst="roundRect">
            <a:avLst>
              <a:gd name="adj" fmla="val 3077"/>
            </a:avLst>
          </a:prstGeom>
          <a:solidFill>
            <a:srgbClr val="F3F4F6"/>
          </a:solidFill>
          <a:ln w="12700">
            <a:solidFill>
              <a:srgbClr val="F3F4F6"/>
            </a:solidFill>
            <a:prstDash val="solid"/>
          </a:ln>
        </p:spPr>
      </p:sp>
      <p:sp>
        <p:nvSpPr>
          <p:cNvPr id="7" name="Text 5"/>
          <p:cNvSpPr txBox="1"/>
          <p:nvPr/>
        </p:nvSpPr>
        <p:spPr>
          <a:xfrm>
            <a:off x="685800" y="1463040"/>
            <a:ext cx="457200" cy="411480"/>
          </a:xfrm>
          <a:prstGeom prst="rect">
            <a:avLst/>
          </a:prstGeom>
          <a:noFill/>
          <a:ln/>
        </p:spPr>
        <p:txBody>
          <a:bodyPr wrap="square" lIns="0" tIns="0" rIns="0" bIns="0" rtlCol="0" anchor="t"/>
          <a:lstStyle/>
          <a:p>
            <a:pPr indent="0" marL="0">
              <a:buNone/>
            </a:pPr>
            <a:r>
              <a:rPr lang="en-US" sz="2400" b="1" dirty="0">
                <a:solidFill>
                  <a:srgbClr val="6B7280"/>
                </a:solidFill>
                <a:latin typeface="Cambria" pitchFamily="34" charset="0"/>
                <a:ea typeface="Cambria" pitchFamily="34" charset="-122"/>
                <a:cs typeface="Cambria" pitchFamily="34" charset="-120"/>
              </a:rPr>
              <a:t>1</a:t>
            </a:r>
            <a:endParaRPr lang="en-US" sz="2400" dirty="0"/>
          </a:p>
        </p:txBody>
      </p:sp>
      <p:sp>
        <p:nvSpPr>
          <p:cNvPr id="8" name="Text 6"/>
          <p:cNvSpPr txBox="1"/>
          <p:nvPr/>
        </p:nvSpPr>
        <p:spPr>
          <a:xfrm>
            <a:off x="685800" y="1920240"/>
            <a:ext cx="2194560" cy="320040"/>
          </a:xfrm>
          <a:prstGeom prst="rect">
            <a:avLst/>
          </a:prstGeom>
          <a:noFill/>
          <a:ln/>
        </p:spPr>
        <p:txBody>
          <a:bodyPr wrap="square" lIns="0" tIns="0" rIns="0" bIns="0" rtlCol="0" anchor="t"/>
          <a:lstStyle/>
          <a:p>
            <a:pPr indent="0" marL="0">
              <a:buNone/>
            </a:pPr>
            <a:r>
              <a:rPr lang="en-US" sz="1400" b="1" spc="100" kern="0" dirty="0">
                <a:solidFill>
                  <a:srgbClr val="111827"/>
                </a:solidFill>
                <a:latin typeface="Calibri" pitchFamily="34" charset="0"/>
                <a:ea typeface="Calibri" pitchFamily="34" charset="-122"/>
                <a:cs typeface="Calibri" pitchFamily="34" charset="-120"/>
              </a:rPr>
              <a:t>A NUMBER</a:t>
            </a:r>
            <a:endParaRPr lang="en-US" sz="1400" dirty="0"/>
          </a:p>
        </p:txBody>
      </p:sp>
      <p:sp>
        <p:nvSpPr>
          <p:cNvPr id="9" name="Text 7"/>
          <p:cNvSpPr txBox="1"/>
          <p:nvPr/>
        </p:nvSpPr>
        <p:spPr>
          <a:xfrm>
            <a:off x="685800" y="2286000"/>
            <a:ext cx="2194560" cy="73152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One run just cost four cents.</a:t>
            </a:r>
            <a:endParaRPr lang="en-US" sz="1300" dirty="0"/>
          </a:p>
        </p:txBody>
      </p:sp>
      <p:sp>
        <p:nvSpPr>
          <p:cNvPr id="10" name="Text 8"/>
          <p:cNvSpPr txBox="1"/>
          <p:nvPr/>
        </p:nvSpPr>
        <p:spPr>
          <a:xfrm>
            <a:off x="685800" y="3017520"/>
            <a:ext cx="2194560" cy="594360"/>
          </a:xfrm>
          <a:prstGeom prst="rect">
            <a:avLst/>
          </a:prstGeom>
          <a:noFill/>
          <a:ln/>
        </p:spPr>
        <p:txBody>
          <a:bodyPr wrap="square" lIns="0" tIns="0" rIns="0" bIns="0" rtlCol="0" anchor="t"/>
          <a:lstStyle/>
          <a:p>
            <a:pPr indent="0" marL="0">
              <a:buNone/>
            </a:pPr>
            <a:r>
              <a:rPr lang="en-US" sz="1100" i="1" dirty="0">
                <a:solidFill>
                  <a:srgbClr val="6B7280"/>
                </a:solidFill>
                <a:latin typeface="Calibri" pitchFamily="34" charset="0"/>
                <a:ea typeface="Calibri" pitchFamily="34" charset="-122"/>
                <a:cs typeface="Calibri" pitchFamily="34" charset="-120"/>
              </a:rPr>
              <a:t>It exists for a moment, then it is gone.</a:t>
            </a:r>
            <a:endParaRPr lang="en-US" sz="1100" dirty="0"/>
          </a:p>
        </p:txBody>
      </p:sp>
      <p:sp>
        <p:nvSpPr>
          <p:cNvPr id="11" name="Shape 9"/>
          <p:cNvSpPr/>
          <p:nvPr/>
        </p:nvSpPr>
        <p:spPr>
          <a:xfrm>
            <a:off x="3246120" y="1325880"/>
            <a:ext cx="2606040" cy="2377440"/>
          </a:xfrm>
          <a:prstGeom prst="roundRect">
            <a:avLst>
              <a:gd name="adj" fmla="val 3077"/>
            </a:avLst>
          </a:prstGeom>
          <a:solidFill>
            <a:srgbClr val="F3F4F6"/>
          </a:solidFill>
          <a:ln w="12700">
            <a:solidFill>
              <a:srgbClr val="F3F4F6"/>
            </a:solidFill>
            <a:prstDash val="solid"/>
          </a:ln>
        </p:spPr>
      </p:sp>
      <p:sp>
        <p:nvSpPr>
          <p:cNvPr id="12" name="Text 10"/>
          <p:cNvSpPr txBox="1"/>
          <p:nvPr/>
        </p:nvSpPr>
        <p:spPr>
          <a:xfrm>
            <a:off x="3474720" y="1463040"/>
            <a:ext cx="457200" cy="411480"/>
          </a:xfrm>
          <a:prstGeom prst="rect">
            <a:avLst/>
          </a:prstGeom>
          <a:noFill/>
          <a:ln/>
        </p:spPr>
        <p:txBody>
          <a:bodyPr wrap="square" lIns="0" tIns="0" rIns="0" bIns="0" rtlCol="0" anchor="t"/>
          <a:lstStyle/>
          <a:p>
            <a:pPr indent="0" marL="0">
              <a:buNone/>
            </a:pPr>
            <a:r>
              <a:rPr lang="en-US" sz="2400" b="1" dirty="0">
                <a:solidFill>
                  <a:srgbClr val="B45309"/>
                </a:solidFill>
                <a:latin typeface="Cambria" pitchFamily="34" charset="0"/>
                <a:ea typeface="Cambria" pitchFamily="34" charset="-122"/>
                <a:cs typeface="Cambria" pitchFamily="34" charset="-120"/>
              </a:rPr>
              <a:t>2</a:t>
            </a:r>
            <a:endParaRPr lang="en-US" sz="2400" dirty="0"/>
          </a:p>
        </p:txBody>
      </p:sp>
      <p:sp>
        <p:nvSpPr>
          <p:cNvPr id="13" name="Text 11"/>
          <p:cNvSpPr txBox="1"/>
          <p:nvPr/>
        </p:nvSpPr>
        <p:spPr>
          <a:xfrm>
            <a:off x="3474720" y="1920240"/>
            <a:ext cx="2194560" cy="320040"/>
          </a:xfrm>
          <a:prstGeom prst="rect">
            <a:avLst/>
          </a:prstGeom>
          <a:noFill/>
          <a:ln/>
        </p:spPr>
        <p:txBody>
          <a:bodyPr wrap="square" lIns="0" tIns="0" rIns="0" bIns="0" rtlCol="0" anchor="t"/>
          <a:lstStyle/>
          <a:p>
            <a:pPr indent="0" marL="0">
              <a:buNone/>
            </a:pPr>
            <a:r>
              <a:rPr lang="en-US" sz="1400" b="1" spc="100" kern="0" dirty="0">
                <a:solidFill>
                  <a:srgbClr val="111827"/>
                </a:solidFill>
                <a:latin typeface="Calibri" pitchFamily="34" charset="0"/>
                <a:ea typeface="Calibri" pitchFamily="34" charset="-122"/>
                <a:cs typeface="Calibri" pitchFamily="34" charset="-120"/>
              </a:rPr>
              <a:t>A COUNTER</a:t>
            </a:r>
            <a:endParaRPr lang="en-US" sz="1400" dirty="0"/>
          </a:p>
        </p:txBody>
      </p:sp>
      <p:sp>
        <p:nvSpPr>
          <p:cNvPr id="14" name="Text 12"/>
          <p:cNvSpPr txBox="1"/>
          <p:nvPr/>
        </p:nvSpPr>
        <p:spPr>
          <a:xfrm>
            <a:off x="3474720" y="2286000"/>
            <a:ext cx="2194560" cy="73152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Add it to a running total that never resets.</a:t>
            </a:r>
            <a:endParaRPr lang="en-US" sz="1300" dirty="0"/>
          </a:p>
        </p:txBody>
      </p:sp>
      <p:sp>
        <p:nvSpPr>
          <p:cNvPr id="15" name="Text 13"/>
          <p:cNvSpPr txBox="1"/>
          <p:nvPr/>
        </p:nvSpPr>
        <p:spPr>
          <a:xfrm>
            <a:off x="3474720" y="3017520"/>
            <a:ext cx="2194560" cy="594360"/>
          </a:xfrm>
          <a:prstGeom prst="rect">
            <a:avLst/>
          </a:prstGeom>
          <a:noFill/>
          <a:ln/>
        </p:spPr>
        <p:txBody>
          <a:bodyPr wrap="square" lIns="0" tIns="0" rIns="0" bIns="0" rtlCol="0" anchor="t"/>
          <a:lstStyle/>
          <a:p>
            <a:pPr indent="0" marL="0">
              <a:buNone/>
            </a:pPr>
            <a:r>
              <a:rPr lang="en-US" sz="1100" i="1" dirty="0">
                <a:solidFill>
                  <a:srgbClr val="6B7280"/>
                </a:solidFill>
                <a:latin typeface="Calibri" pitchFamily="34" charset="0"/>
                <a:ea typeface="Calibri" pitchFamily="34" charset="-122"/>
                <a:cs typeface="Calibri" pitchFamily="34" charset="-120"/>
              </a:rPr>
              <a:t>A tally on the wall that only goes up.</a:t>
            </a:r>
            <a:endParaRPr lang="en-US" sz="1100" dirty="0"/>
          </a:p>
        </p:txBody>
      </p:sp>
      <p:sp>
        <p:nvSpPr>
          <p:cNvPr id="16" name="Shape 14"/>
          <p:cNvSpPr/>
          <p:nvPr/>
        </p:nvSpPr>
        <p:spPr>
          <a:xfrm>
            <a:off x="6035040" y="1325880"/>
            <a:ext cx="2606040" cy="2377440"/>
          </a:xfrm>
          <a:prstGeom prst="roundRect">
            <a:avLst>
              <a:gd name="adj" fmla="val 3077"/>
            </a:avLst>
          </a:prstGeom>
          <a:solidFill>
            <a:srgbClr val="ECFDF5"/>
          </a:solidFill>
          <a:ln w="12700">
            <a:solidFill>
              <a:srgbClr val="ECFDF5"/>
            </a:solidFill>
            <a:prstDash val="solid"/>
          </a:ln>
        </p:spPr>
      </p:sp>
      <p:sp>
        <p:nvSpPr>
          <p:cNvPr id="17" name="Text 15"/>
          <p:cNvSpPr txBox="1"/>
          <p:nvPr/>
        </p:nvSpPr>
        <p:spPr>
          <a:xfrm>
            <a:off x="6263640" y="1463040"/>
            <a:ext cx="457200" cy="411480"/>
          </a:xfrm>
          <a:prstGeom prst="rect">
            <a:avLst/>
          </a:prstGeom>
          <a:noFill/>
          <a:ln/>
        </p:spPr>
        <p:txBody>
          <a:bodyPr wrap="square" lIns="0" tIns="0" rIns="0" bIns="0" rtlCol="0" anchor="t"/>
          <a:lstStyle/>
          <a:p>
            <a:pPr indent="0" marL="0">
              <a:buNone/>
            </a:pPr>
            <a:r>
              <a:rPr lang="en-US" sz="2400" b="1" dirty="0">
                <a:solidFill>
                  <a:srgbClr val="047857"/>
                </a:solidFill>
                <a:latin typeface="Cambria" pitchFamily="34" charset="0"/>
                <a:ea typeface="Cambria" pitchFamily="34" charset="-122"/>
                <a:cs typeface="Cambria" pitchFamily="34" charset="-120"/>
              </a:rPr>
              <a:t>3</a:t>
            </a:r>
            <a:endParaRPr lang="en-US" sz="2400" dirty="0"/>
          </a:p>
        </p:txBody>
      </p:sp>
      <p:sp>
        <p:nvSpPr>
          <p:cNvPr id="18" name="Text 16"/>
          <p:cNvSpPr txBox="1"/>
          <p:nvPr/>
        </p:nvSpPr>
        <p:spPr>
          <a:xfrm>
            <a:off x="6263640" y="1920240"/>
            <a:ext cx="2194560" cy="320040"/>
          </a:xfrm>
          <a:prstGeom prst="rect">
            <a:avLst/>
          </a:prstGeom>
          <a:noFill/>
          <a:ln/>
        </p:spPr>
        <p:txBody>
          <a:bodyPr wrap="square" lIns="0" tIns="0" rIns="0" bIns="0" rtlCol="0" anchor="t"/>
          <a:lstStyle/>
          <a:p>
            <a:pPr indent="0" marL="0">
              <a:buNone/>
            </a:pPr>
            <a:r>
              <a:rPr lang="en-US" sz="1400" b="1" spc="100" kern="0" dirty="0">
                <a:solidFill>
                  <a:srgbClr val="111827"/>
                </a:solidFill>
                <a:latin typeface="Calibri" pitchFamily="34" charset="0"/>
                <a:ea typeface="Calibri" pitchFamily="34" charset="-122"/>
                <a:cs typeface="Calibri" pitchFamily="34" charset="-120"/>
              </a:rPr>
              <a:t>A PICTURE</a:t>
            </a:r>
            <a:endParaRPr lang="en-US" sz="1400" dirty="0"/>
          </a:p>
        </p:txBody>
      </p:sp>
      <p:sp>
        <p:nvSpPr>
          <p:cNvPr id="19" name="Text 17"/>
          <p:cNvSpPr txBox="1"/>
          <p:nvPr/>
        </p:nvSpPr>
        <p:spPr>
          <a:xfrm>
            <a:off x="6263640" y="2286000"/>
            <a:ext cx="2194560" cy="73152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A line on a screen you can look at.</a:t>
            </a:r>
            <a:endParaRPr lang="en-US" sz="1300" dirty="0"/>
          </a:p>
        </p:txBody>
      </p:sp>
      <p:sp>
        <p:nvSpPr>
          <p:cNvPr id="20" name="Text 18"/>
          <p:cNvSpPr txBox="1"/>
          <p:nvPr/>
        </p:nvSpPr>
        <p:spPr>
          <a:xfrm>
            <a:off x="6263640" y="3017520"/>
            <a:ext cx="2194560" cy="594360"/>
          </a:xfrm>
          <a:prstGeom prst="rect">
            <a:avLst/>
          </a:prstGeom>
          <a:noFill/>
          <a:ln/>
        </p:spPr>
        <p:txBody>
          <a:bodyPr wrap="square" lIns="0" tIns="0" rIns="0" bIns="0" rtlCol="0" anchor="t"/>
          <a:lstStyle/>
          <a:p>
            <a:pPr indent="0" marL="0">
              <a:buNone/>
            </a:pPr>
            <a:r>
              <a:rPr lang="en-US" sz="1100" i="1" dirty="0">
                <a:solidFill>
                  <a:srgbClr val="6B7280"/>
                </a:solidFill>
                <a:latin typeface="Calibri" pitchFamily="34" charset="0"/>
                <a:ea typeface="Calibri" pitchFamily="34" charset="-122"/>
                <a:cs typeface="Calibri" pitchFamily="34" charset="-120"/>
              </a:rPr>
              <a:t>Now a human can see it at a glance.</a:t>
            </a:r>
            <a:endParaRPr lang="en-US" sz="1100" dirty="0"/>
          </a:p>
        </p:txBody>
      </p:sp>
      <p:sp>
        <p:nvSpPr>
          <p:cNvPr id="21" name="Shape 19"/>
          <p:cNvSpPr/>
          <p:nvPr/>
        </p:nvSpPr>
        <p:spPr>
          <a:xfrm>
            <a:off x="457200" y="3886200"/>
            <a:ext cx="8229600" cy="777240"/>
          </a:xfrm>
          <a:prstGeom prst="roundRect">
            <a:avLst>
              <a:gd name="adj" fmla="val 9412"/>
            </a:avLst>
          </a:prstGeom>
          <a:solidFill>
            <a:srgbClr val="111827"/>
          </a:solidFill>
          <a:ln w="12700">
            <a:solidFill>
              <a:srgbClr val="111827"/>
            </a:solidFill>
            <a:prstDash val="solid"/>
          </a:ln>
        </p:spPr>
      </p:sp>
      <p:sp>
        <p:nvSpPr>
          <p:cNvPr id="22" name="Text 20"/>
          <p:cNvSpPr txBox="1"/>
          <p:nvPr/>
        </p:nvSpPr>
        <p:spPr>
          <a:xfrm>
            <a:off x="731520" y="3886200"/>
            <a:ext cx="7680960" cy="777240"/>
          </a:xfrm>
          <a:prstGeom prst="rect">
            <a:avLst/>
          </a:prstGeom>
          <a:noFill/>
          <a:ln/>
        </p:spPr>
        <p:txBody>
          <a:bodyPr wrap="square" lIns="0" tIns="0" rIns="0" bIns="0" rtlCol="0" anchor="ctr"/>
          <a:lstStyle/>
          <a:p>
            <a:pPr indent="0" marL="0">
              <a:buNone/>
            </a:pPr>
            <a:r>
              <a:rPr lang="en-US" sz="1300" b="1" dirty="0">
                <a:solidFill>
                  <a:srgbClr val="F59E0B"/>
                </a:solidFill>
                <a:latin typeface="Calibri" pitchFamily="34" charset="0"/>
                <a:ea typeface="Calibri" pitchFamily="34" charset="-122"/>
                <a:cs typeface="Calibri" pitchFamily="34" charset="-120"/>
              </a:rPr>
              <a:t>Why a tally that never resets? </a:t>
            </a:r>
            <a:pPr indent="0" marL="0">
              <a:buNone/>
            </a:pPr>
            <a:r>
              <a:rPr lang="en-US" sz="1300" dirty="0">
                <a:solidFill>
                  <a:srgbClr val="FFFFFF"/>
                </a:solidFill>
                <a:latin typeface="Calibri" pitchFamily="34" charset="0"/>
                <a:ea typeface="Calibri" pitchFamily="34" charset="-122"/>
                <a:cs typeface="Calibri" pitchFamily="34" charset="-120"/>
              </a:rPr>
              <a:t>To find what one hour cost, look at the mark now and the mark an hour ago, and subtract. Any window you like, from one number.</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05 · NUMBER TO PICTURE</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Two tools, set up today, used in module 6</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2</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21</a:t>
            </a:r>
            <a:endParaRPr lang="en-US" sz="900" dirty="0"/>
          </a:p>
        </p:txBody>
      </p:sp>
      <p:sp>
        <p:nvSpPr>
          <p:cNvPr id="6" name="Shape 4"/>
          <p:cNvSpPr/>
          <p:nvPr/>
        </p:nvSpPr>
        <p:spPr>
          <a:xfrm>
            <a:off x="457200" y="1325880"/>
            <a:ext cx="4023360" cy="1737360"/>
          </a:xfrm>
          <a:prstGeom prst="roundRect">
            <a:avLst>
              <a:gd name="adj" fmla="val 4211"/>
            </a:avLst>
          </a:prstGeom>
          <a:solidFill>
            <a:srgbClr val="F3F4F6"/>
          </a:solidFill>
          <a:ln w="12700">
            <a:solidFill>
              <a:srgbClr val="F3F4F6"/>
            </a:solidFill>
            <a:prstDash val="solid"/>
          </a:ln>
        </p:spPr>
      </p:sp>
      <p:sp>
        <p:nvSpPr>
          <p:cNvPr id="7" name="Text 5"/>
          <p:cNvSpPr txBox="1"/>
          <p:nvPr/>
        </p:nvSpPr>
        <p:spPr>
          <a:xfrm>
            <a:off x="731520" y="1508760"/>
            <a:ext cx="3474720" cy="365760"/>
          </a:xfrm>
          <a:prstGeom prst="rect">
            <a:avLst/>
          </a:prstGeom>
          <a:noFill/>
          <a:ln/>
        </p:spPr>
        <p:txBody>
          <a:bodyPr wrap="square" lIns="0" tIns="0" rIns="0" bIns="0" rtlCol="0" anchor="t"/>
          <a:lstStyle/>
          <a:p>
            <a:pPr indent="0" marL="0">
              <a:buNone/>
            </a:pPr>
            <a:r>
              <a:rPr lang="en-US" sz="1800" b="1" dirty="0">
                <a:solidFill>
                  <a:srgbClr val="B45309"/>
                </a:solidFill>
                <a:latin typeface="Calibri" pitchFamily="34" charset="0"/>
                <a:ea typeface="Calibri" pitchFamily="34" charset="-122"/>
                <a:cs typeface="Calibri" pitchFamily="34" charset="-120"/>
              </a:rPr>
              <a:t>Prometheus</a:t>
            </a:r>
            <a:endParaRPr lang="en-US" sz="1800" dirty="0"/>
          </a:p>
        </p:txBody>
      </p:sp>
      <p:sp>
        <p:nvSpPr>
          <p:cNvPr id="8" name="Text 6"/>
          <p:cNvSpPr txBox="1"/>
          <p:nvPr/>
        </p:nvSpPr>
        <p:spPr>
          <a:xfrm>
            <a:off x="731520" y="1920240"/>
            <a:ext cx="3520440" cy="1005840"/>
          </a:xfrm>
          <a:prstGeom prst="rect">
            <a:avLst/>
          </a:prstGeom>
          <a:noFill/>
          <a:ln/>
        </p:spPr>
        <p:txBody>
          <a:bodyPr wrap="square" lIns="0" tIns="0" rIns="0" bIns="0" rtlCol="0" anchor="t"/>
          <a:lstStyle/>
          <a:p>
            <a:pPr indent="0" marL="0">
              <a:buNone/>
            </a:pPr>
            <a:r>
              <a:rPr lang="en-US" sz="1250" dirty="0">
                <a:solidFill>
                  <a:srgbClr val="6B7280"/>
                </a:solidFill>
                <a:latin typeface="Calibri" pitchFamily="34" charset="0"/>
                <a:ea typeface="Calibri" pitchFamily="34" charset="-122"/>
                <a:cs typeface="Calibri" pitchFamily="34" charset="-120"/>
              </a:rPr>
              <a:t>Remembers numbers over time. It periodically reads the tallies your program keeps and stores them with a timestamp. The industry standard.</a:t>
            </a:r>
            <a:endParaRPr lang="en-US" sz="1250" dirty="0"/>
          </a:p>
        </p:txBody>
      </p:sp>
      <p:sp>
        <p:nvSpPr>
          <p:cNvPr id="9" name="Shape 7"/>
          <p:cNvSpPr/>
          <p:nvPr/>
        </p:nvSpPr>
        <p:spPr>
          <a:xfrm>
            <a:off x="4663440" y="1325880"/>
            <a:ext cx="4023360" cy="1737360"/>
          </a:xfrm>
          <a:prstGeom prst="roundRect">
            <a:avLst>
              <a:gd name="adj" fmla="val 4211"/>
            </a:avLst>
          </a:prstGeom>
          <a:solidFill>
            <a:srgbClr val="F3F4F6"/>
          </a:solidFill>
          <a:ln w="12700">
            <a:solidFill>
              <a:srgbClr val="F3F4F6"/>
            </a:solidFill>
            <a:prstDash val="solid"/>
          </a:ln>
        </p:spPr>
      </p:sp>
      <p:sp>
        <p:nvSpPr>
          <p:cNvPr id="10" name="Text 8"/>
          <p:cNvSpPr txBox="1"/>
          <p:nvPr/>
        </p:nvSpPr>
        <p:spPr>
          <a:xfrm>
            <a:off x="4937760" y="1508760"/>
            <a:ext cx="3474720" cy="365760"/>
          </a:xfrm>
          <a:prstGeom prst="rect">
            <a:avLst/>
          </a:prstGeom>
          <a:noFill/>
          <a:ln/>
        </p:spPr>
        <p:txBody>
          <a:bodyPr wrap="square" lIns="0" tIns="0" rIns="0" bIns="0" rtlCol="0" anchor="t"/>
          <a:lstStyle/>
          <a:p>
            <a:pPr indent="0" marL="0">
              <a:buNone/>
            </a:pPr>
            <a:r>
              <a:rPr lang="en-US" sz="1800" b="1" dirty="0">
                <a:solidFill>
                  <a:srgbClr val="1D4ED8"/>
                </a:solidFill>
                <a:latin typeface="Calibri" pitchFamily="34" charset="0"/>
                <a:ea typeface="Calibri" pitchFamily="34" charset="-122"/>
                <a:cs typeface="Calibri" pitchFamily="34" charset="-120"/>
              </a:rPr>
              <a:t>Grafana</a:t>
            </a:r>
            <a:endParaRPr lang="en-US" sz="1800" dirty="0"/>
          </a:p>
        </p:txBody>
      </p:sp>
      <p:sp>
        <p:nvSpPr>
          <p:cNvPr id="11" name="Text 9"/>
          <p:cNvSpPr txBox="1"/>
          <p:nvPr/>
        </p:nvSpPr>
        <p:spPr>
          <a:xfrm>
            <a:off x="4937760" y="1920240"/>
            <a:ext cx="3520440" cy="1005840"/>
          </a:xfrm>
          <a:prstGeom prst="rect">
            <a:avLst/>
          </a:prstGeom>
          <a:noFill/>
          <a:ln/>
        </p:spPr>
        <p:txBody>
          <a:bodyPr wrap="square" lIns="0" tIns="0" rIns="0" bIns="0" rtlCol="0" anchor="t"/>
          <a:lstStyle/>
          <a:p>
            <a:pPr indent="0" marL="0">
              <a:buNone/>
            </a:pPr>
            <a:r>
              <a:rPr lang="en-US" sz="1250" dirty="0">
                <a:solidFill>
                  <a:srgbClr val="6B7280"/>
                </a:solidFill>
                <a:latin typeface="Calibri" pitchFamily="34" charset="0"/>
                <a:ea typeface="Calibri" pitchFamily="34" charset="-122"/>
                <a:cs typeface="Calibri" pitchFamily="34" charset="-120"/>
              </a:rPr>
              <a:t>Asks Prometheus for numbers and draws them as lines on a screen, so a human can see at a glance.</a:t>
            </a:r>
            <a:endParaRPr lang="en-US" sz="1250" dirty="0"/>
          </a:p>
        </p:txBody>
      </p:sp>
      <p:sp>
        <p:nvSpPr>
          <p:cNvPr id="12" name="Shape 10"/>
          <p:cNvSpPr/>
          <p:nvPr/>
        </p:nvSpPr>
        <p:spPr>
          <a:xfrm>
            <a:off x="457200" y="3246120"/>
            <a:ext cx="8229600" cy="1280160"/>
          </a:xfrm>
          <a:prstGeom prst="roundRect">
            <a:avLst>
              <a:gd name="adj" fmla="val 5714"/>
            </a:avLst>
          </a:prstGeom>
          <a:solidFill>
            <a:srgbClr val="111827"/>
          </a:solidFill>
          <a:ln w="12700">
            <a:solidFill>
              <a:srgbClr val="111827"/>
            </a:solidFill>
            <a:prstDash val="solid"/>
          </a:ln>
        </p:spPr>
      </p:sp>
      <p:sp>
        <p:nvSpPr>
          <p:cNvPr id="13" name="Text 11"/>
          <p:cNvSpPr txBox="1"/>
          <p:nvPr/>
        </p:nvSpPr>
        <p:spPr>
          <a:xfrm>
            <a:off x="731520" y="3246120"/>
            <a:ext cx="7680960" cy="1280160"/>
          </a:xfrm>
          <a:prstGeom prst="rect">
            <a:avLst/>
          </a:prstGeom>
          <a:noFill/>
          <a:ln/>
        </p:spPr>
        <p:txBody>
          <a:bodyPr wrap="square" lIns="0" tIns="0" rIns="0" bIns="0" rtlCol="0" anchor="ctr"/>
          <a:lstStyle/>
          <a:p>
            <a:pPr indent="0" marL="0">
              <a:buNone/>
            </a:pPr>
            <a:r>
              <a:rPr lang="en-US" sz="1600" b="1" dirty="0">
                <a:solidFill>
                  <a:srgbClr val="F59E0B"/>
                </a:solidFill>
                <a:latin typeface="Calibri" pitchFamily="34" charset="0"/>
                <a:ea typeface="Calibri" pitchFamily="34" charset="-122"/>
                <a:cs typeface="Calibri" pitchFamily="34" charset="-120"/>
              </a:rPr>
              <a:t>At the end of this module, nothing is stopped or limited yet. </a:t>
            </a:r>
            <a:endParaRPr lang="en-US" sz="1600" dirty="0"/>
          </a:p>
          <a:p>
            <a:pPr indent="0" marL="0">
              <a:buNone/>
            </a:pPr>
            <a:r>
              <a:rPr lang="en-US" sz="1600" dirty="0">
                <a:solidFill>
                  <a:srgbClr val="FFFFFF"/>
                </a:solidFill>
                <a:latin typeface="Calibri" pitchFamily="34" charset="0"/>
                <a:ea typeface="Calibri" pitchFamily="34" charset="-122"/>
                <a:cs typeface="Calibri" pitchFamily="34" charset="-120"/>
              </a:rPr>
              <a:t>You can only see. And seeing comes first; you cannot bound what you cannot measure.</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11827"/>
        </a:solidFill>
      </p:bgPr>
    </p:bg>
    <p:spTree>
      <p:nvGrpSpPr>
        <p:cNvPr id="1" name=""/>
        <p:cNvGrpSpPr/>
        <p:nvPr/>
      </p:nvGrpSpPr>
      <p:grpSpPr>
        <a:xfrm>
          <a:off x="0" y="0"/>
          <a:ext cx="0" cy="0"/>
          <a:chOff x="0" y="0"/>
          <a:chExt cx="0" cy="0"/>
        </a:xfrm>
      </p:grpSpPr>
      <p:sp>
        <p:nvSpPr>
          <p:cNvPr id="2" name="Text 0"/>
          <p:cNvSpPr txBox="1"/>
          <p:nvPr/>
        </p:nvSpPr>
        <p:spPr>
          <a:xfrm>
            <a:off x="548640" y="1005840"/>
            <a:ext cx="2743200" cy="1280160"/>
          </a:xfrm>
          <a:prstGeom prst="rect">
            <a:avLst/>
          </a:prstGeom>
          <a:noFill/>
          <a:ln/>
        </p:spPr>
        <p:txBody>
          <a:bodyPr wrap="square" lIns="0" tIns="0" rIns="0" bIns="0" rtlCol="0" anchor="t"/>
          <a:lstStyle/>
          <a:p>
            <a:pPr indent="0" marL="0">
              <a:buNone/>
            </a:pPr>
            <a:r>
              <a:rPr lang="en-US" sz="9600" b="1" dirty="0">
                <a:solidFill>
                  <a:srgbClr val="F59E0B"/>
                </a:solidFill>
                <a:latin typeface="Cambria" pitchFamily="34" charset="0"/>
                <a:ea typeface="Cambria" pitchFamily="34" charset="-122"/>
                <a:cs typeface="Cambria" pitchFamily="34" charset="-120"/>
              </a:rPr>
              <a:t>06</a:t>
            </a:r>
            <a:endParaRPr lang="en-US" sz="9600" dirty="0"/>
          </a:p>
        </p:txBody>
      </p:sp>
      <p:sp>
        <p:nvSpPr>
          <p:cNvPr id="3" name="Text 1"/>
          <p:cNvSpPr txBox="1"/>
          <p:nvPr/>
        </p:nvSpPr>
        <p:spPr>
          <a:xfrm>
            <a:off x="548640" y="2377440"/>
            <a:ext cx="8046720" cy="91440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Build It: Write Your First Receipt</a:t>
            </a:r>
            <a:endParaRPr lang="en-US" sz="3600" dirty="0"/>
          </a:p>
        </p:txBody>
      </p:sp>
      <p:sp>
        <p:nvSpPr>
          <p:cNvPr id="4" name="Text 2"/>
          <p:cNvSpPr txBox="1"/>
          <p:nvPr/>
        </p:nvSpPr>
        <p:spPr>
          <a:xfrm>
            <a:off x="548640" y="3383280"/>
            <a:ext cx="2743200" cy="320040"/>
          </a:xfrm>
          <a:prstGeom prst="rect">
            <a:avLst/>
          </a:prstGeom>
          <a:noFill/>
          <a:ln/>
        </p:spPr>
        <p:txBody>
          <a:bodyPr wrap="square" lIns="0" tIns="0" rIns="0" bIns="0" rtlCol="0" anchor="t"/>
          <a:lstStyle/>
          <a:p>
            <a:pPr indent="0" marL="0">
              <a:buNone/>
            </a:pPr>
            <a:r>
              <a:rPr lang="en-US" sz="1400" dirty="0">
                <a:solidFill>
                  <a:srgbClr val="9CA3AF"/>
                </a:solidFill>
                <a:latin typeface="Calibri" pitchFamily="34" charset="0"/>
                <a:ea typeface="Calibri" pitchFamily="34" charset="-122"/>
                <a:cs typeface="Calibri" pitchFamily="34" charset="-120"/>
              </a:rPr>
              <a:t>~10 min</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06 · BUILD IT</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Four stages: run after every one</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2</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23</a:t>
            </a:r>
            <a:endParaRPr lang="en-US" sz="900" dirty="0"/>
          </a:p>
        </p:txBody>
      </p:sp>
      <p:sp>
        <p:nvSpPr>
          <p:cNvPr id="6" name="Shape 4"/>
          <p:cNvSpPr/>
          <p:nvPr/>
        </p:nvSpPr>
        <p:spPr>
          <a:xfrm>
            <a:off x="457200" y="1325880"/>
            <a:ext cx="4023360" cy="1280160"/>
          </a:xfrm>
          <a:prstGeom prst="roundRect">
            <a:avLst>
              <a:gd name="adj" fmla="val 5714"/>
            </a:avLst>
          </a:prstGeom>
          <a:solidFill>
            <a:srgbClr val="F3F4F6"/>
          </a:solidFill>
          <a:ln w="12700">
            <a:solidFill>
              <a:srgbClr val="F3F4F6"/>
            </a:solidFill>
            <a:prstDash val="solid"/>
          </a:ln>
        </p:spPr>
      </p:sp>
      <p:sp>
        <p:nvSpPr>
          <p:cNvPr id="7" name="Text 5"/>
          <p:cNvSpPr txBox="1"/>
          <p:nvPr/>
        </p:nvSpPr>
        <p:spPr>
          <a:xfrm>
            <a:off x="731520" y="1463040"/>
            <a:ext cx="1828800" cy="228600"/>
          </a:xfrm>
          <a:prstGeom prst="rect">
            <a:avLst/>
          </a:prstGeom>
          <a:noFill/>
          <a:ln/>
        </p:spPr>
        <p:txBody>
          <a:bodyPr wrap="square" lIns="0" tIns="0" rIns="0" bIns="0" rtlCol="0" anchor="t"/>
          <a:lstStyle/>
          <a:p>
            <a:pPr indent="0" marL="0">
              <a:buNone/>
            </a:pPr>
            <a:r>
              <a:rPr lang="en-US" sz="900" b="1" spc="200" kern="0" dirty="0">
                <a:solidFill>
                  <a:srgbClr val="B45309"/>
                </a:solidFill>
                <a:latin typeface="Calibri" pitchFamily="34" charset="0"/>
                <a:ea typeface="Calibri" pitchFamily="34" charset="-122"/>
                <a:cs typeface="Calibri" pitchFamily="34" charset="-120"/>
              </a:rPr>
              <a:t>STAGE 1</a:t>
            </a:r>
            <a:endParaRPr lang="en-US" sz="900" dirty="0"/>
          </a:p>
        </p:txBody>
      </p:sp>
      <p:sp>
        <p:nvSpPr>
          <p:cNvPr id="8" name="Text 6"/>
          <p:cNvSpPr txBox="1"/>
          <p:nvPr/>
        </p:nvSpPr>
        <p:spPr>
          <a:xfrm>
            <a:off x="731520" y="1709928"/>
            <a:ext cx="3566160" cy="320040"/>
          </a:xfrm>
          <a:prstGeom prst="rect">
            <a:avLst/>
          </a:prstGeom>
          <a:noFill/>
          <a:ln/>
        </p:spPr>
        <p:txBody>
          <a:bodyPr wrap="square" lIns="0" tIns="0" rIns="0" bIns="0" rtlCol="0" anchor="t"/>
          <a:lstStyle/>
          <a:p>
            <a:pPr indent="0" marL="0">
              <a:buNone/>
            </a:pPr>
            <a:r>
              <a:rPr lang="en-US" sz="1600" b="1" dirty="0">
                <a:solidFill>
                  <a:srgbClr val="111827"/>
                </a:solidFill>
                <a:latin typeface="Calibri" pitchFamily="34" charset="0"/>
                <a:ea typeface="Calibri" pitchFamily="34" charset="-122"/>
                <a:cs typeface="Calibri" pitchFamily="34" charset="-120"/>
              </a:rPr>
              <a:t>Catch the receipt</a:t>
            </a:r>
            <a:endParaRPr lang="en-US" sz="1600" dirty="0"/>
          </a:p>
        </p:txBody>
      </p:sp>
      <p:sp>
        <p:nvSpPr>
          <p:cNvPr id="9" name="Text 7"/>
          <p:cNvSpPr txBox="1"/>
          <p:nvPr/>
        </p:nvSpPr>
        <p:spPr>
          <a:xfrm>
            <a:off x="731520" y="2057400"/>
            <a:ext cx="3566160" cy="45720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Wrap the model call. Read the two token counts and print them.</a:t>
            </a:r>
            <a:endParaRPr lang="en-US" sz="1200" dirty="0"/>
          </a:p>
        </p:txBody>
      </p:sp>
      <p:sp>
        <p:nvSpPr>
          <p:cNvPr id="10" name="Shape 8"/>
          <p:cNvSpPr/>
          <p:nvPr/>
        </p:nvSpPr>
        <p:spPr>
          <a:xfrm>
            <a:off x="4663440" y="1325880"/>
            <a:ext cx="4023360" cy="1280160"/>
          </a:xfrm>
          <a:prstGeom prst="roundRect">
            <a:avLst>
              <a:gd name="adj" fmla="val 5714"/>
            </a:avLst>
          </a:prstGeom>
          <a:solidFill>
            <a:srgbClr val="F3F4F6"/>
          </a:solidFill>
          <a:ln w="12700">
            <a:solidFill>
              <a:srgbClr val="F3F4F6"/>
            </a:solidFill>
            <a:prstDash val="solid"/>
          </a:ln>
        </p:spPr>
      </p:sp>
      <p:sp>
        <p:nvSpPr>
          <p:cNvPr id="11" name="Text 9"/>
          <p:cNvSpPr txBox="1"/>
          <p:nvPr/>
        </p:nvSpPr>
        <p:spPr>
          <a:xfrm>
            <a:off x="4937760" y="1463040"/>
            <a:ext cx="1828800" cy="228600"/>
          </a:xfrm>
          <a:prstGeom prst="rect">
            <a:avLst/>
          </a:prstGeom>
          <a:noFill/>
          <a:ln/>
        </p:spPr>
        <p:txBody>
          <a:bodyPr wrap="square" lIns="0" tIns="0" rIns="0" bIns="0" rtlCol="0" anchor="t"/>
          <a:lstStyle/>
          <a:p>
            <a:pPr indent="0" marL="0">
              <a:buNone/>
            </a:pPr>
            <a:r>
              <a:rPr lang="en-US" sz="900" b="1" spc="200" kern="0" dirty="0">
                <a:solidFill>
                  <a:srgbClr val="B45309"/>
                </a:solidFill>
                <a:latin typeface="Calibri" pitchFamily="34" charset="0"/>
                <a:ea typeface="Calibri" pitchFamily="34" charset="-122"/>
                <a:cs typeface="Calibri" pitchFamily="34" charset="-120"/>
              </a:rPr>
              <a:t>STAGE 2</a:t>
            </a:r>
            <a:endParaRPr lang="en-US" sz="900" dirty="0"/>
          </a:p>
        </p:txBody>
      </p:sp>
      <p:sp>
        <p:nvSpPr>
          <p:cNvPr id="12" name="Text 10"/>
          <p:cNvSpPr txBox="1"/>
          <p:nvPr/>
        </p:nvSpPr>
        <p:spPr>
          <a:xfrm>
            <a:off x="4937760" y="1709928"/>
            <a:ext cx="3566160" cy="320040"/>
          </a:xfrm>
          <a:prstGeom prst="rect">
            <a:avLst/>
          </a:prstGeom>
          <a:noFill/>
          <a:ln/>
        </p:spPr>
        <p:txBody>
          <a:bodyPr wrap="square" lIns="0" tIns="0" rIns="0" bIns="0" rtlCol="0" anchor="t"/>
          <a:lstStyle/>
          <a:p>
            <a:pPr indent="0" marL="0">
              <a:buNone/>
            </a:pPr>
            <a:r>
              <a:rPr lang="en-US" sz="1600" b="1" dirty="0">
                <a:solidFill>
                  <a:srgbClr val="111827"/>
                </a:solidFill>
                <a:latin typeface="Calibri" pitchFamily="34" charset="0"/>
                <a:ea typeface="Calibri" pitchFamily="34" charset="-122"/>
                <a:cs typeface="Calibri" pitchFamily="34" charset="-120"/>
              </a:rPr>
              <a:t>Turn tokens into money</a:t>
            </a:r>
            <a:endParaRPr lang="en-US" sz="1600" dirty="0"/>
          </a:p>
        </p:txBody>
      </p:sp>
      <p:sp>
        <p:nvSpPr>
          <p:cNvPr id="13" name="Text 11"/>
          <p:cNvSpPr txBox="1"/>
          <p:nvPr/>
        </p:nvSpPr>
        <p:spPr>
          <a:xfrm>
            <a:off x="4937760" y="2057400"/>
            <a:ext cx="3566160" cy="45720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Add the two rates. Multiply, add, print the cost.</a:t>
            </a:r>
            <a:endParaRPr lang="en-US" sz="1200" dirty="0"/>
          </a:p>
        </p:txBody>
      </p:sp>
      <p:sp>
        <p:nvSpPr>
          <p:cNvPr id="14" name="Shape 12"/>
          <p:cNvSpPr/>
          <p:nvPr/>
        </p:nvSpPr>
        <p:spPr>
          <a:xfrm>
            <a:off x="457200" y="2788920"/>
            <a:ext cx="4023360" cy="1280160"/>
          </a:xfrm>
          <a:prstGeom prst="roundRect">
            <a:avLst>
              <a:gd name="adj" fmla="val 5714"/>
            </a:avLst>
          </a:prstGeom>
          <a:solidFill>
            <a:srgbClr val="F3F4F6"/>
          </a:solidFill>
          <a:ln w="12700">
            <a:solidFill>
              <a:srgbClr val="F3F4F6"/>
            </a:solidFill>
            <a:prstDash val="solid"/>
          </a:ln>
        </p:spPr>
      </p:sp>
      <p:sp>
        <p:nvSpPr>
          <p:cNvPr id="15" name="Text 13"/>
          <p:cNvSpPr txBox="1"/>
          <p:nvPr/>
        </p:nvSpPr>
        <p:spPr>
          <a:xfrm>
            <a:off x="731520" y="2926080"/>
            <a:ext cx="1828800" cy="228600"/>
          </a:xfrm>
          <a:prstGeom prst="rect">
            <a:avLst/>
          </a:prstGeom>
          <a:noFill/>
          <a:ln/>
        </p:spPr>
        <p:txBody>
          <a:bodyPr wrap="square" lIns="0" tIns="0" rIns="0" bIns="0" rtlCol="0" anchor="t"/>
          <a:lstStyle/>
          <a:p>
            <a:pPr indent="0" marL="0">
              <a:buNone/>
            </a:pPr>
            <a:r>
              <a:rPr lang="en-US" sz="900" b="1" spc="200" kern="0" dirty="0">
                <a:solidFill>
                  <a:srgbClr val="B45309"/>
                </a:solidFill>
                <a:latin typeface="Calibri" pitchFamily="34" charset="0"/>
                <a:ea typeface="Calibri" pitchFamily="34" charset="-122"/>
                <a:cs typeface="Calibri" pitchFamily="34" charset="-120"/>
              </a:rPr>
              <a:t>STAGE 3</a:t>
            </a:r>
            <a:endParaRPr lang="en-US" sz="900" dirty="0"/>
          </a:p>
        </p:txBody>
      </p:sp>
      <p:sp>
        <p:nvSpPr>
          <p:cNvPr id="16" name="Text 14"/>
          <p:cNvSpPr txBox="1"/>
          <p:nvPr/>
        </p:nvSpPr>
        <p:spPr>
          <a:xfrm>
            <a:off x="731520" y="3172968"/>
            <a:ext cx="3566160" cy="320040"/>
          </a:xfrm>
          <a:prstGeom prst="rect">
            <a:avLst/>
          </a:prstGeom>
          <a:noFill/>
          <a:ln/>
        </p:spPr>
        <p:txBody>
          <a:bodyPr wrap="square" lIns="0" tIns="0" rIns="0" bIns="0" rtlCol="0" anchor="t"/>
          <a:lstStyle/>
          <a:p>
            <a:pPr indent="0" marL="0">
              <a:buNone/>
            </a:pPr>
            <a:r>
              <a:rPr lang="en-US" sz="1600" b="1" dirty="0">
                <a:solidFill>
                  <a:srgbClr val="111827"/>
                </a:solidFill>
                <a:latin typeface="Calibri" pitchFamily="34" charset="0"/>
                <a:ea typeface="Calibri" pitchFamily="34" charset="-122"/>
                <a:cs typeface="Calibri" pitchFamily="34" charset="-120"/>
              </a:rPr>
              <a:t>Add the four labels</a:t>
            </a:r>
            <a:endParaRPr lang="en-US" sz="1600" dirty="0"/>
          </a:p>
        </p:txBody>
      </p:sp>
      <p:sp>
        <p:nvSpPr>
          <p:cNvPr id="17" name="Text 15"/>
          <p:cNvSpPr txBox="1"/>
          <p:nvPr/>
        </p:nvSpPr>
        <p:spPr>
          <a:xfrm>
            <a:off x="731520" y="3520440"/>
            <a:ext cx="3566160" cy="45720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agent, team, run, result. One run ID for the whole run.</a:t>
            </a:r>
            <a:endParaRPr lang="en-US" sz="1200" dirty="0"/>
          </a:p>
        </p:txBody>
      </p:sp>
      <p:sp>
        <p:nvSpPr>
          <p:cNvPr id="18" name="Shape 16"/>
          <p:cNvSpPr/>
          <p:nvPr/>
        </p:nvSpPr>
        <p:spPr>
          <a:xfrm>
            <a:off x="4663440" y="2788920"/>
            <a:ext cx="4023360" cy="1280160"/>
          </a:xfrm>
          <a:prstGeom prst="roundRect">
            <a:avLst>
              <a:gd name="adj" fmla="val 5714"/>
            </a:avLst>
          </a:prstGeom>
          <a:solidFill>
            <a:srgbClr val="F3F4F6"/>
          </a:solidFill>
          <a:ln w="12700">
            <a:solidFill>
              <a:srgbClr val="F3F4F6"/>
            </a:solidFill>
            <a:prstDash val="solid"/>
          </a:ln>
        </p:spPr>
      </p:sp>
      <p:sp>
        <p:nvSpPr>
          <p:cNvPr id="19" name="Text 17"/>
          <p:cNvSpPr txBox="1"/>
          <p:nvPr/>
        </p:nvSpPr>
        <p:spPr>
          <a:xfrm>
            <a:off x="4937760" y="2926080"/>
            <a:ext cx="1828800" cy="228600"/>
          </a:xfrm>
          <a:prstGeom prst="rect">
            <a:avLst/>
          </a:prstGeom>
          <a:noFill/>
          <a:ln/>
        </p:spPr>
        <p:txBody>
          <a:bodyPr wrap="square" lIns="0" tIns="0" rIns="0" bIns="0" rtlCol="0" anchor="t"/>
          <a:lstStyle/>
          <a:p>
            <a:pPr indent="0" marL="0">
              <a:buNone/>
            </a:pPr>
            <a:r>
              <a:rPr lang="en-US" sz="900" b="1" spc="200" kern="0" dirty="0">
                <a:solidFill>
                  <a:srgbClr val="B45309"/>
                </a:solidFill>
                <a:latin typeface="Calibri" pitchFamily="34" charset="0"/>
                <a:ea typeface="Calibri" pitchFamily="34" charset="-122"/>
                <a:cs typeface="Calibri" pitchFamily="34" charset="-120"/>
              </a:rPr>
              <a:t>STAGE 4</a:t>
            </a:r>
            <a:endParaRPr lang="en-US" sz="900" dirty="0"/>
          </a:p>
        </p:txBody>
      </p:sp>
      <p:sp>
        <p:nvSpPr>
          <p:cNvPr id="20" name="Text 18"/>
          <p:cNvSpPr txBox="1"/>
          <p:nvPr/>
        </p:nvSpPr>
        <p:spPr>
          <a:xfrm>
            <a:off x="4937760" y="3172968"/>
            <a:ext cx="3566160" cy="320040"/>
          </a:xfrm>
          <a:prstGeom prst="rect">
            <a:avLst/>
          </a:prstGeom>
          <a:noFill/>
          <a:ln/>
        </p:spPr>
        <p:txBody>
          <a:bodyPr wrap="square" lIns="0" tIns="0" rIns="0" bIns="0" rtlCol="0" anchor="t"/>
          <a:lstStyle/>
          <a:p>
            <a:pPr indent="0" marL="0">
              <a:buNone/>
            </a:pPr>
            <a:r>
              <a:rPr lang="en-US" sz="1600" b="1" dirty="0">
                <a:solidFill>
                  <a:srgbClr val="111827"/>
                </a:solidFill>
                <a:latin typeface="Calibri" pitchFamily="34" charset="0"/>
                <a:ea typeface="Calibri" pitchFamily="34" charset="-122"/>
                <a:cs typeface="Calibri" pitchFamily="34" charset="-120"/>
              </a:rPr>
              <a:t>Make the counter</a:t>
            </a:r>
            <a:endParaRPr lang="en-US" sz="1600" dirty="0"/>
          </a:p>
        </p:txBody>
      </p:sp>
      <p:sp>
        <p:nvSpPr>
          <p:cNvPr id="21" name="Text 19"/>
          <p:cNvSpPr txBox="1"/>
          <p:nvPr/>
        </p:nvSpPr>
        <p:spPr>
          <a:xfrm>
            <a:off x="4937760" y="3520440"/>
            <a:ext cx="3566160" cy="45720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Prometheus counters, plus the /metrics endpoint.</a:t>
            </a:r>
            <a:endParaRPr lang="en-US" sz="1200" dirty="0"/>
          </a:p>
        </p:txBody>
      </p:sp>
      <p:sp>
        <p:nvSpPr>
          <p:cNvPr id="22" name="Text 20"/>
          <p:cNvSpPr txBox="1"/>
          <p:nvPr/>
        </p:nvSpPr>
        <p:spPr>
          <a:xfrm>
            <a:off x="457200" y="4343400"/>
            <a:ext cx="8229600" cy="365760"/>
          </a:xfrm>
          <a:prstGeom prst="rect">
            <a:avLst/>
          </a:prstGeom>
          <a:noFill/>
          <a:ln/>
        </p:spPr>
        <p:txBody>
          <a:bodyPr wrap="square" lIns="0" tIns="0" rIns="0" bIns="0" rtlCol="0" anchor="t"/>
          <a:lstStyle/>
          <a:p>
            <a:pPr indent="0" marL="0">
              <a:buNone/>
            </a:pPr>
            <a:r>
              <a:rPr lang="en-US" sz="1300" i="1" dirty="0">
                <a:solidFill>
                  <a:srgbClr val="6B7280"/>
                </a:solidFill>
                <a:latin typeface="Calibri" pitchFamily="34" charset="0"/>
                <a:ea typeface="Calibri" pitchFamily="34" charset="-122"/>
                <a:cs typeface="Calibri" pitchFamily="34" charset="-120"/>
              </a:rPr>
              <a:t>Same agent as module one; the uninstrumented one from the course repository. Setup first: a virtual environment, then one package.</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06 · BUILD IT: SETUP, STEP 1 OF 2</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Work inside a virtual environment</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2</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24</a:t>
            </a:r>
            <a:endParaRPr lang="en-US" sz="900" dirty="0"/>
          </a:p>
        </p:txBody>
      </p:sp>
      <p:sp>
        <p:nvSpPr>
          <p:cNvPr id="6" name="Text 4"/>
          <p:cNvSpPr txBox="1"/>
          <p:nvPr/>
        </p:nvSpPr>
        <p:spPr>
          <a:xfrm>
            <a:off x="457200" y="1188720"/>
            <a:ext cx="8229600" cy="68580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A virtual environment is a private box of Python packages that belongs to this project only. Nothing you install here touches the rest of your computer, and you can throw it away and rebuild it in seconds.</a:t>
            </a:r>
            <a:endParaRPr lang="en-US" sz="1400" dirty="0"/>
          </a:p>
        </p:txBody>
      </p:sp>
      <p:sp>
        <p:nvSpPr>
          <p:cNvPr id="7" name="Shape 5"/>
          <p:cNvSpPr/>
          <p:nvPr/>
        </p:nvSpPr>
        <p:spPr>
          <a:xfrm>
            <a:off x="457200" y="1965960"/>
            <a:ext cx="4023360" cy="2057400"/>
          </a:xfrm>
          <a:prstGeom prst="roundRect">
            <a:avLst>
              <a:gd name="adj" fmla="val 3556"/>
            </a:avLst>
          </a:prstGeom>
          <a:solidFill>
            <a:srgbClr val="F3F4F6"/>
          </a:solidFill>
          <a:ln w="12700">
            <a:solidFill>
              <a:srgbClr val="F3F4F6"/>
            </a:solidFill>
            <a:prstDash val="solid"/>
          </a:ln>
        </p:spPr>
      </p:sp>
      <p:sp>
        <p:nvSpPr>
          <p:cNvPr id="8" name="Text 6"/>
          <p:cNvSpPr txBox="1"/>
          <p:nvPr/>
        </p:nvSpPr>
        <p:spPr>
          <a:xfrm>
            <a:off x="685800" y="2103120"/>
            <a:ext cx="3566160" cy="274320"/>
          </a:xfrm>
          <a:prstGeom prst="rect">
            <a:avLst/>
          </a:prstGeom>
          <a:noFill/>
          <a:ln/>
        </p:spPr>
        <p:txBody>
          <a:bodyPr wrap="square" lIns="0" tIns="0" rIns="0" bIns="0" rtlCol="0" anchor="t"/>
          <a:lstStyle/>
          <a:p>
            <a:pPr indent="0" marL="0">
              <a:buNone/>
            </a:pPr>
            <a:r>
              <a:rPr lang="en-US" sz="1200" b="1" spc="100" kern="0" dirty="0">
                <a:solidFill>
                  <a:srgbClr val="1D4ED8"/>
                </a:solidFill>
                <a:latin typeface="Calibri" pitchFamily="34" charset="0"/>
                <a:ea typeface="Calibri" pitchFamily="34" charset="-122"/>
                <a:cs typeface="Calibri" pitchFamily="34" charset="-120"/>
              </a:rPr>
              <a:t>macOS  ·  Linux</a:t>
            </a:r>
            <a:endParaRPr lang="en-US" sz="1200" dirty="0"/>
          </a:p>
        </p:txBody>
      </p:sp>
      <p:sp>
        <p:nvSpPr>
          <p:cNvPr id="9" name="Shape 7"/>
          <p:cNvSpPr/>
          <p:nvPr/>
        </p:nvSpPr>
        <p:spPr>
          <a:xfrm>
            <a:off x="685800" y="2423160"/>
            <a:ext cx="3566160" cy="1325880"/>
          </a:xfrm>
          <a:prstGeom prst="roundRect">
            <a:avLst>
              <a:gd name="adj" fmla="val 5517"/>
            </a:avLst>
          </a:prstGeom>
          <a:solidFill>
            <a:srgbClr val="0F172A"/>
          </a:solidFill>
          <a:ln w="12700">
            <a:solidFill>
              <a:srgbClr val="0F172A"/>
            </a:solidFill>
            <a:prstDash val="solid"/>
          </a:ln>
        </p:spPr>
      </p:sp>
      <p:sp>
        <p:nvSpPr>
          <p:cNvPr id="10" name="Text 8"/>
          <p:cNvSpPr txBox="1"/>
          <p:nvPr/>
        </p:nvSpPr>
        <p:spPr>
          <a:xfrm>
            <a:off x="886968" y="2587752"/>
            <a:ext cx="3200400" cy="1051560"/>
          </a:xfrm>
          <a:prstGeom prst="rect">
            <a:avLst/>
          </a:prstGeom>
          <a:noFill/>
          <a:ln/>
        </p:spPr>
        <p:txBody>
          <a:bodyPr wrap="square" lIns="0" tIns="0" rIns="0" bIns="0" rtlCol="0" anchor="t"/>
          <a:lstStyle/>
          <a:p>
            <a:pPr indent="0" marL="0">
              <a:buNone/>
            </a:pPr>
            <a:r>
              <a:rPr lang="en-US" sz="1100" dirty="0">
                <a:solidFill>
                  <a:srgbClr val="E8EAED"/>
                </a:solidFill>
                <a:latin typeface="Courier New" pitchFamily="34" charset="0"/>
                <a:ea typeface="Courier New" pitchFamily="34" charset="-122"/>
                <a:cs typeface="Courier New" pitchFamily="34" charset="-120"/>
              </a:rPr>
              <a:t>$ cd agent-cost-control</a:t>
            </a:r>
            <a:endParaRPr lang="en-US" sz="1100" dirty="0"/>
          </a:p>
          <a:p>
            <a:pPr indent="0" marL="0">
              <a:buNone/>
            </a:pPr>
            <a:r>
              <a:rPr lang="en-US" sz="1100" dirty="0">
                <a:solidFill>
                  <a:srgbClr val="E8EAED"/>
                </a:solidFill>
                <a:latin typeface="Courier New" pitchFamily="34" charset="0"/>
                <a:ea typeface="Courier New" pitchFamily="34" charset="-122"/>
                <a:cs typeface="Courier New" pitchFamily="34" charset="-120"/>
              </a:rPr>
              <a:t>$ python3 -m venv .venv</a:t>
            </a:r>
            <a:endParaRPr lang="en-US" sz="1100" dirty="0"/>
          </a:p>
          <a:p>
            <a:pPr indent="0" marL="0">
              <a:buNone/>
            </a:pPr>
            <a:r>
              <a:rPr lang="en-US" sz="1100" dirty="0">
                <a:solidFill>
                  <a:srgbClr val="E8EAED"/>
                </a:solidFill>
                <a:latin typeface="Courier New" pitchFamily="34" charset="0"/>
                <a:ea typeface="Courier New" pitchFamily="34" charset="-122"/>
                <a:cs typeface="Courier New" pitchFamily="34" charset="-120"/>
              </a:rPr>
              <a:t>$ source .venv/bin/activate</a:t>
            </a:r>
            <a:endParaRPr lang="en-US" sz="1100" dirty="0"/>
          </a:p>
        </p:txBody>
      </p:sp>
      <p:sp>
        <p:nvSpPr>
          <p:cNvPr id="11" name="Shape 9"/>
          <p:cNvSpPr/>
          <p:nvPr/>
        </p:nvSpPr>
        <p:spPr>
          <a:xfrm>
            <a:off x="4663440" y="1965960"/>
            <a:ext cx="4023360" cy="2057400"/>
          </a:xfrm>
          <a:prstGeom prst="roundRect">
            <a:avLst>
              <a:gd name="adj" fmla="val 3556"/>
            </a:avLst>
          </a:prstGeom>
          <a:solidFill>
            <a:srgbClr val="F3F4F6"/>
          </a:solidFill>
          <a:ln w="12700">
            <a:solidFill>
              <a:srgbClr val="F3F4F6"/>
            </a:solidFill>
            <a:prstDash val="solid"/>
          </a:ln>
        </p:spPr>
      </p:sp>
      <p:sp>
        <p:nvSpPr>
          <p:cNvPr id="12" name="Text 10"/>
          <p:cNvSpPr txBox="1"/>
          <p:nvPr/>
        </p:nvSpPr>
        <p:spPr>
          <a:xfrm>
            <a:off x="4892040" y="2103120"/>
            <a:ext cx="3566160" cy="274320"/>
          </a:xfrm>
          <a:prstGeom prst="rect">
            <a:avLst/>
          </a:prstGeom>
          <a:noFill/>
          <a:ln/>
        </p:spPr>
        <p:txBody>
          <a:bodyPr wrap="square" lIns="0" tIns="0" rIns="0" bIns="0" rtlCol="0" anchor="t"/>
          <a:lstStyle/>
          <a:p>
            <a:pPr indent="0" marL="0">
              <a:buNone/>
            </a:pPr>
            <a:r>
              <a:rPr lang="en-US" sz="1200" b="1" spc="100" kern="0" dirty="0">
                <a:solidFill>
                  <a:srgbClr val="6D28D9"/>
                </a:solidFill>
                <a:latin typeface="Calibri" pitchFamily="34" charset="0"/>
                <a:ea typeface="Calibri" pitchFamily="34" charset="-122"/>
                <a:cs typeface="Calibri" pitchFamily="34" charset="-120"/>
              </a:rPr>
              <a:t>WINDOWS  ·  POWERSHELL</a:t>
            </a:r>
            <a:endParaRPr lang="en-US" sz="1200" dirty="0"/>
          </a:p>
        </p:txBody>
      </p:sp>
      <p:sp>
        <p:nvSpPr>
          <p:cNvPr id="13" name="Shape 11"/>
          <p:cNvSpPr/>
          <p:nvPr/>
        </p:nvSpPr>
        <p:spPr>
          <a:xfrm>
            <a:off x="4892040" y="2423160"/>
            <a:ext cx="3566160" cy="1325880"/>
          </a:xfrm>
          <a:prstGeom prst="roundRect">
            <a:avLst>
              <a:gd name="adj" fmla="val 5517"/>
            </a:avLst>
          </a:prstGeom>
          <a:solidFill>
            <a:srgbClr val="0F172A"/>
          </a:solidFill>
          <a:ln w="12700">
            <a:solidFill>
              <a:srgbClr val="0F172A"/>
            </a:solidFill>
            <a:prstDash val="solid"/>
          </a:ln>
        </p:spPr>
      </p:sp>
      <p:sp>
        <p:nvSpPr>
          <p:cNvPr id="14" name="Text 12"/>
          <p:cNvSpPr txBox="1"/>
          <p:nvPr/>
        </p:nvSpPr>
        <p:spPr>
          <a:xfrm>
            <a:off x="5093208" y="2587752"/>
            <a:ext cx="3200400" cy="1051560"/>
          </a:xfrm>
          <a:prstGeom prst="rect">
            <a:avLst/>
          </a:prstGeom>
          <a:noFill/>
          <a:ln/>
        </p:spPr>
        <p:txBody>
          <a:bodyPr wrap="square" lIns="0" tIns="0" rIns="0" bIns="0" rtlCol="0" anchor="t"/>
          <a:lstStyle/>
          <a:p>
            <a:pPr indent="0" marL="0">
              <a:buNone/>
            </a:pPr>
            <a:r>
              <a:rPr lang="en-US" sz="1100" dirty="0">
                <a:solidFill>
                  <a:srgbClr val="E8EAED"/>
                </a:solidFill>
                <a:latin typeface="Courier New" pitchFamily="34" charset="0"/>
                <a:ea typeface="Courier New" pitchFamily="34" charset="-122"/>
                <a:cs typeface="Courier New" pitchFamily="34" charset="-120"/>
              </a:rPr>
              <a:t>&gt; cd agent-cost-control</a:t>
            </a:r>
            <a:endParaRPr lang="en-US" sz="1100" dirty="0"/>
          </a:p>
          <a:p>
            <a:pPr indent="0" marL="0">
              <a:buNone/>
            </a:pPr>
            <a:r>
              <a:rPr lang="en-US" sz="1100" dirty="0">
                <a:solidFill>
                  <a:srgbClr val="E8EAED"/>
                </a:solidFill>
                <a:latin typeface="Courier New" pitchFamily="34" charset="0"/>
                <a:ea typeface="Courier New" pitchFamily="34" charset="-122"/>
                <a:cs typeface="Courier New" pitchFamily="34" charset="-120"/>
              </a:rPr>
              <a:t>&gt; py -m venv .venv</a:t>
            </a:r>
            <a:endParaRPr lang="en-US" sz="1100" dirty="0"/>
          </a:p>
          <a:p>
            <a:pPr indent="0" marL="0">
              <a:buNone/>
            </a:pPr>
            <a:r>
              <a:rPr lang="en-US" sz="1100" dirty="0">
                <a:solidFill>
                  <a:srgbClr val="E8EAED"/>
                </a:solidFill>
                <a:latin typeface="Courier New" pitchFamily="34" charset="0"/>
                <a:ea typeface="Courier New" pitchFamily="34" charset="-122"/>
                <a:cs typeface="Courier New" pitchFamily="34" charset="-120"/>
              </a:rPr>
              <a:t>&gt; .venv\Scripts\Activate.ps1</a:t>
            </a:r>
            <a:endParaRPr lang="en-US" sz="1100" dirty="0"/>
          </a:p>
        </p:txBody>
      </p:sp>
      <p:sp>
        <p:nvSpPr>
          <p:cNvPr id="15" name="Shape 13"/>
          <p:cNvSpPr/>
          <p:nvPr/>
        </p:nvSpPr>
        <p:spPr>
          <a:xfrm>
            <a:off x="457200" y="4114800"/>
            <a:ext cx="8229600" cy="548640"/>
          </a:xfrm>
          <a:prstGeom prst="roundRect">
            <a:avLst>
              <a:gd name="adj" fmla="val 13333"/>
            </a:avLst>
          </a:prstGeom>
          <a:solidFill>
            <a:srgbClr val="ECFDF5"/>
          </a:solidFill>
          <a:ln w="12700">
            <a:solidFill>
              <a:srgbClr val="ECFDF5"/>
            </a:solidFill>
            <a:prstDash val="solid"/>
          </a:ln>
        </p:spPr>
      </p:sp>
      <p:sp>
        <p:nvSpPr>
          <p:cNvPr id="16" name="Text 14"/>
          <p:cNvSpPr txBox="1"/>
          <p:nvPr/>
        </p:nvSpPr>
        <p:spPr>
          <a:xfrm>
            <a:off x="731520" y="4114800"/>
            <a:ext cx="7680960" cy="548640"/>
          </a:xfrm>
          <a:prstGeom prst="rect">
            <a:avLst/>
          </a:prstGeom>
          <a:noFill/>
          <a:ln/>
        </p:spPr>
        <p:txBody>
          <a:bodyPr wrap="square" lIns="0" tIns="0" rIns="0" bIns="0" rtlCol="0" anchor="ctr"/>
          <a:lstStyle/>
          <a:p>
            <a:pPr indent="0" marL="0">
              <a:buNone/>
            </a:pPr>
            <a:r>
              <a:rPr lang="en-US" sz="1300" b="1" dirty="0">
                <a:solidFill>
                  <a:srgbClr val="047857"/>
                </a:solidFill>
                <a:latin typeface="Calibri" pitchFamily="34" charset="0"/>
                <a:ea typeface="Calibri" pitchFamily="34" charset="-122"/>
                <a:cs typeface="Calibri" pitchFamily="34" charset="-120"/>
              </a:rPr>
              <a:t>Your prompt now starts with (.venv). That is how you know you are inside the box.</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06 · BUILD IT: SETUP, STEP 2 OF 2</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Install the library that keeps the tallies</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2</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25</a:t>
            </a:r>
            <a:endParaRPr lang="en-US" sz="900" dirty="0"/>
          </a:p>
        </p:txBody>
      </p:sp>
      <p:sp>
        <p:nvSpPr>
          <p:cNvPr id="6" name="Shape 4"/>
          <p:cNvSpPr/>
          <p:nvPr/>
        </p:nvSpPr>
        <p:spPr>
          <a:xfrm>
            <a:off x="365760" y="1234440"/>
            <a:ext cx="8412480" cy="868680"/>
          </a:xfrm>
          <a:prstGeom prst="roundRect">
            <a:avLst>
              <a:gd name="adj" fmla="val 8421"/>
            </a:avLst>
          </a:prstGeom>
          <a:solidFill>
            <a:srgbClr val="0F172A"/>
          </a:solidFill>
          <a:ln w="12700">
            <a:solidFill>
              <a:srgbClr val="0F172A"/>
            </a:solidFill>
            <a:prstDash val="solid"/>
          </a:ln>
        </p:spPr>
      </p:sp>
      <p:sp>
        <p:nvSpPr>
          <p:cNvPr id="7" name="Text 5"/>
          <p:cNvSpPr txBox="1"/>
          <p:nvPr/>
        </p:nvSpPr>
        <p:spPr>
          <a:xfrm>
            <a:off x="594360" y="1234440"/>
            <a:ext cx="8092440" cy="868680"/>
          </a:xfrm>
          <a:prstGeom prst="rect">
            <a:avLst/>
          </a:prstGeom>
          <a:noFill/>
          <a:ln/>
        </p:spPr>
        <p:txBody>
          <a:bodyPr wrap="square" lIns="0" tIns="0" rIns="0" bIns="0" rtlCol="0" anchor="ctr"/>
          <a:lstStyle/>
          <a:p>
            <a:pPr indent="0" marL="0">
              <a:buNone/>
            </a:pPr>
            <a:r>
              <a:rPr lang="en-US" sz="1600" b="1" dirty="0">
                <a:solidFill>
                  <a:srgbClr val="F59E0B"/>
                </a:solidFill>
                <a:latin typeface="Courier New" pitchFamily="34" charset="0"/>
                <a:ea typeface="Courier New" pitchFamily="34" charset="-122"/>
                <a:cs typeface="Courier New" pitchFamily="34" charset="-120"/>
              </a:rPr>
              <a:t>$ </a:t>
            </a:r>
            <a:pPr indent="0" marL="0">
              <a:buNone/>
            </a:pPr>
            <a:r>
              <a:rPr lang="en-US" sz="1600" dirty="0">
                <a:solidFill>
                  <a:srgbClr val="E8EAED"/>
                </a:solidFill>
                <a:latin typeface="Courier New" pitchFamily="34" charset="0"/>
                <a:ea typeface="Courier New" pitchFamily="34" charset="-122"/>
                <a:cs typeface="Courier New" pitchFamily="34" charset="-120"/>
              </a:rPr>
              <a:t>pip install prometheus-client</a:t>
            </a:r>
            <a:endParaRPr lang="en-US" sz="1600" dirty="0"/>
          </a:p>
        </p:txBody>
      </p:sp>
      <p:sp>
        <p:nvSpPr>
          <p:cNvPr id="8" name="Shape 6"/>
          <p:cNvSpPr/>
          <p:nvPr/>
        </p:nvSpPr>
        <p:spPr>
          <a:xfrm>
            <a:off x="457200" y="2286000"/>
            <a:ext cx="4023360" cy="1371600"/>
          </a:xfrm>
          <a:prstGeom prst="roundRect">
            <a:avLst>
              <a:gd name="adj" fmla="val 5333"/>
            </a:avLst>
          </a:prstGeom>
          <a:solidFill>
            <a:srgbClr val="F3F4F6"/>
          </a:solidFill>
          <a:ln w="12700">
            <a:solidFill>
              <a:srgbClr val="F3F4F6"/>
            </a:solidFill>
            <a:prstDash val="solid"/>
          </a:ln>
        </p:spPr>
      </p:sp>
      <p:sp>
        <p:nvSpPr>
          <p:cNvPr id="9" name="Text 7"/>
          <p:cNvSpPr txBox="1"/>
          <p:nvPr/>
        </p:nvSpPr>
        <p:spPr>
          <a:xfrm>
            <a:off x="685800" y="2423160"/>
            <a:ext cx="3566160" cy="274320"/>
          </a:xfrm>
          <a:prstGeom prst="rect">
            <a:avLst/>
          </a:prstGeom>
          <a:noFill/>
          <a:ln/>
        </p:spPr>
        <p:txBody>
          <a:bodyPr wrap="square" lIns="0" tIns="0" rIns="0" bIns="0" rtlCol="0" anchor="t"/>
          <a:lstStyle/>
          <a:p>
            <a:pPr indent="0" marL="0">
              <a:buNone/>
            </a:pPr>
            <a:r>
              <a:rPr lang="en-US" sz="1300" b="1" dirty="0">
                <a:solidFill>
                  <a:srgbClr val="111827"/>
                </a:solidFill>
                <a:latin typeface="Calibri" pitchFamily="34" charset="0"/>
                <a:ea typeface="Calibri" pitchFamily="34" charset="-122"/>
                <a:cs typeface="Calibri" pitchFamily="34" charset="-120"/>
              </a:rPr>
              <a:t>Check you are in the right place</a:t>
            </a:r>
            <a:endParaRPr lang="en-US" sz="1300" dirty="0"/>
          </a:p>
        </p:txBody>
      </p:sp>
      <p:sp>
        <p:nvSpPr>
          <p:cNvPr id="10" name="Shape 8"/>
          <p:cNvSpPr/>
          <p:nvPr/>
        </p:nvSpPr>
        <p:spPr>
          <a:xfrm>
            <a:off x="685800" y="2743200"/>
            <a:ext cx="3566160" cy="777240"/>
          </a:xfrm>
          <a:prstGeom prst="roundRect">
            <a:avLst>
              <a:gd name="adj" fmla="val 9412"/>
            </a:avLst>
          </a:prstGeom>
          <a:solidFill>
            <a:srgbClr val="0F172A"/>
          </a:solidFill>
          <a:ln w="12700">
            <a:solidFill>
              <a:srgbClr val="0F172A"/>
            </a:solidFill>
            <a:prstDash val="solid"/>
          </a:ln>
        </p:spPr>
      </p:sp>
      <p:sp>
        <p:nvSpPr>
          <p:cNvPr id="11" name="Text 9"/>
          <p:cNvSpPr txBox="1"/>
          <p:nvPr/>
        </p:nvSpPr>
        <p:spPr>
          <a:xfrm>
            <a:off x="886968" y="2907792"/>
            <a:ext cx="3200400" cy="502920"/>
          </a:xfrm>
          <a:prstGeom prst="rect">
            <a:avLst/>
          </a:prstGeom>
          <a:noFill/>
          <a:ln/>
        </p:spPr>
        <p:txBody>
          <a:bodyPr wrap="square" lIns="0" tIns="0" rIns="0" bIns="0" rtlCol="0" anchor="t"/>
          <a:lstStyle/>
          <a:p>
            <a:pPr indent="0" marL="0">
              <a:buNone/>
            </a:pPr>
            <a:r>
              <a:rPr lang="en-US" sz="1100" dirty="0">
                <a:solidFill>
                  <a:srgbClr val="9CA3AF"/>
                </a:solidFill>
                <a:latin typeface="Courier New" pitchFamily="34" charset="0"/>
                <a:ea typeface="Courier New" pitchFamily="34" charset="-122"/>
                <a:cs typeface="Courier New" pitchFamily="34" charset="-120"/>
              </a:rPr>
              <a:t>$ which python   </a:t>
            </a:r>
            <a:endParaRPr lang="en-US" sz="1100" dirty="0"/>
          </a:p>
          <a:p>
            <a:pPr indent="0" marL="0">
              <a:buNone/>
            </a:pPr>
            <a:r>
              <a:rPr lang="en-US" sz="1100" dirty="0">
                <a:solidFill>
                  <a:srgbClr val="9CA3AF"/>
                </a:solidFill>
                <a:latin typeface="Courier New" pitchFamily="34" charset="0"/>
                <a:ea typeface="Courier New" pitchFamily="34" charset="-122"/>
                <a:cs typeface="Courier New" pitchFamily="34" charset="-120"/>
              </a:rPr>
              <a:t>&gt; where python</a:t>
            </a:r>
            <a:endParaRPr lang="en-US" sz="1100" dirty="0"/>
          </a:p>
        </p:txBody>
      </p:sp>
      <p:sp>
        <p:nvSpPr>
          <p:cNvPr id="12" name="Shape 10"/>
          <p:cNvSpPr/>
          <p:nvPr/>
        </p:nvSpPr>
        <p:spPr>
          <a:xfrm>
            <a:off x="4663440" y="2286000"/>
            <a:ext cx="4023360" cy="1371600"/>
          </a:xfrm>
          <a:prstGeom prst="roundRect">
            <a:avLst>
              <a:gd name="adj" fmla="val 5333"/>
            </a:avLst>
          </a:prstGeom>
          <a:solidFill>
            <a:srgbClr val="F3F4F6"/>
          </a:solidFill>
          <a:ln w="12700">
            <a:solidFill>
              <a:srgbClr val="F3F4F6"/>
            </a:solidFill>
            <a:prstDash val="solid"/>
          </a:ln>
        </p:spPr>
      </p:sp>
      <p:sp>
        <p:nvSpPr>
          <p:cNvPr id="13" name="Text 11"/>
          <p:cNvSpPr txBox="1"/>
          <p:nvPr/>
        </p:nvSpPr>
        <p:spPr>
          <a:xfrm>
            <a:off x="4892040" y="2423160"/>
            <a:ext cx="3566160" cy="274320"/>
          </a:xfrm>
          <a:prstGeom prst="rect">
            <a:avLst/>
          </a:prstGeom>
          <a:noFill/>
          <a:ln/>
        </p:spPr>
        <p:txBody>
          <a:bodyPr wrap="square" lIns="0" tIns="0" rIns="0" bIns="0" rtlCol="0" anchor="t"/>
          <a:lstStyle/>
          <a:p>
            <a:pPr indent="0" marL="0">
              <a:buNone/>
            </a:pPr>
            <a:r>
              <a:rPr lang="en-US" sz="1300" b="1" dirty="0">
                <a:solidFill>
                  <a:srgbClr val="111827"/>
                </a:solidFill>
                <a:latin typeface="Calibri" pitchFamily="34" charset="0"/>
                <a:ea typeface="Calibri" pitchFamily="34" charset="-122"/>
                <a:cs typeface="Calibri" pitchFamily="34" charset="-120"/>
              </a:rPr>
              <a:t>When you are finished for the day</a:t>
            </a:r>
            <a:endParaRPr lang="en-US" sz="1300" dirty="0"/>
          </a:p>
        </p:txBody>
      </p:sp>
      <p:sp>
        <p:nvSpPr>
          <p:cNvPr id="14" name="Shape 12"/>
          <p:cNvSpPr/>
          <p:nvPr/>
        </p:nvSpPr>
        <p:spPr>
          <a:xfrm>
            <a:off x="4892040" y="2743200"/>
            <a:ext cx="3566160" cy="777240"/>
          </a:xfrm>
          <a:prstGeom prst="roundRect">
            <a:avLst>
              <a:gd name="adj" fmla="val 9412"/>
            </a:avLst>
          </a:prstGeom>
          <a:solidFill>
            <a:srgbClr val="0F172A"/>
          </a:solidFill>
          <a:ln w="12700">
            <a:solidFill>
              <a:srgbClr val="0F172A"/>
            </a:solidFill>
            <a:prstDash val="solid"/>
          </a:ln>
        </p:spPr>
      </p:sp>
      <p:sp>
        <p:nvSpPr>
          <p:cNvPr id="15" name="Text 13"/>
          <p:cNvSpPr txBox="1"/>
          <p:nvPr/>
        </p:nvSpPr>
        <p:spPr>
          <a:xfrm>
            <a:off x="5093208" y="2907792"/>
            <a:ext cx="3200400" cy="502920"/>
          </a:xfrm>
          <a:prstGeom prst="rect">
            <a:avLst/>
          </a:prstGeom>
          <a:noFill/>
          <a:ln/>
        </p:spPr>
        <p:txBody>
          <a:bodyPr wrap="square" lIns="0" tIns="0" rIns="0" bIns="0" rtlCol="0" anchor="t"/>
          <a:lstStyle/>
          <a:p>
            <a:pPr indent="0" marL="0">
              <a:buNone/>
            </a:pPr>
            <a:r>
              <a:rPr lang="en-US" sz="1100" dirty="0">
                <a:solidFill>
                  <a:srgbClr val="E8EAED"/>
                </a:solidFill>
                <a:latin typeface="Courier New" pitchFamily="34" charset="0"/>
                <a:ea typeface="Courier New" pitchFamily="34" charset="-122"/>
                <a:cs typeface="Courier New" pitchFamily="34" charset="-120"/>
              </a:rPr>
              <a:t>$ deactivate</a:t>
            </a:r>
            <a:endParaRPr lang="en-US" sz="1100" dirty="0"/>
          </a:p>
          <a:p>
            <a:pPr indent="0" marL="0">
              <a:buNone/>
            </a:pPr>
            <a:r>
              <a:rPr lang="en-US" sz="1100" dirty="0">
                <a:solidFill>
                  <a:srgbClr val="E8EAED"/>
                </a:solidFill>
                <a:latin typeface="Courier New" pitchFamily="34" charset="0"/>
                <a:ea typeface="Courier New" pitchFamily="34" charset="-122"/>
                <a:cs typeface="Courier New" pitchFamily="34" charset="-120"/>
              </a:rPr>
              <a:t> </a:t>
            </a:r>
            <a:endParaRPr lang="en-US" sz="1100" dirty="0"/>
          </a:p>
        </p:txBody>
      </p:sp>
      <p:sp>
        <p:nvSpPr>
          <p:cNvPr id="16" name="Shape 14"/>
          <p:cNvSpPr/>
          <p:nvPr/>
        </p:nvSpPr>
        <p:spPr>
          <a:xfrm>
            <a:off x="457200" y="3794760"/>
            <a:ext cx="8229600" cy="777240"/>
          </a:xfrm>
          <a:prstGeom prst="roundRect">
            <a:avLst>
              <a:gd name="adj" fmla="val 9412"/>
            </a:avLst>
          </a:prstGeom>
          <a:solidFill>
            <a:srgbClr val="FEF3C7"/>
          </a:solidFill>
          <a:ln w="12700">
            <a:solidFill>
              <a:srgbClr val="FEF3C7"/>
            </a:solidFill>
            <a:prstDash val="solid"/>
          </a:ln>
        </p:spPr>
      </p:sp>
      <p:sp>
        <p:nvSpPr>
          <p:cNvPr id="17" name="Text 15"/>
          <p:cNvSpPr txBox="1"/>
          <p:nvPr/>
        </p:nvSpPr>
        <p:spPr>
          <a:xfrm>
            <a:off x="731520" y="3794760"/>
            <a:ext cx="7680960" cy="77724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One package, and it is the standard one. It lands inside .venv, not on your system Python; that is the whole point of the box.</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06 · BUILD IT: STAGE 1 OF 4</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Catch the receipt</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2</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26</a:t>
            </a:r>
            <a:endParaRPr lang="en-US" sz="900" dirty="0"/>
          </a:p>
        </p:txBody>
      </p:sp>
      <p:sp>
        <p:nvSpPr>
          <p:cNvPr id="6" name="Text 4"/>
          <p:cNvSpPr txBox="1"/>
          <p:nvPr/>
        </p:nvSpPr>
        <p:spPr>
          <a:xfrm>
            <a:off x="457200" y="1188720"/>
            <a:ext cx="8229600" cy="73152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Find where the agent calls the model. Don't edit it; write a new function around it. Inside, call the model exactly as before, read the two token counts out of the response's usage block, and print them.</a:t>
            </a:r>
            <a:endParaRPr lang="en-US" sz="1400" dirty="0"/>
          </a:p>
        </p:txBody>
      </p:sp>
      <p:sp>
        <p:nvSpPr>
          <p:cNvPr id="7" name="Shape 5"/>
          <p:cNvSpPr/>
          <p:nvPr/>
        </p:nvSpPr>
        <p:spPr>
          <a:xfrm>
            <a:off x="365760" y="2057400"/>
            <a:ext cx="8412480" cy="868680"/>
          </a:xfrm>
          <a:prstGeom prst="roundRect">
            <a:avLst>
              <a:gd name="adj" fmla="val 8421"/>
            </a:avLst>
          </a:prstGeom>
          <a:solidFill>
            <a:srgbClr val="0F172A"/>
          </a:solidFill>
          <a:ln w="12700">
            <a:solidFill>
              <a:srgbClr val="0F172A"/>
            </a:solidFill>
            <a:prstDash val="solid"/>
          </a:ln>
        </p:spPr>
      </p:sp>
      <p:sp>
        <p:nvSpPr>
          <p:cNvPr id="8" name="Text 6"/>
          <p:cNvSpPr txBox="1"/>
          <p:nvPr/>
        </p:nvSpPr>
        <p:spPr>
          <a:xfrm>
            <a:off x="594360" y="2057400"/>
            <a:ext cx="8092440" cy="868680"/>
          </a:xfrm>
          <a:prstGeom prst="rect">
            <a:avLst/>
          </a:prstGeom>
          <a:noFill/>
          <a:ln/>
        </p:spPr>
        <p:txBody>
          <a:bodyPr wrap="square" lIns="0" tIns="0" rIns="0" bIns="0" rtlCol="0" anchor="ctr"/>
          <a:lstStyle/>
          <a:p>
            <a:pPr indent="0" marL="0">
              <a:buNone/>
            </a:pPr>
            <a:r>
              <a:rPr lang="en-US" sz="1600" b="1" dirty="0">
                <a:solidFill>
                  <a:srgbClr val="F59E0B"/>
                </a:solidFill>
                <a:latin typeface="Courier New" pitchFamily="34" charset="0"/>
                <a:ea typeface="Courier New" pitchFamily="34" charset="-122"/>
                <a:cs typeface="Courier New" pitchFamily="34" charset="-120"/>
              </a:rPr>
              <a:t>$ </a:t>
            </a:r>
            <a:pPr indent="0" marL="0">
              <a:buNone/>
            </a:pPr>
            <a:r>
              <a:rPr lang="en-US" sz="1600" dirty="0">
                <a:solidFill>
                  <a:srgbClr val="E8EAED"/>
                </a:solidFill>
                <a:latin typeface="Courier New" pitchFamily="34" charset="0"/>
                <a:ea typeface="Courier New" pitchFamily="34" charset="-122"/>
                <a:cs typeface="Courier New" pitchFamily="34" charset="-120"/>
              </a:rPr>
              <a:t>python3 run_agent.py --input samples/normal.json</a:t>
            </a:r>
            <a:endParaRPr lang="en-US" sz="1600" dirty="0"/>
          </a:p>
        </p:txBody>
      </p:sp>
      <p:sp>
        <p:nvSpPr>
          <p:cNvPr id="9" name="Shape 7"/>
          <p:cNvSpPr/>
          <p:nvPr/>
        </p:nvSpPr>
        <p:spPr>
          <a:xfrm>
            <a:off x="457200" y="3154680"/>
            <a:ext cx="8229600" cy="1097280"/>
          </a:xfrm>
          <a:prstGeom prst="roundRect">
            <a:avLst>
              <a:gd name="adj" fmla="val 6667"/>
            </a:avLst>
          </a:prstGeom>
          <a:solidFill>
            <a:srgbClr val="ECFDF5"/>
          </a:solidFill>
          <a:ln w="12700">
            <a:solidFill>
              <a:srgbClr val="ECFDF5"/>
            </a:solidFill>
            <a:prstDash val="solid"/>
          </a:ln>
        </p:spPr>
      </p:sp>
      <p:sp>
        <p:nvSpPr>
          <p:cNvPr id="10" name="Text 8"/>
          <p:cNvSpPr txBox="1"/>
          <p:nvPr/>
        </p:nvSpPr>
        <p:spPr>
          <a:xfrm>
            <a:off x="731520" y="3154680"/>
            <a:ext cx="7680960" cy="1097280"/>
          </a:xfrm>
          <a:prstGeom prst="rect">
            <a:avLst/>
          </a:prstGeom>
          <a:noFill/>
          <a:ln/>
        </p:spPr>
        <p:txBody>
          <a:bodyPr wrap="square" lIns="0" tIns="0" rIns="0" bIns="0" rtlCol="0" anchor="ctr"/>
          <a:lstStyle/>
          <a:p>
            <a:pPr indent="0" marL="0">
              <a:buNone/>
            </a:pPr>
            <a:r>
              <a:rPr lang="en-US" sz="1400" b="1" dirty="0">
                <a:solidFill>
                  <a:srgbClr val="047857"/>
                </a:solidFill>
                <a:latin typeface="Calibri" pitchFamily="34" charset="0"/>
                <a:ea typeface="Calibri" pitchFamily="34" charset="-122"/>
                <a:cs typeface="Calibri" pitchFamily="34" charset="-120"/>
              </a:rPr>
              <a:t>You should see two numbers printed for every step. </a:t>
            </a:r>
            <a:pPr indent="0" marL="0">
              <a:buNone/>
            </a:pPr>
            <a:r>
              <a:rPr lang="en-US" sz="1400" dirty="0">
                <a:solidFill>
                  <a:srgbClr val="1F2937"/>
                </a:solidFill>
                <a:latin typeface="Calibri" pitchFamily="34" charset="0"/>
                <a:ea typeface="Calibri" pitchFamily="34" charset="-122"/>
                <a:cs typeface="Calibri" pitchFamily="34" charset="-120"/>
              </a:rPr>
              <a:t>That is the receipt, caught for the first time. The agent behaved identically; you only added printing.</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06 · BUILD IT: STAGE 2 OF 4</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Turn tokens into money</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2</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27</a:t>
            </a:r>
            <a:endParaRPr lang="en-US" sz="900" dirty="0"/>
          </a:p>
        </p:txBody>
      </p:sp>
      <p:sp>
        <p:nvSpPr>
          <p:cNvPr id="6" name="Text 4"/>
          <p:cNvSpPr txBox="1"/>
          <p:nvPr/>
        </p:nvSpPr>
        <p:spPr>
          <a:xfrm>
            <a:off x="457200" y="1188720"/>
            <a:ext cx="8229600" cy="73152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Add two constants near the top of the file for the input and output rates from your provider's pricing page. In the envelope, multiply each count by its rate and add them. Print the cost alongside the tokens.</a:t>
            </a:r>
            <a:endParaRPr lang="en-US" sz="1400" dirty="0"/>
          </a:p>
        </p:txBody>
      </p:sp>
      <p:sp>
        <p:nvSpPr>
          <p:cNvPr id="7" name="Shape 5"/>
          <p:cNvSpPr/>
          <p:nvPr/>
        </p:nvSpPr>
        <p:spPr>
          <a:xfrm>
            <a:off x="365760" y="2057400"/>
            <a:ext cx="8412480" cy="868680"/>
          </a:xfrm>
          <a:prstGeom prst="roundRect">
            <a:avLst>
              <a:gd name="adj" fmla="val 8421"/>
            </a:avLst>
          </a:prstGeom>
          <a:solidFill>
            <a:srgbClr val="0F172A"/>
          </a:solidFill>
          <a:ln w="12700">
            <a:solidFill>
              <a:srgbClr val="0F172A"/>
            </a:solidFill>
            <a:prstDash val="solid"/>
          </a:ln>
        </p:spPr>
      </p:sp>
      <p:sp>
        <p:nvSpPr>
          <p:cNvPr id="8" name="Text 6"/>
          <p:cNvSpPr txBox="1"/>
          <p:nvPr/>
        </p:nvSpPr>
        <p:spPr>
          <a:xfrm>
            <a:off x="594360" y="2057400"/>
            <a:ext cx="8092440" cy="868680"/>
          </a:xfrm>
          <a:prstGeom prst="rect">
            <a:avLst/>
          </a:prstGeom>
          <a:noFill/>
          <a:ln/>
        </p:spPr>
        <p:txBody>
          <a:bodyPr wrap="square" lIns="0" tIns="0" rIns="0" bIns="0" rtlCol="0" anchor="ctr"/>
          <a:lstStyle/>
          <a:p>
            <a:pPr indent="0" marL="0">
              <a:buNone/>
            </a:pPr>
            <a:r>
              <a:rPr lang="en-US" sz="1600" b="1" dirty="0">
                <a:solidFill>
                  <a:srgbClr val="F59E0B"/>
                </a:solidFill>
                <a:latin typeface="Courier New" pitchFamily="34" charset="0"/>
                <a:ea typeface="Courier New" pitchFamily="34" charset="-122"/>
                <a:cs typeface="Courier New" pitchFamily="34" charset="-120"/>
              </a:rPr>
              <a:t>$ </a:t>
            </a:r>
            <a:pPr indent="0" marL="0">
              <a:buNone/>
            </a:pPr>
            <a:r>
              <a:rPr lang="en-US" sz="1600" dirty="0">
                <a:solidFill>
                  <a:srgbClr val="E8EAED"/>
                </a:solidFill>
                <a:latin typeface="Courier New" pitchFamily="34" charset="0"/>
                <a:ea typeface="Courier New" pitchFamily="34" charset="-122"/>
                <a:cs typeface="Courier New" pitchFamily="34" charset="-120"/>
              </a:rPr>
              <a:t>python3 run_agent.py --input samples/normal.json</a:t>
            </a:r>
            <a:endParaRPr lang="en-US" sz="1600" dirty="0"/>
          </a:p>
        </p:txBody>
      </p:sp>
      <p:sp>
        <p:nvSpPr>
          <p:cNvPr id="9" name="Shape 7"/>
          <p:cNvSpPr/>
          <p:nvPr/>
        </p:nvSpPr>
        <p:spPr>
          <a:xfrm>
            <a:off x="457200" y="3154680"/>
            <a:ext cx="8229600" cy="1097280"/>
          </a:xfrm>
          <a:prstGeom prst="roundRect">
            <a:avLst>
              <a:gd name="adj" fmla="val 6667"/>
            </a:avLst>
          </a:prstGeom>
          <a:solidFill>
            <a:srgbClr val="FEF3C7"/>
          </a:solidFill>
          <a:ln w="12700">
            <a:solidFill>
              <a:srgbClr val="FEF3C7"/>
            </a:solidFill>
            <a:prstDash val="solid"/>
          </a:ln>
        </p:spPr>
      </p:sp>
      <p:sp>
        <p:nvSpPr>
          <p:cNvPr id="10" name="Text 8"/>
          <p:cNvSpPr txBox="1"/>
          <p:nvPr/>
        </p:nvSpPr>
        <p:spPr>
          <a:xfrm>
            <a:off x="731520" y="3154680"/>
            <a:ext cx="7680960" cy="1097280"/>
          </a:xfrm>
          <a:prstGeom prst="rect">
            <a:avLst/>
          </a:prstGeom>
          <a:noFill/>
          <a:ln/>
        </p:spPr>
        <p:txBody>
          <a:bodyPr wrap="square" lIns="0" tIns="0" rIns="0" bIns="0" rtlCol="0" anchor="ctr"/>
          <a:lstStyle/>
          <a:p>
            <a:pPr indent="0" marL="0">
              <a:buNone/>
            </a:pPr>
            <a:r>
              <a:rPr lang="en-US" sz="1400" b="1" dirty="0">
                <a:solidFill>
                  <a:srgbClr val="B45309"/>
                </a:solidFill>
                <a:latin typeface="Calibri" pitchFamily="34" charset="0"/>
                <a:ea typeface="Calibri" pitchFamily="34" charset="-122"/>
                <a:cs typeface="Calibri" pitchFamily="34" charset="-120"/>
              </a:rPr>
              <a:t>Add these up by hand and compare with your module 1 figure. </a:t>
            </a:r>
            <a:pPr indent="0" marL="0">
              <a:buNone/>
            </a:pPr>
            <a:r>
              <a:rPr lang="en-US" sz="1400" dirty="0">
                <a:solidFill>
                  <a:srgbClr val="1F2937"/>
                </a:solidFill>
                <a:latin typeface="Calibri" pitchFamily="34" charset="0"/>
                <a:ea typeface="Calibri" pitchFamily="34" charset="-122"/>
                <a:cs typeface="Calibri" pitchFamily="34" charset="-120"/>
              </a:rPr>
              <a:t>If they don't match, you have a rate wrong; and finding that now is better than finding it in a report.</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06 · BUILD IT: STAGE 3 OF 4</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Add the four labels</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2</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28</a:t>
            </a:r>
            <a:endParaRPr lang="en-US" sz="900" dirty="0"/>
          </a:p>
        </p:txBody>
      </p:sp>
      <p:sp>
        <p:nvSpPr>
          <p:cNvPr id="6" name="Text 4"/>
          <p:cNvSpPr txBox="1"/>
          <p:nvPr/>
        </p:nvSpPr>
        <p:spPr>
          <a:xfrm>
            <a:off x="457200" y="1188720"/>
            <a:ext cx="8229600" cy="73152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Give the agent a name and a team as constants. Generate a run ID once when the run starts; a short random string is fine. Pass it into every call. Set result to unknown for now; module five sets it properly.</a:t>
            </a:r>
            <a:endParaRPr lang="en-US" sz="1400" dirty="0"/>
          </a:p>
        </p:txBody>
      </p:sp>
      <p:sp>
        <p:nvSpPr>
          <p:cNvPr id="7" name="Shape 5"/>
          <p:cNvSpPr/>
          <p:nvPr/>
        </p:nvSpPr>
        <p:spPr>
          <a:xfrm>
            <a:off x="365760" y="2057400"/>
            <a:ext cx="8412480" cy="868680"/>
          </a:xfrm>
          <a:prstGeom prst="roundRect">
            <a:avLst>
              <a:gd name="adj" fmla="val 8421"/>
            </a:avLst>
          </a:prstGeom>
          <a:solidFill>
            <a:srgbClr val="0F172A"/>
          </a:solidFill>
          <a:ln w="12700">
            <a:solidFill>
              <a:srgbClr val="0F172A"/>
            </a:solidFill>
            <a:prstDash val="solid"/>
          </a:ln>
        </p:spPr>
      </p:sp>
      <p:sp>
        <p:nvSpPr>
          <p:cNvPr id="8" name="Text 6"/>
          <p:cNvSpPr txBox="1"/>
          <p:nvPr/>
        </p:nvSpPr>
        <p:spPr>
          <a:xfrm>
            <a:off x="594360" y="2057400"/>
            <a:ext cx="8092440" cy="868680"/>
          </a:xfrm>
          <a:prstGeom prst="rect">
            <a:avLst/>
          </a:prstGeom>
          <a:noFill/>
          <a:ln/>
        </p:spPr>
        <p:txBody>
          <a:bodyPr wrap="square" lIns="0" tIns="0" rIns="0" bIns="0" rtlCol="0" anchor="ctr"/>
          <a:lstStyle/>
          <a:p>
            <a:pPr indent="0" marL="0">
              <a:buNone/>
            </a:pPr>
            <a:r>
              <a:rPr lang="en-US" sz="1600" b="1" dirty="0">
                <a:solidFill>
                  <a:srgbClr val="F59E0B"/>
                </a:solidFill>
                <a:latin typeface="Courier New" pitchFamily="34" charset="0"/>
                <a:ea typeface="Courier New" pitchFamily="34" charset="-122"/>
                <a:cs typeface="Courier New" pitchFamily="34" charset="-120"/>
              </a:rPr>
              <a:t>$ </a:t>
            </a:r>
            <a:pPr indent="0" marL="0">
              <a:buNone/>
            </a:pPr>
            <a:r>
              <a:rPr lang="en-US" sz="1600" dirty="0">
                <a:solidFill>
                  <a:srgbClr val="E8EAED"/>
                </a:solidFill>
                <a:latin typeface="Courier New" pitchFamily="34" charset="0"/>
                <a:ea typeface="Courier New" pitchFamily="34" charset="-122"/>
                <a:cs typeface="Courier New" pitchFamily="34" charset="-120"/>
              </a:rPr>
              <a:t>python3 run_agent.py --input samples/normal.json</a:t>
            </a:r>
            <a:endParaRPr lang="en-US" sz="1600" dirty="0"/>
          </a:p>
        </p:txBody>
      </p:sp>
      <p:sp>
        <p:nvSpPr>
          <p:cNvPr id="9" name="Shape 7"/>
          <p:cNvSpPr/>
          <p:nvPr/>
        </p:nvSpPr>
        <p:spPr>
          <a:xfrm>
            <a:off x="457200" y="3154680"/>
            <a:ext cx="8229600" cy="1097280"/>
          </a:xfrm>
          <a:prstGeom prst="roundRect">
            <a:avLst>
              <a:gd name="adj" fmla="val 6667"/>
            </a:avLst>
          </a:prstGeom>
          <a:solidFill>
            <a:srgbClr val="FEF2F2"/>
          </a:solidFill>
          <a:ln w="12700">
            <a:solidFill>
              <a:srgbClr val="FEF2F2"/>
            </a:solidFill>
            <a:prstDash val="solid"/>
          </a:ln>
        </p:spPr>
      </p:sp>
      <p:pic>
        <p:nvPicPr>
          <p:cNvPr id="10" name="Image 0" descr="preencoded.png">    </p:cNvPr>
          <p:cNvPicPr>
            <a:picLocks noChangeAspect="1"/>
          </p:cNvPicPr>
          <p:nvPr/>
        </p:nvPicPr>
        <p:blipFill>
          <a:blip r:embed="rId1"/>
          <a:stretch>
            <a:fillRect/>
          </a:stretch>
        </p:blipFill>
        <p:spPr>
          <a:xfrm>
            <a:off x="731520" y="3502152"/>
            <a:ext cx="384048" cy="384048"/>
          </a:xfrm>
          <a:prstGeom prst="rect">
            <a:avLst/>
          </a:prstGeom>
        </p:spPr>
      </p:pic>
      <p:sp>
        <p:nvSpPr>
          <p:cNvPr id="11" name="Text 8"/>
          <p:cNvSpPr txBox="1"/>
          <p:nvPr/>
        </p:nvSpPr>
        <p:spPr>
          <a:xfrm>
            <a:off x="1325880" y="3154680"/>
            <a:ext cx="7132320" cy="1097280"/>
          </a:xfrm>
          <a:prstGeom prst="rect">
            <a:avLst/>
          </a:prstGeom>
          <a:noFill/>
          <a:ln/>
        </p:spPr>
        <p:txBody>
          <a:bodyPr wrap="square" lIns="0" tIns="0" rIns="0" bIns="0" rtlCol="0" anchor="ctr"/>
          <a:lstStyle/>
          <a:p>
            <a:pPr indent="0" marL="0">
              <a:buNone/>
            </a:pPr>
            <a:r>
              <a:rPr lang="en-US" sz="1400" b="1" dirty="0">
                <a:solidFill>
                  <a:srgbClr val="B91C1C"/>
                </a:solidFill>
                <a:latin typeface="Calibri" pitchFamily="34" charset="0"/>
                <a:ea typeface="Calibri" pitchFamily="34" charset="-122"/>
                <a:cs typeface="Calibri" pitchFamily="34" charset="-120"/>
              </a:rPr>
              <a:t>Check the run ID is the same on every line. </a:t>
            </a:r>
            <a:pPr indent="0" marL="0">
              <a:buNone/>
            </a:pPr>
            <a:r>
              <a:rPr lang="en-US" sz="1400" dirty="0">
                <a:solidFill>
                  <a:srgbClr val="1F2937"/>
                </a:solidFill>
                <a:latin typeface="Calibri" pitchFamily="34" charset="0"/>
                <a:ea typeface="Calibri" pitchFamily="34" charset="-122"/>
                <a:cs typeface="Calibri" pitchFamily="34" charset="-120"/>
              </a:rPr>
              <a:t>If it changes between steps, you generated it in the wrong place; it belongs at the start of the run, not inside the envelope.</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06 · BUILD IT: STAGE 4 OF 4</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Make the counter</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2</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29</a:t>
            </a:r>
            <a:endParaRPr lang="en-US" sz="900" dirty="0"/>
          </a:p>
        </p:txBody>
      </p:sp>
      <p:sp>
        <p:nvSpPr>
          <p:cNvPr id="6" name="Text 4"/>
          <p:cNvSpPr txBox="1"/>
          <p:nvPr/>
        </p:nvSpPr>
        <p:spPr>
          <a:xfrm>
            <a:off x="457200" y="1188720"/>
            <a:ext cx="8229600" cy="73152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Import Counter from the prometheus client, create two: one for cost, one for tokens. Each carries your four label names. In the envelope, add the cost to the counter instead of only printing. Then start the metrics server.</a:t>
            </a:r>
            <a:endParaRPr lang="en-US" sz="1400" dirty="0"/>
          </a:p>
        </p:txBody>
      </p:sp>
      <p:sp>
        <p:nvSpPr>
          <p:cNvPr id="7" name="Shape 5"/>
          <p:cNvSpPr/>
          <p:nvPr/>
        </p:nvSpPr>
        <p:spPr>
          <a:xfrm>
            <a:off x="365760" y="2011680"/>
            <a:ext cx="8412480" cy="868680"/>
          </a:xfrm>
          <a:prstGeom prst="roundRect">
            <a:avLst>
              <a:gd name="adj" fmla="val 8421"/>
            </a:avLst>
          </a:prstGeom>
          <a:solidFill>
            <a:srgbClr val="0F172A"/>
          </a:solidFill>
          <a:ln w="12700">
            <a:solidFill>
              <a:srgbClr val="0F172A"/>
            </a:solidFill>
            <a:prstDash val="solid"/>
          </a:ln>
        </p:spPr>
      </p:sp>
      <p:sp>
        <p:nvSpPr>
          <p:cNvPr id="8" name="Text 6"/>
          <p:cNvSpPr txBox="1"/>
          <p:nvPr/>
        </p:nvSpPr>
        <p:spPr>
          <a:xfrm>
            <a:off x="594360" y="2011680"/>
            <a:ext cx="8092440" cy="868680"/>
          </a:xfrm>
          <a:prstGeom prst="rect">
            <a:avLst/>
          </a:prstGeom>
          <a:noFill/>
          <a:ln/>
        </p:spPr>
        <p:txBody>
          <a:bodyPr wrap="square" lIns="0" tIns="0" rIns="0" bIns="0" rtlCol="0" anchor="ctr"/>
          <a:lstStyle/>
          <a:p>
            <a:pPr indent="0" marL="0">
              <a:buNone/>
            </a:pPr>
            <a:r>
              <a:rPr lang="en-US" sz="1600" b="1" dirty="0">
                <a:solidFill>
                  <a:srgbClr val="F59E0B"/>
                </a:solidFill>
                <a:latin typeface="Courier New" pitchFamily="34" charset="0"/>
                <a:ea typeface="Courier New" pitchFamily="34" charset="-122"/>
                <a:cs typeface="Courier New" pitchFamily="34" charset="-120"/>
              </a:rPr>
              <a:t>$ </a:t>
            </a:r>
            <a:pPr indent="0" marL="0">
              <a:buNone/>
            </a:pPr>
            <a:r>
              <a:rPr lang="en-US" sz="1600" dirty="0">
                <a:solidFill>
                  <a:srgbClr val="E8EAED"/>
                </a:solidFill>
                <a:latin typeface="Courier New" pitchFamily="34" charset="0"/>
                <a:ea typeface="Courier New" pitchFamily="34" charset="-122"/>
                <a:cs typeface="Courier New" pitchFamily="34" charset="-120"/>
              </a:rPr>
              <a:t>python3 run_agent.py --input samples/normal.json &amp;</a:t>
            </a:r>
            <a:endParaRPr lang="en-US" sz="1600" dirty="0"/>
          </a:p>
        </p:txBody>
      </p:sp>
      <p:sp>
        <p:nvSpPr>
          <p:cNvPr id="9" name="Shape 7"/>
          <p:cNvSpPr/>
          <p:nvPr/>
        </p:nvSpPr>
        <p:spPr>
          <a:xfrm>
            <a:off x="365760" y="3017520"/>
            <a:ext cx="8412480" cy="868680"/>
          </a:xfrm>
          <a:prstGeom prst="roundRect">
            <a:avLst>
              <a:gd name="adj" fmla="val 8421"/>
            </a:avLst>
          </a:prstGeom>
          <a:solidFill>
            <a:srgbClr val="0F172A"/>
          </a:solidFill>
          <a:ln w="12700">
            <a:solidFill>
              <a:srgbClr val="0F172A"/>
            </a:solidFill>
            <a:prstDash val="solid"/>
          </a:ln>
        </p:spPr>
      </p:sp>
      <p:sp>
        <p:nvSpPr>
          <p:cNvPr id="10" name="Text 8"/>
          <p:cNvSpPr txBox="1"/>
          <p:nvPr/>
        </p:nvSpPr>
        <p:spPr>
          <a:xfrm>
            <a:off x="594360" y="3017520"/>
            <a:ext cx="8092440" cy="868680"/>
          </a:xfrm>
          <a:prstGeom prst="rect">
            <a:avLst/>
          </a:prstGeom>
          <a:noFill/>
          <a:ln/>
        </p:spPr>
        <p:txBody>
          <a:bodyPr wrap="square" lIns="0" tIns="0" rIns="0" bIns="0" rtlCol="0" anchor="ctr"/>
          <a:lstStyle/>
          <a:p>
            <a:pPr indent="0" marL="0">
              <a:buNone/>
            </a:pPr>
            <a:r>
              <a:rPr lang="en-US" sz="1600" b="1" dirty="0">
                <a:solidFill>
                  <a:srgbClr val="F59E0B"/>
                </a:solidFill>
                <a:latin typeface="Courier New" pitchFamily="34" charset="0"/>
                <a:ea typeface="Courier New" pitchFamily="34" charset="-122"/>
                <a:cs typeface="Courier New" pitchFamily="34" charset="-120"/>
              </a:rPr>
              <a:t>$ </a:t>
            </a:r>
            <a:pPr indent="0" marL="0">
              <a:buNone/>
            </a:pPr>
            <a:r>
              <a:rPr lang="en-US" sz="1600" dirty="0">
                <a:solidFill>
                  <a:srgbClr val="E8EAED"/>
                </a:solidFill>
                <a:latin typeface="Courier New" pitchFamily="34" charset="0"/>
                <a:ea typeface="Courier New" pitchFamily="34" charset="-122"/>
                <a:cs typeface="Courier New" pitchFamily="34" charset="-120"/>
              </a:rPr>
              <a:t>curl http://localhost:8000/metrics | grep agent_cost</a:t>
            </a:r>
            <a:endParaRPr lang="en-US" sz="1600" dirty="0"/>
          </a:p>
        </p:txBody>
      </p:sp>
      <p:sp>
        <p:nvSpPr>
          <p:cNvPr id="11" name="Shape 9"/>
          <p:cNvSpPr/>
          <p:nvPr/>
        </p:nvSpPr>
        <p:spPr>
          <a:xfrm>
            <a:off x="457200" y="4069080"/>
            <a:ext cx="8229600" cy="685800"/>
          </a:xfrm>
          <a:prstGeom prst="roundRect">
            <a:avLst>
              <a:gd name="adj" fmla="val 10667"/>
            </a:avLst>
          </a:prstGeom>
          <a:solidFill>
            <a:srgbClr val="ECFDF5"/>
          </a:solidFill>
          <a:ln w="12700">
            <a:solidFill>
              <a:srgbClr val="ECFDF5"/>
            </a:solidFill>
            <a:prstDash val="solid"/>
          </a:ln>
        </p:spPr>
      </p:sp>
      <p:sp>
        <p:nvSpPr>
          <p:cNvPr id="12" name="Text 10"/>
          <p:cNvSpPr txBox="1"/>
          <p:nvPr/>
        </p:nvSpPr>
        <p:spPr>
          <a:xfrm>
            <a:off x="731520" y="4069080"/>
            <a:ext cx="7680960" cy="68580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There it is; your cost, with all four labels attached, in the format the monitoring world reads. That output is what Prometheus will collect from you.</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06 · BUILD IT: CONFIRM</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Watch the tally grow</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2</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30</a:t>
            </a:r>
            <a:endParaRPr lang="en-US" sz="900" dirty="0"/>
          </a:p>
        </p:txBody>
      </p:sp>
      <p:sp>
        <p:nvSpPr>
          <p:cNvPr id="6" name="Shape 4"/>
          <p:cNvSpPr/>
          <p:nvPr/>
        </p:nvSpPr>
        <p:spPr>
          <a:xfrm>
            <a:off x="365760" y="1325880"/>
            <a:ext cx="8412480" cy="868680"/>
          </a:xfrm>
          <a:prstGeom prst="roundRect">
            <a:avLst>
              <a:gd name="adj" fmla="val 8421"/>
            </a:avLst>
          </a:prstGeom>
          <a:solidFill>
            <a:srgbClr val="0F172A"/>
          </a:solidFill>
          <a:ln w="12700">
            <a:solidFill>
              <a:srgbClr val="0F172A"/>
            </a:solidFill>
            <a:prstDash val="solid"/>
          </a:ln>
        </p:spPr>
      </p:sp>
      <p:sp>
        <p:nvSpPr>
          <p:cNvPr id="7" name="Text 5"/>
          <p:cNvSpPr txBox="1"/>
          <p:nvPr/>
        </p:nvSpPr>
        <p:spPr>
          <a:xfrm>
            <a:off x="594360" y="1325880"/>
            <a:ext cx="8092440" cy="868680"/>
          </a:xfrm>
          <a:prstGeom prst="rect">
            <a:avLst/>
          </a:prstGeom>
          <a:noFill/>
          <a:ln/>
        </p:spPr>
        <p:txBody>
          <a:bodyPr wrap="square" lIns="0" tIns="0" rIns="0" bIns="0" rtlCol="0" anchor="ctr"/>
          <a:lstStyle/>
          <a:p>
            <a:pPr indent="0" marL="0">
              <a:buNone/>
            </a:pPr>
            <a:r>
              <a:rPr lang="en-US" sz="900" b="1" dirty="0">
                <a:solidFill>
                  <a:srgbClr val="F59E0B"/>
                </a:solidFill>
                <a:latin typeface="Courier New" pitchFamily="34" charset="0"/>
                <a:ea typeface="Courier New" pitchFamily="34" charset="-122"/>
                <a:cs typeface="Courier New" pitchFamily="34" charset="-120"/>
              </a:rPr>
              <a:t>$ </a:t>
            </a:r>
            <a:pPr indent="0" marL="0">
              <a:buNone/>
            </a:pPr>
            <a:r>
              <a:rPr lang="en-US" sz="900" dirty="0">
                <a:solidFill>
                  <a:srgbClr val="E8EAED"/>
                </a:solidFill>
                <a:latin typeface="Courier New" pitchFamily="34" charset="0"/>
                <a:ea typeface="Courier New" pitchFamily="34" charset="-122"/>
                <a:cs typeface="Courier New" pitchFamily="34" charset="-120"/>
              </a:rPr>
              <a:t>python3 run_agent.py --input samples/normal.json &amp;&amp; curl -s http://localhost:8000/metrics | grep agent_cost_total</a:t>
            </a:r>
            <a:endParaRPr lang="en-US" sz="900" dirty="0"/>
          </a:p>
        </p:txBody>
      </p:sp>
      <p:sp>
        <p:nvSpPr>
          <p:cNvPr id="8" name="Text 6"/>
          <p:cNvSpPr txBox="1"/>
          <p:nvPr/>
        </p:nvSpPr>
        <p:spPr>
          <a:xfrm>
            <a:off x="457200" y="2423160"/>
            <a:ext cx="8229600" cy="457200"/>
          </a:xfrm>
          <a:prstGeom prst="rect">
            <a:avLst/>
          </a:prstGeom>
          <a:noFill/>
          <a:ln/>
        </p:spPr>
        <p:txBody>
          <a:bodyPr wrap="square" lIns="0" tIns="0" rIns="0" bIns="0" rtlCol="0" anchor="t"/>
          <a:lstStyle/>
          <a:p>
            <a:pPr indent="0" marL="0">
              <a:buNone/>
            </a:pPr>
            <a:r>
              <a:rPr lang="en-US" sz="1500" dirty="0">
                <a:solidFill>
                  <a:srgbClr val="1F2937"/>
                </a:solidFill>
                <a:latin typeface="Calibri" pitchFamily="34" charset="0"/>
                <a:ea typeface="Calibri" pitchFamily="34" charset="-122"/>
                <a:cs typeface="Calibri" pitchFamily="34" charset="-120"/>
              </a:rPr>
              <a:t>Run the agent three more times and curl it again after each one.</a:t>
            </a:r>
            <a:endParaRPr lang="en-US" sz="1500" dirty="0"/>
          </a:p>
        </p:txBody>
      </p:sp>
      <p:sp>
        <p:nvSpPr>
          <p:cNvPr id="9" name="Shape 7"/>
          <p:cNvSpPr/>
          <p:nvPr/>
        </p:nvSpPr>
        <p:spPr>
          <a:xfrm>
            <a:off x="457200" y="2971800"/>
            <a:ext cx="8229600" cy="1234440"/>
          </a:xfrm>
          <a:prstGeom prst="roundRect">
            <a:avLst>
              <a:gd name="adj" fmla="val 5926"/>
            </a:avLst>
          </a:prstGeom>
          <a:solidFill>
            <a:srgbClr val="111827"/>
          </a:solidFill>
          <a:ln w="12700">
            <a:solidFill>
              <a:srgbClr val="111827"/>
            </a:solidFill>
            <a:prstDash val="solid"/>
          </a:ln>
        </p:spPr>
      </p:sp>
      <p:sp>
        <p:nvSpPr>
          <p:cNvPr id="10" name="Text 8"/>
          <p:cNvSpPr txBox="1"/>
          <p:nvPr/>
        </p:nvSpPr>
        <p:spPr>
          <a:xfrm>
            <a:off x="731520" y="2971800"/>
            <a:ext cx="7680960" cy="1234440"/>
          </a:xfrm>
          <a:prstGeom prst="rect">
            <a:avLst/>
          </a:prstGeom>
          <a:noFill/>
          <a:ln/>
        </p:spPr>
        <p:txBody>
          <a:bodyPr wrap="square" lIns="0" tIns="0" rIns="0" bIns="0" rtlCol="0" anchor="ctr"/>
          <a:lstStyle/>
          <a:p>
            <a:pPr indent="0" marL="0">
              <a:buNone/>
            </a:pPr>
            <a:r>
              <a:rPr lang="en-US" sz="1500" b="1" dirty="0">
                <a:solidFill>
                  <a:srgbClr val="F59E0B"/>
                </a:solidFill>
                <a:latin typeface="Calibri" pitchFamily="34" charset="0"/>
                <a:ea typeface="Calibri" pitchFamily="34" charset="-122"/>
                <a:cs typeface="Calibri" pitchFamily="34" charset="-120"/>
              </a:rPr>
              <a:t>Watch the number grow rather than reset. </a:t>
            </a:r>
            <a:endParaRPr lang="en-US" sz="1500" dirty="0"/>
          </a:p>
          <a:p>
            <a:pPr indent="0" marL="0">
              <a:buNone/>
            </a:pPr>
            <a:r>
              <a:rPr lang="en-US" sz="1500" dirty="0">
                <a:solidFill>
                  <a:srgbClr val="FFFFFF"/>
                </a:solidFill>
                <a:latin typeface="Calibri" pitchFamily="34" charset="0"/>
                <a:ea typeface="Calibri" pitchFamily="34" charset="-122"/>
                <a:cs typeface="Calibri" pitchFamily="34" charset="-120"/>
              </a:rPr>
              <a:t>That is the tally behaving exactly as it should; and it is why you can measure any window you like later.</a:t>
            </a:r>
            <a:endParaRPr lang="en-US" sz="15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RECAP</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What changed; and what didn't</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2</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31</a:t>
            </a:r>
            <a:endParaRPr lang="en-US" sz="900" dirty="0"/>
          </a:p>
        </p:txBody>
      </p:sp>
      <p:sp>
        <p:nvSpPr>
          <p:cNvPr id="6" name="Shape 4"/>
          <p:cNvSpPr/>
          <p:nvPr/>
        </p:nvSpPr>
        <p:spPr>
          <a:xfrm>
            <a:off x="457200" y="1325880"/>
            <a:ext cx="4023360" cy="2926080"/>
          </a:xfrm>
          <a:prstGeom prst="roundRect">
            <a:avLst>
              <a:gd name="adj" fmla="val 2500"/>
            </a:avLst>
          </a:prstGeom>
          <a:solidFill>
            <a:srgbClr val="ECFDF5"/>
          </a:solidFill>
          <a:ln w="12700">
            <a:solidFill>
              <a:srgbClr val="ECFDF5"/>
            </a:solidFill>
            <a:prstDash val="solid"/>
          </a:ln>
        </p:spPr>
      </p:sp>
      <p:sp>
        <p:nvSpPr>
          <p:cNvPr id="7" name="Text 5"/>
          <p:cNvSpPr txBox="1"/>
          <p:nvPr/>
        </p:nvSpPr>
        <p:spPr>
          <a:xfrm>
            <a:off x="731520" y="1508760"/>
            <a:ext cx="3474720" cy="274320"/>
          </a:xfrm>
          <a:prstGeom prst="rect">
            <a:avLst/>
          </a:prstGeom>
          <a:noFill/>
          <a:ln/>
        </p:spPr>
        <p:txBody>
          <a:bodyPr wrap="square" lIns="0" tIns="0" rIns="0" bIns="0" rtlCol="0" anchor="t"/>
          <a:lstStyle/>
          <a:p>
            <a:pPr indent="0" marL="0">
              <a:buNone/>
            </a:pPr>
            <a:r>
              <a:rPr lang="en-US" sz="1000" b="1" spc="200" kern="0" dirty="0">
                <a:solidFill>
                  <a:srgbClr val="047857"/>
                </a:solidFill>
                <a:latin typeface="Calibri" pitchFamily="34" charset="0"/>
                <a:ea typeface="Calibri" pitchFamily="34" charset="-122"/>
                <a:cs typeface="Calibri" pitchFamily="34" charset="-120"/>
              </a:rPr>
              <a:t>WHAT CHANGED</a:t>
            </a:r>
            <a:endParaRPr lang="en-US" sz="1000" dirty="0"/>
          </a:p>
        </p:txBody>
      </p:sp>
      <p:sp>
        <p:nvSpPr>
          <p:cNvPr id="8" name="Text 6"/>
          <p:cNvSpPr txBox="1"/>
          <p:nvPr/>
        </p:nvSpPr>
        <p:spPr>
          <a:xfrm>
            <a:off x="731520" y="1874520"/>
            <a:ext cx="3520440" cy="21945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F2937"/>
                </a:solidFill>
                <a:latin typeface="Calibri" pitchFamily="34" charset="0"/>
                <a:ea typeface="Calibri" pitchFamily="34" charset="-122"/>
                <a:cs typeface="Calibri" pitchFamily="34" charset="-120"/>
              </a:rPr>
              <a:t>Every model call writes a receipt</a:t>
            </a:r>
            <a:endParaRPr lang="en-US" sz="1300" dirty="0"/>
          </a:p>
          <a:p>
            <a:pPr marL="342900" indent="-342900">
              <a:spcAft>
                <a:spcPts val="800"/>
              </a:spcAft>
              <a:buSzPct val="100000"/>
              <a:buChar char="•"/>
            </a:pPr>
            <a:r>
              <a:rPr lang="en-US" sz="1300" dirty="0">
                <a:solidFill>
                  <a:srgbClr val="1F2937"/>
                </a:solidFill>
                <a:latin typeface="Calibri" pitchFamily="34" charset="0"/>
                <a:ea typeface="Calibri" pitchFamily="34" charset="-122"/>
                <a:cs typeface="Calibri" pitchFamily="34" charset="-120"/>
              </a:rPr>
              <a:t>The receipt carries cost and tokens</a:t>
            </a:r>
            <a:endParaRPr lang="en-US" sz="1300" dirty="0"/>
          </a:p>
          <a:p>
            <a:pPr marL="342900" indent="-342900">
              <a:spcAft>
                <a:spcPts val="800"/>
              </a:spcAft>
              <a:buSzPct val="100000"/>
              <a:buChar char="•"/>
            </a:pPr>
            <a:r>
              <a:rPr lang="en-US" sz="1300" dirty="0">
                <a:solidFill>
                  <a:srgbClr val="1F2937"/>
                </a:solidFill>
                <a:latin typeface="Calibri" pitchFamily="34" charset="0"/>
                <a:ea typeface="Calibri" pitchFamily="34" charset="-122"/>
                <a:cs typeface="Calibri" pitchFamily="34" charset="-120"/>
              </a:rPr>
              <a:t>Four labels: agent, team, run, result</a:t>
            </a:r>
            <a:endParaRPr lang="en-US" sz="1300" dirty="0"/>
          </a:p>
          <a:p>
            <a:pPr marL="342900" indent="-342900">
              <a:spcAft>
                <a:spcPts val="800"/>
              </a:spcAft>
              <a:buSzPct val="100000"/>
              <a:buChar char="•"/>
            </a:pPr>
            <a:r>
              <a:rPr lang="en-US" sz="1300" dirty="0">
                <a:solidFill>
                  <a:srgbClr val="1F2937"/>
                </a:solidFill>
                <a:latin typeface="Calibri" pitchFamily="34" charset="0"/>
                <a:ea typeface="Calibri" pitchFamily="34" charset="-122"/>
                <a:cs typeface="Calibri" pitchFamily="34" charset="-120"/>
              </a:rPr>
              <a:t>The receipts add up into tallies a monitoring system can read</a:t>
            </a:r>
            <a:endParaRPr lang="en-US" sz="1300" dirty="0"/>
          </a:p>
        </p:txBody>
      </p:sp>
      <p:sp>
        <p:nvSpPr>
          <p:cNvPr id="9" name="Shape 7"/>
          <p:cNvSpPr/>
          <p:nvPr/>
        </p:nvSpPr>
        <p:spPr>
          <a:xfrm>
            <a:off x="4663440" y="1325880"/>
            <a:ext cx="4023360" cy="2926080"/>
          </a:xfrm>
          <a:prstGeom prst="roundRect">
            <a:avLst>
              <a:gd name="adj" fmla="val 2500"/>
            </a:avLst>
          </a:prstGeom>
          <a:solidFill>
            <a:srgbClr val="F3F4F6"/>
          </a:solidFill>
          <a:ln w="12700">
            <a:solidFill>
              <a:srgbClr val="F3F4F6"/>
            </a:solidFill>
            <a:prstDash val="solid"/>
          </a:ln>
        </p:spPr>
      </p:sp>
      <p:sp>
        <p:nvSpPr>
          <p:cNvPr id="10" name="Text 8"/>
          <p:cNvSpPr txBox="1"/>
          <p:nvPr/>
        </p:nvSpPr>
        <p:spPr>
          <a:xfrm>
            <a:off x="4937760" y="1508760"/>
            <a:ext cx="3474720" cy="274320"/>
          </a:xfrm>
          <a:prstGeom prst="rect">
            <a:avLst/>
          </a:prstGeom>
          <a:noFill/>
          <a:ln/>
        </p:spPr>
        <p:txBody>
          <a:bodyPr wrap="square" lIns="0" tIns="0" rIns="0" bIns="0" rtlCol="0" anchor="t"/>
          <a:lstStyle/>
          <a:p>
            <a:pPr indent="0" marL="0">
              <a:buNone/>
            </a:pPr>
            <a:r>
              <a:rPr lang="en-US" sz="1000" b="1" spc="200" kern="0" dirty="0">
                <a:solidFill>
                  <a:srgbClr val="6B7280"/>
                </a:solidFill>
                <a:latin typeface="Calibri" pitchFamily="34" charset="0"/>
                <a:ea typeface="Calibri" pitchFamily="34" charset="-122"/>
                <a:cs typeface="Calibri" pitchFamily="34" charset="-120"/>
              </a:rPr>
              <a:t>WHAT DID NOT</a:t>
            </a:r>
            <a:endParaRPr lang="en-US" sz="1000" dirty="0"/>
          </a:p>
        </p:txBody>
      </p:sp>
      <p:sp>
        <p:nvSpPr>
          <p:cNvPr id="11" name="Text 9"/>
          <p:cNvSpPr txBox="1"/>
          <p:nvPr/>
        </p:nvSpPr>
        <p:spPr>
          <a:xfrm>
            <a:off x="4937760" y="1874520"/>
            <a:ext cx="3520440" cy="21945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F2937"/>
                </a:solidFill>
                <a:latin typeface="Calibri" pitchFamily="34" charset="0"/>
                <a:ea typeface="Calibri" pitchFamily="34" charset="-122"/>
                <a:cs typeface="Calibri" pitchFamily="34" charset="-120"/>
              </a:rPr>
              <a:t>Your agent's behaviour: unchanged</a:t>
            </a:r>
            <a:endParaRPr lang="en-US" sz="1300" dirty="0"/>
          </a:p>
          <a:p>
            <a:pPr marL="342900" indent="-342900">
              <a:spcAft>
                <a:spcPts val="800"/>
              </a:spcAft>
              <a:buSzPct val="100000"/>
              <a:buChar char="•"/>
            </a:pPr>
            <a:r>
              <a:rPr lang="en-US" sz="1300" dirty="0">
                <a:solidFill>
                  <a:srgbClr val="1F2937"/>
                </a:solidFill>
                <a:latin typeface="Calibri" pitchFamily="34" charset="0"/>
                <a:ea typeface="Calibri" pitchFamily="34" charset="-122"/>
                <a:cs typeface="Calibri" pitchFamily="34" charset="-120"/>
              </a:rPr>
              <a:t>Nothing is limited</a:t>
            </a:r>
            <a:endParaRPr lang="en-US" sz="1300" dirty="0"/>
          </a:p>
          <a:p>
            <a:pPr marL="342900" indent="-342900">
              <a:spcAft>
                <a:spcPts val="800"/>
              </a:spcAft>
              <a:buSzPct val="100000"/>
              <a:buChar char="•"/>
            </a:pPr>
            <a:r>
              <a:rPr lang="en-US" sz="1300" dirty="0">
                <a:solidFill>
                  <a:srgbClr val="1F2937"/>
                </a:solidFill>
                <a:latin typeface="Calibri" pitchFamily="34" charset="0"/>
                <a:ea typeface="Calibri" pitchFamily="34" charset="-122"/>
                <a:cs typeface="Calibri" pitchFamily="34" charset="-120"/>
              </a:rPr>
              <a:t>It can still run away overnight, exactly as in module one</a:t>
            </a:r>
            <a:endParaRPr lang="en-US" sz="1300" dirty="0"/>
          </a:p>
        </p:txBody>
      </p:sp>
      <p:sp>
        <p:nvSpPr>
          <p:cNvPr id="12" name="Text 10"/>
          <p:cNvSpPr txBox="1"/>
          <p:nvPr/>
        </p:nvSpPr>
        <p:spPr>
          <a:xfrm>
            <a:off x="457200" y="4343400"/>
            <a:ext cx="8229600" cy="365760"/>
          </a:xfrm>
          <a:prstGeom prst="rect">
            <a:avLst/>
          </a:prstGeom>
          <a:noFill/>
          <a:ln/>
        </p:spPr>
        <p:txBody>
          <a:bodyPr wrap="square" lIns="0" tIns="0" rIns="0" bIns="0" rtlCol="0" anchor="t"/>
          <a:lstStyle/>
          <a:p>
            <a:pPr indent="0" marL="0">
              <a:buNone/>
            </a:pPr>
            <a:r>
              <a:rPr lang="en-US" sz="1300" i="1" dirty="0">
                <a:solidFill>
                  <a:srgbClr val="6B7280"/>
                </a:solidFill>
                <a:latin typeface="Calibri" pitchFamily="34" charset="0"/>
                <a:ea typeface="Calibri" pitchFamily="34" charset="-122"/>
                <a:cs typeface="Calibri" pitchFamily="34" charset="-120"/>
              </a:rPr>
              <a:t>In module one you had one number and a shrug.</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11827"/>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F59E0B"/>
                </a:solidFill>
                <a:latin typeface="Calibri" pitchFamily="34" charset="0"/>
                <a:ea typeface="Calibri" pitchFamily="34" charset="-122"/>
                <a:cs typeface="Calibri" pitchFamily="34" charset="-120"/>
              </a:rPr>
              <a:t>BEFORE MODULE 3</a:t>
            </a:r>
            <a:endParaRPr lang="en-US" sz="1000" dirty="0"/>
          </a:p>
        </p:txBody>
      </p:sp>
      <p:sp>
        <p:nvSpPr>
          <p:cNvPr id="3" name="Text 1"/>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Agent Cost Control · Module 2</a:t>
            </a:r>
            <a:endParaRPr lang="en-US" sz="900" dirty="0"/>
          </a:p>
        </p:txBody>
      </p:sp>
      <p:sp>
        <p:nvSpPr>
          <p:cNvPr id="4" name="Text 2"/>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32</a:t>
            </a:r>
            <a:endParaRPr lang="en-US" sz="900" dirty="0"/>
          </a:p>
        </p:txBody>
      </p:sp>
      <p:sp>
        <p:nvSpPr>
          <p:cNvPr id="5" name="Text 3"/>
          <p:cNvSpPr txBox="1"/>
          <p:nvPr/>
        </p:nvSpPr>
        <p:spPr>
          <a:xfrm>
            <a:off x="457200" y="1005840"/>
            <a:ext cx="7955280" cy="1005840"/>
          </a:xfrm>
          <a:prstGeom prst="rect">
            <a:avLst/>
          </a:prstGeom>
          <a:noFill/>
          <a:ln/>
        </p:spPr>
        <p:txBody>
          <a:bodyPr wrap="square" lIns="0" tIns="0" rIns="0" bIns="0" rtlCol="0" anchor="t"/>
          <a:lstStyle/>
          <a:p>
            <a:pPr indent="0" marL="0">
              <a:buNone/>
            </a:pPr>
            <a:r>
              <a:rPr lang="en-US" sz="1800" dirty="0">
                <a:solidFill>
                  <a:srgbClr val="9CA3AF"/>
                </a:solidFill>
                <a:latin typeface="Calibri" pitchFamily="34" charset="0"/>
                <a:ea typeface="Calibri" pitchFamily="34" charset="-122"/>
                <a:cs typeface="Calibri" pitchFamily="34" charset="-120"/>
              </a:rPr>
              <a:t>If it ran away tonight, tomorrow morning you could say exactly which agent, which team, how many runs, and what each one cost.</a:t>
            </a:r>
            <a:endParaRPr lang="en-US" sz="1800" dirty="0"/>
          </a:p>
        </p:txBody>
      </p:sp>
      <p:sp>
        <p:nvSpPr>
          <p:cNvPr id="6" name="Text 4"/>
          <p:cNvSpPr txBox="1"/>
          <p:nvPr/>
        </p:nvSpPr>
        <p:spPr>
          <a:xfrm>
            <a:off x="457200" y="2148840"/>
            <a:ext cx="8229600" cy="73152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Instrument the runaway.</a:t>
            </a:r>
            <a:endParaRPr lang="en-US" sz="4000" dirty="0"/>
          </a:p>
        </p:txBody>
      </p:sp>
      <p:sp>
        <p:nvSpPr>
          <p:cNvPr id="7" name="Text 5"/>
          <p:cNvSpPr txBox="1"/>
          <p:nvPr/>
        </p:nvSpPr>
        <p:spPr>
          <a:xfrm>
            <a:off x="457200" y="3017520"/>
            <a:ext cx="7772400" cy="914400"/>
          </a:xfrm>
          <a:prstGeom prst="rect">
            <a:avLst/>
          </a:prstGeom>
          <a:noFill/>
          <a:ln/>
        </p:spPr>
        <p:txBody>
          <a:bodyPr wrap="square" lIns="0" tIns="0" rIns="0" bIns="0" rtlCol="0" anchor="t"/>
          <a:lstStyle/>
          <a:p>
            <a:pPr indent="0" marL="0">
              <a:buNone/>
            </a:pPr>
            <a:r>
              <a:rPr lang="en-US" sz="1500" dirty="0">
                <a:solidFill>
                  <a:srgbClr val="9CA3AF"/>
                </a:solidFill>
                <a:latin typeface="Calibri" pitchFamily="34" charset="0"/>
                <a:ea typeface="Calibri" pitchFamily="34" charset="-122"/>
                <a:cs typeface="Calibri" pitchFamily="34" charset="-120"/>
              </a:rPr>
              <a:t>Run the malformed input again, under a timeout, with your new instrumentation switched on. Then watch the cost climb in real time, with your own labels on it.</a:t>
            </a:r>
            <a:endParaRPr lang="en-US" sz="1500" dirty="0"/>
          </a:p>
        </p:txBody>
      </p:sp>
      <p:sp>
        <p:nvSpPr>
          <p:cNvPr id="8" name="Text 6"/>
          <p:cNvSpPr txBox="1"/>
          <p:nvPr/>
        </p:nvSpPr>
        <p:spPr>
          <a:xfrm>
            <a:off x="457200" y="3977640"/>
            <a:ext cx="7772400" cy="457200"/>
          </a:xfrm>
          <a:prstGeom prst="rect">
            <a:avLst/>
          </a:prstGeom>
          <a:noFill/>
          <a:ln/>
        </p:spPr>
        <p:txBody>
          <a:bodyPr wrap="square" lIns="0" tIns="0" rIns="0" bIns="0" rtlCol="0" anchor="t"/>
          <a:lstStyle/>
          <a:p>
            <a:pPr indent="0" marL="0">
              <a:buNone/>
            </a:pPr>
            <a:r>
              <a:rPr lang="en-US" sz="1400" i="1" dirty="0">
                <a:solidFill>
                  <a:srgbClr val="F59E0B"/>
                </a:solidFill>
                <a:latin typeface="Calibri" pitchFamily="34" charset="0"/>
                <a:ea typeface="Calibri" pitchFamily="34" charset="-122"/>
                <a:cs typeface="Calibri" pitchFamily="34" charset="-120"/>
              </a:rPr>
              <a:t>That is the moment most people feel this rather than just understand it.</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11827"/>
        </a:solidFill>
      </p:bgPr>
    </p:bg>
    <p:spTree>
      <p:nvGrpSpPr>
        <p:cNvPr id="1" name=""/>
        <p:cNvGrpSpPr/>
        <p:nvPr/>
      </p:nvGrpSpPr>
      <p:grpSpPr>
        <a:xfrm>
          <a:off x="0" y="0"/>
          <a:ext cx="0" cy="0"/>
          <a:chOff x="0" y="0"/>
          <a:chExt cx="0" cy="0"/>
        </a:xfrm>
      </p:grpSpPr>
      <p:sp>
        <p:nvSpPr>
          <p:cNvPr id="2" name="Text 0"/>
          <p:cNvSpPr txBox="1"/>
          <p:nvPr/>
        </p:nvSpPr>
        <p:spPr>
          <a:xfrm>
            <a:off x="548640" y="1097280"/>
            <a:ext cx="5486400" cy="274320"/>
          </a:xfrm>
          <a:prstGeom prst="rect">
            <a:avLst/>
          </a:prstGeom>
          <a:noFill/>
          <a:ln/>
        </p:spPr>
        <p:txBody>
          <a:bodyPr wrap="square" lIns="0" tIns="0" rIns="0" bIns="0" rtlCol="0" anchor="t"/>
          <a:lstStyle/>
          <a:p>
            <a:pPr indent="0" marL="0">
              <a:buNone/>
            </a:pPr>
            <a:r>
              <a:rPr lang="en-US" sz="1100" b="1" spc="300" kern="0" dirty="0">
                <a:solidFill>
                  <a:srgbClr val="F59E0B"/>
                </a:solidFill>
                <a:latin typeface="Calibri" pitchFamily="34" charset="0"/>
                <a:ea typeface="Calibri" pitchFamily="34" charset="-122"/>
                <a:cs typeface="Calibri" pitchFamily="34" charset="-120"/>
              </a:rPr>
              <a:t>NEXT · MODULE 3 OF 6</a:t>
            </a:r>
            <a:endParaRPr lang="en-US" sz="1100" dirty="0"/>
          </a:p>
        </p:txBody>
      </p:sp>
      <p:sp>
        <p:nvSpPr>
          <p:cNvPr id="3" name="Text 1"/>
          <p:cNvSpPr txBox="1"/>
          <p:nvPr/>
        </p:nvSpPr>
        <p:spPr>
          <a:xfrm>
            <a:off x="548640" y="1463040"/>
            <a:ext cx="7772400" cy="914400"/>
          </a:xfrm>
          <a:prstGeom prst="rect">
            <a:avLst/>
          </a:prstGeom>
          <a:noFill/>
          <a:ln/>
        </p:spPr>
        <p:txBody>
          <a:bodyPr wrap="square" lIns="0" tIns="0" rIns="0" bIns="0" rtlCol="0" anchor="t"/>
          <a:lstStyle/>
          <a:p>
            <a:pPr indent="0" marL="0">
              <a:buNone/>
            </a:pPr>
            <a:r>
              <a:rPr lang="en-US" sz="4800" b="1" dirty="0">
                <a:solidFill>
                  <a:srgbClr val="FFFFFF"/>
                </a:solidFill>
                <a:latin typeface="Cambria" pitchFamily="34" charset="0"/>
                <a:ea typeface="Cambria" pitchFamily="34" charset="-122"/>
                <a:cs typeface="Cambria" pitchFamily="34" charset="-120"/>
              </a:rPr>
              <a:t>Stop it.</a:t>
            </a:r>
            <a:endParaRPr lang="en-US" sz="4800" dirty="0"/>
          </a:p>
        </p:txBody>
      </p:sp>
      <p:sp>
        <p:nvSpPr>
          <p:cNvPr id="4" name="Text 2"/>
          <p:cNvSpPr txBox="1"/>
          <p:nvPr/>
        </p:nvSpPr>
        <p:spPr>
          <a:xfrm>
            <a:off x="548640" y="2514600"/>
            <a:ext cx="7132320" cy="822960"/>
          </a:xfrm>
          <a:prstGeom prst="rect">
            <a:avLst/>
          </a:prstGeom>
          <a:noFill/>
          <a:ln/>
        </p:spPr>
        <p:txBody>
          <a:bodyPr wrap="square" lIns="0" tIns="0" rIns="0" bIns="0" rtlCol="0" anchor="t"/>
          <a:lstStyle/>
          <a:p>
            <a:pPr indent="0" marL="0">
              <a:buNone/>
            </a:pPr>
            <a:r>
              <a:rPr lang="en-US" sz="1800" dirty="0">
                <a:solidFill>
                  <a:srgbClr val="9CA3AF"/>
                </a:solidFill>
                <a:latin typeface="Calibri" pitchFamily="34" charset="0"/>
                <a:ea typeface="Calibri" pitchFamily="34" charset="-122"/>
                <a:cs typeface="Calibri" pitchFamily="34" charset="-120"/>
              </a:rPr>
              <a:t>Budget caps and kill switches: a hard limit that fires by itself at three in the morning without waking anyone.</a:t>
            </a:r>
            <a:endParaRPr lang="en-US" sz="1800" dirty="0"/>
          </a:p>
        </p:txBody>
      </p:sp>
      <p:sp>
        <p:nvSpPr>
          <p:cNvPr id="5" name="Text 3"/>
          <p:cNvSpPr txBox="1"/>
          <p:nvPr/>
        </p:nvSpPr>
        <p:spPr>
          <a:xfrm>
            <a:off x="548640" y="3931920"/>
            <a:ext cx="5486400" cy="365760"/>
          </a:xfrm>
          <a:prstGeom prst="rect">
            <a:avLst/>
          </a:prstGeom>
          <a:noFill/>
          <a:ln/>
        </p:spPr>
        <p:txBody>
          <a:bodyPr wrap="square" lIns="0" tIns="0" rIns="0" bIns="0" rtlCol="0" anchor="t"/>
          <a:lstStyle/>
          <a:p>
            <a:pPr indent="0" marL="0">
              <a:buNone/>
            </a:pPr>
            <a:r>
              <a:rPr lang="en-US" sz="1600" i="1" dirty="0">
                <a:solidFill>
                  <a:srgbClr val="F59E0B"/>
                </a:solidFill>
                <a:latin typeface="Cambria" pitchFamily="34" charset="0"/>
                <a:ea typeface="Cambria" pitchFamily="34" charset="-122"/>
                <a:cs typeface="Cambria" pitchFamily="34" charset="-120"/>
              </a:rPr>
              <a:t>Receipts  ·  Labels  ·  Tallies</a:t>
            </a:r>
            <a:endParaRPr lang="en-US" sz="1600" dirty="0"/>
          </a:p>
        </p:txBody>
      </p:sp>
      <p:sp>
        <p:nvSpPr>
          <p:cNvPr id="6" name="Text 4"/>
          <p:cNvSpPr txBox="1"/>
          <p:nvPr/>
        </p:nvSpPr>
        <p:spPr>
          <a:xfrm>
            <a:off x="548640" y="4343400"/>
            <a:ext cx="7315200" cy="27432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Emmanuel Naweji  ·  github.com/Here2ServeU/agent-cost-control</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APPENDIX A</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Exercises: do these before Module 3</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2</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34</a:t>
            </a:r>
            <a:endParaRPr lang="en-US" sz="900" dirty="0"/>
          </a:p>
        </p:txBody>
      </p:sp>
      <p:sp>
        <p:nvSpPr>
          <p:cNvPr id="6" name="Shape 4"/>
          <p:cNvSpPr/>
          <p:nvPr/>
        </p:nvSpPr>
        <p:spPr>
          <a:xfrm>
            <a:off x="457200" y="1371600"/>
            <a:ext cx="1554480" cy="1463040"/>
          </a:xfrm>
          <a:prstGeom prst="roundRect">
            <a:avLst>
              <a:gd name="adj" fmla="val 5000"/>
            </a:avLst>
          </a:prstGeom>
          <a:solidFill>
            <a:srgbClr val="F3F4F6"/>
          </a:solidFill>
          <a:ln w="12700">
            <a:solidFill>
              <a:srgbClr val="F3F4F6"/>
            </a:solidFill>
            <a:prstDash val="solid"/>
          </a:ln>
        </p:spPr>
      </p:sp>
      <p:sp>
        <p:nvSpPr>
          <p:cNvPr id="7" name="Text 5"/>
          <p:cNvSpPr txBox="1"/>
          <p:nvPr/>
        </p:nvSpPr>
        <p:spPr>
          <a:xfrm>
            <a:off x="594360" y="1481328"/>
            <a:ext cx="731520" cy="320040"/>
          </a:xfrm>
          <a:prstGeom prst="rect">
            <a:avLst/>
          </a:prstGeom>
          <a:noFill/>
          <a:ln/>
        </p:spPr>
        <p:txBody>
          <a:bodyPr wrap="square" lIns="0" tIns="0" rIns="0" bIns="0" rtlCol="0" anchor="t"/>
          <a:lstStyle/>
          <a:p>
            <a:pPr indent="0" marL="0">
              <a:buNone/>
            </a:pPr>
            <a:r>
              <a:rPr lang="en-US" sz="1800" b="1" dirty="0">
                <a:solidFill>
                  <a:srgbClr val="B45309"/>
                </a:solidFill>
                <a:latin typeface="Cambria" pitchFamily="34" charset="0"/>
                <a:ea typeface="Cambria" pitchFamily="34" charset="-122"/>
                <a:cs typeface="Cambria" pitchFamily="34" charset="-120"/>
              </a:rPr>
              <a:t>01</a:t>
            </a:r>
            <a:endParaRPr lang="en-US" sz="1800" dirty="0"/>
          </a:p>
        </p:txBody>
      </p:sp>
      <p:sp>
        <p:nvSpPr>
          <p:cNvPr id="8" name="Text 6"/>
          <p:cNvSpPr txBox="1"/>
          <p:nvPr/>
        </p:nvSpPr>
        <p:spPr>
          <a:xfrm>
            <a:off x="594360" y="1810512"/>
            <a:ext cx="1325880" cy="365760"/>
          </a:xfrm>
          <a:prstGeom prst="rect">
            <a:avLst/>
          </a:prstGeom>
          <a:noFill/>
          <a:ln/>
        </p:spPr>
        <p:txBody>
          <a:bodyPr wrap="square" lIns="0" tIns="0" rIns="0" bIns="0" rtlCol="0" anchor="t"/>
          <a:lstStyle/>
          <a:p>
            <a:pPr indent="0" marL="0">
              <a:buNone/>
            </a:pPr>
            <a:r>
              <a:rPr lang="en-US" sz="1100" b="1" dirty="0">
                <a:solidFill>
                  <a:srgbClr val="111827"/>
                </a:solidFill>
                <a:latin typeface="Calibri" pitchFamily="34" charset="0"/>
                <a:ea typeface="Calibri" pitchFamily="34" charset="-122"/>
                <a:cs typeface="Calibri" pitchFamily="34" charset="-120"/>
              </a:rPr>
              <a:t>Set up the venv</a:t>
            </a:r>
            <a:endParaRPr lang="en-US" sz="1100" dirty="0"/>
          </a:p>
        </p:txBody>
      </p:sp>
      <p:sp>
        <p:nvSpPr>
          <p:cNvPr id="9" name="Text 7"/>
          <p:cNvSpPr txBox="1"/>
          <p:nvPr/>
        </p:nvSpPr>
        <p:spPr>
          <a:xfrm>
            <a:off x="594360" y="2194560"/>
            <a:ext cx="1325880" cy="594360"/>
          </a:xfrm>
          <a:prstGeom prst="rect">
            <a:avLst/>
          </a:prstGeom>
          <a:noFill/>
          <a:ln/>
        </p:spPr>
        <p:txBody>
          <a:bodyPr wrap="square" lIns="0" tIns="0" rIns="0" bIns="0" rtlCol="0" anchor="t"/>
          <a:lstStyle/>
          <a:p>
            <a:pPr indent="0" marL="0">
              <a:buNone/>
            </a:pPr>
            <a:r>
              <a:rPr lang="en-US" sz="900" dirty="0">
                <a:solidFill>
                  <a:srgbClr val="6B7280"/>
                </a:solidFill>
                <a:latin typeface="Calibri" pitchFamily="34" charset="0"/>
                <a:ea typeface="Calibri" pitchFamily="34" charset="-122"/>
                <a:cs typeface="Calibri" pitchFamily="34" charset="-120"/>
              </a:rPr>
              <a:t>Create and activate .venv on your own machine; install prometheus-client inside it.</a:t>
            </a:r>
            <a:endParaRPr lang="en-US" sz="900" dirty="0"/>
          </a:p>
        </p:txBody>
      </p:sp>
      <p:sp>
        <p:nvSpPr>
          <p:cNvPr id="10" name="Shape 8"/>
          <p:cNvSpPr/>
          <p:nvPr/>
        </p:nvSpPr>
        <p:spPr>
          <a:xfrm>
            <a:off x="2130552" y="1371600"/>
            <a:ext cx="1554480" cy="1463040"/>
          </a:xfrm>
          <a:prstGeom prst="roundRect">
            <a:avLst>
              <a:gd name="adj" fmla="val 5000"/>
            </a:avLst>
          </a:prstGeom>
          <a:solidFill>
            <a:srgbClr val="F3F4F6"/>
          </a:solidFill>
          <a:ln w="12700">
            <a:solidFill>
              <a:srgbClr val="F3F4F6"/>
            </a:solidFill>
            <a:prstDash val="solid"/>
          </a:ln>
        </p:spPr>
      </p:sp>
      <p:sp>
        <p:nvSpPr>
          <p:cNvPr id="11" name="Text 9"/>
          <p:cNvSpPr txBox="1"/>
          <p:nvPr/>
        </p:nvSpPr>
        <p:spPr>
          <a:xfrm>
            <a:off x="2267712" y="1481328"/>
            <a:ext cx="731520" cy="320040"/>
          </a:xfrm>
          <a:prstGeom prst="rect">
            <a:avLst/>
          </a:prstGeom>
          <a:noFill/>
          <a:ln/>
        </p:spPr>
        <p:txBody>
          <a:bodyPr wrap="square" lIns="0" tIns="0" rIns="0" bIns="0" rtlCol="0" anchor="t"/>
          <a:lstStyle/>
          <a:p>
            <a:pPr indent="0" marL="0">
              <a:buNone/>
            </a:pPr>
            <a:r>
              <a:rPr lang="en-US" sz="1800" b="1" dirty="0">
                <a:solidFill>
                  <a:srgbClr val="B45309"/>
                </a:solidFill>
                <a:latin typeface="Cambria" pitchFamily="34" charset="0"/>
                <a:ea typeface="Cambria" pitchFamily="34" charset="-122"/>
                <a:cs typeface="Cambria" pitchFamily="34" charset="-120"/>
              </a:rPr>
              <a:t>02</a:t>
            </a:r>
            <a:endParaRPr lang="en-US" sz="1800" dirty="0"/>
          </a:p>
        </p:txBody>
      </p:sp>
      <p:sp>
        <p:nvSpPr>
          <p:cNvPr id="12" name="Text 10"/>
          <p:cNvSpPr txBox="1"/>
          <p:nvPr/>
        </p:nvSpPr>
        <p:spPr>
          <a:xfrm>
            <a:off x="2267712" y="1810512"/>
            <a:ext cx="1325880" cy="365760"/>
          </a:xfrm>
          <a:prstGeom prst="rect">
            <a:avLst/>
          </a:prstGeom>
          <a:noFill/>
          <a:ln/>
        </p:spPr>
        <p:txBody>
          <a:bodyPr wrap="square" lIns="0" tIns="0" rIns="0" bIns="0" rtlCol="0" anchor="t"/>
          <a:lstStyle/>
          <a:p>
            <a:pPr indent="0" marL="0">
              <a:buNone/>
            </a:pPr>
            <a:r>
              <a:rPr lang="en-US" sz="1100" b="1" dirty="0">
                <a:solidFill>
                  <a:srgbClr val="111827"/>
                </a:solidFill>
                <a:latin typeface="Calibri" pitchFamily="34" charset="0"/>
                <a:ea typeface="Calibri" pitchFamily="34" charset="-122"/>
                <a:cs typeface="Calibri" pitchFamily="34" charset="-120"/>
              </a:rPr>
              <a:t>Prove you are inside it</a:t>
            </a:r>
            <a:endParaRPr lang="en-US" sz="1100" dirty="0"/>
          </a:p>
        </p:txBody>
      </p:sp>
      <p:sp>
        <p:nvSpPr>
          <p:cNvPr id="13" name="Text 11"/>
          <p:cNvSpPr txBox="1"/>
          <p:nvPr/>
        </p:nvSpPr>
        <p:spPr>
          <a:xfrm>
            <a:off x="2267712" y="2194560"/>
            <a:ext cx="1325880" cy="594360"/>
          </a:xfrm>
          <a:prstGeom prst="rect">
            <a:avLst/>
          </a:prstGeom>
          <a:noFill/>
          <a:ln/>
        </p:spPr>
        <p:txBody>
          <a:bodyPr wrap="square" lIns="0" tIns="0" rIns="0" bIns="0" rtlCol="0" anchor="t"/>
          <a:lstStyle/>
          <a:p>
            <a:pPr indent="0" marL="0">
              <a:buNone/>
            </a:pPr>
            <a:r>
              <a:rPr lang="en-US" sz="900" dirty="0">
                <a:solidFill>
                  <a:srgbClr val="6B7280"/>
                </a:solidFill>
                <a:latin typeface="Calibri" pitchFamily="34" charset="0"/>
                <a:ea typeface="Calibri" pitchFamily="34" charset="-122"/>
                <a:cs typeface="Calibri" pitchFamily="34" charset="-120"/>
              </a:rPr>
              <a:t>which python on Mac, where python on Windows. The path must point into .venv.</a:t>
            </a:r>
            <a:endParaRPr lang="en-US" sz="900" dirty="0"/>
          </a:p>
        </p:txBody>
      </p:sp>
      <p:sp>
        <p:nvSpPr>
          <p:cNvPr id="14" name="Shape 12"/>
          <p:cNvSpPr/>
          <p:nvPr/>
        </p:nvSpPr>
        <p:spPr>
          <a:xfrm>
            <a:off x="3803904" y="1371600"/>
            <a:ext cx="1554480" cy="1463040"/>
          </a:xfrm>
          <a:prstGeom prst="roundRect">
            <a:avLst>
              <a:gd name="adj" fmla="val 5000"/>
            </a:avLst>
          </a:prstGeom>
          <a:solidFill>
            <a:srgbClr val="F3F4F6"/>
          </a:solidFill>
          <a:ln w="12700">
            <a:solidFill>
              <a:srgbClr val="F3F4F6"/>
            </a:solidFill>
            <a:prstDash val="solid"/>
          </a:ln>
        </p:spPr>
      </p:sp>
      <p:sp>
        <p:nvSpPr>
          <p:cNvPr id="15" name="Text 13"/>
          <p:cNvSpPr txBox="1"/>
          <p:nvPr/>
        </p:nvSpPr>
        <p:spPr>
          <a:xfrm>
            <a:off x="3941064" y="1481328"/>
            <a:ext cx="731520" cy="320040"/>
          </a:xfrm>
          <a:prstGeom prst="rect">
            <a:avLst/>
          </a:prstGeom>
          <a:noFill/>
          <a:ln/>
        </p:spPr>
        <p:txBody>
          <a:bodyPr wrap="square" lIns="0" tIns="0" rIns="0" bIns="0" rtlCol="0" anchor="t"/>
          <a:lstStyle/>
          <a:p>
            <a:pPr indent="0" marL="0">
              <a:buNone/>
            </a:pPr>
            <a:r>
              <a:rPr lang="en-US" sz="1800" b="1" dirty="0">
                <a:solidFill>
                  <a:srgbClr val="B45309"/>
                </a:solidFill>
                <a:latin typeface="Cambria" pitchFamily="34" charset="0"/>
                <a:ea typeface="Cambria" pitchFamily="34" charset="-122"/>
                <a:cs typeface="Cambria" pitchFamily="34" charset="-120"/>
              </a:rPr>
              <a:t>03</a:t>
            </a:r>
            <a:endParaRPr lang="en-US" sz="1800" dirty="0"/>
          </a:p>
        </p:txBody>
      </p:sp>
      <p:sp>
        <p:nvSpPr>
          <p:cNvPr id="16" name="Text 14"/>
          <p:cNvSpPr txBox="1"/>
          <p:nvPr/>
        </p:nvSpPr>
        <p:spPr>
          <a:xfrm>
            <a:off x="3941064" y="1810512"/>
            <a:ext cx="1325880" cy="365760"/>
          </a:xfrm>
          <a:prstGeom prst="rect">
            <a:avLst/>
          </a:prstGeom>
          <a:noFill/>
          <a:ln/>
        </p:spPr>
        <p:txBody>
          <a:bodyPr wrap="square" lIns="0" tIns="0" rIns="0" bIns="0" rtlCol="0" anchor="t"/>
          <a:lstStyle/>
          <a:p>
            <a:pPr indent="0" marL="0">
              <a:buNone/>
            </a:pPr>
            <a:r>
              <a:rPr lang="en-US" sz="1100" b="1" dirty="0">
                <a:solidFill>
                  <a:srgbClr val="111827"/>
                </a:solidFill>
                <a:latin typeface="Calibri" pitchFamily="34" charset="0"/>
                <a:ea typeface="Calibri" pitchFamily="34" charset="-122"/>
                <a:cs typeface="Calibri" pitchFamily="34" charset="-120"/>
              </a:rPr>
              <a:t>Find the receipt</a:t>
            </a:r>
            <a:endParaRPr lang="en-US" sz="1100" dirty="0"/>
          </a:p>
        </p:txBody>
      </p:sp>
      <p:sp>
        <p:nvSpPr>
          <p:cNvPr id="17" name="Text 15"/>
          <p:cNvSpPr txBox="1"/>
          <p:nvPr/>
        </p:nvSpPr>
        <p:spPr>
          <a:xfrm>
            <a:off x="3941064" y="2194560"/>
            <a:ext cx="1325880" cy="594360"/>
          </a:xfrm>
          <a:prstGeom prst="rect">
            <a:avLst/>
          </a:prstGeom>
          <a:noFill/>
          <a:ln/>
        </p:spPr>
        <p:txBody>
          <a:bodyPr wrap="square" lIns="0" tIns="0" rIns="0" bIns="0" rtlCol="0" anchor="t"/>
          <a:lstStyle/>
          <a:p>
            <a:pPr indent="0" marL="0">
              <a:buNone/>
            </a:pPr>
            <a:r>
              <a:rPr lang="en-US" sz="900" dirty="0">
                <a:solidFill>
                  <a:srgbClr val="6B7280"/>
                </a:solidFill>
                <a:latin typeface="Calibri" pitchFamily="34" charset="0"/>
                <a:ea typeface="Calibri" pitchFamily="34" charset="-122"/>
                <a:cs typeface="Calibri" pitchFamily="34" charset="-120"/>
              </a:rPr>
              <a:t>Print a whole response object and find the usage block with your own eyes.</a:t>
            </a:r>
            <a:endParaRPr lang="en-US" sz="900" dirty="0"/>
          </a:p>
        </p:txBody>
      </p:sp>
      <p:sp>
        <p:nvSpPr>
          <p:cNvPr id="18" name="Shape 16"/>
          <p:cNvSpPr/>
          <p:nvPr/>
        </p:nvSpPr>
        <p:spPr>
          <a:xfrm>
            <a:off x="5477256" y="1371600"/>
            <a:ext cx="1554480" cy="1463040"/>
          </a:xfrm>
          <a:prstGeom prst="roundRect">
            <a:avLst>
              <a:gd name="adj" fmla="val 5000"/>
            </a:avLst>
          </a:prstGeom>
          <a:solidFill>
            <a:srgbClr val="F3F4F6"/>
          </a:solidFill>
          <a:ln w="12700">
            <a:solidFill>
              <a:srgbClr val="F3F4F6"/>
            </a:solidFill>
            <a:prstDash val="solid"/>
          </a:ln>
        </p:spPr>
      </p:sp>
      <p:sp>
        <p:nvSpPr>
          <p:cNvPr id="19" name="Text 17"/>
          <p:cNvSpPr txBox="1"/>
          <p:nvPr/>
        </p:nvSpPr>
        <p:spPr>
          <a:xfrm>
            <a:off x="5614416" y="1481328"/>
            <a:ext cx="731520" cy="320040"/>
          </a:xfrm>
          <a:prstGeom prst="rect">
            <a:avLst/>
          </a:prstGeom>
          <a:noFill/>
          <a:ln/>
        </p:spPr>
        <p:txBody>
          <a:bodyPr wrap="square" lIns="0" tIns="0" rIns="0" bIns="0" rtlCol="0" anchor="t"/>
          <a:lstStyle/>
          <a:p>
            <a:pPr indent="0" marL="0">
              <a:buNone/>
            </a:pPr>
            <a:r>
              <a:rPr lang="en-US" sz="1800" b="1" dirty="0">
                <a:solidFill>
                  <a:srgbClr val="B45309"/>
                </a:solidFill>
                <a:latin typeface="Cambria" pitchFamily="34" charset="0"/>
                <a:ea typeface="Cambria" pitchFamily="34" charset="-122"/>
                <a:cs typeface="Cambria" pitchFamily="34" charset="-120"/>
              </a:rPr>
              <a:t>04</a:t>
            </a:r>
            <a:endParaRPr lang="en-US" sz="1800" dirty="0"/>
          </a:p>
        </p:txBody>
      </p:sp>
      <p:sp>
        <p:nvSpPr>
          <p:cNvPr id="20" name="Text 18"/>
          <p:cNvSpPr txBox="1"/>
          <p:nvPr/>
        </p:nvSpPr>
        <p:spPr>
          <a:xfrm>
            <a:off x="5614416" y="1810512"/>
            <a:ext cx="1325880" cy="365760"/>
          </a:xfrm>
          <a:prstGeom prst="rect">
            <a:avLst/>
          </a:prstGeom>
          <a:noFill/>
          <a:ln/>
        </p:spPr>
        <p:txBody>
          <a:bodyPr wrap="square" lIns="0" tIns="0" rIns="0" bIns="0" rtlCol="0" anchor="t"/>
          <a:lstStyle/>
          <a:p>
            <a:pPr indent="0" marL="0">
              <a:buNone/>
            </a:pPr>
            <a:r>
              <a:rPr lang="en-US" sz="1100" b="1" dirty="0">
                <a:solidFill>
                  <a:srgbClr val="111827"/>
                </a:solidFill>
                <a:latin typeface="Calibri" pitchFamily="34" charset="0"/>
                <a:ea typeface="Calibri" pitchFamily="34" charset="-122"/>
                <a:cs typeface="Calibri" pitchFamily="34" charset="-120"/>
              </a:rPr>
              <a:t>Build the envelope</a:t>
            </a:r>
            <a:endParaRPr lang="en-US" sz="1100" dirty="0"/>
          </a:p>
        </p:txBody>
      </p:sp>
      <p:sp>
        <p:nvSpPr>
          <p:cNvPr id="21" name="Text 19"/>
          <p:cNvSpPr txBox="1"/>
          <p:nvPr/>
        </p:nvSpPr>
        <p:spPr>
          <a:xfrm>
            <a:off x="5614416" y="2194560"/>
            <a:ext cx="1325880" cy="594360"/>
          </a:xfrm>
          <a:prstGeom prst="rect">
            <a:avLst/>
          </a:prstGeom>
          <a:noFill/>
          <a:ln/>
        </p:spPr>
        <p:txBody>
          <a:bodyPr wrap="square" lIns="0" tIns="0" rIns="0" bIns="0" rtlCol="0" anchor="t"/>
          <a:lstStyle/>
          <a:p>
            <a:pPr indent="0" marL="0">
              <a:buNone/>
            </a:pPr>
            <a:r>
              <a:rPr lang="en-US" sz="900" dirty="0">
                <a:solidFill>
                  <a:srgbClr val="6B7280"/>
                </a:solidFill>
                <a:latin typeface="Calibri" pitchFamily="34" charset="0"/>
                <a:ea typeface="Calibri" pitchFamily="34" charset="-122"/>
                <a:cs typeface="Calibri" pitchFamily="34" charset="-120"/>
              </a:rPr>
              <a:t>Wrap the call; print the two counts. Same answers, same speed as before.</a:t>
            </a:r>
            <a:endParaRPr lang="en-US" sz="900" dirty="0"/>
          </a:p>
        </p:txBody>
      </p:sp>
      <p:sp>
        <p:nvSpPr>
          <p:cNvPr id="22" name="Shape 20"/>
          <p:cNvSpPr/>
          <p:nvPr/>
        </p:nvSpPr>
        <p:spPr>
          <a:xfrm>
            <a:off x="7150608" y="1371600"/>
            <a:ext cx="1554480" cy="1463040"/>
          </a:xfrm>
          <a:prstGeom prst="roundRect">
            <a:avLst>
              <a:gd name="adj" fmla="val 5000"/>
            </a:avLst>
          </a:prstGeom>
          <a:solidFill>
            <a:srgbClr val="F3F4F6"/>
          </a:solidFill>
          <a:ln w="12700">
            <a:solidFill>
              <a:srgbClr val="F3F4F6"/>
            </a:solidFill>
            <a:prstDash val="solid"/>
          </a:ln>
        </p:spPr>
      </p:sp>
      <p:sp>
        <p:nvSpPr>
          <p:cNvPr id="23" name="Text 21"/>
          <p:cNvSpPr txBox="1"/>
          <p:nvPr/>
        </p:nvSpPr>
        <p:spPr>
          <a:xfrm>
            <a:off x="7287768" y="1481328"/>
            <a:ext cx="731520" cy="320040"/>
          </a:xfrm>
          <a:prstGeom prst="rect">
            <a:avLst/>
          </a:prstGeom>
          <a:noFill/>
          <a:ln/>
        </p:spPr>
        <p:txBody>
          <a:bodyPr wrap="square" lIns="0" tIns="0" rIns="0" bIns="0" rtlCol="0" anchor="t"/>
          <a:lstStyle/>
          <a:p>
            <a:pPr indent="0" marL="0">
              <a:buNone/>
            </a:pPr>
            <a:r>
              <a:rPr lang="en-US" sz="1800" b="1" dirty="0">
                <a:solidFill>
                  <a:srgbClr val="B45309"/>
                </a:solidFill>
                <a:latin typeface="Cambria" pitchFamily="34" charset="0"/>
                <a:ea typeface="Cambria" pitchFamily="34" charset="-122"/>
                <a:cs typeface="Cambria" pitchFamily="34" charset="-120"/>
              </a:rPr>
              <a:t>05</a:t>
            </a:r>
            <a:endParaRPr lang="en-US" sz="1800" dirty="0"/>
          </a:p>
        </p:txBody>
      </p:sp>
      <p:sp>
        <p:nvSpPr>
          <p:cNvPr id="24" name="Text 22"/>
          <p:cNvSpPr txBox="1"/>
          <p:nvPr/>
        </p:nvSpPr>
        <p:spPr>
          <a:xfrm>
            <a:off x="7287768" y="1810512"/>
            <a:ext cx="1325880" cy="365760"/>
          </a:xfrm>
          <a:prstGeom prst="rect">
            <a:avLst/>
          </a:prstGeom>
          <a:noFill/>
          <a:ln/>
        </p:spPr>
        <p:txBody>
          <a:bodyPr wrap="square" lIns="0" tIns="0" rIns="0" bIns="0" rtlCol="0" anchor="t"/>
          <a:lstStyle/>
          <a:p>
            <a:pPr indent="0" marL="0">
              <a:buNone/>
            </a:pPr>
            <a:r>
              <a:rPr lang="en-US" sz="1100" b="1" dirty="0">
                <a:solidFill>
                  <a:srgbClr val="111827"/>
                </a:solidFill>
                <a:latin typeface="Calibri" pitchFamily="34" charset="0"/>
                <a:ea typeface="Calibri" pitchFamily="34" charset="-122"/>
                <a:cs typeface="Calibri" pitchFamily="34" charset="-120"/>
              </a:rPr>
              <a:t>Turn tokens into money</a:t>
            </a:r>
            <a:endParaRPr lang="en-US" sz="1100" dirty="0"/>
          </a:p>
        </p:txBody>
      </p:sp>
      <p:sp>
        <p:nvSpPr>
          <p:cNvPr id="25" name="Text 23"/>
          <p:cNvSpPr txBox="1"/>
          <p:nvPr/>
        </p:nvSpPr>
        <p:spPr>
          <a:xfrm>
            <a:off x="7287768" y="2194560"/>
            <a:ext cx="1325880" cy="594360"/>
          </a:xfrm>
          <a:prstGeom prst="rect">
            <a:avLst/>
          </a:prstGeom>
          <a:noFill/>
          <a:ln/>
        </p:spPr>
        <p:txBody>
          <a:bodyPr wrap="square" lIns="0" tIns="0" rIns="0" bIns="0" rtlCol="0" anchor="t"/>
          <a:lstStyle/>
          <a:p>
            <a:pPr indent="0" marL="0">
              <a:buNone/>
            </a:pPr>
            <a:r>
              <a:rPr lang="en-US" sz="900" dirty="0">
                <a:solidFill>
                  <a:srgbClr val="6B7280"/>
                </a:solidFill>
                <a:latin typeface="Calibri" pitchFamily="34" charset="0"/>
                <a:ea typeface="Calibri" pitchFamily="34" charset="-122"/>
                <a:cs typeface="Calibri" pitchFamily="34" charset="-120"/>
              </a:rPr>
              <a:t>Add the rates. Compare one run against your module 1 hand calculation.</a:t>
            </a:r>
            <a:endParaRPr lang="en-US" sz="900" dirty="0"/>
          </a:p>
        </p:txBody>
      </p:sp>
      <p:sp>
        <p:nvSpPr>
          <p:cNvPr id="26" name="Shape 24"/>
          <p:cNvSpPr/>
          <p:nvPr/>
        </p:nvSpPr>
        <p:spPr>
          <a:xfrm>
            <a:off x="457200" y="2971800"/>
            <a:ext cx="1554480" cy="1463040"/>
          </a:xfrm>
          <a:prstGeom prst="roundRect">
            <a:avLst>
              <a:gd name="adj" fmla="val 5000"/>
            </a:avLst>
          </a:prstGeom>
          <a:solidFill>
            <a:srgbClr val="F3F4F6"/>
          </a:solidFill>
          <a:ln w="12700">
            <a:solidFill>
              <a:srgbClr val="F3F4F6"/>
            </a:solidFill>
            <a:prstDash val="solid"/>
          </a:ln>
        </p:spPr>
      </p:sp>
      <p:sp>
        <p:nvSpPr>
          <p:cNvPr id="27" name="Text 25"/>
          <p:cNvSpPr txBox="1"/>
          <p:nvPr/>
        </p:nvSpPr>
        <p:spPr>
          <a:xfrm>
            <a:off x="594360" y="3081528"/>
            <a:ext cx="731520" cy="320040"/>
          </a:xfrm>
          <a:prstGeom prst="rect">
            <a:avLst/>
          </a:prstGeom>
          <a:noFill/>
          <a:ln/>
        </p:spPr>
        <p:txBody>
          <a:bodyPr wrap="square" lIns="0" tIns="0" rIns="0" bIns="0" rtlCol="0" anchor="t"/>
          <a:lstStyle/>
          <a:p>
            <a:pPr indent="0" marL="0">
              <a:buNone/>
            </a:pPr>
            <a:r>
              <a:rPr lang="en-US" sz="1800" b="1" dirty="0">
                <a:solidFill>
                  <a:srgbClr val="B45309"/>
                </a:solidFill>
                <a:latin typeface="Cambria" pitchFamily="34" charset="0"/>
                <a:ea typeface="Cambria" pitchFamily="34" charset="-122"/>
                <a:cs typeface="Cambria" pitchFamily="34" charset="-120"/>
              </a:rPr>
              <a:t>06</a:t>
            </a:r>
            <a:endParaRPr lang="en-US" sz="1800" dirty="0"/>
          </a:p>
        </p:txBody>
      </p:sp>
      <p:sp>
        <p:nvSpPr>
          <p:cNvPr id="28" name="Text 26"/>
          <p:cNvSpPr txBox="1"/>
          <p:nvPr/>
        </p:nvSpPr>
        <p:spPr>
          <a:xfrm>
            <a:off x="594360" y="3410712"/>
            <a:ext cx="1325880" cy="365760"/>
          </a:xfrm>
          <a:prstGeom prst="rect">
            <a:avLst/>
          </a:prstGeom>
          <a:noFill/>
          <a:ln/>
        </p:spPr>
        <p:txBody>
          <a:bodyPr wrap="square" lIns="0" tIns="0" rIns="0" bIns="0" rtlCol="0" anchor="t"/>
          <a:lstStyle/>
          <a:p>
            <a:pPr indent="0" marL="0">
              <a:buNone/>
            </a:pPr>
            <a:r>
              <a:rPr lang="en-US" sz="1100" b="1" dirty="0">
                <a:solidFill>
                  <a:srgbClr val="111827"/>
                </a:solidFill>
                <a:latin typeface="Calibri" pitchFamily="34" charset="0"/>
                <a:ea typeface="Calibri" pitchFamily="34" charset="-122"/>
                <a:cs typeface="Calibri" pitchFamily="34" charset="-120"/>
              </a:rPr>
              <a:t>Add the four labels</a:t>
            </a:r>
            <a:endParaRPr lang="en-US" sz="1100" dirty="0"/>
          </a:p>
        </p:txBody>
      </p:sp>
      <p:sp>
        <p:nvSpPr>
          <p:cNvPr id="29" name="Text 27"/>
          <p:cNvSpPr txBox="1"/>
          <p:nvPr/>
        </p:nvSpPr>
        <p:spPr>
          <a:xfrm>
            <a:off x="594360" y="3794760"/>
            <a:ext cx="1325880" cy="594360"/>
          </a:xfrm>
          <a:prstGeom prst="rect">
            <a:avLst/>
          </a:prstGeom>
          <a:noFill/>
          <a:ln/>
        </p:spPr>
        <p:txBody>
          <a:bodyPr wrap="square" lIns="0" tIns="0" rIns="0" bIns="0" rtlCol="0" anchor="t"/>
          <a:lstStyle/>
          <a:p>
            <a:pPr indent="0" marL="0">
              <a:buNone/>
            </a:pPr>
            <a:r>
              <a:rPr lang="en-US" sz="900" dirty="0">
                <a:solidFill>
                  <a:srgbClr val="6B7280"/>
                </a:solidFill>
                <a:latin typeface="Calibri" pitchFamily="34" charset="0"/>
                <a:ea typeface="Calibri" pitchFamily="34" charset="-122"/>
                <a:cs typeface="Calibri" pitchFamily="34" charset="-120"/>
              </a:rPr>
              <a:t>agent, team, run, result. Check the run ID stays the same across one run.</a:t>
            </a:r>
            <a:endParaRPr lang="en-US" sz="900" dirty="0"/>
          </a:p>
        </p:txBody>
      </p:sp>
      <p:sp>
        <p:nvSpPr>
          <p:cNvPr id="30" name="Shape 28"/>
          <p:cNvSpPr/>
          <p:nvPr/>
        </p:nvSpPr>
        <p:spPr>
          <a:xfrm>
            <a:off x="2130552" y="2971800"/>
            <a:ext cx="1554480" cy="1463040"/>
          </a:xfrm>
          <a:prstGeom prst="roundRect">
            <a:avLst>
              <a:gd name="adj" fmla="val 5000"/>
            </a:avLst>
          </a:prstGeom>
          <a:solidFill>
            <a:srgbClr val="F3F4F6"/>
          </a:solidFill>
          <a:ln w="12700">
            <a:solidFill>
              <a:srgbClr val="F3F4F6"/>
            </a:solidFill>
            <a:prstDash val="solid"/>
          </a:ln>
        </p:spPr>
      </p:sp>
      <p:sp>
        <p:nvSpPr>
          <p:cNvPr id="31" name="Text 29"/>
          <p:cNvSpPr txBox="1"/>
          <p:nvPr/>
        </p:nvSpPr>
        <p:spPr>
          <a:xfrm>
            <a:off x="2267712" y="3081528"/>
            <a:ext cx="731520" cy="320040"/>
          </a:xfrm>
          <a:prstGeom prst="rect">
            <a:avLst/>
          </a:prstGeom>
          <a:noFill/>
          <a:ln/>
        </p:spPr>
        <p:txBody>
          <a:bodyPr wrap="square" lIns="0" tIns="0" rIns="0" bIns="0" rtlCol="0" anchor="t"/>
          <a:lstStyle/>
          <a:p>
            <a:pPr indent="0" marL="0">
              <a:buNone/>
            </a:pPr>
            <a:r>
              <a:rPr lang="en-US" sz="1800" b="1" dirty="0">
                <a:solidFill>
                  <a:srgbClr val="B45309"/>
                </a:solidFill>
                <a:latin typeface="Cambria" pitchFamily="34" charset="0"/>
                <a:ea typeface="Cambria" pitchFamily="34" charset="-122"/>
                <a:cs typeface="Cambria" pitchFamily="34" charset="-120"/>
              </a:rPr>
              <a:t>07</a:t>
            </a:r>
            <a:endParaRPr lang="en-US" sz="1800" dirty="0"/>
          </a:p>
        </p:txBody>
      </p:sp>
      <p:sp>
        <p:nvSpPr>
          <p:cNvPr id="32" name="Text 30"/>
          <p:cNvSpPr txBox="1"/>
          <p:nvPr/>
        </p:nvSpPr>
        <p:spPr>
          <a:xfrm>
            <a:off x="2267712" y="3410712"/>
            <a:ext cx="1325880" cy="365760"/>
          </a:xfrm>
          <a:prstGeom prst="rect">
            <a:avLst/>
          </a:prstGeom>
          <a:noFill/>
          <a:ln/>
        </p:spPr>
        <p:txBody>
          <a:bodyPr wrap="square" lIns="0" tIns="0" rIns="0" bIns="0" rtlCol="0" anchor="t"/>
          <a:lstStyle/>
          <a:p>
            <a:pPr indent="0" marL="0">
              <a:buNone/>
            </a:pPr>
            <a:r>
              <a:rPr lang="en-US" sz="1100" b="1" dirty="0">
                <a:solidFill>
                  <a:srgbClr val="111827"/>
                </a:solidFill>
                <a:latin typeface="Calibri" pitchFamily="34" charset="0"/>
                <a:ea typeface="Calibri" pitchFamily="34" charset="-122"/>
                <a:cs typeface="Calibri" pitchFamily="34" charset="-120"/>
              </a:rPr>
              <a:t>Make the counter</a:t>
            </a:r>
            <a:endParaRPr lang="en-US" sz="1100" dirty="0"/>
          </a:p>
        </p:txBody>
      </p:sp>
      <p:sp>
        <p:nvSpPr>
          <p:cNvPr id="33" name="Text 31"/>
          <p:cNvSpPr txBox="1"/>
          <p:nvPr/>
        </p:nvSpPr>
        <p:spPr>
          <a:xfrm>
            <a:off x="2267712" y="3794760"/>
            <a:ext cx="1325880" cy="594360"/>
          </a:xfrm>
          <a:prstGeom prst="rect">
            <a:avLst/>
          </a:prstGeom>
          <a:noFill/>
          <a:ln/>
        </p:spPr>
        <p:txBody>
          <a:bodyPr wrap="square" lIns="0" tIns="0" rIns="0" bIns="0" rtlCol="0" anchor="t"/>
          <a:lstStyle/>
          <a:p>
            <a:pPr indent="0" marL="0">
              <a:buNone/>
            </a:pPr>
            <a:r>
              <a:rPr lang="en-US" sz="900" dirty="0">
                <a:solidFill>
                  <a:srgbClr val="6B7280"/>
                </a:solidFill>
                <a:latin typeface="Calibri" pitchFamily="34" charset="0"/>
                <a:ea typeface="Calibri" pitchFamily="34" charset="-122"/>
                <a:cs typeface="Calibri" pitchFamily="34" charset="-120"/>
              </a:rPr>
              <a:t>Create the counters, add to them in the envelope, expose /metrics, curl it.</a:t>
            </a:r>
            <a:endParaRPr lang="en-US" sz="900" dirty="0"/>
          </a:p>
        </p:txBody>
      </p:sp>
      <p:sp>
        <p:nvSpPr>
          <p:cNvPr id="34" name="Shape 32"/>
          <p:cNvSpPr/>
          <p:nvPr/>
        </p:nvSpPr>
        <p:spPr>
          <a:xfrm>
            <a:off x="3803904" y="2971800"/>
            <a:ext cx="1554480" cy="1463040"/>
          </a:xfrm>
          <a:prstGeom prst="roundRect">
            <a:avLst>
              <a:gd name="adj" fmla="val 5000"/>
            </a:avLst>
          </a:prstGeom>
          <a:solidFill>
            <a:srgbClr val="F3F4F6"/>
          </a:solidFill>
          <a:ln w="12700">
            <a:solidFill>
              <a:srgbClr val="F3F4F6"/>
            </a:solidFill>
            <a:prstDash val="solid"/>
          </a:ln>
        </p:spPr>
      </p:sp>
      <p:sp>
        <p:nvSpPr>
          <p:cNvPr id="35" name="Text 33"/>
          <p:cNvSpPr txBox="1"/>
          <p:nvPr/>
        </p:nvSpPr>
        <p:spPr>
          <a:xfrm>
            <a:off x="3941064" y="3081528"/>
            <a:ext cx="731520" cy="320040"/>
          </a:xfrm>
          <a:prstGeom prst="rect">
            <a:avLst/>
          </a:prstGeom>
          <a:noFill/>
          <a:ln/>
        </p:spPr>
        <p:txBody>
          <a:bodyPr wrap="square" lIns="0" tIns="0" rIns="0" bIns="0" rtlCol="0" anchor="t"/>
          <a:lstStyle/>
          <a:p>
            <a:pPr indent="0" marL="0">
              <a:buNone/>
            </a:pPr>
            <a:r>
              <a:rPr lang="en-US" sz="1800" b="1" dirty="0">
                <a:solidFill>
                  <a:srgbClr val="B45309"/>
                </a:solidFill>
                <a:latin typeface="Cambria" pitchFamily="34" charset="0"/>
                <a:ea typeface="Cambria" pitchFamily="34" charset="-122"/>
                <a:cs typeface="Cambria" pitchFamily="34" charset="-120"/>
              </a:rPr>
              <a:t>08</a:t>
            </a:r>
            <a:endParaRPr lang="en-US" sz="1800" dirty="0"/>
          </a:p>
        </p:txBody>
      </p:sp>
      <p:sp>
        <p:nvSpPr>
          <p:cNvPr id="36" name="Text 34"/>
          <p:cNvSpPr txBox="1"/>
          <p:nvPr/>
        </p:nvSpPr>
        <p:spPr>
          <a:xfrm>
            <a:off x="3941064" y="3410712"/>
            <a:ext cx="1325880" cy="365760"/>
          </a:xfrm>
          <a:prstGeom prst="rect">
            <a:avLst/>
          </a:prstGeom>
          <a:noFill/>
          <a:ln/>
        </p:spPr>
        <p:txBody>
          <a:bodyPr wrap="square" lIns="0" tIns="0" rIns="0" bIns="0" rtlCol="0" anchor="t"/>
          <a:lstStyle/>
          <a:p>
            <a:pPr indent="0" marL="0">
              <a:buNone/>
            </a:pPr>
            <a:r>
              <a:rPr lang="en-US" sz="1100" b="1" dirty="0">
                <a:solidFill>
                  <a:srgbClr val="111827"/>
                </a:solidFill>
                <a:latin typeface="Calibri" pitchFamily="34" charset="0"/>
                <a:ea typeface="Calibri" pitchFamily="34" charset="-122"/>
                <a:cs typeface="Calibri" pitchFamily="34" charset="-120"/>
              </a:rPr>
              <a:t>Watch a tally grow</a:t>
            </a:r>
            <a:endParaRPr lang="en-US" sz="1100" dirty="0"/>
          </a:p>
        </p:txBody>
      </p:sp>
      <p:sp>
        <p:nvSpPr>
          <p:cNvPr id="37" name="Text 35"/>
          <p:cNvSpPr txBox="1"/>
          <p:nvPr/>
        </p:nvSpPr>
        <p:spPr>
          <a:xfrm>
            <a:off x="3941064" y="3794760"/>
            <a:ext cx="1325880" cy="594360"/>
          </a:xfrm>
          <a:prstGeom prst="rect">
            <a:avLst/>
          </a:prstGeom>
          <a:noFill/>
          <a:ln/>
        </p:spPr>
        <p:txBody>
          <a:bodyPr wrap="square" lIns="0" tIns="0" rIns="0" bIns="0" rtlCol="0" anchor="t"/>
          <a:lstStyle/>
          <a:p>
            <a:pPr indent="0" marL="0">
              <a:buNone/>
            </a:pPr>
            <a:r>
              <a:rPr lang="en-US" sz="900" dirty="0">
                <a:solidFill>
                  <a:srgbClr val="6B7280"/>
                </a:solidFill>
                <a:latin typeface="Calibri" pitchFamily="34" charset="0"/>
                <a:ea typeface="Calibri" pitchFamily="34" charset="-122"/>
                <a:cs typeface="Calibri" pitchFamily="34" charset="-120"/>
              </a:rPr>
              <a:t>Run five times, curl between each. Write the number down. It only goes up.</a:t>
            </a:r>
            <a:endParaRPr lang="en-US" sz="900" dirty="0"/>
          </a:p>
        </p:txBody>
      </p:sp>
      <p:sp>
        <p:nvSpPr>
          <p:cNvPr id="38" name="Shape 36"/>
          <p:cNvSpPr/>
          <p:nvPr/>
        </p:nvSpPr>
        <p:spPr>
          <a:xfrm>
            <a:off x="5477256" y="2971800"/>
            <a:ext cx="1554480" cy="1463040"/>
          </a:xfrm>
          <a:prstGeom prst="roundRect">
            <a:avLst>
              <a:gd name="adj" fmla="val 5000"/>
            </a:avLst>
          </a:prstGeom>
          <a:solidFill>
            <a:srgbClr val="111827"/>
          </a:solidFill>
          <a:ln w="12700">
            <a:solidFill>
              <a:srgbClr val="111827"/>
            </a:solidFill>
            <a:prstDash val="solid"/>
          </a:ln>
        </p:spPr>
      </p:sp>
      <p:sp>
        <p:nvSpPr>
          <p:cNvPr id="39" name="Text 37"/>
          <p:cNvSpPr txBox="1"/>
          <p:nvPr/>
        </p:nvSpPr>
        <p:spPr>
          <a:xfrm>
            <a:off x="5614416" y="3081528"/>
            <a:ext cx="731520" cy="320040"/>
          </a:xfrm>
          <a:prstGeom prst="rect">
            <a:avLst/>
          </a:prstGeom>
          <a:noFill/>
          <a:ln/>
        </p:spPr>
        <p:txBody>
          <a:bodyPr wrap="square" lIns="0" tIns="0" rIns="0" bIns="0" rtlCol="0" anchor="t"/>
          <a:lstStyle/>
          <a:p>
            <a:pPr indent="0" marL="0">
              <a:buNone/>
            </a:pPr>
            <a:r>
              <a:rPr lang="en-US" sz="1800" b="1" dirty="0">
                <a:solidFill>
                  <a:srgbClr val="F59E0B"/>
                </a:solidFill>
                <a:latin typeface="Cambria" pitchFamily="34" charset="0"/>
                <a:ea typeface="Cambria" pitchFamily="34" charset="-122"/>
                <a:cs typeface="Cambria" pitchFamily="34" charset="-120"/>
              </a:rPr>
              <a:t>09</a:t>
            </a:r>
            <a:endParaRPr lang="en-US" sz="1800" dirty="0"/>
          </a:p>
        </p:txBody>
      </p:sp>
      <p:sp>
        <p:nvSpPr>
          <p:cNvPr id="40" name="Text 38"/>
          <p:cNvSpPr txBox="1"/>
          <p:nvPr/>
        </p:nvSpPr>
        <p:spPr>
          <a:xfrm>
            <a:off x="5614416" y="3410712"/>
            <a:ext cx="1325880" cy="365760"/>
          </a:xfrm>
          <a:prstGeom prst="rect">
            <a:avLst/>
          </a:prstGeom>
          <a:noFill/>
          <a:ln/>
        </p:spPr>
        <p:txBody>
          <a:bodyPr wrap="square" lIns="0" tIns="0" rIns="0" bIns="0" rtlCol="0" anchor="t"/>
          <a:lstStyle/>
          <a:p>
            <a:pPr indent="0" marL="0">
              <a:buNone/>
            </a:pPr>
            <a:r>
              <a:rPr lang="en-US" sz="1100" b="1" dirty="0">
                <a:solidFill>
                  <a:srgbClr val="FFFFFF"/>
                </a:solidFill>
                <a:latin typeface="Calibri" pitchFamily="34" charset="0"/>
                <a:ea typeface="Calibri" pitchFamily="34" charset="-122"/>
                <a:cs typeface="Calibri" pitchFamily="34" charset="-120"/>
              </a:rPr>
              <a:t>Instrument the runaway</a:t>
            </a:r>
            <a:endParaRPr lang="en-US" sz="1100" dirty="0"/>
          </a:p>
        </p:txBody>
      </p:sp>
      <p:sp>
        <p:nvSpPr>
          <p:cNvPr id="41" name="Text 39"/>
          <p:cNvSpPr txBox="1"/>
          <p:nvPr/>
        </p:nvSpPr>
        <p:spPr>
          <a:xfrm>
            <a:off x="5614416" y="3794760"/>
            <a:ext cx="1325880" cy="594360"/>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Malformed input, 120-second timeout, instrumentation on. Watch cost climb.</a:t>
            </a:r>
            <a:endParaRPr lang="en-US" sz="900" dirty="0"/>
          </a:p>
        </p:txBody>
      </p:sp>
      <p:sp>
        <p:nvSpPr>
          <p:cNvPr id="42" name="Shape 40"/>
          <p:cNvSpPr/>
          <p:nvPr/>
        </p:nvSpPr>
        <p:spPr>
          <a:xfrm>
            <a:off x="7150608" y="2971800"/>
            <a:ext cx="1554480" cy="1463040"/>
          </a:xfrm>
          <a:prstGeom prst="roundRect">
            <a:avLst>
              <a:gd name="adj" fmla="val 5000"/>
            </a:avLst>
          </a:prstGeom>
          <a:solidFill>
            <a:srgbClr val="F3F4F6"/>
          </a:solidFill>
          <a:ln w="12700">
            <a:solidFill>
              <a:srgbClr val="F3F4F6"/>
            </a:solidFill>
            <a:prstDash val="solid"/>
          </a:ln>
        </p:spPr>
      </p:sp>
      <p:sp>
        <p:nvSpPr>
          <p:cNvPr id="43" name="Text 41"/>
          <p:cNvSpPr txBox="1"/>
          <p:nvPr/>
        </p:nvSpPr>
        <p:spPr>
          <a:xfrm>
            <a:off x="7287768" y="3081528"/>
            <a:ext cx="731520" cy="320040"/>
          </a:xfrm>
          <a:prstGeom prst="rect">
            <a:avLst/>
          </a:prstGeom>
          <a:noFill/>
          <a:ln/>
        </p:spPr>
        <p:txBody>
          <a:bodyPr wrap="square" lIns="0" tIns="0" rIns="0" bIns="0" rtlCol="0" anchor="t"/>
          <a:lstStyle/>
          <a:p>
            <a:pPr indent="0" marL="0">
              <a:buNone/>
            </a:pPr>
            <a:r>
              <a:rPr lang="en-US" sz="1800" b="1" dirty="0">
                <a:solidFill>
                  <a:srgbClr val="B45309"/>
                </a:solidFill>
                <a:latin typeface="Cambria" pitchFamily="34" charset="0"/>
                <a:ea typeface="Cambria" pitchFamily="34" charset="-122"/>
                <a:cs typeface="Cambria" pitchFamily="34" charset="-120"/>
              </a:rPr>
              <a:t>10</a:t>
            </a:r>
            <a:endParaRPr lang="en-US" sz="1800" dirty="0"/>
          </a:p>
        </p:txBody>
      </p:sp>
      <p:sp>
        <p:nvSpPr>
          <p:cNvPr id="44" name="Text 42"/>
          <p:cNvSpPr txBox="1"/>
          <p:nvPr/>
        </p:nvSpPr>
        <p:spPr>
          <a:xfrm>
            <a:off x="7287768" y="3410712"/>
            <a:ext cx="1325880" cy="365760"/>
          </a:xfrm>
          <a:prstGeom prst="rect">
            <a:avLst/>
          </a:prstGeom>
          <a:noFill/>
          <a:ln/>
        </p:spPr>
        <p:txBody>
          <a:bodyPr wrap="square" lIns="0" tIns="0" rIns="0" bIns="0" rtlCol="0" anchor="t"/>
          <a:lstStyle/>
          <a:p>
            <a:pPr indent="0" marL="0">
              <a:buNone/>
            </a:pPr>
            <a:r>
              <a:rPr lang="en-US" sz="1100" b="1" dirty="0">
                <a:solidFill>
                  <a:srgbClr val="111827"/>
                </a:solidFill>
                <a:latin typeface="Calibri" pitchFamily="34" charset="0"/>
                <a:ea typeface="Calibri" pitchFamily="34" charset="-122"/>
                <a:cs typeface="Calibri" pitchFamily="34" charset="-120"/>
              </a:rPr>
              <a:t>Try a bad label</a:t>
            </a:r>
            <a:endParaRPr lang="en-US" sz="1100" dirty="0"/>
          </a:p>
        </p:txBody>
      </p:sp>
      <p:sp>
        <p:nvSpPr>
          <p:cNvPr id="45" name="Text 43"/>
          <p:cNvSpPr txBox="1"/>
          <p:nvPr/>
        </p:nvSpPr>
        <p:spPr>
          <a:xfrm>
            <a:off x="7287768" y="3794760"/>
            <a:ext cx="1325880" cy="594360"/>
          </a:xfrm>
          <a:prstGeom prst="rect">
            <a:avLst/>
          </a:prstGeom>
          <a:noFill/>
          <a:ln/>
        </p:spPr>
        <p:txBody>
          <a:bodyPr wrap="square" lIns="0" tIns="0" rIns="0" bIns="0" rtlCol="0" anchor="t"/>
          <a:lstStyle/>
          <a:p>
            <a:pPr indent="0" marL="0">
              <a:buNone/>
            </a:pPr>
            <a:r>
              <a:rPr lang="en-US" sz="900" dirty="0">
                <a:solidFill>
                  <a:srgbClr val="6B7280"/>
                </a:solidFill>
                <a:latin typeface="Calibri" pitchFamily="34" charset="0"/>
                <a:ea typeface="Calibri" pitchFamily="34" charset="-122"/>
                <a:cs typeface="Calibri" pitchFamily="34" charset="-120"/>
              </a:rPr>
              <a:t>Add a timestamp label on purpose, run twenty times, watch the output grow. Then remove it.</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APPENDIX B · EVERY WORD WE USED, IN PLAIN ENGLISH</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Glossary: the receipt</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2</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35</a:t>
            </a:r>
            <a:endParaRPr lang="en-US" sz="900" dirty="0"/>
          </a:p>
        </p:txBody>
      </p:sp>
      <p:sp>
        <p:nvSpPr>
          <p:cNvPr id="6" name="Shape 4"/>
          <p:cNvSpPr/>
          <p:nvPr/>
        </p:nvSpPr>
        <p:spPr>
          <a:xfrm>
            <a:off x="457200" y="1325880"/>
            <a:ext cx="1938528" cy="1481328"/>
          </a:xfrm>
          <a:prstGeom prst="roundRect">
            <a:avLst>
              <a:gd name="adj" fmla="val 4938"/>
            </a:avLst>
          </a:prstGeom>
          <a:solidFill>
            <a:srgbClr val="F3F4F6"/>
          </a:solidFill>
          <a:ln w="12700">
            <a:solidFill>
              <a:srgbClr val="F3F4F6"/>
            </a:solidFill>
            <a:prstDash val="solid"/>
          </a:ln>
        </p:spPr>
      </p:sp>
      <p:sp>
        <p:nvSpPr>
          <p:cNvPr id="7" name="Text 5"/>
          <p:cNvSpPr txBox="1"/>
          <p:nvPr/>
        </p:nvSpPr>
        <p:spPr>
          <a:xfrm>
            <a:off x="621792" y="1435608"/>
            <a:ext cx="548640" cy="274320"/>
          </a:xfrm>
          <a:prstGeom prst="rect">
            <a:avLst/>
          </a:prstGeom>
          <a:noFill/>
          <a:ln/>
        </p:spPr>
        <p:txBody>
          <a:bodyPr wrap="square" lIns="0" tIns="0" rIns="0" bIns="0" rtlCol="0" anchor="t"/>
          <a:lstStyle/>
          <a:p>
            <a:pPr indent="0" marL="0">
              <a:buNone/>
            </a:pPr>
            <a:r>
              <a:rPr lang="en-US" sz="1100" b="1" dirty="0">
                <a:solidFill>
                  <a:srgbClr val="B45309"/>
                </a:solidFill>
                <a:latin typeface="Calibri" pitchFamily="34" charset="0"/>
                <a:ea typeface="Calibri" pitchFamily="34" charset="-122"/>
                <a:cs typeface="Calibri" pitchFamily="34" charset="-120"/>
              </a:rPr>
              <a:t>01</a:t>
            </a:r>
            <a:endParaRPr lang="en-US" sz="1100" dirty="0"/>
          </a:p>
        </p:txBody>
      </p:sp>
      <p:sp>
        <p:nvSpPr>
          <p:cNvPr id="8" name="Text 6"/>
          <p:cNvSpPr txBox="1"/>
          <p:nvPr/>
        </p:nvSpPr>
        <p:spPr>
          <a:xfrm>
            <a:off x="621792" y="1709928"/>
            <a:ext cx="1691640" cy="411480"/>
          </a:xfrm>
          <a:prstGeom prst="rect">
            <a:avLst/>
          </a:prstGeom>
          <a:noFill/>
          <a:ln/>
        </p:spPr>
        <p:txBody>
          <a:bodyPr wrap="square" lIns="0" tIns="0" rIns="0" bIns="0" rtlCol="0" anchor="t"/>
          <a:lstStyle/>
          <a:p>
            <a:pPr indent="0" marL="0">
              <a:buNone/>
            </a:pPr>
            <a:r>
              <a:rPr lang="en-US" sz="1250" b="1" dirty="0">
                <a:solidFill>
                  <a:srgbClr val="111827"/>
                </a:solidFill>
                <a:latin typeface="Calibri" pitchFamily="34" charset="0"/>
                <a:ea typeface="Calibri" pitchFamily="34" charset="-122"/>
                <a:cs typeface="Calibri" pitchFamily="34" charset="-120"/>
              </a:rPr>
              <a:t>Instrumentation</a:t>
            </a:r>
            <a:endParaRPr lang="en-US" sz="1250" dirty="0"/>
          </a:p>
        </p:txBody>
      </p:sp>
      <p:sp>
        <p:nvSpPr>
          <p:cNvPr id="9" name="Text 7"/>
          <p:cNvSpPr txBox="1"/>
          <p:nvPr/>
        </p:nvSpPr>
        <p:spPr>
          <a:xfrm>
            <a:off x="621792" y="2148840"/>
            <a:ext cx="1664208" cy="621792"/>
          </a:xfrm>
          <a:prstGeom prst="rect">
            <a:avLst/>
          </a:prstGeom>
          <a:noFill/>
          <a:ln/>
        </p:spPr>
        <p:txBody>
          <a:bodyPr wrap="square" lIns="0" tIns="0" rIns="0" bIns="0" rtlCol="0" anchor="t"/>
          <a:lstStyle/>
          <a:p>
            <a:pPr indent="0" marL="0">
              <a:buNone/>
            </a:pPr>
            <a:r>
              <a:rPr lang="en-US" sz="950" dirty="0">
                <a:solidFill>
                  <a:srgbClr val="6B7280"/>
                </a:solidFill>
                <a:latin typeface="Calibri" pitchFamily="34" charset="0"/>
                <a:ea typeface="Calibri" pitchFamily="34" charset="-122"/>
                <a:cs typeface="Calibri" pitchFamily="34" charset="-120"/>
              </a:rPr>
              <a:t>Code that records facts about your program's own behaviour; here, a receipt each time money is spent.</a:t>
            </a:r>
            <a:endParaRPr lang="en-US" sz="950" dirty="0"/>
          </a:p>
        </p:txBody>
      </p:sp>
      <p:sp>
        <p:nvSpPr>
          <p:cNvPr id="10" name="Shape 8"/>
          <p:cNvSpPr/>
          <p:nvPr/>
        </p:nvSpPr>
        <p:spPr>
          <a:xfrm>
            <a:off x="2542032" y="1325880"/>
            <a:ext cx="1938528" cy="1481328"/>
          </a:xfrm>
          <a:prstGeom prst="roundRect">
            <a:avLst>
              <a:gd name="adj" fmla="val 4938"/>
            </a:avLst>
          </a:prstGeom>
          <a:solidFill>
            <a:srgbClr val="F3F4F6"/>
          </a:solidFill>
          <a:ln w="12700">
            <a:solidFill>
              <a:srgbClr val="F3F4F6"/>
            </a:solidFill>
            <a:prstDash val="solid"/>
          </a:ln>
        </p:spPr>
      </p:sp>
      <p:sp>
        <p:nvSpPr>
          <p:cNvPr id="11" name="Text 9"/>
          <p:cNvSpPr txBox="1"/>
          <p:nvPr/>
        </p:nvSpPr>
        <p:spPr>
          <a:xfrm>
            <a:off x="2706624" y="1435608"/>
            <a:ext cx="548640" cy="274320"/>
          </a:xfrm>
          <a:prstGeom prst="rect">
            <a:avLst/>
          </a:prstGeom>
          <a:noFill/>
          <a:ln/>
        </p:spPr>
        <p:txBody>
          <a:bodyPr wrap="square" lIns="0" tIns="0" rIns="0" bIns="0" rtlCol="0" anchor="t"/>
          <a:lstStyle/>
          <a:p>
            <a:pPr indent="0" marL="0">
              <a:buNone/>
            </a:pPr>
            <a:r>
              <a:rPr lang="en-US" sz="1100" b="1" dirty="0">
                <a:solidFill>
                  <a:srgbClr val="B45309"/>
                </a:solidFill>
                <a:latin typeface="Calibri" pitchFamily="34" charset="0"/>
                <a:ea typeface="Calibri" pitchFamily="34" charset="-122"/>
                <a:cs typeface="Calibri" pitchFamily="34" charset="-120"/>
              </a:rPr>
              <a:t>02</a:t>
            </a:r>
            <a:endParaRPr lang="en-US" sz="1100" dirty="0"/>
          </a:p>
        </p:txBody>
      </p:sp>
      <p:sp>
        <p:nvSpPr>
          <p:cNvPr id="12" name="Text 10"/>
          <p:cNvSpPr txBox="1"/>
          <p:nvPr/>
        </p:nvSpPr>
        <p:spPr>
          <a:xfrm>
            <a:off x="2706624" y="1709928"/>
            <a:ext cx="1691640" cy="411480"/>
          </a:xfrm>
          <a:prstGeom prst="rect">
            <a:avLst/>
          </a:prstGeom>
          <a:noFill/>
          <a:ln/>
        </p:spPr>
        <p:txBody>
          <a:bodyPr wrap="square" lIns="0" tIns="0" rIns="0" bIns="0" rtlCol="0" anchor="t"/>
          <a:lstStyle/>
          <a:p>
            <a:pPr indent="0" marL="0">
              <a:buNone/>
            </a:pPr>
            <a:r>
              <a:rPr lang="en-US" sz="1250" b="1" dirty="0">
                <a:solidFill>
                  <a:srgbClr val="111827"/>
                </a:solidFill>
                <a:latin typeface="Calibri" pitchFamily="34" charset="0"/>
                <a:ea typeface="Calibri" pitchFamily="34" charset="-122"/>
                <a:cs typeface="Calibri" pitchFamily="34" charset="-120"/>
              </a:rPr>
              <a:t>Token</a:t>
            </a:r>
            <a:endParaRPr lang="en-US" sz="1250" dirty="0"/>
          </a:p>
        </p:txBody>
      </p:sp>
      <p:sp>
        <p:nvSpPr>
          <p:cNvPr id="13" name="Text 11"/>
          <p:cNvSpPr txBox="1"/>
          <p:nvPr/>
        </p:nvSpPr>
        <p:spPr>
          <a:xfrm>
            <a:off x="2706624" y="2148840"/>
            <a:ext cx="1664208" cy="621792"/>
          </a:xfrm>
          <a:prstGeom prst="rect">
            <a:avLst/>
          </a:prstGeom>
          <a:noFill/>
          <a:ln/>
        </p:spPr>
        <p:txBody>
          <a:bodyPr wrap="square" lIns="0" tIns="0" rIns="0" bIns="0" rtlCol="0" anchor="t"/>
          <a:lstStyle/>
          <a:p>
            <a:pPr indent="0" marL="0">
              <a:buNone/>
            </a:pPr>
            <a:r>
              <a:rPr lang="en-US" sz="950" dirty="0">
                <a:solidFill>
                  <a:srgbClr val="6B7280"/>
                </a:solidFill>
                <a:latin typeface="Calibri" pitchFamily="34" charset="0"/>
                <a:ea typeface="Calibri" pitchFamily="34" charset="-122"/>
                <a:cs typeface="Calibri" pitchFamily="34" charset="-120"/>
              </a:rPr>
              <a:t>Roughly a piece of a word; about four characters of English. The model charges by how many it handles.</a:t>
            </a:r>
            <a:endParaRPr lang="en-US" sz="950" dirty="0"/>
          </a:p>
        </p:txBody>
      </p:sp>
      <p:sp>
        <p:nvSpPr>
          <p:cNvPr id="14" name="Shape 12"/>
          <p:cNvSpPr/>
          <p:nvPr/>
        </p:nvSpPr>
        <p:spPr>
          <a:xfrm>
            <a:off x="4626864" y="1325880"/>
            <a:ext cx="1938528" cy="1481328"/>
          </a:xfrm>
          <a:prstGeom prst="roundRect">
            <a:avLst>
              <a:gd name="adj" fmla="val 4938"/>
            </a:avLst>
          </a:prstGeom>
          <a:solidFill>
            <a:srgbClr val="F3F4F6"/>
          </a:solidFill>
          <a:ln w="12700">
            <a:solidFill>
              <a:srgbClr val="F3F4F6"/>
            </a:solidFill>
            <a:prstDash val="solid"/>
          </a:ln>
        </p:spPr>
      </p:sp>
      <p:sp>
        <p:nvSpPr>
          <p:cNvPr id="15" name="Text 13"/>
          <p:cNvSpPr txBox="1"/>
          <p:nvPr/>
        </p:nvSpPr>
        <p:spPr>
          <a:xfrm>
            <a:off x="4791456" y="1435608"/>
            <a:ext cx="548640" cy="274320"/>
          </a:xfrm>
          <a:prstGeom prst="rect">
            <a:avLst/>
          </a:prstGeom>
          <a:noFill/>
          <a:ln/>
        </p:spPr>
        <p:txBody>
          <a:bodyPr wrap="square" lIns="0" tIns="0" rIns="0" bIns="0" rtlCol="0" anchor="t"/>
          <a:lstStyle/>
          <a:p>
            <a:pPr indent="0" marL="0">
              <a:buNone/>
            </a:pPr>
            <a:r>
              <a:rPr lang="en-US" sz="1100" b="1" dirty="0">
                <a:solidFill>
                  <a:srgbClr val="B45309"/>
                </a:solidFill>
                <a:latin typeface="Calibri" pitchFamily="34" charset="0"/>
                <a:ea typeface="Calibri" pitchFamily="34" charset="-122"/>
                <a:cs typeface="Calibri" pitchFamily="34" charset="-120"/>
              </a:rPr>
              <a:t>03</a:t>
            </a:r>
            <a:endParaRPr lang="en-US" sz="1100" dirty="0"/>
          </a:p>
        </p:txBody>
      </p:sp>
      <p:sp>
        <p:nvSpPr>
          <p:cNvPr id="16" name="Text 14"/>
          <p:cNvSpPr txBox="1"/>
          <p:nvPr/>
        </p:nvSpPr>
        <p:spPr>
          <a:xfrm>
            <a:off x="4791456" y="1709928"/>
            <a:ext cx="1691640" cy="411480"/>
          </a:xfrm>
          <a:prstGeom prst="rect">
            <a:avLst/>
          </a:prstGeom>
          <a:noFill/>
          <a:ln/>
        </p:spPr>
        <p:txBody>
          <a:bodyPr wrap="square" lIns="0" tIns="0" rIns="0" bIns="0" rtlCol="0" anchor="t"/>
          <a:lstStyle/>
          <a:p>
            <a:pPr indent="0" marL="0">
              <a:buNone/>
            </a:pPr>
            <a:r>
              <a:rPr lang="en-US" sz="1250" b="1" dirty="0">
                <a:solidFill>
                  <a:srgbClr val="111827"/>
                </a:solidFill>
                <a:latin typeface="Calibri" pitchFamily="34" charset="0"/>
                <a:ea typeface="Calibri" pitchFamily="34" charset="-122"/>
                <a:cs typeface="Calibri" pitchFamily="34" charset="-120"/>
              </a:rPr>
              <a:t>Input / output tokens</a:t>
            </a:r>
            <a:endParaRPr lang="en-US" sz="1250" dirty="0"/>
          </a:p>
        </p:txBody>
      </p:sp>
      <p:sp>
        <p:nvSpPr>
          <p:cNvPr id="17" name="Text 15"/>
          <p:cNvSpPr txBox="1"/>
          <p:nvPr/>
        </p:nvSpPr>
        <p:spPr>
          <a:xfrm>
            <a:off x="4791456" y="2148840"/>
            <a:ext cx="1664208" cy="621792"/>
          </a:xfrm>
          <a:prstGeom prst="rect">
            <a:avLst/>
          </a:prstGeom>
          <a:noFill/>
          <a:ln/>
        </p:spPr>
        <p:txBody>
          <a:bodyPr wrap="square" lIns="0" tIns="0" rIns="0" bIns="0" rtlCol="0" anchor="t"/>
          <a:lstStyle/>
          <a:p>
            <a:pPr indent="0" marL="0">
              <a:buNone/>
            </a:pPr>
            <a:r>
              <a:rPr lang="en-US" sz="950" dirty="0">
                <a:solidFill>
                  <a:srgbClr val="6B7280"/>
                </a:solidFill>
                <a:latin typeface="Calibri" pitchFamily="34" charset="0"/>
                <a:ea typeface="Calibri" pitchFamily="34" charset="-122"/>
                <a:cs typeface="Calibri" pitchFamily="34" charset="-120"/>
              </a:rPr>
              <a:t>Input is everything you sent; output is everything it wrote back. Counted separately, priced differently.</a:t>
            </a:r>
            <a:endParaRPr lang="en-US" sz="950" dirty="0"/>
          </a:p>
        </p:txBody>
      </p:sp>
      <p:sp>
        <p:nvSpPr>
          <p:cNvPr id="18" name="Shape 16"/>
          <p:cNvSpPr/>
          <p:nvPr/>
        </p:nvSpPr>
        <p:spPr>
          <a:xfrm>
            <a:off x="6711696" y="1325880"/>
            <a:ext cx="1938528" cy="1481328"/>
          </a:xfrm>
          <a:prstGeom prst="roundRect">
            <a:avLst>
              <a:gd name="adj" fmla="val 4938"/>
            </a:avLst>
          </a:prstGeom>
          <a:solidFill>
            <a:srgbClr val="F3F4F6"/>
          </a:solidFill>
          <a:ln w="12700">
            <a:solidFill>
              <a:srgbClr val="F3F4F6"/>
            </a:solidFill>
            <a:prstDash val="solid"/>
          </a:ln>
        </p:spPr>
      </p:sp>
      <p:sp>
        <p:nvSpPr>
          <p:cNvPr id="19" name="Text 17"/>
          <p:cNvSpPr txBox="1"/>
          <p:nvPr/>
        </p:nvSpPr>
        <p:spPr>
          <a:xfrm>
            <a:off x="6876288" y="1435608"/>
            <a:ext cx="548640" cy="274320"/>
          </a:xfrm>
          <a:prstGeom prst="rect">
            <a:avLst/>
          </a:prstGeom>
          <a:noFill/>
          <a:ln/>
        </p:spPr>
        <p:txBody>
          <a:bodyPr wrap="square" lIns="0" tIns="0" rIns="0" bIns="0" rtlCol="0" anchor="t"/>
          <a:lstStyle/>
          <a:p>
            <a:pPr indent="0" marL="0">
              <a:buNone/>
            </a:pPr>
            <a:r>
              <a:rPr lang="en-US" sz="1100" b="1" dirty="0">
                <a:solidFill>
                  <a:srgbClr val="B45309"/>
                </a:solidFill>
                <a:latin typeface="Calibri" pitchFamily="34" charset="0"/>
                <a:ea typeface="Calibri" pitchFamily="34" charset="-122"/>
                <a:cs typeface="Calibri" pitchFamily="34" charset="-120"/>
              </a:rPr>
              <a:t>04</a:t>
            </a:r>
            <a:endParaRPr lang="en-US" sz="1100" dirty="0"/>
          </a:p>
        </p:txBody>
      </p:sp>
      <p:sp>
        <p:nvSpPr>
          <p:cNvPr id="20" name="Text 18"/>
          <p:cNvSpPr txBox="1"/>
          <p:nvPr/>
        </p:nvSpPr>
        <p:spPr>
          <a:xfrm>
            <a:off x="6876288" y="1709928"/>
            <a:ext cx="1691640" cy="411480"/>
          </a:xfrm>
          <a:prstGeom prst="rect">
            <a:avLst/>
          </a:prstGeom>
          <a:noFill/>
          <a:ln/>
        </p:spPr>
        <p:txBody>
          <a:bodyPr wrap="square" lIns="0" tIns="0" rIns="0" bIns="0" rtlCol="0" anchor="t"/>
          <a:lstStyle/>
          <a:p>
            <a:pPr indent="0" marL="0">
              <a:buNone/>
            </a:pPr>
            <a:r>
              <a:rPr lang="en-US" sz="1250" b="1" dirty="0">
                <a:solidFill>
                  <a:srgbClr val="111827"/>
                </a:solidFill>
                <a:latin typeface="Calibri" pitchFamily="34" charset="0"/>
                <a:ea typeface="Calibri" pitchFamily="34" charset="-122"/>
                <a:cs typeface="Calibri" pitchFamily="34" charset="-120"/>
              </a:rPr>
              <a:t>The usage block</a:t>
            </a:r>
            <a:endParaRPr lang="en-US" sz="1250" dirty="0"/>
          </a:p>
        </p:txBody>
      </p:sp>
      <p:sp>
        <p:nvSpPr>
          <p:cNvPr id="21" name="Text 19"/>
          <p:cNvSpPr txBox="1"/>
          <p:nvPr/>
        </p:nvSpPr>
        <p:spPr>
          <a:xfrm>
            <a:off x="6876288" y="2148840"/>
            <a:ext cx="1664208" cy="621792"/>
          </a:xfrm>
          <a:prstGeom prst="rect">
            <a:avLst/>
          </a:prstGeom>
          <a:noFill/>
          <a:ln/>
        </p:spPr>
        <p:txBody>
          <a:bodyPr wrap="square" lIns="0" tIns="0" rIns="0" bIns="0" rtlCol="0" anchor="t"/>
          <a:lstStyle/>
          <a:p>
            <a:pPr indent="0" marL="0">
              <a:buNone/>
            </a:pPr>
            <a:r>
              <a:rPr lang="en-US" sz="950" dirty="0">
                <a:solidFill>
                  <a:srgbClr val="6B7280"/>
                </a:solidFill>
                <a:latin typeface="Calibri" pitchFamily="34" charset="0"/>
                <a:ea typeface="Calibri" pitchFamily="34" charset="-122"/>
                <a:cs typeface="Calibri" pitchFamily="34" charset="-120"/>
              </a:rPr>
              <a:t>The small note on every response holding the two token counts. Most programs throw it away.</a:t>
            </a:r>
            <a:endParaRPr lang="en-US" sz="950" dirty="0"/>
          </a:p>
        </p:txBody>
      </p:sp>
      <p:sp>
        <p:nvSpPr>
          <p:cNvPr id="22" name="Shape 20"/>
          <p:cNvSpPr/>
          <p:nvPr/>
        </p:nvSpPr>
        <p:spPr>
          <a:xfrm>
            <a:off x="457200" y="2971800"/>
            <a:ext cx="1938528" cy="1481328"/>
          </a:xfrm>
          <a:prstGeom prst="roundRect">
            <a:avLst>
              <a:gd name="adj" fmla="val 4938"/>
            </a:avLst>
          </a:prstGeom>
          <a:solidFill>
            <a:srgbClr val="F3F4F6"/>
          </a:solidFill>
          <a:ln w="12700">
            <a:solidFill>
              <a:srgbClr val="F3F4F6"/>
            </a:solidFill>
            <a:prstDash val="solid"/>
          </a:ln>
        </p:spPr>
      </p:sp>
      <p:sp>
        <p:nvSpPr>
          <p:cNvPr id="23" name="Text 21"/>
          <p:cNvSpPr txBox="1"/>
          <p:nvPr/>
        </p:nvSpPr>
        <p:spPr>
          <a:xfrm>
            <a:off x="621792" y="3081528"/>
            <a:ext cx="548640" cy="274320"/>
          </a:xfrm>
          <a:prstGeom prst="rect">
            <a:avLst/>
          </a:prstGeom>
          <a:noFill/>
          <a:ln/>
        </p:spPr>
        <p:txBody>
          <a:bodyPr wrap="square" lIns="0" tIns="0" rIns="0" bIns="0" rtlCol="0" anchor="t"/>
          <a:lstStyle/>
          <a:p>
            <a:pPr indent="0" marL="0">
              <a:buNone/>
            </a:pPr>
            <a:r>
              <a:rPr lang="en-US" sz="1100" b="1" dirty="0">
                <a:solidFill>
                  <a:srgbClr val="B45309"/>
                </a:solidFill>
                <a:latin typeface="Calibri" pitchFamily="34" charset="0"/>
                <a:ea typeface="Calibri" pitchFamily="34" charset="-122"/>
                <a:cs typeface="Calibri" pitchFamily="34" charset="-120"/>
              </a:rPr>
              <a:t>05</a:t>
            </a:r>
            <a:endParaRPr lang="en-US" sz="1100" dirty="0"/>
          </a:p>
        </p:txBody>
      </p:sp>
      <p:sp>
        <p:nvSpPr>
          <p:cNvPr id="24" name="Text 22"/>
          <p:cNvSpPr txBox="1"/>
          <p:nvPr/>
        </p:nvSpPr>
        <p:spPr>
          <a:xfrm>
            <a:off x="621792" y="3355848"/>
            <a:ext cx="1691640" cy="411480"/>
          </a:xfrm>
          <a:prstGeom prst="rect">
            <a:avLst/>
          </a:prstGeom>
          <a:noFill/>
          <a:ln/>
        </p:spPr>
        <p:txBody>
          <a:bodyPr wrap="square" lIns="0" tIns="0" rIns="0" bIns="0" rtlCol="0" anchor="t"/>
          <a:lstStyle/>
          <a:p>
            <a:pPr indent="0" marL="0">
              <a:buNone/>
            </a:pPr>
            <a:r>
              <a:rPr lang="en-US" sz="1250" b="1" dirty="0">
                <a:solidFill>
                  <a:srgbClr val="111827"/>
                </a:solidFill>
                <a:latin typeface="Calibri" pitchFamily="34" charset="0"/>
                <a:ea typeface="Calibri" pitchFamily="34" charset="-122"/>
                <a:cs typeface="Calibri" pitchFamily="34" charset="-120"/>
              </a:rPr>
              <a:t>Wrapper (the envelope)</a:t>
            </a:r>
            <a:endParaRPr lang="en-US" sz="1250" dirty="0"/>
          </a:p>
        </p:txBody>
      </p:sp>
      <p:sp>
        <p:nvSpPr>
          <p:cNvPr id="25" name="Text 23"/>
          <p:cNvSpPr txBox="1"/>
          <p:nvPr/>
        </p:nvSpPr>
        <p:spPr>
          <a:xfrm>
            <a:off x="621792" y="3794760"/>
            <a:ext cx="1664208" cy="621792"/>
          </a:xfrm>
          <a:prstGeom prst="rect">
            <a:avLst/>
          </a:prstGeom>
          <a:noFill/>
          <a:ln/>
        </p:spPr>
        <p:txBody>
          <a:bodyPr wrap="square" lIns="0" tIns="0" rIns="0" bIns="0" rtlCol="0" anchor="t"/>
          <a:lstStyle/>
          <a:p>
            <a:pPr indent="0" marL="0">
              <a:buNone/>
            </a:pPr>
            <a:r>
              <a:rPr lang="en-US" sz="950" dirty="0">
                <a:solidFill>
                  <a:srgbClr val="6B7280"/>
                </a:solidFill>
                <a:latin typeface="Calibri" pitchFamily="34" charset="0"/>
                <a:ea typeface="Calibri" pitchFamily="34" charset="-122"/>
                <a:cs typeface="Calibri" pitchFamily="34" charset="-120"/>
              </a:rPr>
              <a:t>Code placed around an existing call, adding behaviour before and after. Wrap, do not rewrite.</a:t>
            </a:r>
            <a:endParaRPr lang="en-US" sz="950" dirty="0"/>
          </a:p>
        </p:txBody>
      </p:sp>
      <p:sp>
        <p:nvSpPr>
          <p:cNvPr id="26" name="Shape 24"/>
          <p:cNvSpPr/>
          <p:nvPr/>
        </p:nvSpPr>
        <p:spPr>
          <a:xfrm>
            <a:off x="2542032" y="2971800"/>
            <a:ext cx="1938528" cy="1481328"/>
          </a:xfrm>
          <a:prstGeom prst="roundRect">
            <a:avLst>
              <a:gd name="adj" fmla="val 4938"/>
            </a:avLst>
          </a:prstGeom>
          <a:solidFill>
            <a:srgbClr val="F3F4F6"/>
          </a:solidFill>
          <a:ln w="12700">
            <a:solidFill>
              <a:srgbClr val="F3F4F6"/>
            </a:solidFill>
            <a:prstDash val="solid"/>
          </a:ln>
        </p:spPr>
      </p:sp>
      <p:sp>
        <p:nvSpPr>
          <p:cNvPr id="27" name="Text 25"/>
          <p:cNvSpPr txBox="1"/>
          <p:nvPr/>
        </p:nvSpPr>
        <p:spPr>
          <a:xfrm>
            <a:off x="2706624" y="3081528"/>
            <a:ext cx="548640" cy="274320"/>
          </a:xfrm>
          <a:prstGeom prst="rect">
            <a:avLst/>
          </a:prstGeom>
          <a:noFill/>
          <a:ln/>
        </p:spPr>
        <p:txBody>
          <a:bodyPr wrap="square" lIns="0" tIns="0" rIns="0" bIns="0" rtlCol="0" anchor="t"/>
          <a:lstStyle/>
          <a:p>
            <a:pPr indent="0" marL="0">
              <a:buNone/>
            </a:pPr>
            <a:r>
              <a:rPr lang="en-US" sz="1100" b="1" dirty="0">
                <a:solidFill>
                  <a:srgbClr val="B45309"/>
                </a:solidFill>
                <a:latin typeface="Calibri" pitchFamily="34" charset="0"/>
                <a:ea typeface="Calibri" pitchFamily="34" charset="-122"/>
                <a:cs typeface="Calibri" pitchFamily="34" charset="-120"/>
              </a:rPr>
              <a:t>06</a:t>
            </a:r>
            <a:endParaRPr lang="en-US" sz="1100" dirty="0"/>
          </a:p>
        </p:txBody>
      </p:sp>
      <p:sp>
        <p:nvSpPr>
          <p:cNvPr id="28" name="Text 26"/>
          <p:cNvSpPr txBox="1"/>
          <p:nvPr/>
        </p:nvSpPr>
        <p:spPr>
          <a:xfrm>
            <a:off x="2706624" y="3355848"/>
            <a:ext cx="1691640" cy="411480"/>
          </a:xfrm>
          <a:prstGeom prst="rect">
            <a:avLst/>
          </a:prstGeom>
          <a:noFill/>
          <a:ln/>
        </p:spPr>
        <p:txBody>
          <a:bodyPr wrap="square" lIns="0" tIns="0" rIns="0" bIns="0" rtlCol="0" anchor="t"/>
          <a:lstStyle/>
          <a:p>
            <a:pPr indent="0" marL="0">
              <a:buNone/>
            </a:pPr>
            <a:r>
              <a:rPr lang="en-US" sz="1250" b="1" dirty="0">
                <a:solidFill>
                  <a:srgbClr val="111827"/>
                </a:solidFill>
                <a:latin typeface="Calibri" pitchFamily="34" charset="0"/>
                <a:ea typeface="Calibri" pitchFamily="34" charset="-122"/>
                <a:cs typeface="Calibri" pitchFamily="34" charset="-120"/>
              </a:rPr>
              <a:t>Label</a:t>
            </a:r>
            <a:endParaRPr lang="en-US" sz="1250" dirty="0"/>
          </a:p>
        </p:txBody>
      </p:sp>
      <p:sp>
        <p:nvSpPr>
          <p:cNvPr id="29" name="Text 27"/>
          <p:cNvSpPr txBox="1"/>
          <p:nvPr/>
        </p:nvSpPr>
        <p:spPr>
          <a:xfrm>
            <a:off x="2706624" y="3794760"/>
            <a:ext cx="1664208" cy="621792"/>
          </a:xfrm>
          <a:prstGeom prst="rect">
            <a:avLst/>
          </a:prstGeom>
          <a:noFill/>
          <a:ln/>
        </p:spPr>
        <p:txBody>
          <a:bodyPr wrap="square" lIns="0" tIns="0" rIns="0" bIns="0" rtlCol="0" anchor="t"/>
          <a:lstStyle/>
          <a:p>
            <a:pPr indent="0" marL="0">
              <a:buNone/>
            </a:pPr>
            <a:r>
              <a:rPr lang="en-US" sz="950" dirty="0">
                <a:solidFill>
                  <a:srgbClr val="6B7280"/>
                </a:solidFill>
                <a:latin typeface="Calibri" pitchFamily="34" charset="0"/>
                <a:ea typeface="Calibri" pitchFamily="34" charset="-122"/>
                <a:cs typeface="Calibri" pitchFamily="34" charset="-120"/>
              </a:rPr>
              <a:t>A word attached to a number saying what it was about. Four matter: agent, team, run, result.</a:t>
            </a:r>
            <a:endParaRPr lang="en-US" sz="950" dirty="0"/>
          </a:p>
        </p:txBody>
      </p:sp>
      <p:sp>
        <p:nvSpPr>
          <p:cNvPr id="30" name="Shape 28"/>
          <p:cNvSpPr/>
          <p:nvPr/>
        </p:nvSpPr>
        <p:spPr>
          <a:xfrm>
            <a:off x="4626864" y="2971800"/>
            <a:ext cx="1938528" cy="1481328"/>
          </a:xfrm>
          <a:prstGeom prst="roundRect">
            <a:avLst>
              <a:gd name="adj" fmla="val 4938"/>
            </a:avLst>
          </a:prstGeom>
          <a:solidFill>
            <a:srgbClr val="F3F4F6"/>
          </a:solidFill>
          <a:ln w="12700">
            <a:solidFill>
              <a:srgbClr val="F3F4F6"/>
            </a:solidFill>
            <a:prstDash val="solid"/>
          </a:ln>
        </p:spPr>
      </p:sp>
      <p:sp>
        <p:nvSpPr>
          <p:cNvPr id="31" name="Text 29"/>
          <p:cNvSpPr txBox="1"/>
          <p:nvPr/>
        </p:nvSpPr>
        <p:spPr>
          <a:xfrm>
            <a:off x="4791456" y="3081528"/>
            <a:ext cx="548640" cy="274320"/>
          </a:xfrm>
          <a:prstGeom prst="rect">
            <a:avLst/>
          </a:prstGeom>
          <a:noFill/>
          <a:ln/>
        </p:spPr>
        <p:txBody>
          <a:bodyPr wrap="square" lIns="0" tIns="0" rIns="0" bIns="0" rtlCol="0" anchor="t"/>
          <a:lstStyle/>
          <a:p>
            <a:pPr indent="0" marL="0">
              <a:buNone/>
            </a:pPr>
            <a:r>
              <a:rPr lang="en-US" sz="1100" b="1" dirty="0">
                <a:solidFill>
                  <a:srgbClr val="B45309"/>
                </a:solidFill>
                <a:latin typeface="Calibri" pitchFamily="34" charset="0"/>
                <a:ea typeface="Calibri" pitchFamily="34" charset="-122"/>
                <a:cs typeface="Calibri" pitchFamily="34" charset="-120"/>
              </a:rPr>
              <a:t>07</a:t>
            </a:r>
            <a:endParaRPr lang="en-US" sz="1100" dirty="0"/>
          </a:p>
        </p:txBody>
      </p:sp>
      <p:sp>
        <p:nvSpPr>
          <p:cNvPr id="32" name="Text 30"/>
          <p:cNvSpPr txBox="1"/>
          <p:nvPr/>
        </p:nvSpPr>
        <p:spPr>
          <a:xfrm>
            <a:off x="4791456" y="3355848"/>
            <a:ext cx="1691640" cy="411480"/>
          </a:xfrm>
          <a:prstGeom prst="rect">
            <a:avLst/>
          </a:prstGeom>
          <a:noFill/>
          <a:ln/>
        </p:spPr>
        <p:txBody>
          <a:bodyPr wrap="square" lIns="0" tIns="0" rIns="0" bIns="0" rtlCol="0" anchor="t"/>
          <a:lstStyle/>
          <a:p>
            <a:pPr indent="0" marL="0">
              <a:buNone/>
            </a:pPr>
            <a:r>
              <a:rPr lang="en-US" sz="1250" b="1" dirty="0">
                <a:solidFill>
                  <a:srgbClr val="111827"/>
                </a:solidFill>
                <a:latin typeface="Calibri" pitchFamily="34" charset="0"/>
                <a:ea typeface="Calibri" pitchFamily="34" charset="-122"/>
                <a:cs typeface="Calibri" pitchFamily="34" charset="-120"/>
              </a:rPr>
              <a:t>Run ID</a:t>
            </a:r>
            <a:endParaRPr lang="en-US" sz="1250" dirty="0"/>
          </a:p>
        </p:txBody>
      </p:sp>
      <p:sp>
        <p:nvSpPr>
          <p:cNvPr id="33" name="Text 31"/>
          <p:cNvSpPr txBox="1"/>
          <p:nvPr/>
        </p:nvSpPr>
        <p:spPr>
          <a:xfrm>
            <a:off x="4791456" y="3794760"/>
            <a:ext cx="1664208" cy="621792"/>
          </a:xfrm>
          <a:prstGeom prst="rect">
            <a:avLst/>
          </a:prstGeom>
          <a:noFill/>
          <a:ln/>
        </p:spPr>
        <p:txBody>
          <a:bodyPr wrap="square" lIns="0" tIns="0" rIns="0" bIns="0" rtlCol="0" anchor="t"/>
          <a:lstStyle/>
          <a:p>
            <a:pPr indent="0" marL="0">
              <a:buNone/>
            </a:pPr>
            <a:r>
              <a:rPr lang="en-US" sz="950" dirty="0">
                <a:solidFill>
                  <a:srgbClr val="6B7280"/>
                </a:solidFill>
                <a:latin typeface="Calibri" pitchFamily="34" charset="0"/>
                <a:ea typeface="Calibri" pitchFamily="34" charset="-122"/>
                <a:cs typeface="Calibri" pitchFamily="34" charset="-120"/>
              </a:rPr>
              <a:t>A short unique string made once at the start of a task and attached to every call it makes.</a:t>
            </a:r>
            <a:endParaRPr lang="en-US" sz="9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APPENDIX B · EVERY WORD WE USED, IN PLAIN ENGLISH</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Glossary: the tally</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2</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36</a:t>
            </a:r>
            <a:endParaRPr lang="en-US" sz="900" dirty="0"/>
          </a:p>
        </p:txBody>
      </p:sp>
      <p:sp>
        <p:nvSpPr>
          <p:cNvPr id="6" name="Shape 4"/>
          <p:cNvSpPr/>
          <p:nvPr/>
        </p:nvSpPr>
        <p:spPr>
          <a:xfrm>
            <a:off x="457200" y="1325880"/>
            <a:ext cx="1938528" cy="1481328"/>
          </a:xfrm>
          <a:prstGeom prst="roundRect">
            <a:avLst>
              <a:gd name="adj" fmla="val 4938"/>
            </a:avLst>
          </a:prstGeom>
          <a:solidFill>
            <a:srgbClr val="F3F4F6"/>
          </a:solidFill>
          <a:ln w="12700">
            <a:solidFill>
              <a:srgbClr val="F3F4F6"/>
            </a:solidFill>
            <a:prstDash val="solid"/>
          </a:ln>
        </p:spPr>
      </p:sp>
      <p:sp>
        <p:nvSpPr>
          <p:cNvPr id="7" name="Text 5"/>
          <p:cNvSpPr txBox="1"/>
          <p:nvPr/>
        </p:nvSpPr>
        <p:spPr>
          <a:xfrm>
            <a:off x="621792" y="1435608"/>
            <a:ext cx="548640" cy="274320"/>
          </a:xfrm>
          <a:prstGeom prst="rect">
            <a:avLst/>
          </a:prstGeom>
          <a:noFill/>
          <a:ln/>
        </p:spPr>
        <p:txBody>
          <a:bodyPr wrap="square" lIns="0" tIns="0" rIns="0" bIns="0" rtlCol="0" anchor="t"/>
          <a:lstStyle/>
          <a:p>
            <a:pPr indent="0" marL="0">
              <a:buNone/>
            </a:pPr>
            <a:r>
              <a:rPr lang="en-US" sz="1100" b="1" dirty="0">
                <a:solidFill>
                  <a:srgbClr val="B45309"/>
                </a:solidFill>
                <a:latin typeface="Calibri" pitchFamily="34" charset="0"/>
                <a:ea typeface="Calibri" pitchFamily="34" charset="-122"/>
                <a:cs typeface="Calibri" pitchFamily="34" charset="-120"/>
              </a:rPr>
              <a:t>08</a:t>
            </a:r>
            <a:endParaRPr lang="en-US" sz="1100" dirty="0"/>
          </a:p>
        </p:txBody>
      </p:sp>
      <p:sp>
        <p:nvSpPr>
          <p:cNvPr id="8" name="Text 6"/>
          <p:cNvSpPr txBox="1"/>
          <p:nvPr/>
        </p:nvSpPr>
        <p:spPr>
          <a:xfrm>
            <a:off x="621792" y="1709928"/>
            <a:ext cx="1691640" cy="411480"/>
          </a:xfrm>
          <a:prstGeom prst="rect">
            <a:avLst/>
          </a:prstGeom>
          <a:noFill/>
          <a:ln/>
        </p:spPr>
        <p:txBody>
          <a:bodyPr wrap="square" lIns="0" tIns="0" rIns="0" bIns="0" rtlCol="0" anchor="t"/>
          <a:lstStyle/>
          <a:p>
            <a:pPr indent="0" marL="0">
              <a:buNone/>
            </a:pPr>
            <a:r>
              <a:rPr lang="en-US" sz="1250" b="1" dirty="0">
                <a:solidFill>
                  <a:srgbClr val="111827"/>
                </a:solidFill>
                <a:latin typeface="Calibri" pitchFamily="34" charset="0"/>
                <a:ea typeface="Calibri" pitchFamily="34" charset="-122"/>
                <a:cs typeface="Calibri" pitchFamily="34" charset="-120"/>
              </a:rPr>
              <a:t>High-cardinality label</a:t>
            </a:r>
            <a:endParaRPr lang="en-US" sz="1250" dirty="0"/>
          </a:p>
        </p:txBody>
      </p:sp>
      <p:sp>
        <p:nvSpPr>
          <p:cNvPr id="9" name="Text 7"/>
          <p:cNvSpPr txBox="1"/>
          <p:nvPr/>
        </p:nvSpPr>
        <p:spPr>
          <a:xfrm>
            <a:off x="621792" y="2148840"/>
            <a:ext cx="1664208" cy="621792"/>
          </a:xfrm>
          <a:prstGeom prst="rect">
            <a:avLst/>
          </a:prstGeom>
          <a:noFill/>
          <a:ln/>
        </p:spPr>
        <p:txBody>
          <a:bodyPr wrap="square" lIns="0" tIns="0" rIns="0" bIns="0" rtlCol="0" anchor="t"/>
          <a:lstStyle/>
          <a:p>
            <a:pPr indent="0" marL="0">
              <a:buNone/>
            </a:pPr>
            <a:r>
              <a:rPr lang="en-US" sz="950" dirty="0">
                <a:solidFill>
                  <a:srgbClr val="6B7280"/>
                </a:solidFill>
                <a:latin typeface="Calibri" pitchFamily="34" charset="0"/>
                <a:ea typeface="Calibri" pitchFamily="34" charset="-122"/>
                <a:cs typeface="Calibri" pitchFamily="34" charset="-120"/>
              </a:rPr>
              <a:t>A label with unlimited values: an email, a timestamp. Makes monitoring slow and expensive.</a:t>
            </a:r>
            <a:endParaRPr lang="en-US" sz="950" dirty="0"/>
          </a:p>
        </p:txBody>
      </p:sp>
      <p:sp>
        <p:nvSpPr>
          <p:cNvPr id="10" name="Shape 8"/>
          <p:cNvSpPr/>
          <p:nvPr/>
        </p:nvSpPr>
        <p:spPr>
          <a:xfrm>
            <a:off x="2542032" y="1325880"/>
            <a:ext cx="1938528" cy="1481328"/>
          </a:xfrm>
          <a:prstGeom prst="roundRect">
            <a:avLst>
              <a:gd name="adj" fmla="val 4938"/>
            </a:avLst>
          </a:prstGeom>
          <a:solidFill>
            <a:srgbClr val="F3F4F6"/>
          </a:solidFill>
          <a:ln w="12700">
            <a:solidFill>
              <a:srgbClr val="F3F4F6"/>
            </a:solidFill>
            <a:prstDash val="solid"/>
          </a:ln>
        </p:spPr>
      </p:sp>
      <p:sp>
        <p:nvSpPr>
          <p:cNvPr id="11" name="Text 9"/>
          <p:cNvSpPr txBox="1"/>
          <p:nvPr/>
        </p:nvSpPr>
        <p:spPr>
          <a:xfrm>
            <a:off x="2706624" y="1435608"/>
            <a:ext cx="548640" cy="274320"/>
          </a:xfrm>
          <a:prstGeom prst="rect">
            <a:avLst/>
          </a:prstGeom>
          <a:noFill/>
          <a:ln/>
        </p:spPr>
        <p:txBody>
          <a:bodyPr wrap="square" lIns="0" tIns="0" rIns="0" bIns="0" rtlCol="0" anchor="t"/>
          <a:lstStyle/>
          <a:p>
            <a:pPr indent="0" marL="0">
              <a:buNone/>
            </a:pPr>
            <a:r>
              <a:rPr lang="en-US" sz="1100" b="1" dirty="0">
                <a:solidFill>
                  <a:srgbClr val="B45309"/>
                </a:solidFill>
                <a:latin typeface="Calibri" pitchFamily="34" charset="0"/>
                <a:ea typeface="Calibri" pitchFamily="34" charset="-122"/>
                <a:cs typeface="Calibri" pitchFamily="34" charset="-120"/>
              </a:rPr>
              <a:t>09</a:t>
            </a:r>
            <a:endParaRPr lang="en-US" sz="1100" dirty="0"/>
          </a:p>
        </p:txBody>
      </p:sp>
      <p:sp>
        <p:nvSpPr>
          <p:cNvPr id="12" name="Text 10"/>
          <p:cNvSpPr txBox="1"/>
          <p:nvPr/>
        </p:nvSpPr>
        <p:spPr>
          <a:xfrm>
            <a:off x="2706624" y="1709928"/>
            <a:ext cx="1691640" cy="411480"/>
          </a:xfrm>
          <a:prstGeom prst="rect">
            <a:avLst/>
          </a:prstGeom>
          <a:noFill/>
          <a:ln/>
        </p:spPr>
        <p:txBody>
          <a:bodyPr wrap="square" lIns="0" tIns="0" rIns="0" bIns="0" rtlCol="0" anchor="t"/>
          <a:lstStyle/>
          <a:p>
            <a:pPr indent="0" marL="0">
              <a:buNone/>
            </a:pPr>
            <a:r>
              <a:rPr lang="en-US" sz="1250" b="1" dirty="0">
                <a:solidFill>
                  <a:srgbClr val="111827"/>
                </a:solidFill>
                <a:latin typeface="Calibri" pitchFamily="34" charset="0"/>
                <a:ea typeface="Calibri" pitchFamily="34" charset="-122"/>
                <a:cs typeface="Calibri" pitchFamily="34" charset="-120"/>
              </a:rPr>
              <a:t>Counter</a:t>
            </a:r>
            <a:endParaRPr lang="en-US" sz="1250" dirty="0"/>
          </a:p>
        </p:txBody>
      </p:sp>
      <p:sp>
        <p:nvSpPr>
          <p:cNvPr id="13" name="Text 11"/>
          <p:cNvSpPr txBox="1"/>
          <p:nvPr/>
        </p:nvSpPr>
        <p:spPr>
          <a:xfrm>
            <a:off x="2706624" y="2148840"/>
            <a:ext cx="1664208" cy="621792"/>
          </a:xfrm>
          <a:prstGeom prst="rect">
            <a:avLst/>
          </a:prstGeom>
          <a:noFill/>
          <a:ln/>
        </p:spPr>
        <p:txBody>
          <a:bodyPr wrap="square" lIns="0" tIns="0" rIns="0" bIns="0" rtlCol="0" anchor="t"/>
          <a:lstStyle/>
          <a:p>
            <a:pPr indent="0" marL="0">
              <a:buNone/>
            </a:pPr>
            <a:r>
              <a:rPr lang="en-US" sz="950" dirty="0">
                <a:solidFill>
                  <a:srgbClr val="6B7280"/>
                </a:solidFill>
                <a:latin typeface="Calibri" pitchFamily="34" charset="0"/>
                <a:ea typeface="Calibri" pitchFamily="34" charset="-122"/>
                <a:cs typeface="Calibri" pitchFamily="34" charset="-120"/>
              </a:rPr>
              <a:t>A running total that only goes up. Never resets, so any window is two readings subtracted.</a:t>
            </a:r>
            <a:endParaRPr lang="en-US" sz="950" dirty="0"/>
          </a:p>
        </p:txBody>
      </p:sp>
      <p:sp>
        <p:nvSpPr>
          <p:cNvPr id="14" name="Shape 12"/>
          <p:cNvSpPr/>
          <p:nvPr/>
        </p:nvSpPr>
        <p:spPr>
          <a:xfrm>
            <a:off x="4626864" y="1325880"/>
            <a:ext cx="1938528" cy="1481328"/>
          </a:xfrm>
          <a:prstGeom prst="roundRect">
            <a:avLst>
              <a:gd name="adj" fmla="val 4938"/>
            </a:avLst>
          </a:prstGeom>
          <a:solidFill>
            <a:srgbClr val="F3F4F6"/>
          </a:solidFill>
          <a:ln w="12700">
            <a:solidFill>
              <a:srgbClr val="F3F4F6"/>
            </a:solidFill>
            <a:prstDash val="solid"/>
          </a:ln>
        </p:spPr>
      </p:sp>
      <p:sp>
        <p:nvSpPr>
          <p:cNvPr id="15" name="Text 13"/>
          <p:cNvSpPr txBox="1"/>
          <p:nvPr/>
        </p:nvSpPr>
        <p:spPr>
          <a:xfrm>
            <a:off x="4791456" y="1435608"/>
            <a:ext cx="548640" cy="274320"/>
          </a:xfrm>
          <a:prstGeom prst="rect">
            <a:avLst/>
          </a:prstGeom>
          <a:noFill/>
          <a:ln/>
        </p:spPr>
        <p:txBody>
          <a:bodyPr wrap="square" lIns="0" tIns="0" rIns="0" bIns="0" rtlCol="0" anchor="t"/>
          <a:lstStyle/>
          <a:p>
            <a:pPr indent="0" marL="0">
              <a:buNone/>
            </a:pPr>
            <a:r>
              <a:rPr lang="en-US" sz="1100" b="1" dirty="0">
                <a:solidFill>
                  <a:srgbClr val="B45309"/>
                </a:solidFill>
                <a:latin typeface="Calibri" pitchFamily="34" charset="0"/>
                <a:ea typeface="Calibri" pitchFamily="34" charset="-122"/>
                <a:cs typeface="Calibri" pitchFamily="34" charset="-120"/>
              </a:rPr>
              <a:t>10</a:t>
            </a:r>
            <a:endParaRPr lang="en-US" sz="1100" dirty="0"/>
          </a:p>
        </p:txBody>
      </p:sp>
      <p:sp>
        <p:nvSpPr>
          <p:cNvPr id="16" name="Text 14"/>
          <p:cNvSpPr txBox="1"/>
          <p:nvPr/>
        </p:nvSpPr>
        <p:spPr>
          <a:xfrm>
            <a:off x="4791456" y="1709928"/>
            <a:ext cx="1691640" cy="411480"/>
          </a:xfrm>
          <a:prstGeom prst="rect">
            <a:avLst/>
          </a:prstGeom>
          <a:noFill/>
          <a:ln/>
        </p:spPr>
        <p:txBody>
          <a:bodyPr wrap="square" lIns="0" tIns="0" rIns="0" bIns="0" rtlCol="0" anchor="t"/>
          <a:lstStyle/>
          <a:p>
            <a:pPr indent="0" marL="0">
              <a:buNone/>
            </a:pPr>
            <a:r>
              <a:rPr lang="en-US" sz="1250" b="1" dirty="0">
                <a:solidFill>
                  <a:srgbClr val="111827"/>
                </a:solidFill>
                <a:latin typeface="Calibri" pitchFamily="34" charset="0"/>
                <a:ea typeface="Calibri" pitchFamily="34" charset="-122"/>
                <a:cs typeface="Calibri" pitchFamily="34" charset="-120"/>
              </a:rPr>
              <a:t>Prometheus</a:t>
            </a:r>
            <a:endParaRPr lang="en-US" sz="1250" dirty="0"/>
          </a:p>
        </p:txBody>
      </p:sp>
      <p:sp>
        <p:nvSpPr>
          <p:cNvPr id="17" name="Text 15"/>
          <p:cNvSpPr txBox="1"/>
          <p:nvPr/>
        </p:nvSpPr>
        <p:spPr>
          <a:xfrm>
            <a:off x="4791456" y="2148840"/>
            <a:ext cx="1664208" cy="621792"/>
          </a:xfrm>
          <a:prstGeom prst="rect">
            <a:avLst/>
          </a:prstGeom>
          <a:noFill/>
          <a:ln/>
        </p:spPr>
        <p:txBody>
          <a:bodyPr wrap="square" lIns="0" tIns="0" rIns="0" bIns="0" rtlCol="0" anchor="t"/>
          <a:lstStyle/>
          <a:p>
            <a:pPr indent="0" marL="0">
              <a:buNone/>
            </a:pPr>
            <a:r>
              <a:rPr lang="en-US" sz="950" dirty="0">
                <a:solidFill>
                  <a:srgbClr val="6B7280"/>
                </a:solidFill>
                <a:latin typeface="Calibri" pitchFamily="34" charset="0"/>
                <a:ea typeface="Calibri" pitchFamily="34" charset="-122"/>
                <a:cs typeface="Calibri" pitchFamily="34" charset="-120"/>
              </a:rPr>
              <a:t>The standard program for remembering numbers over time, with timestamps.</a:t>
            </a:r>
            <a:endParaRPr lang="en-US" sz="950" dirty="0"/>
          </a:p>
        </p:txBody>
      </p:sp>
      <p:sp>
        <p:nvSpPr>
          <p:cNvPr id="18" name="Shape 16"/>
          <p:cNvSpPr/>
          <p:nvPr/>
        </p:nvSpPr>
        <p:spPr>
          <a:xfrm>
            <a:off x="6711696" y="1325880"/>
            <a:ext cx="1938528" cy="1481328"/>
          </a:xfrm>
          <a:prstGeom prst="roundRect">
            <a:avLst>
              <a:gd name="adj" fmla="val 4938"/>
            </a:avLst>
          </a:prstGeom>
          <a:solidFill>
            <a:srgbClr val="F3F4F6"/>
          </a:solidFill>
          <a:ln w="12700">
            <a:solidFill>
              <a:srgbClr val="F3F4F6"/>
            </a:solidFill>
            <a:prstDash val="solid"/>
          </a:ln>
        </p:spPr>
      </p:sp>
      <p:sp>
        <p:nvSpPr>
          <p:cNvPr id="19" name="Text 17"/>
          <p:cNvSpPr txBox="1"/>
          <p:nvPr/>
        </p:nvSpPr>
        <p:spPr>
          <a:xfrm>
            <a:off x="6876288" y="1435608"/>
            <a:ext cx="548640" cy="274320"/>
          </a:xfrm>
          <a:prstGeom prst="rect">
            <a:avLst/>
          </a:prstGeom>
          <a:noFill/>
          <a:ln/>
        </p:spPr>
        <p:txBody>
          <a:bodyPr wrap="square" lIns="0" tIns="0" rIns="0" bIns="0" rtlCol="0" anchor="t"/>
          <a:lstStyle/>
          <a:p>
            <a:pPr indent="0" marL="0">
              <a:buNone/>
            </a:pPr>
            <a:r>
              <a:rPr lang="en-US" sz="1100" b="1" dirty="0">
                <a:solidFill>
                  <a:srgbClr val="B45309"/>
                </a:solidFill>
                <a:latin typeface="Calibri" pitchFamily="34" charset="0"/>
                <a:ea typeface="Calibri" pitchFamily="34" charset="-122"/>
                <a:cs typeface="Calibri" pitchFamily="34" charset="-120"/>
              </a:rPr>
              <a:t>11</a:t>
            </a:r>
            <a:endParaRPr lang="en-US" sz="1100" dirty="0"/>
          </a:p>
        </p:txBody>
      </p:sp>
      <p:sp>
        <p:nvSpPr>
          <p:cNvPr id="20" name="Text 18"/>
          <p:cNvSpPr txBox="1"/>
          <p:nvPr/>
        </p:nvSpPr>
        <p:spPr>
          <a:xfrm>
            <a:off x="6876288" y="1709928"/>
            <a:ext cx="1691640" cy="411480"/>
          </a:xfrm>
          <a:prstGeom prst="rect">
            <a:avLst/>
          </a:prstGeom>
          <a:noFill/>
          <a:ln/>
        </p:spPr>
        <p:txBody>
          <a:bodyPr wrap="square" lIns="0" tIns="0" rIns="0" bIns="0" rtlCol="0" anchor="t"/>
          <a:lstStyle/>
          <a:p>
            <a:pPr indent="0" marL="0">
              <a:buNone/>
            </a:pPr>
            <a:r>
              <a:rPr lang="en-US" sz="1250" b="1" dirty="0">
                <a:solidFill>
                  <a:srgbClr val="111827"/>
                </a:solidFill>
                <a:latin typeface="Calibri" pitchFamily="34" charset="0"/>
                <a:ea typeface="Calibri" pitchFamily="34" charset="-122"/>
                <a:cs typeface="Calibri" pitchFamily="34" charset="-120"/>
              </a:rPr>
              <a:t>Grafana</a:t>
            </a:r>
            <a:endParaRPr lang="en-US" sz="1250" dirty="0"/>
          </a:p>
        </p:txBody>
      </p:sp>
      <p:sp>
        <p:nvSpPr>
          <p:cNvPr id="21" name="Text 19"/>
          <p:cNvSpPr txBox="1"/>
          <p:nvPr/>
        </p:nvSpPr>
        <p:spPr>
          <a:xfrm>
            <a:off x="6876288" y="2148840"/>
            <a:ext cx="1664208" cy="621792"/>
          </a:xfrm>
          <a:prstGeom prst="rect">
            <a:avLst/>
          </a:prstGeom>
          <a:noFill/>
          <a:ln/>
        </p:spPr>
        <p:txBody>
          <a:bodyPr wrap="square" lIns="0" tIns="0" rIns="0" bIns="0" rtlCol="0" anchor="t"/>
          <a:lstStyle/>
          <a:p>
            <a:pPr indent="0" marL="0">
              <a:buNone/>
            </a:pPr>
            <a:r>
              <a:rPr lang="en-US" sz="950" dirty="0">
                <a:solidFill>
                  <a:srgbClr val="6B7280"/>
                </a:solidFill>
                <a:latin typeface="Calibri" pitchFamily="34" charset="0"/>
                <a:ea typeface="Calibri" pitchFamily="34" charset="-122"/>
                <a:cs typeface="Calibri" pitchFamily="34" charset="-120"/>
              </a:rPr>
              <a:t>Asks Prometheus for numbers and draws them as lines a human can read at a glance.</a:t>
            </a:r>
            <a:endParaRPr lang="en-US" sz="950" dirty="0"/>
          </a:p>
        </p:txBody>
      </p:sp>
      <p:sp>
        <p:nvSpPr>
          <p:cNvPr id="22" name="Shape 20"/>
          <p:cNvSpPr/>
          <p:nvPr/>
        </p:nvSpPr>
        <p:spPr>
          <a:xfrm>
            <a:off x="457200" y="2971800"/>
            <a:ext cx="1938528" cy="1481328"/>
          </a:xfrm>
          <a:prstGeom prst="roundRect">
            <a:avLst>
              <a:gd name="adj" fmla="val 4938"/>
            </a:avLst>
          </a:prstGeom>
          <a:solidFill>
            <a:srgbClr val="F3F4F6"/>
          </a:solidFill>
          <a:ln w="12700">
            <a:solidFill>
              <a:srgbClr val="F3F4F6"/>
            </a:solidFill>
            <a:prstDash val="solid"/>
          </a:ln>
        </p:spPr>
      </p:sp>
      <p:sp>
        <p:nvSpPr>
          <p:cNvPr id="23" name="Text 21"/>
          <p:cNvSpPr txBox="1"/>
          <p:nvPr/>
        </p:nvSpPr>
        <p:spPr>
          <a:xfrm>
            <a:off x="621792" y="3081528"/>
            <a:ext cx="548640" cy="274320"/>
          </a:xfrm>
          <a:prstGeom prst="rect">
            <a:avLst/>
          </a:prstGeom>
          <a:noFill/>
          <a:ln/>
        </p:spPr>
        <p:txBody>
          <a:bodyPr wrap="square" lIns="0" tIns="0" rIns="0" bIns="0" rtlCol="0" anchor="t"/>
          <a:lstStyle/>
          <a:p>
            <a:pPr indent="0" marL="0">
              <a:buNone/>
            </a:pPr>
            <a:r>
              <a:rPr lang="en-US" sz="1100" b="1" dirty="0">
                <a:solidFill>
                  <a:srgbClr val="B45309"/>
                </a:solidFill>
                <a:latin typeface="Calibri" pitchFamily="34" charset="0"/>
                <a:ea typeface="Calibri" pitchFamily="34" charset="-122"/>
                <a:cs typeface="Calibri" pitchFamily="34" charset="-120"/>
              </a:rPr>
              <a:t>12</a:t>
            </a:r>
            <a:endParaRPr lang="en-US" sz="1100" dirty="0"/>
          </a:p>
        </p:txBody>
      </p:sp>
      <p:sp>
        <p:nvSpPr>
          <p:cNvPr id="24" name="Text 22"/>
          <p:cNvSpPr txBox="1"/>
          <p:nvPr/>
        </p:nvSpPr>
        <p:spPr>
          <a:xfrm>
            <a:off x="621792" y="3355848"/>
            <a:ext cx="1691640" cy="411480"/>
          </a:xfrm>
          <a:prstGeom prst="rect">
            <a:avLst/>
          </a:prstGeom>
          <a:noFill/>
          <a:ln/>
        </p:spPr>
        <p:txBody>
          <a:bodyPr wrap="square" lIns="0" tIns="0" rIns="0" bIns="0" rtlCol="0" anchor="t"/>
          <a:lstStyle/>
          <a:p>
            <a:pPr indent="0" marL="0">
              <a:buNone/>
            </a:pPr>
            <a:r>
              <a:rPr lang="en-US" sz="1250" b="1" dirty="0">
                <a:solidFill>
                  <a:srgbClr val="111827"/>
                </a:solidFill>
                <a:latin typeface="Calibri" pitchFamily="34" charset="0"/>
                <a:ea typeface="Calibri" pitchFamily="34" charset="-122"/>
                <a:cs typeface="Calibri" pitchFamily="34" charset="-120"/>
              </a:rPr>
              <a:t>The /metrics endpoint</a:t>
            </a:r>
            <a:endParaRPr lang="en-US" sz="1250" dirty="0"/>
          </a:p>
        </p:txBody>
      </p:sp>
      <p:sp>
        <p:nvSpPr>
          <p:cNvPr id="25" name="Text 23"/>
          <p:cNvSpPr txBox="1"/>
          <p:nvPr/>
        </p:nvSpPr>
        <p:spPr>
          <a:xfrm>
            <a:off x="621792" y="3794760"/>
            <a:ext cx="1664208" cy="621792"/>
          </a:xfrm>
          <a:prstGeom prst="rect">
            <a:avLst/>
          </a:prstGeom>
          <a:noFill/>
          <a:ln/>
        </p:spPr>
        <p:txBody>
          <a:bodyPr wrap="square" lIns="0" tIns="0" rIns="0" bIns="0" rtlCol="0" anchor="t"/>
          <a:lstStyle/>
          <a:p>
            <a:pPr indent="0" marL="0">
              <a:buNone/>
            </a:pPr>
            <a:r>
              <a:rPr lang="en-US" sz="950" dirty="0">
                <a:solidFill>
                  <a:srgbClr val="6B7280"/>
                </a:solidFill>
                <a:latin typeface="Calibri" pitchFamily="34" charset="0"/>
                <a:ea typeface="Calibri" pitchFamily="34" charset="-122"/>
                <a:cs typeface="Calibri" pitchFamily="34" charset="-120"/>
              </a:rPr>
              <a:t>A web address your program exposes where its current tallies can be read.</a:t>
            </a:r>
            <a:endParaRPr lang="en-US" sz="950" dirty="0"/>
          </a:p>
        </p:txBody>
      </p:sp>
      <p:sp>
        <p:nvSpPr>
          <p:cNvPr id="26" name="Shape 24"/>
          <p:cNvSpPr/>
          <p:nvPr/>
        </p:nvSpPr>
        <p:spPr>
          <a:xfrm>
            <a:off x="2542032" y="2971800"/>
            <a:ext cx="1938528" cy="1481328"/>
          </a:xfrm>
          <a:prstGeom prst="roundRect">
            <a:avLst>
              <a:gd name="adj" fmla="val 4938"/>
            </a:avLst>
          </a:prstGeom>
          <a:solidFill>
            <a:srgbClr val="F3F4F6"/>
          </a:solidFill>
          <a:ln w="12700">
            <a:solidFill>
              <a:srgbClr val="F3F4F6"/>
            </a:solidFill>
            <a:prstDash val="solid"/>
          </a:ln>
        </p:spPr>
      </p:sp>
      <p:sp>
        <p:nvSpPr>
          <p:cNvPr id="27" name="Text 25"/>
          <p:cNvSpPr txBox="1"/>
          <p:nvPr/>
        </p:nvSpPr>
        <p:spPr>
          <a:xfrm>
            <a:off x="2706624" y="3081528"/>
            <a:ext cx="548640" cy="274320"/>
          </a:xfrm>
          <a:prstGeom prst="rect">
            <a:avLst/>
          </a:prstGeom>
          <a:noFill/>
          <a:ln/>
        </p:spPr>
        <p:txBody>
          <a:bodyPr wrap="square" lIns="0" tIns="0" rIns="0" bIns="0" rtlCol="0" anchor="t"/>
          <a:lstStyle/>
          <a:p>
            <a:pPr indent="0" marL="0">
              <a:buNone/>
            </a:pPr>
            <a:r>
              <a:rPr lang="en-US" sz="1100" b="1" dirty="0">
                <a:solidFill>
                  <a:srgbClr val="B45309"/>
                </a:solidFill>
                <a:latin typeface="Calibri" pitchFamily="34" charset="0"/>
                <a:ea typeface="Calibri" pitchFamily="34" charset="-122"/>
                <a:cs typeface="Calibri" pitchFamily="34" charset="-120"/>
              </a:rPr>
              <a:t>13</a:t>
            </a:r>
            <a:endParaRPr lang="en-US" sz="1100" dirty="0"/>
          </a:p>
        </p:txBody>
      </p:sp>
      <p:sp>
        <p:nvSpPr>
          <p:cNvPr id="28" name="Text 26"/>
          <p:cNvSpPr txBox="1"/>
          <p:nvPr/>
        </p:nvSpPr>
        <p:spPr>
          <a:xfrm>
            <a:off x="2706624" y="3355848"/>
            <a:ext cx="1691640" cy="411480"/>
          </a:xfrm>
          <a:prstGeom prst="rect">
            <a:avLst/>
          </a:prstGeom>
          <a:noFill/>
          <a:ln/>
        </p:spPr>
        <p:txBody>
          <a:bodyPr wrap="square" lIns="0" tIns="0" rIns="0" bIns="0" rtlCol="0" anchor="t"/>
          <a:lstStyle/>
          <a:p>
            <a:pPr indent="0" marL="0">
              <a:buNone/>
            </a:pPr>
            <a:r>
              <a:rPr lang="en-US" sz="1250" b="1" dirty="0">
                <a:solidFill>
                  <a:srgbClr val="111827"/>
                </a:solidFill>
                <a:latin typeface="Calibri" pitchFamily="34" charset="0"/>
                <a:ea typeface="Calibri" pitchFamily="34" charset="-122"/>
                <a:cs typeface="Calibri" pitchFamily="34" charset="-120"/>
              </a:rPr>
              <a:t>Seeing comes first</a:t>
            </a:r>
            <a:endParaRPr lang="en-US" sz="1250" dirty="0"/>
          </a:p>
        </p:txBody>
      </p:sp>
      <p:sp>
        <p:nvSpPr>
          <p:cNvPr id="29" name="Text 27"/>
          <p:cNvSpPr txBox="1"/>
          <p:nvPr/>
        </p:nvSpPr>
        <p:spPr>
          <a:xfrm>
            <a:off x="2706624" y="3794760"/>
            <a:ext cx="1664208" cy="621792"/>
          </a:xfrm>
          <a:prstGeom prst="rect">
            <a:avLst/>
          </a:prstGeom>
          <a:noFill/>
          <a:ln/>
        </p:spPr>
        <p:txBody>
          <a:bodyPr wrap="square" lIns="0" tIns="0" rIns="0" bIns="0" rtlCol="0" anchor="t"/>
          <a:lstStyle/>
          <a:p>
            <a:pPr indent="0" marL="0">
              <a:buNone/>
            </a:pPr>
            <a:r>
              <a:rPr lang="en-US" sz="950" dirty="0">
                <a:solidFill>
                  <a:srgbClr val="6B7280"/>
                </a:solidFill>
                <a:latin typeface="Calibri" pitchFamily="34" charset="0"/>
                <a:ea typeface="Calibri" pitchFamily="34" charset="-122"/>
                <a:cs typeface="Calibri" pitchFamily="34" charset="-120"/>
              </a:rPr>
              <a:t>Why this module precedes the limits in module 3; you cannot choose a limit blind.</a:t>
            </a:r>
            <a:endParaRPr lang="en-US" sz="950" dirty="0"/>
          </a:p>
        </p:txBody>
      </p:sp>
      <p:sp>
        <p:nvSpPr>
          <p:cNvPr id="30" name="Shape 28"/>
          <p:cNvSpPr/>
          <p:nvPr/>
        </p:nvSpPr>
        <p:spPr>
          <a:xfrm>
            <a:off x="4626864" y="2971800"/>
            <a:ext cx="1938528" cy="1481328"/>
          </a:xfrm>
          <a:prstGeom prst="roundRect">
            <a:avLst>
              <a:gd name="adj" fmla="val 4938"/>
            </a:avLst>
          </a:prstGeom>
          <a:solidFill>
            <a:srgbClr val="F3F4F6"/>
          </a:solidFill>
          <a:ln w="12700">
            <a:solidFill>
              <a:srgbClr val="F3F4F6"/>
            </a:solidFill>
            <a:prstDash val="solid"/>
          </a:ln>
        </p:spPr>
      </p:sp>
      <p:sp>
        <p:nvSpPr>
          <p:cNvPr id="31" name="Text 29"/>
          <p:cNvSpPr txBox="1"/>
          <p:nvPr/>
        </p:nvSpPr>
        <p:spPr>
          <a:xfrm>
            <a:off x="4791456" y="3081528"/>
            <a:ext cx="548640" cy="274320"/>
          </a:xfrm>
          <a:prstGeom prst="rect">
            <a:avLst/>
          </a:prstGeom>
          <a:noFill/>
          <a:ln/>
        </p:spPr>
        <p:txBody>
          <a:bodyPr wrap="square" lIns="0" tIns="0" rIns="0" bIns="0" rtlCol="0" anchor="t"/>
          <a:lstStyle/>
          <a:p>
            <a:pPr indent="0" marL="0">
              <a:buNone/>
            </a:pPr>
            <a:r>
              <a:rPr lang="en-US" sz="1100" b="1" dirty="0">
                <a:solidFill>
                  <a:srgbClr val="B45309"/>
                </a:solidFill>
                <a:latin typeface="Calibri" pitchFamily="34" charset="0"/>
                <a:ea typeface="Calibri" pitchFamily="34" charset="-122"/>
                <a:cs typeface="Calibri" pitchFamily="34" charset="-120"/>
              </a:rPr>
              <a:t>14</a:t>
            </a:r>
            <a:endParaRPr lang="en-US" sz="1100" dirty="0"/>
          </a:p>
        </p:txBody>
      </p:sp>
      <p:sp>
        <p:nvSpPr>
          <p:cNvPr id="32" name="Text 30"/>
          <p:cNvSpPr txBox="1"/>
          <p:nvPr/>
        </p:nvSpPr>
        <p:spPr>
          <a:xfrm>
            <a:off x="4791456" y="3355848"/>
            <a:ext cx="1691640" cy="411480"/>
          </a:xfrm>
          <a:prstGeom prst="rect">
            <a:avLst/>
          </a:prstGeom>
          <a:noFill/>
          <a:ln/>
        </p:spPr>
        <p:txBody>
          <a:bodyPr wrap="square" lIns="0" tIns="0" rIns="0" bIns="0" rtlCol="0" anchor="t"/>
          <a:lstStyle/>
          <a:p>
            <a:pPr indent="0" marL="0">
              <a:buNone/>
            </a:pPr>
            <a:r>
              <a:rPr lang="en-US" sz="1250" b="1" dirty="0">
                <a:solidFill>
                  <a:srgbClr val="111827"/>
                </a:solidFill>
                <a:latin typeface="Calibri" pitchFamily="34" charset="0"/>
                <a:ea typeface="Calibri" pitchFamily="34" charset="-122"/>
                <a:cs typeface="Calibri" pitchFamily="34" charset="-120"/>
              </a:rPr>
              <a:t>Virtual environment (venv)</a:t>
            </a:r>
            <a:endParaRPr lang="en-US" sz="1250" dirty="0"/>
          </a:p>
        </p:txBody>
      </p:sp>
      <p:sp>
        <p:nvSpPr>
          <p:cNvPr id="33" name="Text 31"/>
          <p:cNvSpPr txBox="1"/>
          <p:nvPr/>
        </p:nvSpPr>
        <p:spPr>
          <a:xfrm>
            <a:off x="4791456" y="3794760"/>
            <a:ext cx="1664208" cy="621792"/>
          </a:xfrm>
          <a:prstGeom prst="rect">
            <a:avLst/>
          </a:prstGeom>
          <a:noFill/>
          <a:ln/>
        </p:spPr>
        <p:txBody>
          <a:bodyPr wrap="square" lIns="0" tIns="0" rIns="0" bIns="0" rtlCol="0" anchor="t"/>
          <a:lstStyle/>
          <a:p>
            <a:pPr indent="0" marL="0">
              <a:buNone/>
            </a:pPr>
            <a:r>
              <a:rPr lang="en-US" sz="950" dirty="0">
                <a:solidFill>
                  <a:srgbClr val="6B7280"/>
                </a:solidFill>
                <a:latin typeface="Calibri" pitchFamily="34" charset="0"/>
                <a:ea typeface="Calibri" pitchFamily="34" charset="-122"/>
                <a:cs typeface="Calibri" pitchFamily="34" charset="-120"/>
              </a:rPr>
              <a:t>A private box of Python packages for one project. Activate it before you work; deactivate when done.</a:t>
            </a:r>
            <a:endParaRPr lang="en-US" sz="9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APPENDIX C: THE COMMANDS, IN PLAIN ENGLISH</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Setting up</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2</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37</a:t>
            </a:r>
            <a:endParaRPr lang="en-US" sz="900" dirty="0"/>
          </a:p>
        </p:txBody>
      </p:sp>
      <p:sp>
        <p:nvSpPr>
          <p:cNvPr id="6" name="Shape 4"/>
          <p:cNvSpPr/>
          <p:nvPr/>
        </p:nvSpPr>
        <p:spPr>
          <a:xfrm>
            <a:off x="457200" y="1280160"/>
            <a:ext cx="8229600" cy="384048"/>
          </a:xfrm>
          <a:prstGeom prst="roundRect">
            <a:avLst>
              <a:gd name="adj" fmla="val 19048"/>
            </a:avLst>
          </a:prstGeom>
          <a:solidFill>
            <a:srgbClr val="F3F4F6"/>
          </a:solidFill>
          <a:ln w="12700">
            <a:solidFill>
              <a:srgbClr val="F3F4F6"/>
            </a:solidFill>
            <a:prstDash val="solid"/>
          </a:ln>
        </p:spPr>
      </p:sp>
      <p:sp>
        <p:nvSpPr>
          <p:cNvPr id="7" name="Text 5"/>
          <p:cNvSpPr txBox="1"/>
          <p:nvPr/>
        </p:nvSpPr>
        <p:spPr>
          <a:xfrm>
            <a:off x="594360" y="1280160"/>
            <a:ext cx="3200400" cy="384048"/>
          </a:xfrm>
          <a:prstGeom prst="rect">
            <a:avLst/>
          </a:prstGeom>
          <a:noFill/>
          <a:ln/>
        </p:spPr>
        <p:txBody>
          <a:bodyPr wrap="square" lIns="0" tIns="0" rIns="0" bIns="0" rtlCol="0" anchor="ctr"/>
          <a:lstStyle/>
          <a:p>
            <a:pPr indent="0" marL="0">
              <a:buNone/>
            </a:pPr>
            <a:r>
              <a:rPr lang="en-US" sz="950" b="1" dirty="0">
                <a:solidFill>
                  <a:srgbClr val="6D28D9"/>
                </a:solidFill>
                <a:latin typeface="Courier New" pitchFamily="34" charset="0"/>
                <a:ea typeface="Courier New" pitchFamily="34" charset="-122"/>
                <a:cs typeface="Courier New" pitchFamily="34" charset="-120"/>
              </a:rPr>
              <a:t>cd agent-cost-control</a:t>
            </a:r>
            <a:endParaRPr lang="en-US" sz="950" dirty="0"/>
          </a:p>
        </p:txBody>
      </p:sp>
      <p:sp>
        <p:nvSpPr>
          <p:cNvPr id="8" name="Text 6"/>
          <p:cNvSpPr txBox="1"/>
          <p:nvPr/>
        </p:nvSpPr>
        <p:spPr>
          <a:xfrm>
            <a:off x="3931920" y="1280160"/>
            <a:ext cx="4663440" cy="384048"/>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Move into the project folder. Every later command assumes you are in it.</a:t>
            </a:r>
            <a:endParaRPr lang="en-US" sz="1050" dirty="0"/>
          </a:p>
        </p:txBody>
      </p:sp>
      <p:sp>
        <p:nvSpPr>
          <p:cNvPr id="9" name="Shape 7"/>
          <p:cNvSpPr/>
          <p:nvPr/>
        </p:nvSpPr>
        <p:spPr>
          <a:xfrm>
            <a:off x="457200" y="1709928"/>
            <a:ext cx="8229600" cy="384048"/>
          </a:xfrm>
          <a:prstGeom prst="roundRect">
            <a:avLst>
              <a:gd name="adj" fmla="val 19048"/>
            </a:avLst>
          </a:prstGeom>
          <a:solidFill>
            <a:srgbClr val="FFFFFF"/>
          </a:solidFill>
          <a:ln w="12700">
            <a:solidFill>
              <a:srgbClr val="FFFFFF"/>
            </a:solidFill>
            <a:prstDash val="solid"/>
          </a:ln>
        </p:spPr>
      </p:sp>
      <p:sp>
        <p:nvSpPr>
          <p:cNvPr id="10" name="Text 8"/>
          <p:cNvSpPr txBox="1"/>
          <p:nvPr/>
        </p:nvSpPr>
        <p:spPr>
          <a:xfrm>
            <a:off x="594360" y="1709928"/>
            <a:ext cx="3200400" cy="384048"/>
          </a:xfrm>
          <a:prstGeom prst="rect">
            <a:avLst/>
          </a:prstGeom>
          <a:noFill/>
          <a:ln/>
        </p:spPr>
        <p:txBody>
          <a:bodyPr wrap="square" lIns="0" tIns="0" rIns="0" bIns="0" rtlCol="0" anchor="ctr"/>
          <a:lstStyle/>
          <a:p>
            <a:pPr indent="0" marL="0">
              <a:buNone/>
            </a:pPr>
            <a:r>
              <a:rPr lang="en-US" sz="950" b="1" dirty="0">
                <a:solidFill>
                  <a:srgbClr val="6D28D9"/>
                </a:solidFill>
                <a:latin typeface="Courier New" pitchFamily="34" charset="0"/>
                <a:ea typeface="Courier New" pitchFamily="34" charset="-122"/>
                <a:cs typeface="Courier New" pitchFamily="34" charset="-120"/>
              </a:rPr>
              <a:t>python3 -m venv .venv</a:t>
            </a:r>
            <a:endParaRPr lang="en-US" sz="950" dirty="0"/>
          </a:p>
        </p:txBody>
      </p:sp>
      <p:sp>
        <p:nvSpPr>
          <p:cNvPr id="11" name="Text 9"/>
          <p:cNvSpPr txBox="1"/>
          <p:nvPr/>
        </p:nvSpPr>
        <p:spPr>
          <a:xfrm>
            <a:off x="3931920" y="1709928"/>
            <a:ext cx="4663440" cy="384048"/>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Mac and Linux: build the private package box, in a folder called .venv.</a:t>
            </a:r>
            <a:endParaRPr lang="en-US" sz="1050" dirty="0"/>
          </a:p>
        </p:txBody>
      </p:sp>
      <p:sp>
        <p:nvSpPr>
          <p:cNvPr id="12" name="Shape 10"/>
          <p:cNvSpPr/>
          <p:nvPr/>
        </p:nvSpPr>
        <p:spPr>
          <a:xfrm>
            <a:off x="457200" y="2139696"/>
            <a:ext cx="8229600" cy="384048"/>
          </a:xfrm>
          <a:prstGeom prst="roundRect">
            <a:avLst>
              <a:gd name="adj" fmla="val 19048"/>
            </a:avLst>
          </a:prstGeom>
          <a:solidFill>
            <a:srgbClr val="F3F4F6"/>
          </a:solidFill>
          <a:ln w="12700">
            <a:solidFill>
              <a:srgbClr val="F3F4F6"/>
            </a:solidFill>
            <a:prstDash val="solid"/>
          </a:ln>
        </p:spPr>
      </p:sp>
      <p:sp>
        <p:nvSpPr>
          <p:cNvPr id="13" name="Text 11"/>
          <p:cNvSpPr txBox="1"/>
          <p:nvPr/>
        </p:nvSpPr>
        <p:spPr>
          <a:xfrm>
            <a:off x="594360" y="2139696"/>
            <a:ext cx="3200400" cy="384048"/>
          </a:xfrm>
          <a:prstGeom prst="rect">
            <a:avLst/>
          </a:prstGeom>
          <a:noFill/>
          <a:ln/>
        </p:spPr>
        <p:txBody>
          <a:bodyPr wrap="square" lIns="0" tIns="0" rIns="0" bIns="0" rtlCol="0" anchor="ctr"/>
          <a:lstStyle/>
          <a:p>
            <a:pPr indent="0" marL="0">
              <a:buNone/>
            </a:pPr>
            <a:r>
              <a:rPr lang="en-US" sz="950" b="1" dirty="0">
                <a:solidFill>
                  <a:srgbClr val="6D28D9"/>
                </a:solidFill>
                <a:latin typeface="Courier New" pitchFamily="34" charset="0"/>
                <a:ea typeface="Courier New" pitchFamily="34" charset="-122"/>
                <a:cs typeface="Courier New" pitchFamily="34" charset="-120"/>
              </a:rPr>
              <a:t>py -m venv .venv</a:t>
            </a:r>
            <a:endParaRPr lang="en-US" sz="950" dirty="0"/>
          </a:p>
        </p:txBody>
      </p:sp>
      <p:sp>
        <p:nvSpPr>
          <p:cNvPr id="14" name="Text 12"/>
          <p:cNvSpPr txBox="1"/>
          <p:nvPr/>
        </p:nvSpPr>
        <p:spPr>
          <a:xfrm>
            <a:off x="3931920" y="2139696"/>
            <a:ext cx="4663440" cy="384048"/>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Windows: the same thing. py is the Python launcher that ships with Windows.</a:t>
            </a:r>
            <a:endParaRPr lang="en-US" sz="1050" dirty="0"/>
          </a:p>
        </p:txBody>
      </p:sp>
      <p:sp>
        <p:nvSpPr>
          <p:cNvPr id="15" name="Shape 13"/>
          <p:cNvSpPr/>
          <p:nvPr/>
        </p:nvSpPr>
        <p:spPr>
          <a:xfrm>
            <a:off x="457200" y="2569464"/>
            <a:ext cx="8229600" cy="384048"/>
          </a:xfrm>
          <a:prstGeom prst="roundRect">
            <a:avLst>
              <a:gd name="adj" fmla="val 19048"/>
            </a:avLst>
          </a:prstGeom>
          <a:solidFill>
            <a:srgbClr val="FFFFFF"/>
          </a:solidFill>
          <a:ln w="12700">
            <a:solidFill>
              <a:srgbClr val="FFFFFF"/>
            </a:solidFill>
            <a:prstDash val="solid"/>
          </a:ln>
        </p:spPr>
      </p:sp>
      <p:sp>
        <p:nvSpPr>
          <p:cNvPr id="16" name="Text 14"/>
          <p:cNvSpPr txBox="1"/>
          <p:nvPr/>
        </p:nvSpPr>
        <p:spPr>
          <a:xfrm>
            <a:off x="594360" y="2569464"/>
            <a:ext cx="3200400" cy="384048"/>
          </a:xfrm>
          <a:prstGeom prst="rect">
            <a:avLst/>
          </a:prstGeom>
          <a:noFill/>
          <a:ln/>
        </p:spPr>
        <p:txBody>
          <a:bodyPr wrap="square" lIns="0" tIns="0" rIns="0" bIns="0" rtlCol="0" anchor="ctr"/>
          <a:lstStyle/>
          <a:p>
            <a:pPr indent="0" marL="0">
              <a:buNone/>
            </a:pPr>
            <a:r>
              <a:rPr lang="en-US" sz="950" b="1" dirty="0">
                <a:solidFill>
                  <a:srgbClr val="6D28D9"/>
                </a:solidFill>
                <a:latin typeface="Courier New" pitchFamily="34" charset="0"/>
                <a:ea typeface="Courier New" pitchFamily="34" charset="-122"/>
                <a:cs typeface="Courier New" pitchFamily="34" charset="-120"/>
              </a:rPr>
              <a:t>source .venv/bin/activate</a:t>
            </a:r>
            <a:endParaRPr lang="en-US" sz="950" dirty="0"/>
          </a:p>
        </p:txBody>
      </p:sp>
      <p:sp>
        <p:nvSpPr>
          <p:cNvPr id="17" name="Text 15"/>
          <p:cNvSpPr txBox="1"/>
          <p:nvPr/>
        </p:nvSpPr>
        <p:spPr>
          <a:xfrm>
            <a:off x="3931920" y="2569464"/>
            <a:ext cx="4663440" cy="384048"/>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Mac and Linux: step into the box. Your prompt gains a (.venv) marker.</a:t>
            </a:r>
            <a:endParaRPr lang="en-US" sz="1050" dirty="0"/>
          </a:p>
        </p:txBody>
      </p:sp>
      <p:sp>
        <p:nvSpPr>
          <p:cNvPr id="18" name="Shape 16"/>
          <p:cNvSpPr/>
          <p:nvPr/>
        </p:nvSpPr>
        <p:spPr>
          <a:xfrm>
            <a:off x="457200" y="2999232"/>
            <a:ext cx="8229600" cy="384048"/>
          </a:xfrm>
          <a:prstGeom prst="roundRect">
            <a:avLst>
              <a:gd name="adj" fmla="val 19048"/>
            </a:avLst>
          </a:prstGeom>
          <a:solidFill>
            <a:srgbClr val="F3F4F6"/>
          </a:solidFill>
          <a:ln w="12700">
            <a:solidFill>
              <a:srgbClr val="F3F4F6"/>
            </a:solidFill>
            <a:prstDash val="solid"/>
          </a:ln>
        </p:spPr>
      </p:sp>
      <p:sp>
        <p:nvSpPr>
          <p:cNvPr id="19" name="Text 17"/>
          <p:cNvSpPr txBox="1"/>
          <p:nvPr/>
        </p:nvSpPr>
        <p:spPr>
          <a:xfrm>
            <a:off x="594360" y="2999232"/>
            <a:ext cx="3200400" cy="384048"/>
          </a:xfrm>
          <a:prstGeom prst="rect">
            <a:avLst/>
          </a:prstGeom>
          <a:noFill/>
          <a:ln/>
        </p:spPr>
        <p:txBody>
          <a:bodyPr wrap="square" lIns="0" tIns="0" rIns="0" bIns="0" rtlCol="0" anchor="ctr"/>
          <a:lstStyle/>
          <a:p>
            <a:pPr indent="0" marL="0">
              <a:buNone/>
            </a:pPr>
            <a:r>
              <a:rPr lang="en-US" sz="950" b="1" dirty="0">
                <a:solidFill>
                  <a:srgbClr val="6D28D9"/>
                </a:solidFill>
                <a:latin typeface="Courier New" pitchFamily="34" charset="0"/>
                <a:ea typeface="Courier New" pitchFamily="34" charset="-122"/>
                <a:cs typeface="Courier New" pitchFamily="34" charset="-120"/>
              </a:rPr>
              <a:t>.venv\Scripts\Activate.ps1</a:t>
            </a:r>
            <a:endParaRPr lang="en-US" sz="950" dirty="0"/>
          </a:p>
        </p:txBody>
      </p:sp>
      <p:sp>
        <p:nvSpPr>
          <p:cNvPr id="20" name="Text 18"/>
          <p:cNvSpPr txBox="1"/>
          <p:nvPr/>
        </p:nvSpPr>
        <p:spPr>
          <a:xfrm>
            <a:off x="3931920" y="2999232"/>
            <a:ext cx="4663440" cy="384048"/>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Windows PowerShell: step into the box. In Command Prompt it is .venv\Scripts\activate.bat.</a:t>
            </a:r>
            <a:endParaRPr lang="en-US" sz="1050" dirty="0"/>
          </a:p>
        </p:txBody>
      </p:sp>
      <p:sp>
        <p:nvSpPr>
          <p:cNvPr id="21" name="Shape 19"/>
          <p:cNvSpPr/>
          <p:nvPr/>
        </p:nvSpPr>
        <p:spPr>
          <a:xfrm>
            <a:off x="457200" y="3429000"/>
            <a:ext cx="8229600" cy="384048"/>
          </a:xfrm>
          <a:prstGeom prst="roundRect">
            <a:avLst>
              <a:gd name="adj" fmla="val 19048"/>
            </a:avLst>
          </a:prstGeom>
          <a:solidFill>
            <a:srgbClr val="FFFFFF"/>
          </a:solidFill>
          <a:ln w="12700">
            <a:solidFill>
              <a:srgbClr val="FFFFFF"/>
            </a:solidFill>
            <a:prstDash val="solid"/>
          </a:ln>
        </p:spPr>
      </p:sp>
      <p:sp>
        <p:nvSpPr>
          <p:cNvPr id="22" name="Text 20"/>
          <p:cNvSpPr txBox="1"/>
          <p:nvPr/>
        </p:nvSpPr>
        <p:spPr>
          <a:xfrm>
            <a:off x="594360" y="3429000"/>
            <a:ext cx="3200400" cy="384048"/>
          </a:xfrm>
          <a:prstGeom prst="rect">
            <a:avLst/>
          </a:prstGeom>
          <a:noFill/>
          <a:ln/>
        </p:spPr>
        <p:txBody>
          <a:bodyPr wrap="square" lIns="0" tIns="0" rIns="0" bIns="0" rtlCol="0" anchor="ctr"/>
          <a:lstStyle/>
          <a:p>
            <a:pPr indent="0" marL="0">
              <a:buNone/>
            </a:pPr>
            <a:r>
              <a:rPr lang="en-US" sz="950" b="1" dirty="0">
                <a:solidFill>
                  <a:srgbClr val="6D28D9"/>
                </a:solidFill>
                <a:latin typeface="Courier New" pitchFamily="34" charset="0"/>
                <a:ea typeface="Courier New" pitchFamily="34" charset="-122"/>
                <a:cs typeface="Courier New" pitchFamily="34" charset="-120"/>
              </a:rPr>
              <a:t>pip install prometheus-client</a:t>
            </a:r>
            <a:endParaRPr lang="en-US" sz="950" dirty="0"/>
          </a:p>
        </p:txBody>
      </p:sp>
      <p:sp>
        <p:nvSpPr>
          <p:cNvPr id="23" name="Text 21"/>
          <p:cNvSpPr txBox="1"/>
          <p:nvPr/>
        </p:nvSpPr>
        <p:spPr>
          <a:xfrm>
            <a:off x="3931920" y="3429000"/>
            <a:ext cx="4663440" cy="384048"/>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Install the counter library. It lands inside .venv, not on the system Python.</a:t>
            </a:r>
            <a:endParaRPr lang="en-US" sz="1050" dirty="0"/>
          </a:p>
        </p:txBody>
      </p:sp>
      <p:sp>
        <p:nvSpPr>
          <p:cNvPr id="24" name="Shape 22"/>
          <p:cNvSpPr/>
          <p:nvPr/>
        </p:nvSpPr>
        <p:spPr>
          <a:xfrm>
            <a:off x="457200" y="3858768"/>
            <a:ext cx="8229600" cy="384048"/>
          </a:xfrm>
          <a:prstGeom prst="roundRect">
            <a:avLst>
              <a:gd name="adj" fmla="val 19048"/>
            </a:avLst>
          </a:prstGeom>
          <a:solidFill>
            <a:srgbClr val="F3F4F6"/>
          </a:solidFill>
          <a:ln w="12700">
            <a:solidFill>
              <a:srgbClr val="F3F4F6"/>
            </a:solidFill>
            <a:prstDash val="solid"/>
          </a:ln>
        </p:spPr>
      </p:sp>
      <p:sp>
        <p:nvSpPr>
          <p:cNvPr id="25" name="Text 23"/>
          <p:cNvSpPr txBox="1"/>
          <p:nvPr/>
        </p:nvSpPr>
        <p:spPr>
          <a:xfrm>
            <a:off x="594360" y="3858768"/>
            <a:ext cx="3200400" cy="384048"/>
          </a:xfrm>
          <a:prstGeom prst="rect">
            <a:avLst/>
          </a:prstGeom>
          <a:noFill/>
          <a:ln/>
        </p:spPr>
        <p:txBody>
          <a:bodyPr wrap="square" lIns="0" tIns="0" rIns="0" bIns="0" rtlCol="0" anchor="ctr"/>
          <a:lstStyle/>
          <a:p>
            <a:pPr indent="0" marL="0">
              <a:buNone/>
            </a:pPr>
            <a:r>
              <a:rPr lang="en-US" sz="950" b="1" dirty="0">
                <a:solidFill>
                  <a:srgbClr val="6D28D9"/>
                </a:solidFill>
                <a:latin typeface="Courier New" pitchFamily="34" charset="0"/>
                <a:ea typeface="Courier New" pitchFamily="34" charset="-122"/>
                <a:cs typeface="Courier New" pitchFamily="34" charset="-120"/>
              </a:rPr>
              <a:t>which python   /   where python</a:t>
            </a:r>
            <a:endParaRPr lang="en-US" sz="950" dirty="0"/>
          </a:p>
        </p:txBody>
      </p:sp>
      <p:sp>
        <p:nvSpPr>
          <p:cNvPr id="26" name="Text 24"/>
          <p:cNvSpPr txBox="1"/>
          <p:nvPr/>
        </p:nvSpPr>
        <p:spPr>
          <a:xfrm>
            <a:off x="3931920" y="3858768"/>
            <a:ext cx="4663440" cy="384048"/>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Print which Python you are using. The path should sit inside .venv.</a:t>
            </a:r>
            <a:endParaRPr lang="en-US" sz="1050" dirty="0"/>
          </a:p>
        </p:txBody>
      </p:sp>
      <p:sp>
        <p:nvSpPr>
          <p:cNvPr id="27" name="Shape 25"/>
          <p:cNvSpPr/>
          <p:nvPr/>
        </p:nvSpPr>
        <p:spPr>
          <a:xfrm>
            <a:off x="457200" y="4288536"/>
            <a:ext cx="8229600" cy="384048"/>
          </a:xfrm>
          <a:prstGeom prst="roundRect">
            <a:avLst>
              <a:gd name="adj" fmla="val 19048"/>
            </a:avLst>
          </a:prstGeom>
          <a:solidFill>
            <a:srgbClr val="FFFFFF"/>
          </a:solidFill>
          <a:ln w="12700">
            <a:solidFill>
              <a:srgbClr val="FFFFFF"/>
            </a:solidFill>
            <a:prstDash val="solid"/>
          </a:ln>
        </p:spPr>
      </p:sp>
      <p:sp>
        <p:nvSpPr>
          <p:cNvPr id="28" name="Text 26"/>
          <p:cNvSpPr txBox="1"/>
          <p:nvPr/>
        </p:nvSpPr>
        <p:spPr>
          <a:xfrm>
            <a:off x="594360" y="4288536"/>
            <a:ext cx="3200400" cy="384048"/>
          </a:xfrm>
          <a:prstGeom prst="rect">
            <a:avLst/>
          </a:prstGeom>
          <a:noFill/>
          <a:ln/>
        </p:spPr>
        <p:txBody>
          <a:bodyPr wrap="square" lIns="0" tIns="0" rIns="0" bIns="0" rtlCol="0" anchor="ctr"/>
          <a:lstStyle/>
          <a:p>
            <a:pPr indent="0" marL="0">
              <a:buNone/>
            </a:pPr>
            <a:r>
              <a:rPr lang="en-US" sz="950" b="1" dirty="0">
                <a:solidFill>
                  <a:srgbClr val="6D28D9"/>
                </a:solidFill>
                <a:latin typeface="Courier New" pitchFamily="34" charset="0"/>
                <a:ea typeface="Courier New" pitchFamily="34" charset="-122"/>
                <a:cs typeface="Courier New" pitchFamily="34" charset="-120"/>
              </a:rPr>
              <a:t>deactivate</a:t>
            </a:r>
            <a:endParaRPr lang="en-US" sz="950" dirty="0"/>
          </a:p>
        </p:txBody>
      </p:sp>
      <p:sp>
        <p:nvSpPr>
          <p:cNvPr id="29" name="Text 27"/>
          <p:cNvSpPr txBox="1"/>
          <p:nvPr/>
        </p:nvSpPr>
        <p:spPr>
          <a:xfrm>
            <a:off x="3931920" y="4288536"/>
            <a:ext cx="4663440" cy="384048"/>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Step back out of the box when you are done for the day.</a:t>
            </a:r>
            <a:endParaRPr lang="en-US" sz="10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APPENDIX C: THE COMMANDS, IN PLAIN ENGLISH</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Running and reading</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2</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38</a:t>
            </a:r>
            <a:endParaRPr lang="en-US" sz="900" dirty="0"/>
          </a:p>
        </p:txBody>
      </p:sp>
      <p:sp>
        <p:nvSpPr>
          <p:cNvPr id="6" name="Shape 4"/>
          <p:cNvSpPr/>
          <p:nvPr/>
        </p:nvSpPr>
        <p:spPr>
          <a:xfrm>
            <a:off x="457200" y="1280160"/>
            <a:ext cx="8229600" cy="384048"/>
          </a:xfrm>
          <a:prstGeom prst="roundRect">
            <a:avLst>
              <a:gd name="adj" fmla="val 19048"/>
            </a:avLst>
          </a:prstGeom>
          <a:solidFill>
            <a:srgbClr val="F3F4F6"/>
          </a:solidFill>
          <a:ln w="12700">
            <a:solidFill>
              <a:srgbClr val="F3F4F6"/>
            </a:solidFill>
            <a:prstDash val="solid"/>
          </a:ln>
        </p:spPr>
      </p:sp>
      <p:sp>
        <p:nvSpPr>
          <p:cNvPr id="7" name="Text 5"/>
          <p:cNvSpPr txBox="1"/>
          <p:nvPr/>
        </p:nvSpPr>
        <p:spPr>
          <a:xfrm>
            <a:off x="594360" y="1280160"/>
            <a:ext cx="3200400" cy="384048"/>
          </a:xfrm>
          <a:prstGeom prst="rect">
            <a:avLst/>
          </a:prstGeom>
          <a:noFill/>
          <a:ln/>
        </p:spPr>
        <p:txBody>
          <a:bodyPr wrap="square" lIns="0" tIns="0" rIns="0" bIns="0" rtlCol="0" anchor="ctr"/>
          <a:lstStyle/>
          <a:p>
            <a:pPr indent="0" marL="0">
              <a:buNone/>
            </a:pPr>
            <a:r>
              <a:rPr lang="en-US" sz="950" b="1" dirty="0">
                <a:solidFill>
                  <a:srgbClr val="6D28D9"/>
                </a:solidFill>
                <a:latin typeface="Courier New" pitchFamily="34" charset="0"/>
                <a:ea typeface="Courier New" pitchFamily="34" charset="-122"/>
                <a:cs typeface="Courier New" pitchFamily="34" charset="-120"/>
              </a:rPr>
              <a:t>python3 run_agent.py --input samples/normal.json</a:t>
            </a:r>
            <a:endParaRPr lang="en-US" sz="950" dirty="0"/>
          </a:p>
        </p:txBody>
      </p:sp>
      <p:sp>
        <p:nvSpPr>
          <p:cNvPr id="8" name="Text 6"/>
          <p:cNvSpPr txBox="1"/>
          <p:nvPr/>
        </p:nvSpPr>
        <p:spPr>
          <a:xfrm>
            <a:off x="3931920" y="1280160"/>
            <a:ext cx="4663440" cy="384048"/>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Run the agent once on a well-formed record. This is the script you are instrumenting.</a:t>
            </a:r>
            <a:endParaRPr lang="en-US" sz="1050" dirty="0"/>
          </a:p>
        </p:txBody>
      </p:sp>
      <p:sp>
        <p:nvSpPr>
          <p:cNvPr id="9" name="Shape 7"/>
          <p:cNvSpPr/>
          <p:nvPr/>
        </p:nvSpPr>
        <p:spPr>
          <a:xfrm>
            <a:off x="457200" y="1709928"/>
            <a:ext cx="8229600" cy="384048"/>
          </a:xfrm>
          <a:prstGeom prst="roundRect">
            <a:avLst>
              <a:gd name="adj" fmla="val 19048"/>
            </a:avLst>
          </a:prstGeom>
          <a:solidFill>
            <a:srgbClr val="FFFFFF"/>
          </a:solidFill>
          <a:ln w="12700">
            <a:solidFill>
              <a:srgbClr val="FFFFFF"/>
            </a:solidFill>
            <a:prstDash val="solid"/>
          </a:ln>
        </p:spPr>
      </p:sp>
      <p:sp>
        <p:nvSpPr>
          <p:cNvPr id="10" name="Text 8"/>
          <p:cNvSpPr txBox="1"/>
          <p:nvPr/>
        </p:nvSpPr>
        <p:spPr>
          <a:xfrm>
            <a:off x="594360" y="1709928"/>
            <a:ext cx="3200400" cy="384048"/>
          </a:xfrm>
          <a:prstGeom prst="rect">
            <a:avLst/>
          </a:prstGeom>
          <a:noFill/>
          <a:ln/>
        </p:spPr>
        <p:txBody>
          <a:bodyPr wrap="square" lIns="0" tIns="0" rIns="0" bIns="0" rtlCol="0" anchor="ctr"/>
          <a:lstStyle/>
          <a:p>
            <a:pPr indent="0" marL="0">
              <a:buNone/>
            </a:pPr>
            <a:r>
              <a:rPr lang="en-US" sz="950" b="1" dirty="0">
                <a:solidFill>
                  <a:srgbClr val="6D28D9"/>
                </a:solidFill>
                <a:latin typeface="Courier New" pitchFamily="34" charset="0"/>
                <a:ea typeface="Courier New" pitchFamily="34" charset="-122"/>
                <a:cs typeface="Courier New" pitchFamily="34" charset="-120"/>
              </a:rPr>
              <a:t>--verbose</a:t>
            </a:r>
            <a:endParaRPr lang="en-US" sz="950" dirty="0"/>
          </a:p>
        </p:txBody>
      </p:sp>
      <p:sp>
        <p:nvSpPr>
          <p:cNvPr id="11" name="Text 9"/>
          <p:cNvSpPr txBox="1"/>
          <p:nvPr/>
        </p:nvSpPr>
        <p:spPr>
          <a:xfrm>
            <a:off x="3931920" y="1709928"/>
            <a:ext cx="4663440" cy="384048"/>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A flag on that script: print the raw usage block from each API response.</a:t>
            </a:r>
            <a:endParaRPr lang="en-US" sz="1050" dirty="0"/>
          </a:p>
        </p:txBody>
      </p:sp>
      <p:sp>
        <p:nvSpPr>
          <p:cNvPr id="12" name="Shape 10"/>
          <p:cNvSpPr/>
          <p:nvPr/>
        </p:nvSpPr>
        <p:spPr>
          <a:xfrm>
            <a:off x="457200" y="2139696"/>
            <a:ext cx="8229600" cy="384048"/>
          </a:xfrm>
          <a:prstGeom prst="roundRect">
            <a:avLst>
              <a:gd name="adj" fmla="val 19048"/>
            </a:avLst>
          </a:prstGeom>
          <a:solidFill>
            <a:srgbClr val="F3F4F6"/>
          </a:solidFill>
          <a:ln w="12700">
            <a:solidFill>
              <a:srgbClr val="F3F4F6"/>
            </a:solidFill>
            <a:prstDash val="solid"/>
          </a:ln>
        </p:spPr>
      </p:sp>
      <p:sp>
        <p:nvSpPr>
          <p:cNvPr id="13" name="Text 11"/>
          <p:cNvSpPr txBox="1"/>
          <p:nvPr/>
        </p:nvSpPr>
        <p:spPr>
          <a:xfrm>
            <a:off x="594360" y="2139696"/>
            <a:ext cx="3200400" cy="384048"/>
          </a:xfrm>
          <a:prstGeom prst="rect">
            <a:avLst/>
          </a:prstGeom>
          <a:noFill/>
          <a:ln/>
        </p:spPr>
        <p:txBody>
          <a:bodyPr wrap="square" lIns="0" tIns="0" rIns="0" bIns="0" rtlCol="0" anchor="ctr"/>
          <a:lstStyle/>
          <a:p>
            <a:pPr indent="0" marL="0">
              <a:buNone/>
            </a:pPr>
            <a:r>
              <a:rPr lang="en-US" sz="950" b="1" dirty="0">
                <a:solidFill>
                  <a:srgbClr val="6D28D9"/>
                </a:solidFill>
                <a:latin typeface="Courier New" pitchFamily="34" charset="0"/>
                <a:ea typeface="Courier New" pitchFamily="34" charset="-122"/>
                <a:cs typeface="Courier New" pitchFamily="34" charset="-120"/>
              </a:rPr>
              <a:t>| grep agent_cost</a:t>
            </a:r>
            <a:endParaRPr lang="en-US" sz="950" dirty="0"/>
          </a:p>
        </p:txBody>
      </p:sp>
      <p:sp>
        <p:nvSpPr>
          <p:cNvPr id="14" name="Text 12"/>
          <p:cNvSpPr txBox="1"/>
          <p:nvPr/>
        </p:nvSpPr>
        <p:spPr>
          <a:xfrm>
            <a:off x="3931920" y="2139696"/>
            <a:ext cx="4663440" cy="384048"/>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Send the output into grep, which keeps only the lines containing that text.</a:t>
            </a:r>
            <a:endParaRPr lang="en-US" sz="1050" dirty="0"/>
          </a:p>
        </p:txBody>
      </p:sp>
      <p:sp>
        <p:nvSpPr>
          <p:cNvPr id="15" name="Shape 13"/>
          <p:cNvSpPr/>
          <p:nvPr/>
        </p:nvSpPr>
        <p:spPr>
          <a:xfrm>
            <a:off x="457200" y="2569464"/>
            <a:ext cx="8229600" cy="384048"/>
          </a:xfrm>
          <a:prstGeom prst="roundRect">
            <a:avLst>
              <a:gd name="adj" fmla="val 19048"/>
            </a:avLst>
          </a:prstGeom>
          <a:solidFill>
            <a:srgbClr val="FFFFFF"/>
          </a:solidFill>
          <a:ln w="12700">
            <a:solidFill>
              <a:srgbClr val="FFFFFF"/>
            </a:solidFill>
            <a:prstDash val="solid"/>
          </a:ln>
        </p:spPr>
      </p:sp>
      <p:sp>
        <p:nvSpPr>
          <p:cNvPr id="16" name="Text 14"/>
          <p:cNvSpPr txBox="1"/>
          <p:nvPr/>
        </p:nvSpPr>
        <p:spPr>
          <a:xfrm>
            <a:off x="594360" y="2569464"/>
            <a:ext cx="3200400" cy="384048"/>
          </a:xfrm>
          <a:prstGeom prst="rect">
            <a:avLst/>
          </a:prstGeom>
          <a:noFill/>
          <a:ln/>
        </p:spPr>
        <p:txBody>
          <a:bodyPr wrap="square" lIns="0" tIns="0" rIns="0" bIns="0" rtlCol="0" anchor="ctr"/>
          <a:lstStyle/>
          <a:p>
            <a:pPr indent="0" marL="0">
              <a:buNone/>
            </a:pPr>
            <a:r>
              <a:rPr lang="en-US" sz="950" b="1" dirty="0">
                <a:solidFill>
                  <a:srgbClr val="6D28D9"/>
                </a:solidFill>
                <a:latin typeface="Courier New" pitchFamily="34" charset="0"/>
                <a:ea typeface="Courier New" pitchFamily="34" charset="-122"/>
                <a:cs typeface="Courier New" pitchFamily="34" charset="-120"/>
              </a:rPr>
              <a:t>| grep -c 'usage'</a:t>
            </a:r>
            <a:endParaRPr lang="en-US" sz="950" dirty="0"/>
          </a:p>
        </p:txBody>
      </p:sp>
      <p:sp>
        <p:nvSpPr>
          <p:cNvPr id="17" name="Text 15"/>
          <p:cNvSpPr txBox="1"/>
          <p:nvPr/>
        </p:nvSpPr>
        <p:spPr>
          <a:xfrm>
            <a:off x="3931920" y="2569464"/>
            <a:ext cx="4663440" cy="384048"/>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Same idea, but -c counts the matching lines instead of showing them.</a:t>
            </a:r>
            <a:endParaRPr lang="en-US" sz="1050" dirty="0"/>
          </a:p>
        </p:txBody>
      </p:sp>
      <p:sp>
        <p:nvSpPr>
          <p:cNvPr id="18" name="Shape 16"/>
          <p:cNvSpPr/>
          <p:nvPr/>
        </p:nvSpPr>
        <p:spPr>
          <a:xfrm>
            <a:off x="457200" y="2999232"/>
            <a:ext cx="8229600" cy="384048"/>
          </a:xfrm>
          <a:prstGeom prst="roundRect">
            <a:avLst>
              <a:gd name="adj" fmla="val 19048"/>
            </a:avLst>
          </a:prstGeom>
          <a:solidFill>
            <a:srgbClr val="F3F4F6"/>
          </a:solidFill>
          <a:ln w="12700">
            <a:solidFill>
              <a:srgbClr val="F3F4F6"/>
            </a:solidFill>
            <a:prstDash val="solid"/>
          </a:ln>
        </p:spPr>
      </p:sp>
      <p:sp>
        <p:nvSpPr>
          <p:cNvPr id="19" name="Text 17"/>
          <p:cNvSpPr txBox="1"/>
          <p:nvPr/>
        </p:nvSpPr>
        <p:spPr>
          <a:xfrm>
            <a:off x="594360" y="2999232"/>
            <a:ext cx="3200400" cy="384048"/>
          </a:xfrm>
          <a:prstGeom prst="rect">
            <a:avLst/>
          </a:prstGeom>
          <a:noFill/>
          <a:ln/>
        </p:spPr>
        <p:txBody>
          <a:bodyPr wrap="square" lIns="0" tIns="0" rIns="0" bIns="0" rtlCol="0" anchor="ctr"/>
          <a:lstStyle/>
          <a:p>
            <a:pPr indent="0" marL="0">
              <a:buNone/>
            </a:pPr>
            <a:r>
              <a:rPr lang="en-US" sz="950" b="1" dirty="0">
                <a:solidFill>
                  <a:srgbClr val="6D28D9"/>
                </a:solidFill>
                <a:latin typeface="Courier New" pitchFamily="34" charset="0"/>
                <a:ea typeface="Courier New" pitchFamily="34" charset="-122"/>
                <a:cs typeface="Courier New" pitchFamily="34" charset="-120"/>
              </a:rPr>
              <a:t>&amp;</a:t>
            </a:r>
            <a:endParaRPr lang="en-US" sz="950" dirty="0"/>
          </a:p>
        </p:txBody>
      </p:sp>
      <p:sp>
        <p:nvSpPr>
          <p:cNvPr id="20" name="Text 18"/>
          <p:cNvSpPr txBox="1"/>
          <p:nvPr/>
        </p:nvSpPr>
        <p:spPr>
          <a:xfrm>
            <a:off x="3931920" y="2999232"/>
            <a:ext cx="4663440" cy="384048"/>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At the end of a line: run it in the background so you get your prompt back.</a:t>
            </a:r>
            <a:endParaRPr lang="en-US" sz="1050" dirty="0"/>
          </a:p>
        </p:txBody>
      </p:sp>
      <p:sp>
        <p:nvSpPr>
          <p:cNvPr id="21" name="Shape 19"/>
          <p:cNvSpPr/>
          <p:nvPr/>
        </p:nvSpPr>
        <p:spPr>
          <a:xfrm>
            <a:off x="457200" y="3429000"/>
            <a:ext cx="8229600" cy="384048"/>
          </a:xfrm>
          <a:prstGeom prst="roundRect">
            <a:avLst>
              <a:gd name="adj" fmla="val 19048"/>
            </a:avLst>
          </a:prstGeom>
          <a:solidFill>
            <a:srgbClr val="FFFFFF"/>
          </a:solidFill>
          <a:ln w="12700">
            <a:solidFill>
              <a:srgbClr val="FFFFFF"/>
            </a:solidFill>
            <a:prstDash val="solid"/>
          </a:ln>
        </p:spPr>
      </p:sp>
      <p:sp>
        <p:nvSpPr>
          <p:cNvPr id="22" name="Text 20"/>
          <p:cNvSpPr txBox="1"/>
          <p:nvPr/>
        </p:nvSpPr>
        <p:spPr>
          <a:xfrm>
            <a:off x="594360" y="3429000"/>
            <a:ext cx="3200400" cy="384048"/>
          </a:xfrm>
          <a:prstGeom prst="rect">
            <a:avLst/>
          </a:prstGeom>
          <a:noFill/>
          <a:ln/>
        </p:spPr>
        <p:txBody>
          <a:bodyPr wrap="square" lIns="0" tIns="0" rIns="0" bIns="0" rtlCol="0" anchor="ctr"/>
          <a:lstStyle/>
          <a:p>
            <a:pPr indent="0" marL="0">
              <a:buNone/>
            </a:pPr>
            <a:r>
              <a:rPr lang="en-US" sz="950" b="1" dirty="0">
                <a:solidFill>
                  <a:srgbClr val="6D28D9"/>
                </a:solidFill>
                <a:latin typeface="Courier New" pitchFamily="34" charset="0"/>
                <a:ea typeface="Courier New" pitchFamily="34" charset="-122"/>
                <a:cs typeface="Courier New" pitchFamily="34" charset="-120"/>
              </a:rPr>
              <a:t>curl http://localhost:8000/metrics</a:t>
            </a:r>
            <a:endParaRPr lang="en-US" sz="950" dirty="0"/>
          </a:p>
        </p:txBody>
      </p:sp>
      <p:sp>
        <p:nvSpPr>
          <p:cNvPr id="23" name="Text 21"/>
          <p:cNvSpPr txBox="1"/>
          <p:nvPr/>
        </p:nvSpPr>
        <p:spPr>
          <a:xfrm>
            <a:off x="3931920" y="3429000"/>
            <a:ext cx="4663440" cy="384048"/>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Fetch the page your own program is now serving, and print it.</a:t>
            </a:r>
            <a:endParaRPr lang="en-US" sz="1050" dirty="0"/>
          </a:p>
        </p:txBody>
      </p:sp>
      <p:sp>
        <p:nvSpPr>
          <p:cNvPr id="24" name="Shape 22"/>
          <p:cNvSpPr/>
          <p:nvPr/>
        </p:nvSpPr>
        <p:spPr>
          <a:xfrm>
            <a:off x="457200" y="3858768"/>
            <a:ext cx="8229600" cy="384048"/>
          </a:xfrm>
          <a:prstGeom prst="roundRect">
            <a:avLst>
              <a:gd name="adj" fmla="val 19048"/>
            </a:avLst>
          </a:prstGeom>
          <a:solidFill>
            <a:srgbClr val="F3F4F6"/>
          </a:solidFill>
          <a:ln w="12700">
            <a:solidFill>
              <a:srgbClr val="F3F4F6"/>
            </a:solidFill>
            <a:prstDash val="solid"/>
          </a:ln>
        </p:spPr>
      </p:sp>
      <p:sp>
        <p:nvSpPr>
          <p:cNvPr id="25" name="Text 23"/>
          <p:cNvSpPr txBox="1"/>
          <p:nvPr/>
        </p:nvSpPr>
        <p:spPr>
          <a:xfrm>
            <a:off x="594360" y="3858768"/>
            <a:ext cx="3200400" cy="384048"/>
          </a:xfrm>
          <a:prstGeom prst="rect">
            <a:avLst/>
          </a:prstGeom>
          <a:noFill/>
          <a:ln/>
        </p:spPr>
        <p:txBody>
          <a:bodyPr wrap="square" lIns="0" tIns="0" rIns="0" bIns="0" rtlCol="0" anchor="ctr"/>
          <a:lstStyle/>
          <a:p>
            <a:pPr indent="0" marL="0">
              <a:buNone/>
            </a:pPr>
            <a:r>
              <a:rPr lang="en-US" sz="950" b="1" dirty="0">
                <a:solidFill>
                  <a:srgbClr val="6D28D9"/>
                </a:solidFill>
                <a:latin typeface="Courier New" pitchFamily="34" charset="0"/>
                <a:ea typeface="Courier New" pitchFamily="34" charset="-122"/>
                <a:cs typeface="Courier New" pitchFamily="34" charset="-120"/>
              </a:rPr>
              <a:t>curl -s</a:t>
            </a:r>
            <a:endParaRPr lang="en-US" sz="950" dirty="0"/>
          </a:p>
        </p:txBody>
      </p:sp>
      <p:sp>
        <p:nvSpPr>
          <p:cNvPr id="26" name="Text 24"/>
          <p:cNvSpPr txBox="1"/>
          <p:nvPr/>
        </p:nvSpPr>
        <p:spPr>
          <a:xfrm>
            <a:off x="3931920" y="3858768"/>
            <a:ext cx="4663440" cy="384048"/>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The -s flag: silent, so curl does not print its progress meter.</a:t>
            </a:r>
            <a:endParaRPr lang="en-US" sz="1050" dirty="0"/>
          </a:p>
        </p:txBody>
      </p:sp>
      <p:sp>
        <p:nvSpPr>
          <p:cNvPr id="27" name="Shape 25"/>
          <p:cNvSpPr/>
          <p:nvPr/>
        </p:nvSpPr>
        <p:spPr>
          <a:xfrm>
            <a:off x="457200" y="4288536"/>
            <a:ext cx="8229600" cy="384048"/>
          </a:xfrm>
          <a:prstGeom prst="roundRect">
            <a:avLst>
              <a:gd name="adj" fmla="val 19048"/>
            </a:avLst>
          </a:prstGeom>
          <a:solidFill>
            <a:srgbClr val="FFFFFF"/>
          </a:solidFill>
          <a:ln w="12700">
            <a:solidFill>
              <a:srgbClr val="FFFFFF"/>
            </a:solidFill>
            <a:prstDash val="solid"/>
          </a:ln>
        </p:spPr>
      </p:sp>
      <p:sp>
        <p:nvSpPr>
          <p:cNvPr id="28" name="Text 26"/>
          <p:cNvSpPr txBox="1"/>
          <p:nvPr/>
        </p:nvSpPr>
        <p:spPr>
          <a:xfrm>
            <a:off x="594360" y="4288536"/>
            <a:ext cx="3200400" cy="384048"/>
          </a:xfrm>
          <a:prstGeom prst="rect">
            <a:avLst/>
          </a:prstGeom>
          <a:noFill/>
          <a:ln/>
        </p:spPr>
        <p:txBody>
          <a:bodyPr wrap="square" lIns="0" tIns="0" rIns="0" bIns="0" rtlCol="0" anchor="ctr"/>
          <a:lstStyle/>
          <a:p>
            <a:pPr indent="0" marL="0">
              <a:buNone/>
            </a:pPr>
            <a:r>
              <a:rPr lang="en-US" sz="950" b="1" dirty="0">
                <a:solidFill>
                  <a:srgbClr val="6D28D9"/>
                </a:solidFill>
                <a:latin typeface="Courier New" pitchFamily="34" charset="0"/>
                <a:ea typeface="Courier New" pitchFamily="34" charset="-122"/>
                <a:cs typeface="Courier New" pitchFamily="34" charset="-120"/>
              </a:rPr>
              <a:t>A &amp;&amp; B</a:t>
            </a:r>
            <a:endParaRPr lang="en-US" sz="950" dirty="0"/>
          </a:p>
        </p:txBody>
      </p:sp>
      <p:sp>
        <p:nvSpPr>
          <p:cNvPr id="29" name="Text 27"/>
          <p:cNvSpPr txBox="1"/>
          <p:nvPr/>
        </p:nvSpPr>
        <p:spPr>
          <a:xfrm>
            <a:off x="3931920" y="4288536"/>
            <a:ext cx="4663440" cy="384048"/>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Run A, and only if it succeeds, run B.</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2: Making Cost Visible</dc:title>
  <dc:subject>PptxGenJS Presentation</dc:subject>
  <dc:creator>Emmanuel Naweji</dc:creator>
  <cp:lastModifiedBy>Emmanuel Naweji</cp:lastModifiedBy>
  <cp:revision>1</cp:revision>
  <dcterms:created xsi:type="dcterms:W3CDTF">2026-09-23T12:50:42Z</dcterms:created>
  <dcterms:modified xsi:type="dcterms:W3CDTF">2026-09-23T12:50:42Z</dcterms:modified>
</cp:coreProperties>
</file>