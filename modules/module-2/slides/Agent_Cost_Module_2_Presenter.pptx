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notesMasterIdLst>
    <p:notesMasterId r:id="rId4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 Script" id="{b8ba85c8-1c7d-0c94-87cf-f31508834c20}">
          <p14:sldIdLst>
            <p14:sldId id="256"/>
            <p14:sldId id="257"/>
            <p14:sldId id="258"/>
          </p14:sldIdLst>
        </p14:section>
        <p14:section name="Setup · Script" id="{bd916e81-8bad-ce81-1aad-0557151d0647}">
          <p14:sldIdLst>
            <p14:sldId id="259"/>
            <p14:sldId id="260"/>
          </p14:sldIdLst>
        </p14:section>
        <p14:section name="01 · Script" id="{d08cd62f-3547-6775-402c-e07903132943}">
          <p14:sldIdLst>
            <p14:sldId id="261"/>
            <p14:sldId id="262"/>
            <p14:sldId id="263"/>
          </p14:sldIdLst>
        </p14:section>
        <p14:section name="01 · iPad" id="{f2cf6120-d7ff-117b-c6f4-023c7c8705c5}">
          <p14:sldIdLst>
            <p14:sldId id="264"/>
          </p14:sldIdLst>
        </p14:section>
        <p14:section name="02 · Script" id="{f9e47652-003b-6d5d-07ad-66495f6a70e4}">
          <p14:sldIdLst>
            <p14:sldId id="265"/>
            <p14:sldId id="266"/>
            <p14:sldId id="267"/>
          </p14:sldIdLst>
        </p14:section>
        <p14:section name="02 · iPad" id="{e0679f8d-1011-440a-ea04-c034d2cb3995}">
          <p14:sldIdLst>
            <p14:sldId id="268"/>
          </p14:sldIdLst>
        </p14:section>
        <p14:section name="03 · Script" id="{cd2a57d2-cf4a-b070-8807-96b1ef171b51}">
          <p14:sldIdLst>
            <p14:sldId id="269"/>
            <p14:sldId id="270"/>
            <p14:sldId id="271"/>
          </p14:sldIdLst>
        </p14:section>
        <p14:section name="03 · iPad" id="{17845e4a-11a6-53d4-3e69-0ac7ded8dd3b}">
          <p14:sldIdLst>
            <p14:sldId id="272"/>
          </p14:sldIdLst>
        </p14:section>
        <p14:section name="04 · Script" id="{716a2626-a282-d6da-5984-976d6c7ea50a}">
          <p14:sldIdLst>
            <p14:sldId id="273"/>
            <p14:sldId id="274"/>
            <p14:sldId id="275"/>
            <p14:sldId id="276"/>
          </p14:sldIdLst>
        </p14:section>
        <p14:section name="04 · iPad" id="{af32933d-c045-bec8-52d0-e6ed7ee59f45}">
          <p14:sldIdLst>
            <p14:sldId id="277"/>
          </p14:sldIdLst>
        </p14:section>
        <p14:section name="05 · Script" id="{fd65e3b9-b3c6-69cd-7b5e-1da549d5e047}">
          <p14:sldIdLst>
            <p14:sldId id="278"/>
            <p14:sldId id="279"/>
            <p14:sldId id="280"/>
          </p14:sldIdLst>
        </p14:section>
        <p14:section name="05 · iPad" id="{bcc220d1-f304-7107-020e-55e4cabfcfbb}">
          <p14:sldIdLst>
            <p14:sldId id="281"/>
          </p14:sldIdLst>
        </p14:section>
        <p14:section name="06 · Script" id="{1c920a1d-8dde-c181-17c0-be36cba7b526}">
          <p14:sldIdLst>
            <p14:sldId id="282"/>
            <p14:sldId id="283"/>
          </p14:sldIdLst>
        </p14:section>
        <p14:section name="06 · Terminal (VS Code)" id="{02d1a512-c666-51d2-f8c9-295a764a0318}">
          <p14:sldIdLst>
            <p14:sldId id="284"/>
            <p14:sldId id="285"/>
            <p14:sldId id="286"/>
            <p14:sldId id="287"/>
            <p14:sldId id="288"/>
            <p14:sldId id="289"/>
            <p14:sldId id="290"/>
          </p14:sldIdLst>
        </p14:section>
        <p14:section name="Wrap-up · Script" id="{39e9b3b1-22a2-8998-9434-1be0e832c7aa}">
          <p14:sldIdLst>
            <p14:sldId id="291"/>
            <p14:sldId id="292"/>
            <p14:sldId id="293"/>
          </p14:sldIdLst>
        </p14:section>
        <p14:section name="Appendix · Reference" id="{51ebf6a0-adfd-ecd2-c4cd-5bb737853860}">
          <p14:sldIdLst>
            <p14:sldId id="294"/>
            <p14:sldId id="295"/>
            <p14:sldId id="296"/>
            <p14:sldId id="297"/>
            <p14:sldId id="29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Right now your agent spends money and nobody writes down what it was for. This module fixes that. We will not stop anything or limit anything yet — we will only start keeping receipts, because you cannot control something you cannot see.
[Presenter: Emmanuel Naweji · Runtime ~45 min · 6 sections · Course repo github.com/Here2ServeU/agent-cost-control]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module is about writing receipts. Nothing gets blocked, nothing gets limited, nothing gets stopped. We only start writing things down — because in module three we start putting limits on spending, and you cannot sensibly decide what a limit should be until you can see what normal looks like. Seeing comes first. Always.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Sections 1–5 build the idea; section 6 is hands-on — you build the envelope and write your first receipt.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Before we type anything, make sure the machine is ready. On a Mac, install Homebrew from brew.sh, then brew install python git, and the VS Code cask. On Windows 11, winget already ships with the operating system: winget install Python.Python.3.12, Git.Git, and Microsoft.VisualStudioCode. Then check the versions print. On Windows the Python command is py; on a Mac it is python3. Everything else in this module assumes those three are installed and that you can open a terminal inside VS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[SETUP]
If your machine is not set up yet, stop here and watch the video for your computer. The Mac one is youtu.be/8ZIiXg4XOY0; the Windows one is youtu.be/3e2-GRBibWc. Both walk you through Git, Python and Visual Studio Code from a blank machine, in order. The official pages underneath are there if you would rather read than watch, or if you hit something the video does not cover.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start with a picture that has nothing to do with computers.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Imagine you own a small shop. At the end of every month, the bank sends you one number: how much money came in. That is all you get. No till roll. No receipts. No record of which items sold or which shelf made money.
Could you run that shop well? You could keep it open. But you could never answer the questions that actually matter. Which product is losing money? Which customer is worth keeping? Should I order more of this or less?
That is exactly where you are with your agent today. At the end of the month, the model provider sends you one number. In module one we saw it: four thousand two hundred dollars. True, and almost useless, because you cannot ask it anything.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Which agent spent it? You do not know. Which team should pay for it? You do not know. Which customer was the work for? You do not know. And the most important one: did any of that work actually succeed? You have no idea at all.
Now here is the good news, and it is genuinely good news. The fix is not a better bill. You are not waiting for the provider to build you a nicer dashboard. The fix is that you start writing a receipt yourself, every time the agent spends money.
That is the whole of this module. We write receipts. Nothing gets blocked, nothing gets limited, nothing gets stopped. We only start writing things down.
And I want to say clearly why we do this before we do anything else. In module three we start putting limits on spending. You cannot sensibly decide what a limit should be until you can see what normal looks like. Seeing comes first. Always.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[HIDDEN SLIDE — iPad segment. Skip in slideshow.]
Production note — New iPad page. Draw the two boxes first, then the analogy and the fix underneath.
SAY:
Let's draw the problem, because the picture stays with you better than the explanation does. One number you have. Four questions you cannot answer.
THEN SAY:
Keep this page where you can see it while you work through the rest of the module. Every single thing we build from here is one of those four dashed boxes turning solid. That is all instrumentation ever is — turning a question you cannot answer into one you can.
→ Next: the surprising part — the receipt already exists.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part that surprises almost everyone: you do not have to count anything yourself. The counting is already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not have to count anything yourself. The counting is already done.
Your agent sends a question. The model thinks about it and sends back an answer. But the answer does not arrive on its own. It arrives with a small note attached, and that note contains exactly two numbers we care about: how many tokens went in, and how many came out.
A token is roughly a piece of a word; about four characters of English. Input tokens are everything you sent it. Output tokens are everything it wrote back.
That little note has a name in the documentation: the usage block. Every major provider returns one, on every single call, whether you asked for it or not. It is already there, in every response, right now, in your agent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happens to it? Almost every program throws it away. The code reads the answer, uses the answer, and quietly ignores the usage part completely. The receipt goes straight in the bin, thousands of times a day.
That is the whole problem. Not that the data is missing — the data is arriving and being discarded. We are not building a counting system. We are going to stop throwing away a receipt that is already being handed to us.
The only difference between those two boxes is one extra line. That is genuinely the size of the change we are making.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[HIDDEN SLIDE — iPad segment. Skip in slideshow.]
Production note — New iPad page. Draw the flow left to right, then the two contrasting boxes underneath.
SAY:
Let's draw what actually comes back, so you can see the receipt sitting there.
THEN SAY:
Look at those two boxes side by side for a moment. The only difference between them is one extra line. That is genuinely the size of the change we are making. Everything else in this module is about what we do with those two numbers once we have stopped throwing them away.
→ Next: where to put that extra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we need to catch that receipt. Where do we put the code that does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wrong answer is to go through your agent and edit every place it talks to the model. A real agent might do that in ten or fifteen different places. You would have to change all of them, remember to change any new one somebody adds next month, and you would touch a lot of working code to do it.
The right answer is to put a small envelope around the call instead. Just before the call it notes the time and who is asking. Just after the call it reads the receipt and writes it down. The middle stays exactly the same. The line that asks the model is untouched. The line that uses the answer is untouched. We put something around them, not inside them.
This has a name in programming — a wrapper.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nothing breaks. Second, there is one place to change. Third, and this one matters more than it sounds: it outlives tools. The frameworks people use to build agents change constantly. New ones appear every few months. But an envelope around a function call works in all of them, because every one of them eventually calls the model the same way.
If you remember only one sentence from this module, make it this one: wrap, do not rewrite.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[HIDDEN SLIDE — iPad segment. Skip in slideshow.]
Production note — New iPad page. Draw before on the left, after on the right, and make the unchanged middle visually identical in both.
SAY:
Let's draw the envelope, because seeing what stays the same is as important as seeing what gets added.
THEN SAY:
That middle box, drawn identically on both sides, is the thing to notice. People expect instrumentation to mean rewriting their agent, and they put it off for months because it sounds like a big job. It is not a big job. It is two strips of code around something you already have.
→ Next: making the number mean something.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can now catch the receipt. But a receipt with only a price on it is still not very useful.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you write down that one run cost four cents. That is a true fact, and you cannot ask it a single question. Four cents of what? Spent by whom? For which customer? Did it even work?
So alongside the number we write down four labels. A label is just a word we attach to the number to say what it was about; like writing on the back of a photograph.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Label one: which agent. Your system probably has several — one reading invoices, one answering support questions, one summarising documents.
Label two: which team. Somebody owns the budget this comes out of. If you never write this down, every cost conversation ends with people guessing.
Label three: which run. A single task might make twelve calls. Without a run label you have twelve unrelated four-cent charges. With it, you can add them up. This is what makes module four possible at all.
Label four: the result. Did this work succeed or not? Write it down the moment you know.
You can add a label today and ask that question forever afterwards. If you miss it today, you can never ask about the runs that already happened — that information is gone permanently. So when you are unsure whether a label is worth adding, add it. Storage is cheap. Regret is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word of warning on one label in particular, because it is the one people get wrong. Do not put anything into a label that changes constantly — a customer's email address, a document ID, a timestamp. Labels with unlimited possible values will make your monitoring system very slow and very expensive, which would be an unfortunate way to end a course about cost. Keep labels to things with a small, fixed set of values.
(The run ID is the exception people ask about: it belongs in the receipt, but it is not a good Prometheus label — we keep it on the printed line and in logs.)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[HIDDEN SLIDE — iPad segment. Skip in slideshow.]
Production note — New iPad page. The before-and-after at the top, then the four labels as separate cards.
SAY:
Let's draw the same four cents twice — once bare, once with labels — and then what each label buys you.
THEN SAY:
A word of warning on one label in particular, because it is the one people get wrong. Do not put anything into a label that changes constantly — a customer's email address, a document ID, a timestamp. Labels with unlimited possible values will make your monitoring system very slow and very expensive. Keep labels to things with a small, fixed set of values.
→ Next: turning a number into something you can look 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have a number and four labels. There is one more step before a human can use any of it, and it happens in three stages.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one is what we have now: a number. One run just cost four cents. The problem is that this number exists for a moment and then it is gone.
Stage two is a counter — a running total that only ever goes up. Think of marks on a wall, a tally. It would seem more useful for it to reset at midnight. It is not, because you would lose everything. With a tally that never resets, you can work out spending for any period you like: look at the mark now, look at the mark an hour ago, and subtract.
Stage three is a picture. A line on a screen — where a human can finally glance at it and know something without doing arithmetic.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tool that stores these tallies for us is called Prometheus. All you need to know today: it is a program that remembers numbers over time, and it is the standard way of doing this across the industry. The tool that draws the picture is called Grafana.
We are only setting these up today. We will not really use them properly until module six, where we build the dashboard and the alerts.
People finish this module and feel slightly underwhelmed. Nothing is protected yet. Your agent can still run away overnight exactly as it did in module one. What has changed is that you would now be able to see it happening, and say afterwards exactly which agent, which team, and which runs. That is the foundation everything else sits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[HIDDEN SLIDE — iPad segment. Skip in slideshow.]
Production note — New iPad page. Three stages across the top, then the tally explanation, then the ending state.
SAY:
Let's draw the three stages, and then I want to draw the tally idea specifically because it catches people out.
THEN SAY:
That last box matters, because people finish this module and feel slightly underwhelmed. Nothing is protected yet. Your agent can still run away overnight exactly as it did in module one. What has changed is that you would now be able to see it happening, and you would be able to say afterwards exactly which agent, which team, and which runs.
→ Last section: build the envelope.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build the envelope. We will do it in four small stages and run it after each one, so you always know that the last thing you added is what broke it, if anything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build the envelope. We will do it in four small stages and run it after each one, so you always know that the last thing you added is what broke it, if anything does. We are using the same agent from module one — the uninstrumented one from the course repository.
Production note — Build in an editor with a terminal beside it. Run after every stage. Pause on the /metrics output — that is the moment it becomes real for most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[VS CODE / TERMINAL — TYPE THIS]
Before we install anything, we make a virtual environment. A virtual environment is a private box of Python packages that belongs to this project only. Nothing you install goes near the rest of your computer, and if it ever gets into a mess you delete the folder and build it again in about ten seconds.
On a Mac or on Linux: change into the repository, then python3 -m venv .venv, then source .venv/bin/activate.
On Windows in PowerShell: py -m venv .venv, then .venv backslash Scripts backslash Activate.ps1. If Windows refuses to run the activate script, that is the execution policy; run Set-ExecutionPolicy -Scope Process -ExecutionPolicy Bypass in that window and activate again. In the old Command Prompt the line is .venv backslash Scripts backslash activate.bat.
Either way, look at your prompt. It now starts with (.venv) in brackets. That is how you know you are inside the box. You do this every time you open a new terminal for this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[VS CODE / TERMINAL — TYPE THIS]
With the environment active, install the small library that keeps the tallies for us. One package, and it is the standard one. Because the environment is active, plain pip is the right command on both platforms, and the package lands inside .venv rather than on your system Python.
If you want to prove it to yourself: which python on a Mac, or where python on Windows. The path it prints should point inside your .venv folder.
When you are finished for the day, deactivate. Next time you come back, activate again before you run anything.
Add .venv to your .gitignore if it is not there already; you never commit a virtual environment.
Next: stage one, catch the receipt.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[VS CODE / TERMINAL — TYPE THIS]
Stage one: catch the receipt. Find the place where the agent calls the model. Instead of editing it, write a new function around it — your envelope. Inside, call the model exactly as before, then read the two token counts out of the response's usage block, and print them. Run the agent.
You should see two numbers printed for every step. That is the receipt, caught for the first time. The agent behaved identically; you only added printing.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[VS CODE / TERMINAL — TYPE THIS]
Stage two: turn tokens into money. Add two constants near the top of the file for the input and output rates from your provider's pricing page. In your envelope, multiply each count by its rate and add them. Print the cost alongside the tokens.
Now every step prints what it actually cost. Add those up by hand and compare against the figure you calculated manually in module one — they should match. If they do not, you have a rate wrong, and finding that now is better than finding it in a report.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[VS CODE / TERMINAL — TYPE THIS]
Stage three: the four labels. Give the agent a name and a team as constants. Generate a run ID once when the run starts; a short random string is fine. Pass it into every call. For now set result to unknown; we will set it properly in module five. Print all four alongside the cost.
Look carefully at that output and confirm one thing: the run ID is the same on every line. If it changes between steps, you generated it in the wrong place; it belongs at the start of the run, not inside the envelope.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[VS CODE / TERMINAL — TYPE THIS]
Stage four: the counter. Import Counter from the prometheus client library and create two: one for cost, one for tokens. Each carries your four label names. In the envelope, instead of just printing, add the cost to the counter with the labels filled in. Then start the metrics server so the numbers can be read.
There it is. Your cost, with all four labels attached, in the format the monitoring world reads. That output is what Prometheus will collect from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[VS CODE / TERMINAL — TYPE THIS]
Now run the agent three more times and curl it again. Watch the number grow rather than reset. That is the tally behaving exactly as it should.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is module two. What changed: every model call now writes a receipt. That receipt has the cost, the tokens, and four labels saying which agent, which team, which run, and eventually whether it worked. Those receipts add up into tallies that a monitoring system can read.
What did not change: your agent's behaviour, at all. And nothing is limited. It can still run away overnight exactly as it did in module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exercise I would particularly ask you to do before module three. Run the malformed input again, under a timeout, with your new instrumentation switched on. Then look at the metrics.
You will see the cost climbing in real time, with your own labels on it. That is the first time most people genuinely feel this rather than just understanding it — and it makes the limits we build in module three feel obviously necessary rather than like extra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three is where we stop it. Budget caps and kill switches: a hard limit that fires by itself at three in the morning without waking anyone. See you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A; exercises before module 3.
1. Set up the venv: create and activate .venv, install prometheus-client inside it.
2. Prove you are inside it: which python (Mac) or where python (Windows) should print a path inside .venv.
3. Find the receipt in your own agent: print the whole response object and read it.
4. Build the envelope: confirm the agent behaves exactly as before.
5. Turn tokens into money: sum one run, compare against module 1. They must match.
6. Add the four labels: check the run ID stays the same across steps and changes between runs. Most common mistake.
7. Make the counter: create the Prometheus counters, expose the endpoint, curl it.
8. Watch a tally grow: run five times, write the number each time, confirm it only goes up.
9. Instrument the runaway: malformed input, 120-second timeout, instrumentation on. This is the exercise that makes module 3 feel necessary.
10. Try a bad label, on purpose: a timestamp label, twenty runs, watch the metrics output grow. Then remove it and never do it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 Instrumentation — Code that records facts about your program's own behaviour; here, a receipt each time money is spent.
02 Token — Roughly a piece of a word; about four characters of English. The model charges by how many it handles.
03 Input / output tokens — Input is everything you sent; output is everything it wrote back. Counted separately, priced differently.
04 The usage block — The small note on every response holding the two token counts. Most programs throw it away.
05 Wrapper (the envelope) — Code placed around an existing call, adding behaviour before and after. Wrap, do not rewrite.
06 Label — A word attached to a number saying what it was about. Four matter: agent, team, run, result.
07 Run ID — A short unique string made once at the start of a task and attached to every call it makes.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08 High-cardinality label — A label with unlimited values: an email, a timestamp. Makes monitoring slow and expensive.
09 Counter — A running total that only goes up. Never resets, so any window is two readings subtracted.
10 Prometheus — The standard program for remembering numbers over time, with timestamps.
11 Grafana — Asks Prometheus for numbers and draws them as lines a human can read at a glance.
12 The /metrics endpoint — A web address your program exposes where its current tallies can be read.
13 Seeing comes first — Why this module precedes the limits in module 3; you cannot choose a limit blind.
14 Virtual environment (venv) — A private box of Python packages for one project. Activate it before you work; deactivate when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cd agent-cost-control : Move into the project folder. Every later command assumes you are in it.
python3 -m venv .venv : Mac and Linux: build the private package box, in a folder called .venv.
py -m venv .venv : Windows: the same thing. py is the Python launcher that ships with Windows.
source .venv/bin/activate : Mac and Linux: step into the box. Your prompt gains a (.venv) marker.
.venv\Scripts\Activate.ps1 : Windows PowerShell: step into the box. In Command Prompt it is .venv\Scripts\activate.bat.
pip install prometheus-client : Install the counter library. It lands inside .venv, not on the system Python.
which python   /   where python : Print which Python you are using. The path should sit inside .venv.
deactivate : Step back out of the box when you are done for the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python3 run_agent.py --input samples/normal.json : Run the agent once on a well-formed record. This is the script you are instrumenting.
--verbose : A flag on that script: print the raw usage block from each API response.
| grep agent_cost : Send the output into grep, which keeps only the lines containing that text.
| grep -c 'usage' : Same idea, but -c counts the matching lines instead of showing them.
&amp; : At the end of a line: run it in the background so you get your prompt back.
curl http://localhost:8000/metrics : Fetch the page your own program is now serving, and print it.
curl -s : The -s flag: silent, so curl does not print its progress meter.
A &amp;&amp; B : Run A, and only if it succeeds, run 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hyperlink" Target="https://youtu.be/8ZIiXg4XOY0" TargetMode="External"/><Relationship Id="rId2" Type="http://schemas.openxmlformats.org/officeDocument/2006/relationships/hyperlink" Target="https://youtu.be/3e2-GRBibWc" TargetMode="External"/><Relationship Id="rId3" Type="http://schemas.openxmlformats.org/officeDocument/2006/relationships/hyperlink" Target="https://python.org/downloads" TargetMode="External"/><Relationship Id="rId4" Type="http://schemas.openxmlformats.org/officeDocument/2006/relationships/hyperlink" Target="https://docs.python.org/3/library/venv.html" TargetMode="External"/><Relationship Id="rId5" Type="http://schemas.openxmlformats.org/officeDocument/2006/relationships/hyperlink" Target="https://learn.microsoft.com/windows/package-manager/winget" TargetMode="External"/><Relationship Id="rId6" Type="http://schemas.openxmlformats.org/officeDocument/2006/relationships/hyperlink" Target="https://grafana.com/docs/grafana/latest/fundamentals" TargetMode="External"/><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1.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image" Target="../media/image-22-3.png"/><Relationship Id="rId4" Type="http://schemas.openxmlformats.org/officeDocument/2006/relationships/slideLayout" Target="../slideLayouts/slideLayout1.xml"/><Relationship Id="rId5"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1.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827"/>
        </a:solidFill>
      </p:bgPr>
    </p:bg>
    <p:spTree>
      <p:nvGrpSpPr>
        <p:cNvPr id="1" name=""/>
        <p:cNvGrpSpPr/>
        <p:nvPr/>
      </p:nvGrpSpPr>
      <p:grpSpPr>
        <a:xfrm>
          <a:off x="0" y="0"/>
          <a:ext cx="0" cy="0"/>
          <a:chOff x="0" y="0"/>
          <a:chExt cx="0" cy="0"/>
        </a:xfrm>
      </p:grpSpPr>
      <p:sp>
        <p:nvSpPr>
          <p:cNvPr id="2" name="Text 0"/>
          <p:cNvSpPr txBox="1"/>
          <p:nvPr/>
        </p:nvSpPr>
        <p:spPr>
          <a:xfrm>
            <a:off x="548640" y="822960"/>
            <a:ext cx="7315200" cy="274320"/>
          </a:xfrm>
          <a:prstGeom prst="rect">
            <a:avLst/>
          </a:prstGeom>
          <a:noFill/>
          <a:ln/>
        </p:spPr>
        <p:txBody>
          <a:bodyPr wrap="square" lIns="0" tIns="0" rIns="0" bIns="0" rtlCol="0" anchor="t"/>
          <a:lstStyle/>
          <a:p>
            <a:pPr indent="0" marL="0">
              <a:buNone/>
            </a:pPr>
            <a:r>
              <a:rPr lang="en-US" sz="1100" b="1" spc="300" kern="0" dirty="0">
                <a:solidFill>
                  <a:srgbClr val="F59E0B"/>
                </a:solidFill>
                <a:latin typeface="Calibri" pitchFamily="34" charset="0"/>
                <a:ea typeface="Calibri" pitchFamily="34" charset="-122"/>
                <a:cs typeface="Calibri" pitchFamily="34" charset="-120"/>
              </a:rPr>
              <a:t>THE AGENT COST PROBLEM  ·  MODULE 2 OF 6</a:t>
            </a:r>
            <a:endParaRPr lang="en-US" sz="1100" dirty="0"/>
          </a:p>
        </p:txBody>
      </p:sp>
      <p:sp>
        <p:nvSpPr>
          <p:cNvPr id="3" name="Text 1"/>
          <p:cNvSpPr txBox="1"/>
          <p:nvPr/>
        </p:nvSpPr>
        <p:spPr>
          <a:xfrm>
            <a:off x="548640" y="1234440"/>
            <a:ext cx="7772400" cy="1554480"/>
          </a:xfrm>
          <a:prstGeom prst="rect">
            <a:avLst/>
          </a:prstGeom>
          <a:noFill/>
          <a:ln/>
        </p:spPr>
        <p:txBody>
          <a:bodyPr wrap="square" lIns="0" tIns="0" rIns="0" bIns="0" rtlCol="0" anchor="t"/>
          <a:lstStyle/>
          <a:p>
            <a:pPr indent="0" marL="0">
              <a:buNone/>
            </a:pPr>
            <a:r>
              <a:rPr lang="en-US" sz="4800" b="1" dirty="0">
                <a:solidFill>
                  <a:srgbClr val="FFFFFF"/>
                </a:solidFill>
                <a:latin typeface="Cambria" pitchFamily="34" charset="0"/>
                <a:ea typeface="Cambria" pitchFamily="34" charset="-122"/>
                <a:cs typeface="Cambria" pitchFamily="34" charset="-120"/>
              </a:rPr>
              <a:t>Making Cost</a:t>
            </a:r>
            <a:endParaRPr lang="en-US" sz="4800" dirty="0"/>
          </a:p>
          <a:p>
            <a:pPr indent="0" marL="0">
              <a:buNone/>
            </a:pPr>
            <a:r>
              <a:rPr lang="en-US" sz="4800" b="1" dirty="0">
                <a:solidFill>
                  <a:srgbClr val="FFFFFF"/>
                </a:solidFill>
                <a:latin typeface="Cambria" pitchFamily="34" charset="0"/>
                <a:ea typeface="Cambria" pitchFamily="34" charset="-122"/>
                <a:cs typeface="Cambria" pitchFamily="34" charset="-120"/>
              </a:rPr>
              <a:t>Visible</a:t>
            </a:r>
            <a:endParaRPr lang="en-US" sz="4800" dirty="0"/>
          </a:p>
        </p:txBody>
      </p:sp>
      <p:sp>
        <p:nvSpPr>
          <p:cNvPr id="4" name="Text 2"/>
          <p:cNvSpPr txBox="1"/>
          <p:nvPr/>
        </p:nvSpPr>
        <p:spPr>
          <a:xfrm>
            <a:off x="548640" y="2880360"/>
            <a:ext cx="7772400" cy="640080"/>
          </a:xfrm>
          <a:prstGeom prst="rect">
            <a:avLst/>
          </a:prstGeom>
          <a:noFill/>
          <a:ln/>
        </p:spPr>
        <p:txBody>
          <a:bodyPr wrap="square" lIns="0" tIns="0" rIns="0" bIns="0" rtlCol="0" anchor="t"/>
          <a:lstStyle/>
          <a:p>
            <a:pPr indent="0" marL="0">
              <a:buNone/>
            </a:pPr>
            <a:r>
              <a:rPr lang="en-US" sz="1800" dirty="0">
                <a:solidFill>
                  <a:srgbClr val="9CA3AF"/>
                </a:solidFill>
                <a:latin typeface="Calibri" pitchFamily="34" charset="0"/>
                <a:ea typeface="Calibri" pitchFamily="34" charset="-122"/>
                <a:cs typeface="Calibri" pitchFamily="34" charset="-120"/>
              </a:rPr>
              <a:t>Right now your agent spends money and nobody writes down what it was for. </a:t>
            </a:r>
            <a:pPr indent="0" marL="0">
              <a:buNone/>
            </a:pPr>
            <a:r>
              <a:rPr lang="en-US" sz="1800" b="1" dirty="0">
                <a:solidFill>
                  <a:srgbClr val="FFFFFF"/>
                </a:solidFill>
                <a:latin typeface="Calibri" pitchFamily="34" charset="0"/>
                <a:ea typeface="Calibri" pitchFamily="34" charset="-122"/>
                <a:cs typeface="Calibri" pitchFamily="34" charset="-120"/>
              </a:rPr>
              <a:t>This module fixes that.</a:t>
            </a:r>
            <a:endParaRPr lang="en-US" sz="1800" dirty="0"/>
          </a:p>
        </p:txBody>
      </p:sp>
      <p:sp>
        <p:nvSpPr>
          <p:cNvPr id="5" name="Text 3"/>
          <p:cNvSpPr txBox="1"/>
          <p:nvPr/>
        </p:nvSpPr>
        <p:spPr>
          <a:xfrm>
            <a:off x="548640" y="3931920"/>
            <a:ext cx="1920240" cy="228600"/>
          </a:xfrm>
          <a:prstGeom prst="rect">
            <a:avLst/>
          </a:prstGeom>
          <a:noFill/>
          <a:ln/>
        </p:spPr>
        <p:txBody>
          <a:bodyPr wrap="square" lIns="0" tIns="0" rIns="0" bIns="0" rtlCol="0" anchor="t"/>
          <a:lstStyle/>
          <a:p>
            <a:pPr indent="0" marL="0">
              <a:buNone/>
            </a:pPr>
            <a:r>
              <a:rPr lang="en-US" sz="900" b="1" spc="200" kern="0" dirty="0">
                <a:solidFill>
                  <a:srgbClr val="6B7280"/>
                </a:solidFill>
                <a:latin typeface="Calibri" pitchFamily="34" charset="0"/>
                <a:ea typeface="Calibri" pitchFamily="34" charset="-122"/>
                <a:cs typeface="Calibri" pitchFamily="34" charset="-120"/>
              </a:rPr>
              <a:t>PRESENTER</a:t>
            </a:r>
            <a:endParaRPr lang="en-US" sz="900" dirty="0"/>
          </a:p>
        </p:txBody>
      </p:sp>
      <p:sp>
        <p:nvSpPr>
          <p:cNvPr id="6" name="Text 4"/>
          <p:cNvSpPr txBox="1"/>
          <p:nvPr/>
        </p:nvSpPr>
        <p:spPr>
          <a:xfrm>
            <a:off x="548640" y="4160520"/>
            <a:ext cx="1920240" cy="27432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Emmanuel Naweji</a:t>
            </a:r>
            <a:endParaRPr lang="en-US" sz="1200" dirty="0"/>
          </a:p>
        </p:txBody>
      </p:sp>
      <p:sp>
        <p:nvSpPr>
          <p:cNvPr id="7" name="Text 5"/>
          <p:cNvSpPr txBox="1"/>
          <p:nvPr/>
        </p:nvSpPr>
        <p:spPr>
          <a:xfrm>
            <a:off x="2651760" y="3931920"/>
            <a:ext cx="1920240" cy="228600"/>
          </a:xfrm>
          <a:prstGeom prst="rect">
            <a:avLst/>
          </a:prstGeom>
          <a:noFill/>
          <a:ln/>
        </p:spPr>
        <p:txBody>
          <a:bodyPr wrap="square" lIns="0" tIns="0" rIns="0" bIns="0" rtlCol="0" anchor="t"/>
          <a:lstStyle/>
          <a:p>
            <a:pPr indent="0" marL="0">
              <a:buNone/>
            </a:pPr>
            <a:r>
              <a:rPr lang="en-US" sz="900" b="1" spc="200" kern="0" dirty="0">
                <a:solidFill>
                  <a:srgbClr val="6B7280"/>
                </a:solidFill>
                <a:latin typeface="Calibri" pitchFamily="34" charset="0"/>
                <a:ea typeface="Calibri" pitchFamily="34" charset="-122"/>
                <a:cs typeface="Calibri" pitchFamily="34" charset="-120"/>
              </a:rPr>
              <a:t>RUNTIME</a:t>
            </a:r>
            <a:endParaRPr lang="en-US" sz="900" dirty="0"/>
          </a:p>
        </p:txBody>
      </p:sp>
      <p:sp>
        <p:nvSpPr>
          <p:cNvPr id="8" name="Text 6"/>
          <p:cNvSpPr txBox="1"/>
          <p:nvPr/>
        </p:nvSpPr>
        <p:spPr>
          <a:xfrm>
            <a:off x="2651760" y="4160520"/>
            <a:ext cx="1920240" cy="27432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~45 min · 6 sections</a:t>
            </a:r>
            <a:endParaRPr lang="en-US" sz="1200" dirty="0"/>
          </a:p>
        </p:txBody>
      </p:sp>
      <p:sp>
        <p:nvSpPr>
          <p:cNvPr id="9" name="Text 7"/>
          <p:cNvSpPr txBox="1"/>
          <p:nvPr/>
        </p:nvSpPr>
        <p:spPr>
          <a:xfrm>
            <a:off x="4754880" y="3931920"/>
            <a:ext cx="3840480" cy="228600"/>
          </a:xfrm>
          <a:prstGeom prst="rect">
            <a:avLst/>
          </a:prstGeom>
          <a:noFill/>
          <a:ln/>
        </p:spPr>
        <p:txBody>
          <a:bodyPr wrap="square" lIns="0" tIns="0" rIns="0" bIns="0" rtlCol="0" anchor="t"/>
          <a:lstStyle/>
          <a:p>
            <a:pPr indent="0" marL="0">
              <a:buNone/>
            </a:pPr>
            <a:r>
              <a:rPr lang="en-US" sz="900" b="1" spc="200" kern="0" dirty="0">
                <a:solidFill>
                  <a:srgbClr val="6B7280"/>
                </a:solidFill>
                <a:latin typeface="Calibri" pitchFamily="34" charset="0"/>
                <a:ea typeface="Calibri" pitchFamily="34" charset="-122"/>
                <a:cs typeface="Calibri" pitchFamily="34" charset="-120"/>
              </a:rPr>
              <a:t>COURSE REPO</a:t>
            </a:r>
            <a:endParaRPr lang="en-US" sz="900" dirty="0"/>
          </a:p>
        </p:txBody>
      </p:sp>
      <p:sp>
        <p:nvSpPr>
          <p:cNvPr id="10" name="Text 8"/>
          <p:cNvSpPr txBox="1"/>
          <p:nvPr/>
        </p:nvSpPr>
        <p:spPr>
          <a:xfrm>
            <a:off x="4754880" y="4160520"/>
            <a:ext cx="3840480" cy="274320"/>
          </a:xfrm>
          <a:prstGeom prst="rect">
            <a:avLst/>
          </a:prstGeom>
          <a:noFill/>
          <a:ln/>
        </p:spPr>
        <p:txBody>
          <a:bodyPr wrap="square" lIns="0" tIns="0" rIns="0" bIns="0" rtlCol="0" anchor="t"/>
          <a:lstStyle/>
          <a:p>
            <a:pPr indent="0" marL="0">
              <a:buNone/>
            </a:pPr>
            <a:r>
              <a:rPr lang="en-US" sz="1200" dirty="0">
                <a:solidFill>
                  <a:srgbClr val="FFFFFF"/>
                </a:solidFill>
                <a:latin typeface="Calibri" pitchFamily="34" charset="0"/>
                <a:ea typeface="Calibri" pitchFamily="34" charset="-122"/>
                <a:cs typeface="Calibri" pitchFamily="34" charset="-120"/>
              </a:rPr>
              <a:t>github.com/Here2ServeU/agent-cost-control</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WHAT THIS MODULE DOES; AND DOESN'T</a:t>
            </a:r>
            <a:endParaRPr lang="en-US" sz="1000" dirty="0"/>
          </a:p>
        </p:txBody>
      </p:sp>
      <p:sp>
        <p:nvSpPr>
          <p:cNvPr id="3" name="Text 1"/>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2</a:t>
            </a:r>
            <a:endParaRPr lang="en-US" sz="900" dirty="0"/>
          </a:p>
        </p:txBody>
      </p:sp>
      <p:sp>
        <p:nvSpPr>
          <p:cNvPr id="4" name="Text 2"/>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2</a:t>
            </a:r>
            <a:endParaRPr lang="en-US" sz="900" dirty="0"/>
          </a:p>
        </p:txBody>
      </p:sp>
      <p:sp>
        <p:nvSpPr>
          <p:cNvPr id="5" name="Text 3"/>
          <p:cNvSpPr txBox="1"/>
          <p:nvPr/>
        </p:nvSpPr>
        <p:spPr>
          <a:xfrm>
            <a:off x="457200" y="731520"/>
            <a:ext cx="8229600" cy="1371600"/>
          </a:xfrm>
          <a:prstGeom prst="rect">
            <a:avLst/>
          </a:prstGeom>
          <a:noFill/>
          <a:ln/>
        </p:spPr>
        <p:txBody>
          <a:bodyPr wrap="square" lIns="0" tIns="0" rIns="0" bIns="0" rtlCol="0" anchor="t"/>
          <a:lstStyle/>
          <a:p>
            <a:pPr indent="0" marL="0">
              <a:buNone/>
            </a:pPr>
            <a:r>
              <a:rPr lang="en-US" sz="3600" b="1" dirty="0">
                <a:solidFill>
                  <a:srgbClr val="111827"/>
                </a:solidFill>
                <a:latin typeface="Cambria" pitchFamily="34" charset="0"/>
                <a:ea typeface="Cambria" pitchFamily="34" charset="-122"/>
                <a:cs typeface="Cambria" pitchFamily="34" charset="-120"/>
              </a:rPr>
              <a:t>You cannot control something</a:t>
            </a:r>
            <a:endParaRPr lang="en-US" sz="3600" dirty="0"/>
          </a:p>
          <a:p>
            <a:pPr indent="0" marL="0">
              <a:buNone/>
            </a:pPr>
            <a:r>
              <a:rPr lang="en-US" sz="3600" b="1" dirty="0">
                <a:solidFill>
                  <a:srgbClr val="111827"/>
                </a:solidFill>
                <a:latin typeface="Cambria" pitchFamily="34" charset="0"/>
                <a:ea typeface="Cambria" pitchFamily="34" charset="-122"/>
                <a:cs typeface="Cambria" pitchFamily="34" charset="-120"/>
              </a:rPr>
              <a:t>you cannot see.</a:t>
            </a:r>
            <a:endParaRPr lang="en-US" sz="3600" dirty="0"/>
          </a:p>
        </p:txBody>
      </p:sp>
      <p:sp>
        <p:nvSpPr>
          <p:cNvPr id="6" name="Shape 4"/>
          <p:cNvSpPr/>
          <p:nvPr/>
        </p:nvSpPr>
        <p:spPr>
          <a:xfrm>
            <a:off x="457200" y="2514600"/>
            <a:ext cx="2606040" cy="1920240"/>
          </a:xfrm>
          <a:prstGeom prst="roundRect">
            <a:avLst>
              <a:gd name="adj" fmla="val 3810"/>
            </a:avLst>
          </a:prstGeom>
          <a:solidFill>
            <a:srgbClr val="F3F4F6"/>
          </a:solidFill>
          <a:ln w="12700">
            <a:solidFill>
              <a:srgbClr val="F3F4F6"/>
            </a:solidFill>
            <a:prstDash val="solid"/>
          </a:ln>
        </p:spPr>
      </p:sp>
      <p:sp>
        <p:nvSpPr>
          <p:cNvPr id="7" name="Shape 5"/>
          <p:cNvSpPr/>
          <p:nvPr/>
        </p:nvSpPr>
        <p:spPr>
          <a:xfrm>
            <a:off x="685800" y="2697480"/>
            <a:ext cx="384048" cy="384048"/>
          </a:xfrm>
          <a:prstGeom prst="roundRect">
            <a:avLst>
              <a:gd name="adj" fmla="val 19048"/>
            </a:avLst>
          </a:prstGeom>
          <a:solidFill>
            <a:srgbClr val="047857"/>
          </a:solidFill>
          <a:ln w="12700">
            <a:solidFill>
              <a:srgbClr val="047857"/>
            </a:solidFill>
            <a:prstDash val="solid"/>
          </a:ln>
        </p:spPr>
      </p:sp>
      <p:pic>
        <p:nvPicPr>
          <p:cNvPr id="8" name="Image 0" descr="preencoded.png">    </p:cNvPr>
          <p:cNvPicPr>
            <a:picLocks noChangeAspect="1"/>
          </p:cNvPicPr>
          <p:nvPr/>
        </p:nvPicPr>
        <p:blipFill>
          <a:blip r:embed="rId1"/>
          <a:stretch>
            <a:fillRect/>
          </a:stretch>
        </p:blipFill>
        <p:spPr>
          <a:xfrm>
            <a:off x="768096" y="2779776"/>
            <a:ext cx="219456" cy="219456"/>
          </a:xfrm>
          <a:prstGeom prst="rect">
            <a:avLst/>
          </a:prstGeom>
        </p:spPr>
      </p:pic>
      <p:sp>
        <p:nvSpPr>
          <p:cNvPr id="9" name="Text 6"/>
          <p:cNvSpPr txBox="1"/>
          <p:nvPr/>
        </p:nvSpPr>
        <p:spPr>
          <a:xfrm>
            <a:off x="685800" y="3200400"/>
            <a:ext cx="2194560" cy="41148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We keep receipts</a:t>
            </a:r>
            <a:endParaRPr lang="en-US" sz="1500" dirty="0"/>
          </a:p>
        </p:txBody>
      </p:sp>
      <p:sp>
        <p:nvSpPr>
          <p:cNvPr id="10" name="Text 7"/>
          <p:cNvSpPr txBox="1"/>
          <p:nvPr/>
        </p:nvSpPr>
        <p:spPr>
          <a:xfrm>
            <a:off x="685800" y="3657600"/>
            <a:ext cx="2194560" cy="7315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Every model call writes down what it cost and what it was for.</a:t>
            </a:r>
            <a:endParaRPr lang="en-US" sz="1200" dirty="0"/>
          </a:p>
        </p:txBody>
      </p:sp>
      <p:sp>
        <p:nvSpPr>
          <p:cNvPr id="11" name="Shape 8"/>
          <p:cNvSpPr/>
          <p:nvPr/>
        </p:nvSpPr>
        <p:spPr>
          <a:xfrm>
            <a:off x="3246120" y="2514600"/>
            <a:ext cx="2606040" cy="1920240"/>
          </a:xfrm>
          <a:prstGeom prst="roundRect">
            <a:avLst>
              <a:gd name="adj" fmla="val 3810"/>
            </a:avLst>
          </a:prstGeom>
          <a:solidFill>
            <a:srgbClr val="F3F4F6"/>
          </a:solidFill>
          <a:ln w="12700">
            <a:solidFill>
              <a:srgbClr val="F3F4F6"/>
            </a:solidFill>
            <a:prstDash val="solid"/>
          </a:ln>
        </p:spPr>
      </p:sp>
      <p:sp>
        <p:nvSpPr>
          <p:cNvPr id="12" name="Shape 9"/>
          <p:cNvSpPr/>
          <p:nvPr/>
        </p:nvSpPr>
        <p:spPr>
          <a:xfrm>
            <a:off x="3474720" y="2697480"/>
            <a:ext cx="384048" cy="384048"/>
          </a:xfrm>
          <a:prstGeom prst="roundRect">
            <a:avLst>
              <a:gd name="adj" fmla="val 19048"/>
            </a:avLst>
          </a:prstGeom>
          <a:solidFill>
            <a:srgbClr val="B45309"/>
          </a:solidFill>
          <a:ln w="12700">
            <a:solidFill>
              <a:srgbClr val="B45309"/>
            </a:solidFill>
            <a:prstDash val="solid"/>
          </a:ln>
        </p:spPr>
      </p:sp>
      <p:pic>
        <p:nvPicPr>
          <p:cNvPr id="13" name="Image 1" descr="preencoded.png">    </p:cNvPr>
          <p:cNvPicPr>
            <a:picLocks noChangeAspect="1"/>
          </p:cNvPicPr>
          <p:nvPr/>
        </p:nvPicPr>
        <p:blipFill>
          <a:blip r:embed="rId2"/>
          <a:stretch>
            <a:fillRect/>
          </a:stretch>
        </p:blipFill>
        <p:spPr>
          <a:xfrm>
            <a:off x="3557016" y="2779776"/>
            <a:ext cx="219456" cy="219456"/>
          </a:xfrm>
          <a:prstGeom prst="rect">
            <a:avLst/>
          </a:prstGeom>
        </p:spPr>
      </p:pic>
      <p:sp>
        <p:nvSpPr>
          <p:cNvPr id="14" name="Text 10"/>
          <p:cNvSpPr txBox="1"/>
          <p:nvPr/>
        </p:nvSpPr>
        <p:spPr>
          <a:xfrm>
            <a:off x="3474720" y="3200400"/>
            <a:ext cx="2194560" cy="41148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Nothing is stopped yet</a:t>
            </a:r>
            <a:endParaRPr lang="en-US" sz="1500" dirty="0"/>
          </a:p>
        </p:txBody>
      </p:sp>
      <p:sp>
        <p:nvSpPr>
          <p:cNvPr id="15" name="Text 11"/>
          <p:cNvSpPr txBox="1"/>
          <p:nvPr/>
        </p:nvSpPr>
        <p:spPr>
          <a:xfrm>
            <a:off x="3474720" y="3657600"/>
            <a:ext cx="2194560" cy="7315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No limits, no blocking, no kill switch. Your agent behaves exactly as before.</a:t>
            </a:r>
            <a:endParaRPr lang="en-US" sz="1200" dirty="0"/>
          </a:p>
        </p:txBody>
      </p:sp>
      <p:sp>
        <p:nvSpPr>
          <p:cNvPr id="16" name="Shape 12"/>
          <p:cNvSpPr/>
          <p:nvPr/>
        </p:nvSpPr>
        <p:spPr>
          <a:xfrm>
            <a:off x="6035040" y="2514600"/>
            <a:ext cx="2606040" cy="1920240"/>
          </a:xfrm>
          <a:prstGeom prst="roundRect">
            <a:avLst>
              <a:gd name="adj" fmla="val 3810"/>
            </a:avLst>
          </a:prstGeom>
          <a:solidFill>
            <a:srgbClr val="F3F4F6"/>
          </a:solidFill>
          <a:ln w="12700">
            <a:solidFill>
              <a:srgbClr val="F3F4F6"/>
            </a:solidFill>
            <a:prstDash val="solid"/>
          </a:ln>
        </p:spPr>
      </p:sp>
      <p:sp>
        <p:nvSpPr>
          <p:cNvPr id="17" name="Shape 13"/>
          <p:cNvSpPr/>
          <p:nvPr/>
        </p:nvSpPr>
        <p:spPr>
          <a:xfrm>
            <a:off x="6263640" y="2697480"/>
            <a:ext cx="384048" cy="384048"/>
          </a:xfrm>
          <a:prstGeom prst="roundRect">
            <a:avLst>
              <a:gd name="adj" fmla="val 19048"/>
            </a:avLst>
          </a:prstGeom>
          <a:solidFill>
            <a:srgbClr val="1D4ED8"/>
          </a:solidFill>
          <a:ln w="12700">
            <a:solidFill>
              <a:srgbClr val="1D4ED8"/>
            </a:solidFill>
            <a:prstDash val="solid"/>
          </a:ln>
        </p:spPr>
      </p:sp>
      <p:pic>
        <p:nvPicPr>
          <p:cNvPr id="18" name="Image 2" descr="preencoded.png">    </p:cNvPr>
          <p:cNvPicPr>
            <a:picLocks noChangeAspect="1"/>
          </p:cNvPicPr>
          <p:nvPr/>
        </p:nvPicPr>
        <p:blipFill>
          <a:blip r:embed="rId3"/>
          <a:stretch>
            <a:fillRect/>
          </a:stretch>
        </p:blipFill>
        <p:spPr>
          <a:xfrm>
            <a:off x="6345936" y="2779776"/>
            <a:ext cx="219456" cy="219456"/>
          </a:xfrm>
          <a:prstGeom prst="rect">
            <a:avLst/>
          </a:prstGeom>
        </p:spPr>
      </p:pic>
      <p:sp>
        <p:nvSpPr>
          <p:cNvPr id="19" name="Text 14"/>
          <p:cNvSpPr txBox="1"/>
          <p:nvPr/>
        </p:nvSpPr>
        <p:spPr>
          <a:xfrm>
            <a:off x="6263640" y="3200400"/>
            <a:ext cx="2194560" cy="41148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Seeing comes first</a:t>
            </a:r>
            <a:endParaRPr lang="en-US" sz="1500" dirty="0"/>
          </a:p>
        </p:txBody>
      </p:sp>
      <p:sp>
        <p:nvSpPr>
          <p:cNvPr id="20" name="Text 15"/>
          <p:cNvSpPr txBox="1"/>
          <p:nvPr/>
        </p:nvSpPr>
        <p:spPr>
          <a:xfrm>
            <a:off x="6263640" y="3657600"/>
            <a:ext cx="2194560" cy="73152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You cannot sensibly choose a limit until you can see what normal looks like.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SECTIONS AT A GLANCE</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Six sections, one habit: write it down</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2</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3</a:t>
            </a:r>
            <a:endParaRPr lang="en-US" sz="900" dirty="0"/>
          </a:p>
        </p:txBody>
      </p:sp>
      <p:sp>
        <p:nvSpPr>
          <p:cNvPr id="6" name="Shape 4"/>
          <p:cNvSpPr/>
          <p:nvPr/>
        </p:nvSpPr>
        <p:spPr>
          <a:xfrm>
            <a:off x="457200" y="1417320"/>
            <a:ext cx="2606040" cy="1371600"/>
          </a:xfrm>
          <a:prstGeom prst="roundRect">
            <a:avLst>
              <a:gd name="adj" fmla="val 5333"/>
            </a:avLst>
          </a:prstGeom>
          <a:solidFill>
            <a:srgbClr val="F3F4F6"/>
          </a:solidFill>
          <a:ln w="12700">
            <a:solidFill>
              <a:srgbClr val="F3F4F6"/>
            </a:solidFill>
            <a:prstDash val="solid"/>
          </a:ln>
        </p:spPr>
      </p:sp>
      <p:sp>
        <p:nvSpPr>
          <p:cNvPr id="7" name="Text 5"/>
          <p:cNvSpPr txBox="1"/>
          <p:nvPr/>
        </p:nvSpPr>
        <p:spPr>
          <a:xfrm>
            <a:off x="685800" y="1600200"/>
            <a:ext cx="914400" cy="457200"/>
          </a:xfrm>
          <a:prstGeom prst="rect">
            <a:avLst/>
          </a:prstGeom>
          <a:noFill/>
          <a:ln/>
        </p:spPr>
        <p:txBody>
          <a:bodyPr wrap="square" lIns="0" tIns="0" rIns="0" bIns="0" rtlCol="0" anchor="t"/>
          <a:lstStyle/>
          <a:p>
            <a:pPr indent="0" marL="0">
              <a:buNone/>
            </a:pPr>
            <a:r>
              <a:rPr lang="en-US" sz="2800" b="1" dirty="0">
                <a:solidFill>
                  <a:srgbClr val="B45309"/>
                </a:solidFill>
                <a:latin typeface="Cambria" pitchFamily="34" charset="0"/>
                <a:ea typeface="Cambria" pitchFamily="34" charset="-122"/>
                <a:cs typeface="Cambria" pitchFamily="34" charset="-120"/>
              </a:rPr>
              <a:t>01</a:t>
            </a:r>
            <a:endParaRPr lang="en-US" sz="2800" dirty="0"/>
          </a:p>
        </p:txBody>
      </p:sp>
      <p:sp>
        <p:nvSpPr>
          <p:cNvPr id="8" name="Text 6"/>
          <p:cNvSpPr txBox="1"/>
          <p:nvPr/>
        </p:nvSpPr>
        <p:spPr>
          <a:xfrm>
            <a:off x="1920240" y="1664208"/>
            <a:ext cx="960120" cy="274320"/>
          </a:xfrm>
          <a:prstGeom prst="rect">
            <a:avLst/>
          </a:prstGeom>
          <a:noFill/>
          <a:ln/>
        </p:spPr>
        <p:txBody>
          <a:bodyPr wrap="square" lIns="0" tIns="0" rIns="0" bIns="0" rtlCol="0" anchor="t"/>
          <a:lstStyle/>
          <a:p>
            <a:pPr algn="r" indent="0" marL="0">
              <a:buNone/>
            </a:pPr>
            <a:r>
              <a:rPr lang="en-US" sz="1100" dirty="0">
                <a:solidFill>
                  <a:srgbClr val="6B7280"/>
                </a:solidFill>
                <a:latin typeface="Calibri" pitchFamily="34" charset="0"/>
                <a:ea typeface="Calibri" pitchFamily="34" charset="-122"/>
                <a:cs typeface="Calibri" pitchFamily="34" charset="-120"/>
              </a:rPr>
              <a:t>~7 min</a:t>
            </a:r>
            <a:endParaRPr lang="en-US" sz="1100" dirty="0"/>
          </a:p>
        </p:txBody>
      </p:sp>
      <p:sp>
        <p:nvSpPr>
          <p:cNvPr id="9" name="Text 7"/>
          <p:cNvSpPr txBox="1"/>
          <p:nvPr/>
        </p:nvSpPr>
        <p:spPr>
          <a:xfrm>
            <a:off x="685800" y="2167128"/>
            <a:ext cx="2194560" cy="45720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No Receipts</a:t>
            </a:r>
            <a:endParaRPr lang="en-US" sz="1400" dirty="0"/>
          </a:p>
        </p:txBody>
      </p:sp>
      <p:sp>
        <p:nvSpPr>
          <p:cNvPr id="10" name="Shape 8"/>
          <p:cNvSpPr/>
          <p:nvPr/>
        </p:nvSpPr>
        <p:spPr>
          <a:xfrm>
            <a:off x="3246120" y="1417320"/>
            <a:ext cx="2606040" cy="1371600"/>
          </a:xfrm>
          <a:prstGeom prst="roundRect">
            <a:avLst>
              <a:gd name="adj" fmla="val 5333"/>
            </a:avLst>
          </a:prstGeom>
          <a:solidFill>
            <a:srgbClr val="F3F4F6"/>
          </a:solidFill>
          <a:ln w="12700">
            <a:solidFill>
              <a:srgbClr val="F3F4F6"/>
            </a:solidFill>
            <a:prstDash val="solid"/>
          </a:ln>
        </p:spPr>
      </p:sp>
      <p:sp>
        <p:nvSpPr>
          <p:cNvPr id="11" name="Text 9"/>
          <p:cNvSpPr txBox="1"/>
          <p:nvPr/>
        </p:nvSpPr>
        <p:spPr>
          <a:xfrm>
            <a:off x="3474720" y="1600200"/>
            <a:ext cx="914400" cy="457200"/>
          </a:xfrm>
          <a:prstGeom prst="rect">
            <a:avLst/>
          </a:prstGeom>
          <a:noFill/>
          <a:ln/>
        </p:spPr>
        <p:txBody>
          <a:bodyPr wrap="square" lIns="0" tIns="0" rIns="0" bIns="0" rtlCol="0" anchor="t"/>
          <a:lstStyle/>
          <a:p>
            <a:pPr indent="0" marL="0">
              <a:buNone/>
            </a:pPr>
            <a:r>
              <a:rPr lang="en-US" sz="2800" b="1" dirty="0">
                <a:solidFill>
                  <a:srgbClr val="B45309"/>
                </a:solidFill>
                <a:latin typeface="Cambria" pitchFamily="34" charset="0"/>
                <a:ea typeface="Cambria" pitchFamily="34" charset="-122"/>
                <a:cs typeface="Cambria" pitchFamily="34" charset="-120"/>
              </a:rPr>
              <a:t>02</a:t>
            </a:r>
            <a:endParaRPr lang="en-US" sz="2800" dirty="0"/>
          </a:p>
        </p:txBody>
      </p:sp>
      <p:sp>
        <p:nvSpPr>
          <p:cNvPr id="12" name="Text 10"/>
          <p:cNvSpPr txBox="1"/>
          <p:nvPr/>
        </p:nvSpPr>
        <p:spPr>
          <a:xfrm>
            <a:off x="4709160" y="1664208"/>
            <a:ext cx="960120" cy="274320"/>
          </a:xfrm>
          <a:prstGeom prst="rect">
            <a:avLst/>
          </a:prstGeom>
          <a:noFill/>
          <a:ln/>
        </p:spPr>
        <p:txBody>
          <a:bodyPr wrap="square" lIns="0" tIns="0" rIns="0" bIns="0" rtlCol="0" anchor="t"/>
          <a:lstStyle/>
          <a:p>
            <a:pPr algn="r" indent="0" marL="0">
              <a:buNone/>
            </a:pPr>
            <a:r>
              <a:rPr lang="en-US" sz="1100" dirty="0">
                <a:solidFill>
                  <a:srgbClr val="6B7280"/>
                </a:solidFill>
                <a:latin typeface="Calibri" pitchFamily="34" charset="0"/>
                <a:ea typeface="Calibri" pitchFamily="34" charset="-122"/>
                <a:cs typeface="Calibri" pitchFamily="34" charset="-120"/>
              </a:rPr>
              <a:t>~7 min</a:t>
            </a:r>
            <a:endParaRPr lang="en-US" sz="1100" dirty="0"/>
          </a:p>
        </p:txBody>
      </p:sp>
      <p:sp>
        <p:nvSpPr>
          <p:cNvPr id="13" name="Text 11"/>
          <p:cNvSpPr txBox="1"/>
          <p:nvPr/>
        </p:nvSpPr>
        <p:spPr>
          <a:xfrm>
            <a:off x="3474720" y="2167128"/>
            <a:ext cx="2194560" cy="45720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The Usage Note</a:t>
            </a:r>
            <a:endParaRPr lang="en-US" sz="1400" dirty="0"/>
          </a:p>
        </p:txBody>
      </p:sp>
      <p:sp>
        <p:nvSpPr>
          <p:cNvPr id="14" name="Shape 12"/>
          <p:cNvSpPr/>
          <p:nvPr/>
        </p:nvSpPr>
        <p:spPr>
          <a:xfrm>
            <a:off x="6035040" y="1417320"/>
            <a:ext cx="2606040" cy="1371600"/>
          </a:xfrm>
          <a:prstGeom prst="roundRect">
            <a:avLst>
              <a:gd name="adj" fmla="val 5333"/>
            </a:avLst>
          </a:prstGeom>
          <a:solidFill>
            <a:srgbClr val="F3F4F6"/>
          </a:solidFill>
          <a:ln w="12700">
            <a:solidFill>
              <a:srgbClr val="F3F4F6"/>
            </a:solidFill>
            <a:prstDash val="solid"/>
          </a:ln>
        </p:spPr>
      </p:sp>
      <p:sp>
        <p:nvSpPr>
          <p:cNvPr id="15" name="Text 13"/>
          <p:cNvSpPr txBox="1"/>
          <p:nvPr/>
        </p:nvSpPr>
        <p:spPr>
          <a:xfrm>
            <a:off x="6263640" y="1600200"/>
            <a:ext cx="914400" cy="457200"/>
          </a:xfrm>
          <a:prstGeom prst="rect">
            <a:avLst/>
          </a:prstGeom>
          <a:noFill/>
          <a:ln/>
        </p:spPr>
        <p:txBody>
          <a:bodyPr wrap="square" lIns="0" tIns="0" rIns="0" bIns="0" rtlCol="0" anchor="t"/>
          <a:lstStyle/>
          <a:p>
            <a:pPr indent="0" marL="0">
              <a:buNone/>
            </a:pPr>
            <a:r>
              <a:rPr lang="en-US" sz="2800" b="1" dirty="0">
                <a:solidFill>
                  <a:srgbClr val="B45309"/>
                </a:solidFill>
                <a:latin typeface="Cambria" pitchFamily="34" charset="0"/>
                <a:ea typeface="Cambria" pitchFamily="34" charset="-122"/>
                <a:cs typeface="Cambria" pitchFamily="34" charset="-120"/>
              </a:rPr>
              <a:t>03</a:t>
            </a:r>
            <a:endParaRPr lang="en-US" sz="2800" dirty="0"/>
          </a:p>
        </p:txBody>
      </p:sp>
      <p:sp>
        <p:nvSpPr>
          <p:cNvPr id="16" name="Text 14"/>
          <p:cNvSpPr txBox="1"/>
          <p:nvPr/>
        </p:nvSpPr>
        <p:spPr>
          <a:xfrm>
            <a:off x="7498080" y="1664208"/>
            <a:ext cx="960120" cy="274320"/>
          </a:xfrm>
          <a:prstGeom prst="rect">
            <a:avLst/>
          </a:prstGeom>
          <a:noFill/>
          <a:ln/>
        </p:spPr>
        <p:txBody>
          <a:bodyPr wrap="square" lIns="0" tIns="0" rIns="0" bIns="0" rtlCol="0" anchor="t"/>
          <a:lstStyle/>
          <a:p>
            <a:pPr algn="r" indent="0" marL="0">
              <a:buNone/>
            </a:pPr>
            <a:r>
              <a:rPr lang="en-US" sz="1100" dirty="0">
                <a:solidFill>
                  <a:srgbClr val="6B7280"/>
                </a:solidFill>
                <a:latin typeface="Calibri" pitchFamily="34" charset="0"/>
                <a:ea typeface="Calibri" pitchFamily="34" charset="-122"/>
                <a:cs typeface="Calibri" pitchFamily="34" charset="-120"/>
              </a:rPr>
              <a:t>~8 min</a:t>
            </a:r>
            <a:endParaRPr lang="en-US" sz="1100" dirty="0"/>
          </a:p>
        </p:txBody>
      </p:sp>
      <p:sp>
        <p:nvSpPr>
          <p:cNvPr id="17" name="Text 15"/>
          <p:cNvSpPr txBox="1"/>
          <p:nvPr/>
        </p:nvSpPr>
        <p:spPr>
          <a:xfrm>
            <a:off x="6263640" y="2167128"/>
            <a:ext cx="2194560" cy="45720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Wrap, Don't Rewrite</a:t>
            </a:r>
            <a:endParaRPr lang="en-US" sz="1400" dirty="0"/>
          </a:p>
        </p:txBody>
      </p:sp>
      <p:sp>
        <p:nvSpPr>
          <p:cNvPr id="18" name="Shape 16"/>
          <p:cNvSpPr/>
          <p:nvPr/>
        </p:nvSpPr>
        <p:spPr>
          <a:xfrm>
            <a:off x="457200" y="2971800"/>
            <a:ext cx="2606040" cy="1371600"/>
          </a:xfrm>
          <a:prstGeom prst="roundRect">
            <a:avLst>
              <a:gd name="adj" fmla="val 5333"/>
            </a:avLst>
          </a:prstGeom>
          <a:solidFill>
            <a:srgbClr val="F3F4F6"/>
          </a:solidFill>
          <a:ln w="12700">
            <a:solidFill>
              <a:srgbClr val="F3F4F6"/>
            </a:solidFill>
            <a:prstDash val="solid"/>
          </a:ln>
        </p:spPr>
      </p:sp>
      <p:sp>
        <p:nvSpPr>
          <p:cNvPr id="19" name="Text 17"/>
          <p:cNvSpPr txBox="1"/>
          <p:nvPr/>
        </p:nvSpPr>
        <p:spPr>
          <a:xfrm>
            <a:off x="685800" y="3154680"/>
            <a:ext cx="914400" cy="457200"/>
          </a:xfrm>
          <a:prstGeom prst="rect">
            <a:avLst/>
          </a:prstGeom>
          <a:noFill/>
          <a:ln/>
        </p:spPr>
        <p:txBody>
          <a:bodyPr wrap="square" lIns="0" tIns="0" rIns="0" bIns="0" rtlCol="0" anchor="t"/>
          <a:lstStyle/>
          <a:p>
            <a:pPr indent="0" marL="0">
              <a:buNone/>
            </a:pPr>
            <a:r>
              <a:rPr lang="en-US" sz="2800" b="1" dirty="0">
                <a:solidFill>
                  <a:srgbClr val="B45309"/>
                </a:solidFill>
                <a:latin typeface="Cambria" pitchFamily="34" charset="0"/>
                <a:ea typeface="Cambria" pitchFamily="34" charset="-122"/>
                <a:cs typeface="Cambria" pitchFamily="34" charset="-120"/>
              </a:rPr>
              <a:t>04</a:t>
            </a:r>
            <a:endParaRPr lang="en-US" sz="2800" dirty="0"/>
          </a:p>
        </p:txBody>
      </p:sp>
      <p:sp>
        <p:nvSpPr>
          <p:cNvPr id="20" name="Text 18"/>
          <p:cNvSpPr txBox="1"/>
          <p:nvPr/>
        </p:nvSpPr>
        <p:spPr>
          <a:xfrm>
            <a:off x="1920240" y="3218688"/>
            <a:ext cx="960120" cy="274320"/>
          </a:xfrm>
          <a:prstGeom prst="rect">
            <a:avLst/>
          </a:prstGeom>
          <a:noFill/>
          <a:ln/>
        </p:spPr>
        <p:txBody>
          <a:bodyPr wrap="square" lIns="0" tIns="0" rIns="0" bIns="0" rtlCol="0" anchor="t"/>
          <a:lstStyle/>
          <a:p>
            <a:pPr algn="r" indent="0" marL="0">
              <a:buNone/>
            </a:pPr>
            <a:r>
              <a:rPr lang="en-US" sz="1100" dirty="0">
                <a:solidFill>
                  <a:srgbClr val="6B7280"/>
                </a:solidFill>
                <a:latin typeface="Calibri" pitchFamily="34" charset="0"/>
                <a:ea typeface="Calibri" pitchFamily="34" charset="-122"/>
                <a:cs typeface="Calibri" pitchFamily="34" charset="-120"/>
              </a:rPr>
              <a:t>~8 min</a:t>
            </a:r>
            <a:endParaRPr lang="en-US" sz="1100" dirty="0"/>
          </a:p>
        </p:txBody>
      </p:sp>
      <p:sp>
        <p:nvSpPr>
          <p:cNvPr id="21" name="Text 19"/>
          <p:cNvSpPr txBox="1"/>
          <p:nvPr/>
        </p:nvSpPr>
        <p:spPr>
          <a:xfrm>
            <a:off x="685800" y="3721608"/>
            <a:ext cx="2194560" cy="45720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Four Labels</a:t>
            </a:r>
            <a:endParaRPr lang="en-US" sz="1400" dirty="0"/>
          </a:p>
        </p:txBody>
      </p:sp>
      <p:sp>
        <p:nvSpPr>
          <p:cNvPr id="22" name="Shape 20"/>
          <p:cNvSpPr/>
          <p:nvPr/>
        </p:nvSpPr>
        <p:spPr>
          <a:xfrm>
            <a:off x="3246120" y="2971800"/>
            <a:ext cx="2606040" cy="1371600"/>
          </a:xfrm>
          <a:prstGeom prst="roundRect">
            <a:avLst>
              <a:gd name="adj" fmla="val 5333"/>
            </a:avLst>
          </a:prstGeom>
          <a:solidFill>
            <a:srgbClr val="F3F4F6"/>
          </a:solidFill>
          <a:ln w="12700">
            <a:solidFill>
              <a:srgbClr val="F3F4F6"/>
            </a:solidFill>
            <a:prstDash val="solid"/>
          </a:ln>
        </p:spPr>
      </p:sp>
      <p:sp>
        <p:nvSpPr>
          <p:cNvPr id="23" name="Text 21"/>
          <p:cNvSpPr txBox="1"/>
          <p:nvPr/>
        </p:nvSpPr>
        <p:spPr>
          <a:xfrm>
            <a:off x="3474720" y="3154680"/>
            <a:ext cx="914400" cy="457200"/>
          </a:xfrm>
          <a:prstGeom prst="rect">
            <a:avLst/>
          </a:prstGeom>
          <a:noFill/>
          <a:ln/>
        </p:spPr>
        <p:txBody>
          <a:bodyPr wrap="square" lIns="0" tIns="0" rIns="0" bIns="0" rtlCol="0" anchor="t"/>
          <a:lstStyle/>
          <a:p>
            <a:pPr indent="0" marL="0">
              <a:buNone/>
            </a:pPr>
            <a:r>
              <a:rPr lang="en-US" sz="2800" b="1" dirty="0">
                <a:solidFill>
                  <a:srgbClr val="B45309"/>
                </a:solidFill>
                <a:latin typeface="Cambria" pitchFamily="34" charset="0"/>
                <a:ea typeface="Cambria" pitchFamily="34" charset="-122"/>
                <a:cs typeface="Cambria" pitchFamily="34" charset="-120"/>
              </a:rPr>
              <a:t>05</a:t>
            </a:r>
            <a:endParaRPr lang="en-US" sz="2800" dirty="0"/>
          </a:p>
        </p:txBody>
      </p:sp>
      <p:sp>
        <p:nvSpPr>
          <p:cNvPr id="24" name="Text 22"/>
          <p:cNvSpPr txBox="1"/>
          <p:nvPr/>
        </p:nvSpPr>
        <p:spPr>
          <a:xfrm>
            <a:off x="4709160" y="3218688"/>
            <a:ext cx="960120" cy="274320"/>
          </a:xfrm>
          <a:prstGeom prst="rect">
            <a:avLst/>
          </a:prstGeom>
          <a:noFill/>
          <a:ln/>
        </p:spPr>
        <p:txBody>
          <a:bodyPr wrap="square" lIns="0" tIns="0" rIns="0" bIns="0" rtlCol="0" anchor="t"/>
          <a:lstStyle/>
          <a:p>
            <a:pPr algn="r" indent="0" marL="0">
              <a:buNone/>
            </a:pPr>
            <a:r>
              <a:rPr lang="en-US" sz="1100" dirty="0">
                <a:solidFill>
                  <a:srgbClr val="6B7280"/>
                </a:solidFill>
                <a:latin typeface="Calibri" pitchFamily="34" charset="0"/>
                <a:ea typeface="Calibri" pitchFamily="34" charset="-122"/>
                <a:cs typeface="Calibri" pitchFamily="34" charset="-120"/>
              </a:rPr>
              <a:t>~7 min</a:t>
            </a:r>
            <a:endParaRPr lang="en-US" sz="1100" dirty="0"/>
          </a:p>
        </p:txBody>
      </p:sp>
      <p:sp>
        <p:nvSpPr>
          <p:cNvPr id="25" name="Text 23"/>
          <p:cNvSpPr txBox="1"/>
          <p:nvPr/>
        </p:nvSpPr>
        <p:spPr>
          <a:xfrm>
            <a:off x="3474720" y="3721608"/>
            <a:ext cx="2194560" cy="45720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Number to Picture</a:t>
            </a:r>
            <a:endParaRPr lang="en-US" sz="1400" dirty="0"/>
          </a:p>
        </p:txBody>
      </p:sp>
      <p:sp>
        <p:nvSpPr>
          <p:cNvPr id="26" name="Shape 24"/>
          <p:cNvSpPr/>
          <p:nvPr/>
        </p:nvSpPr>
        <p:spPr>
          <a:xfrm>
            <a:off x="6035040" y="2971800"/>
            <a:ext cx="2606040" cy="1371600"/>
          </a:xfrm>
          <a:prstGeom prst="roundRect">
            <a:avLst>
              <a:gd name="adj" fmla="val 5333"/>
            </a:avLst>
          </a:prstGeom>
          <a:solidFill>
            <a:srgbClr val="111827"/>
          </a:solidFill>
          <a:ln w="12700">
            <a:solidFill>
              <a:srgbClr val="111827"/>
            </a:solidFill>
            <a:prstDash val="solid"/>
          </a:ln>
        </p:spPr>
      </p:sp>
      <p:sp>
        <p:nvSpPr>
          <p:cNvPr id="27" name="Text 25"/>
          <p:cNvSpPr txBox="1"/>
          <p:nvPr/>
        </p:nvSpPr>
        <p:spPr>
          <a:xfrm>
            <a:off x="6263640" y="3154680"/>
            <a:ext cx="914400" cy="457200"/>
          </a:xfrm>
          <a:prstGeom prst="rect">
            <a:avLst/>
          </a:prstGeom>
          <a:noFill/>
          <a:ln/>
        </p:spPr>
        <p:txBody>
          <a:bodyPr wrap="square" lIns="0" tIns="0" rIns="0" bIns="0" rtlCol="0" anchor="t"/>
          <a:lstStyle/>
          <a:p>
            <a:pPr indent="0" marL="0">
              <a:buNone/>
            </a:pPr>
            <a:r>
              <a:rPr lang="en-US" sz="2800" b="1" dirty="0">
                <a:solidFill>
                  <a:srgbClr val="F59E0B"/>
                </a:solidFill>
                <a:latin typeface="Cambria" pitchFamily="34" charset="0"/>
                <a:ea typeface="Cambria" pitchFamily="34" charset="-122"/>
                <a:cs typeface="Cambria" pitchFamily="34" charset="-120"/>
              </a:rPr>
              <a:t>06</a:t>
            </a:r>
            <a:endParaRPr lang="en-US" sz="2800" dirty="0"/>
          </a:p>
        </p:txBody>
      </p:sp>
      <p:sp>
        <p:nvSpPr>
          <p:cNvPr id="28" name="Text 26"/>
          <p:cNvSpPr txBox="1"/>
          <p:nvPr/>
        </p:nvSpPr>
        <p:spPr>
          <a:xfrm>
            <a:off x="7498080" y="3218688"/>
            <a:ext cx="960120" cy="274320"/>
          </a:xfrm>
          <a:prstGeom prst="rect">
            <a:avLst/>
          </a:prstGeom>
          <a:noFill/>
          <a:ln/>
        </p:spPr>
        <p:txBody>
          <a:bodyPr wrap="square" lIns="0" tIns="0" rIns="0" bIns="0" rtlCol="0" anchor="t"/>
          <a:lstStyle/>
          <a:p>
            <a:pPr algn="r" indent="0" marL="0">
              <a:buNone/>
            </a:pPr>
            <a:r>
              <a:rPr lang="en-US" sz="1100" dirty="0">
                <a:solidFill>
                  <a:srgbClr val="9CA3AF"/>
                </a:solidFill>
                <a:latin typeface="Calibri" pitchFamily="34" charset="0"/>
                <a:ea typeface="Calibri" pitchFamily="34" charset="-122"/>
                <a:cs typeface="Calibri" pitchFamily="34" charset="-120"/>
              </a:rPr>
              <a:t>~10 min</a:t>
            </a:r>
            <a:endParaRPr lang="en-US" sz="1100" dirty="0"/>
          </a:p>
        </p:txBody>
      </p:sp>
      <p:sp>
        <p:nvSpPr>
          <p:cNvPr id="29" name="Text 27"/>
          <p:cNvSpPr txBox="1"/>
          <p:nvPr/>
        </p:nvSpPr>
        <p:spPr>
          <a:xfrm>
            <a:off x="6263640" y="3721608"/>
            <a:ext cx="2194560" cy="457200"/>
          </a:xfrm>
          <a:prstGeom prst="rect">
            <a:avLst/>
          </a:prstGeom>
          <a:noFill/>
          <a:ln/>
        </p:spPr>
        <p:txBody>
          <a:bodyPr wrap="square" lIns="0" tIns="0" rIns="0" bIns="0" rtlCol="0" anchor="t"/>
          <a:lstStyle/>
          <a:p>
            <a:pPr indent="0" marL="0">
              <a:buNone/>
            </a:pPr>
            <a:r>
              <a:rPr lang="en-US" sz="1400" b="1" dirty="0">
                <a:solidFill>
                  <a:srgbClr val="FFFFFF"/>
                </a:solidFill>
                <a:latin typeface="Calibri" pitchFamily="34" charset="0"/>
                <a:ea typeface="Calibri" pitchFamily="34" charset="-122"/>
                <a:cs typeface="Calibri" pitchFamily="34" charset="-120"/>
              </a:rPr>
              <a:t>Build It</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BEFORE YOU START</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Install what you need</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2</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4</a:t>
            </a:r>
            <a:endParaRPr lang="en-US" sz="900" dirty="0"/>
          </a:p>
        </p:txBody>
      </p:sp>
      <p:sp>
        <p:nvSpPr>
          <p:cNvPr id="6" name="Text 4"/>
          <p:cNvSpPr txBox="1"/>
          <p:nvPr/>
        </p:nvSpPr>
        <p:spPr>
          <a:xfrm>
            <a:off x="457200" y="1188720"/>
            <a:ext cx="8229600" cy="320040"/>
          </a:xfrm>
          <a:prstGeom prst="rect">
            <a:avLst/>
          </a:prstGeom>
          <a:noFill/>
          <a:ln/>
        </p:spPr>
        <p:txBody>
          <a:bodyPr wrap="square" lIns="0" tIns="0" rIns="0" bIns="0" rtlCol="0" anchor="t"/>
          <a:lstStyle/>
          <a:p>
            <a:pPr indent="0" marL="0">
              <a:buNone/>
            </a:pPr>
            <a:r>
              <a:rPr lang="en-US" sz="1400" dirty="0">
                <a:solidFill>
                  <a:srgbClr val="6B7280"/>
                </a:solidFill>
                <a:latin typeface="Calibri" pitchFamily="34" charset="0"/>
                <a:ea typeface="Calibri" pitchFamily="34" charset="-122"/>
                <a:cs typeface="Calibri" pitchFamily="34" charset="-120"/>
              </a:rPr>
              <a:t>Ten minutes once, and every command in this module will run. Pick your side.</a:t>
            </a:r>
            <a:endParaRPr lang="en-US" sz="1400" dirty="0"/>
          </a:p>
        </p:txBody>
      </p:sp>
      <p:sp>
        <p:nvSpPr>
          <p:cNvPr id="7" name="Shape 5"/>
          <p:cNvSpPr/>
          <p:nvPr/>
        </p:nvSpPr>
        <p:spPr>
          <a:xfrm>
            <a:off x="457200" y="1600200"/>
            <a:ext cx="4023360" cy="2148840"/>
          </a:xfrm>
          <a:prstGeom prst="roundRect">
            <a:avLst>
              <a:gd name="adj" fmla="val 3404"/>
            </a:avLst>
          </a:prstGeom>
          <a:solidFill>
            <a:srgbClr val="F3F4F6"/>
          </a:solidFill>
          <a:ln w="12700">
            <a:solidFill>
              <a:srgbClr val="F3F4F6"/>
            </a:solidFill>
            <a:prstDash val="solid"/>
          </a:ln>
        </p:spPr>
      </p:sp>
      <p:sp>
        <p:nvSpPr>
          <p:cNvPr id="8" name="Text 6"/>
          <p:cNvSpPr txBox="1"/>
          <p:nvPr/>
        </p:nvSpPr>
        <p:spPr>
          <a:xfrm>
            <a:off x="685800" y="1737360"/>
            <a:ext cx="3566160" cy="274320"/>
          </a:xfrm>
          <a:prstGeom prst="rect">
            <a:avLst/>
          </a:prstGeom>
          <a:noFill/>
          <a:ln/>
        </p:spPr>
        <p:txBody>
          <a:bodyPr wrap="square" lIns="0" tIns="0" rIns="0" bIns="0" rtlCol="0" anchor="t"/>
          <a:lstStyle/>
          <a:p>
            <a:pPr indent="0" marL="0">
              <a:buNone/>
            </a:pPr>
            <a:r>
              <a:rPr lang="en-US" sz="1100" b="1" spc="100" kern="0" dirty="0">
                <a:solidFill>
                  <a:srgbClr val="1D4ED8"/>
                </a:solidFill>
                <a:latin typeface="Calibri" pitchFamily="34" charset="0"/>
                <a:ea typeface="Calibri" pitchFamily="34" charset="-122"/>
                <a:cs typeface="Calibri" pitchFamily="34" charset="-120"/>
              </a:rPr>
              <a:t>macOS  ·  TERMINAL</a:t>
            </a:r>
            <a:endParaRPr lang="en-US" sz="1100" dirty="0"/>
          </a:p>
        </p:txBody>
      </p:sp>
      <p:sp>
        <p:nvSpPr>
          <p:cNvPr id="9" name="Shape 7"/>
          <p:cNvSpPr/>
          <p:nvPr/>
        </p:nvSpPr>
        <p:spPr>
          <a:xfrm>
            <a:off x="685800" y="2057400"/>
            <a:ext cx="3566160" cy="1508760"/>
          </a:xfrm>
          <a:prstGeom prst="roundRect">
            <a:avLst>
              <a:gd name="adj" fmla="val 4848"/>
            </a:avLst>
          </a:prstGeom>
          <a:solidFill>
            <a:srgbClr val="0F172A"/>
          </a:solidFill>
          <a:ln w="12700">
            <a:solidFill>
              <a:srgbClr val="0F172A"/>
            </a:solidFill>
            <a:prstDash val="solid"/>
          </a:ln>
        </p:spPr>
      </p:sp>
      <p:sp>
        <p:nvSpPr>
          <p:cNvPr id="10" name="Text 8"/>
          <p:cNvSpPr txBox="1"/>
          <p:nvPr/>
        </p:nvSpPr>
        <p:spPr>
          <a:xfrm>
            <a:off x="868680" y="2194560"/>
            <a:ext cx="3291840" cy="1280160"/>
          </a:xfrm>
          <a:prstGeom prst="rect">
            <a:avLst/>
          </a:prstGeom>
          <a:noFill/>
          <a:ln/>
        </p:spPr>
        <p:txBody>
          <a:bodyPr wrap="square" lIns="0" tIns="0" rIns="0" bIns="0" rtlCol="0" anchor="t"/>
          <a:lstStyle/>
          <a:p>
            <a:pPr indent="0" marL="0">
              <a:buNone/>
            </a:pPr>
            <a:r>
              <a:rPr lang="en-US" sz="950" dirty="0">
                <a:solidFill>
                  <a:srgbClr val="9CA3AF"/>
                </a:solidFill>
                <a:latin typeface="Courier New" pitchFamily="34" charset="0"/>
                <a:ea typeface="Courier New" pitchFamily="34" charset="-122"/>
                <a:cs typeface="Courier New" pitchFamily="34" charset="-120"/>
              </a:rPr>
              <a:t># install Homebrew first: brew.sh</a:t>
            </a:r>
            <a:endParaRPr lang="en-US" sz="950" dirty="0"/>
          </a:p>
          <a:p>
            <a:pPr indent="0" marL="0">
              <a:buNone/>
            </a:pPr>
            <a:r>
              <a:rPr lang="en-US" sz="950" dirty="0">
                <a:solidFill>
                  <a:srgbClr val="E8EAED"/>
                </a:solidFill>
                <a:latin typeface="Courier New" pitchFamily="34" charset="0"/>
                <a:ea typeface="Courier New" pitchFamily="34" charset="-122"/>
                <a:cs typeface="Courier New" pitchFamily="34" charset="-120"/>
              </a:rPr>
              <a:t>$ brew install python git</a:t>
            </a:r>
            <a:endParaRPr lang="en-US" sz="950" dirty="0"/>
          </a:p>
          <a:p>
            <a:pPr indent="0" marL="0">
              <a:buNone/>
            </a:pPr>
            <a:r>
              <a:rPr lang="en-US" sz="950" dirty="0">
                <a:solidFill>
                  <a:srgbClr val="E8EAED"/>
                </a:solidFill>
                <a:latin typeface="Courier New" pitchFamily="34" charset="0"/>
                <a:ea typeface="Courier New" pitchFamily="34" charset="-122"/>
                <a:cs typeface="Courier New" pitchFamily="34" charset="-120"/>
              </a:rPr>
              <a:t>$ brew install --cask \</a:t>
            </a:r>
            <a:endParaRPr lang="en-US" sz="950" dirty="0"/>
          </a:p>
          <a:p>
            <a:pPr indent="0" marL="0">
              <a:buNone/>
            </a:pPr>
            <a:r>
              <a:rPr lang="en-US" sz="950" dirty="0">
                <a:solidFill>
                  <a:srgbClr val="E8EAED"/>
                </a:solidFill>
                <a:latin typeface="Courier New" pitchFamily="34" charset="0"/>
                <a:ea typeface="Courier New" pitchFamily="34" charset="-122"/>
                <a:cs typeface="Courier New" pitchFamily="34" charset="-120"/>
              </a:rPr>
              <a:t>      visual-studio-code</a:t>
            </a:r>
            <a:endParaRPr lang="en-US" sz="950" dirty="0"/>
          </a:p>
          <a:p>
            <a:pPr indent="0" marL="0">
              <a:buNone/>
            </a:pPr>
            <a:r>
              <a:rPr lang="en-US" sz="950" dirty="0">
                <a:solidFill>
                  <a:srgbClr val="E8EAED"/>
                </a:solidFill>
                <a:latin typeface="Courier New" pitchFamily="34" charset="0"/>
                <a:ea typeface="Courier New" pitchFamily="34" charset="-122"/>
                <a:cs typeface="Courier New" pitchFamily="34" charset="-120"/>
              </a:rPr>
              <a:t>$ python3 --version &amp;&amp; git --version</a:t>
            </a:r>
            <a:endParaRPr lang="en-US" sz="950" dirty="0"/>
          </a:p>
        </p:txBody>
      </p:sp>
      <p:sp>
        <p:nvSpPr>
          <p:cNvPr id="11" name="Shape 9"/>
          <p:cNvSpPr/>
          <p:nvPr/>
        </p:nvSpPr>
        <p:spPr>
          <a:xfrm>
            <a:off x="4663440" y="1600200"/>
            <a:ext cx="4023360" cy="2148840"/>
          </a:xfrm>
          <a:prstGeom prst="roundRect">
            <a:avLst>
              <a:gd name="adj" fmla="val 3404"/>
            </a:avLst>
          </a:prstGeom>
          <a:solidFill>
            <a:srgbClr val="F3F4F6"/>
          </a:solidFill>
          <a:ln w="12700">
            <a:solidFill>
              <a:srgbClr val="F3F4F6"/>
            </a:solidFill>
            <a:prstDash val="solid"/>
          </a:ln>
        </p:spPr>
      </p:sp>
      <p:sp>
        <p:nvSpPr>
          <p:cNvPr id="12" name="Text 10"/>
          <p:cNvSpPr txBox="1"/>
          <p:nvPr/>
        </p:nvSpPr>
        <p:spPr>
          <a:xfrm>
            <a:off x="4892040" y="1737360"/>
            <a:ext cx="3566160" cy="274320"/>
          </a:xfrm>
          <a:prstGeom prst="rect">
            <a:avLst/>
          </a:prstGeom>
          <a:noFill/>
          <a:ln/>
        </p:spPr>
        <p:txBody>
          <a:bodyPr wrap="square" lIns="0" tIns="0" rIns="0" bIns="0" rtlCol="0" anchor="t"/>
          <a:lstStyle/>
          <a:p>
            <a:pPr indent="0" marL="0">
              <a:buNone/>
            </a:pPr>
            <a:r>
              <a:rPr lang="en-US" sz="1100" b="1" spc="100" kern="0" dirty="0">
                <a:solidFill>
                  <a:srgbClr val="6D28D9"/>
                </a:solidFill>
                <a:latin typeface="Calibri" pitchFamily="34" charset="0"/>
                <a:ea typeface="Calibri" pitchFamily="34" charset="-122"/>
                <a:cs typeface="Calibri" pitchFamily="34" charset="-120"/>
              </a:rPr>
              <a:t>WINDOWS  ·  POWERSHELL</a:t>
            </a:r>
            <a:endParaRPr lang="en-US" sz="1100" dirty="0"/>
          </a:p>
        </p:txBody>
      </p:sp>
      <p:sp>
        <p:nvSpPr>
          <p:cNvPr id="13" name="Shape 11"/>
          <p:cNvSpPr/>
          <p:nvPr/>
        </p:nvSpPr>
        <p:spPr>
          <a:xfrm>
            <a:off x="4892040" y="2057400"/>
            <a:ext cx="3566160" cy="1508760"/>
          </a:xfrm>
          <a:prstGeom prst="roundRect">
            <a:avLst>
              <a:gd name="adj" fmla="val 4848"/>
            </a:avLst>
          </a:prstGeom>
          <a:solidFill>
            <a:srgbClr val="0F172A"/>
          </a:solidFill>
          <a:ln w="12700">
            <a:solidFill>
              <a:srgbClr val="0F172A"/>
            </a:solidFill>
            <a:prstDash val="solid"/>
          </a:ln>
        </p:spPr>
      </p:sp>
      <p:sp>
        <p:nvSpPr>
          <p:cNvPr id="14" name="Text 12"/>
          <p:cNvSpPr txBox="1"/>
          <p:nvPr/>
        </p:nvSpPr>
        <p:spPr>
          <a:xfrm>
            <a:off x="5074920" y="2194560"/>
            <a:ext cx="3291840" cy="1280160"/>
          </a:xfrm>
          <a:prstGeom prst="rect">
            <a:avLst/>
          </a:prstGeom>
          <a:noFill/>
          <a:ln/>
        </p:spPr>
        <p:txBody>
          <a:bodyPr wrap="square" lIns="0" tIns="0" rIns="0" bIns="0" rtlCol="0" anchor="t"/>
          <a:lstStyle/>
          <a:p>
            <a:pPr indent="0" marL="0">
              <a:buNone/>
            </a:pPr>
            <a:r>
              <a:rPr lang="en-US" sz="950" dirty="0">
                <a:solidFill>
                  <a:srgbClr val="9CA3AF"/>
                </a:solidFill>
                <a:latin typeface="Courier New" pitchFamily="34" charset="0"/>
                <a:ea typeface="Courier New" pitchFamily="34" charset="-122"/>
                <a:cs typeface="Courier New" pitchFamily="34" charset="-120"/>
              </a:rPr>
              <a:t># winget ships with Windows 11</a:t>
            </a:r>
            <a:endParaRPr lang="en-US" sz="950" dirty="0"/>
          </a:p>
          <a:p>
            <a:pPr indent="0" marL="0">
              <a:buNone/>
            </a:pPr>
            <a:r>
              <a:rPr lang="en-US" sz="950" dirty="0">
                <a:solidFill>
                  <a:srgbClr val="E8EAED"/>
                </a:solidFill>
                <a:latin typeface="Courier New" pitchFamily="34" charset="0"/>
                <a:ea typeface="Courier New" pitchFamily="34" charset="-122"/>
                <a:cs typeface="Courier New" pitchFamily="34" charset="-120"/>
              </a:rPr>
              <a:t>&gt; winget install Python.Python.3.12</a:t>
            </a:r>
            <a:endParaRPr lang="en-US" sz="950" dirty="0"/>
          </a:p>
          <a:p>
            <a:pPr indent="0" marL="0">
              <a:buNone/>
            </a:pPr>
            <a:r>
              <a:rPr lang="en-US" sz="950" dirty="0">
                <a:solidFill>
                  <a:srgbClr val="E8EAED"/>
                </a:solidFill>
                <a:latin typeface="Courier New" pitchFamily="34" charset="0"/>
                <a:ea typeface="Courier New" pitchFamily="34" charset="-122"/>
                <a:cs typeface="Courier New" pitchFamily="34" charset="-120"/>
              </a:rPr>
              <a:t>&gt; winget install Git.Git</a:t>
            </a:r>
            <a:endParaRPr lang="en-US" sz="950" dirty="0"/>
          </a:p>
          <a:p>
            <a:pPr indent="0" marL="0">
              <a:buNone/>
            </a:pPr>
            <a:r>
              <a:rPr lang="en-US" sz="950" dirty="0">
                <a:solidFill>
                  <a:srgbClr val="E8EAED"/>
                </a:solidFill>
                <a:latin typeface="Courier New" pitchFamily="34" charset="0"/>
                <a:ea typeface="Courier New" pitchFamily="34" charset="-122"/>
                <a:cs typeface="Courier New" pitchFamily="34" charset="-120"/>
              </a:rPr>
              <a:t>&gt; winget install \</a:t>
            </a:r>
            <a:endParaRPr lang="en-US" sz="950" dirty="0"/>
          </a:p>
          <a:p>
            <a:pPr indent="0" marL="0">
              <a:buNone/>
            </a:pPr>
            <a:r>
              <a:rPr lang="en-US" sz="950" dirty="0">
                <a:solidFill>
                  <a:srgbClr val="E8EAED"/>
                </a:solidFill>
                <a:latin typeface="Courier New" pitchFamily="34" charset="0"/>
                <a:ea typeface="Courier New" pitchFamily="34" charset="-122"/>
                <a:cs typeface="Courier New" pitchFamily="34" charset="-120"/>
              </a:rPr>
              <a:t>      Microsoft.VisualStudioCode</a:t>
            </a:r>
            <a:endParaRPr lang="en-US" sz="950" dirty="0"/>
          </a:p>
          <a:p>
            <a:pPr indent="0" marL="0">
              <a:buNone/>
            </a:pPr>
            <a:r>
              <a:rPr lang="en-US" sz="950" dirty="0">
                <a:solidFill>
                  <a:srgbClr val="E8EAED"/>
                </a:solidFill>
                <a:latin typeface="Courier New" pitchFamily="34" charset="0"/>
                <a:ea typeface="Courier New" pitchFamily="34" charset="-122"/>
                <a:cs typeface="Courier New" pitchFamily="34" charset="-120"/>
              </a:rPr>
              <a:t>&gt; py --version; git --version</a:t>
            </a:r>
            <a:endParaRPr lang="en-US" sz="950" dirty="0"/>
          </a:p>
        </p:txBody>
      </p:sp>
      <p:sp>
        <p:nvSpPr>
          <p:cNvPr id="15" name="Text 13"/>
          <p:cNvSpPr txBox="1"/>
          <p:nvPr/>
        </p:nvSpPr>
        <p:spPr>
          <a:xfrm>
            <a:off x="457200" y="3840480"/>
            <a:ext cx="8229600" cy="274320"/>
          </a:xfrm>
          <a:prstGeom prst="rect">
            <a:avLst/>
          </a:prstGeom>
          <a:noFill/>
          <a:ln/>
        </p:spPr>
        <p:txBody>
          <a:bodyPr wrap="square" lIns="0" tIns="0" rIns="0" bIns="0" rtlCol="0" anchor="t"/>
          <a:lstStyle/>
          <a:p>
            <a:pPr indent="0" marL="0">
              <a:buNone/>
            </a:pPr>
            <a:r>
              <a:rPr lang="en-US" sz="1000" b="1" spc="200" kern="0" dirty="0">
                <a:solidFill>
                  <a:srgbClr val="6B7280"/>
                </a:solidFill>
                <a:latin typeface="Calibri" pitchFamily="34" charset="0"/>
                <a:ea typeface="Calibri" pitchFamily="34" charset="-122"/>
                <a:cs typeface="Calibri" pitchFamily="34" charset="-120"/>
              </a:rPr>
              <a:t>WHAT MODULE 2 ADDS</a:t>
            </a:r>
            <a:endParaRPr lang="en-US" sz="1000" dirty="0"/>
          </a:p>
        </p:txBody>
      </p:sp>
      <p:sp>
        <p:nvSpPr>
          <p:cNvPr id="16" name="Shape 14"/>
          <p:cNvSpPr/>
          <p:nvPr/>
        </p:nvSpPr>
        <p:spPr>
          <a:xfrm>
            <a:off x="457200" y="4114800"/>
            <a:ext cx="2606040" cy="594360"/>
          </a:xfrm>
          <a:prstGeom prst="roundRect">
            <a:avLst>
              <a:gd name="adj" fmla="val 12308"/>
            </a:avLst>
          </a:prstGeom>
          <a:solidFill>
            <a:srgbClr val="ECFDF5"/>
          </a:solidFill>
          <a:ln w="12700">
            <a:solidFill>
              <a:srgbClr val="ECFDF5"/>
            </a:solidFill>
            <a:prstDash val="solid"/>
          </a:ln>
        </p:spPr>
      </p:sp>
      <p:sp>
        <p:nvSpPr>
          <p:cNvPr id="17" name="Text 15"/>
          <p:cNvSpPr txBox="1"/>
          <p:nvPr/>
        </p:nvSpPr>
        <p:spPr>
          <a:xfrm>
            <a:off x="640080" y="4160520"/>
            <a:ext cx="2286000" cy="274320"/>
          </a:xfrm>
          <a:prstGeom prst="rect">
            <a:avLst/>
          </a:prstGeom>
          <a:noFill/>
          <a:ln/>
        </p:spPr>
        <p:txBody>
          <a:bodyPr wrap="square" lIns="0" tIns="0" rIns="0" bIns="0" rtlCol="0" anchor="t"/>
          <a:lstStyle/>
          <a:p>
            <a:pPr indent="0" marL="0">
              <a:buNone/>
            </a:pPr>
            <a:r>
              <a:rPr lang="en-US" sz="1150" b="1" dirty="0">
                <a:solidFill>
                  <a:srgbClr val="047857"/>
                </a:solidFill>
                <a:latin typeface="Calibri" pitchFamily="34" charset="0"/>
                <a:ea typeface="Calibri" pitchFamily="34" charset="-122"/>
                <a:cs typeface="Calibri" pitchFamily="34" charset="-120"/>
              </a:rPr>
              <a:t>venv</a:t>
            </a:r>
            <a:endParaRPr lang="en-US" sz="1150" dirty="0"/>
          </a:p>
        </p:txBody>
      </p:sp>
      <p:sp>
        <p:nvSpPr>
          <p:cNvPr id="18" name="Text 16"/>
          <p:cNvSpPr txBox="1"/>
          <p:nvPr/>
        </p:nvSpPr>
        <p:spPr>
          <a:xfrm>
            <a:off x="640080" y="4407408"/>
            <a:ext cx="2331720" cy="256032"/>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built into Python 3</a:t>
            </a:r>
            <a:endParaRPr lang="en-US" sz="950" dirty="0"/>
          </a:p>
        </p:txBody>
      </p:sp>
      <p:sp>
        <p:nvSpPr>
          <p:cNvPr id="19" name="Shape 17"/>
          <p:cNvSpPr/>
          <p:nvPr/>
        </p:nvSpPr>
        <p:spPr>
          <a:xfrm>
            <a:off x="3246120" y="4114800"/>
            <a:ext cx="2606040" cy="594360"/>
          </a:xfrm>
          <a:prstGeom prst="roundRect">
            <a:avLst>
              <a:gd name="adj" fmla="val 12308"/>
            </a:avLst>
          </a:prstGeom>
          <a:solidFill>
            <a:srgbClr val="ECFDF5"/>
          </a:solidFill>
          <a:ln w="12700">
            <a:solidFill>
              <a:srgbClr val="ECFDF5"/>
            </a:solidFill>
            <a:prstDash val="solid"/>
          </a:ln>
        </p:spPr>
      </p:sp>
      <p:sp>
        <p:nvSpPr>
          <p:cNvPr id="20" name="Text 18"/>
          <p:cNvSpPr txBox="1"/>
          <p:nvPr/>
        </p:nvSpPr>
        <p:spPr>
          <a:xfrm>
            <a:off x="3429000" y="4160520"/>
            <a:ext cx="2286000" cy="274320"/>
          </a:xfrm>
          <a:prstGeom prst="rect">
            <a:avLst/>
          </a:prstGeom>
          <a:noFill/>
          <a:ln/>
        </p:spPr>
        <p:txBody>
          <a:bodyPr wrap="square" lIns="0" tIns="0" rIns="0" bIns="0" rtlCol="0" anchor="t"/>
          <a:lstStyle/>
          <a:p>
            <a:pPr indent="0" marL="0">
              <a:buNone/>
            </a:pPr>
            <a:r>
              <a:rPr lang="en-US" sz="1150" b="1" dirty="0">
                <a:solidFill>
                  <a:srgbClr val="047857"/>
                </a:solidFill>
                <a:latin typeface="Calibri" pitchFamily="34" charset="0"/>
                <a:ea typeface="Calibri" pitchFamily="34" charset="-122"/>
                <a:cs typeface="Calibri" pitchFamily="34" charset="-120"/>
              </a:rPr>
              <a:t>prometheus-client</a:t>
            </a:r>
            <a:endParaRPr lang="en-US" sz="1150" dirty="0"/>
          </a:p>
        </p:txBody>
      </p:sp>
      <p:sp>
        <p:nvSpPr>
          <p:cNvPr id="21" name="Text 19"/>
          <p:cNvSpPr txBox="1"/>
          <p:nvPr/>
        </p:nvSpPr>
        <p:spPr>
          <a:xfrm>
            <a:off x="3429000" y="4407408"/>
            <a:ext cx="2331720" cy="256032"/>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one pip install, in section 6</a:t>
            </a:r>
            <a:endParaRPr lang="en-US" sz="950" dirty="0"/>
          </a:p>
        </p:txBody>
      </p:sp>
      <p:sp>
        <p:nvSpPr>
          <p:cNvPr id="22" name="Shape 20"/>
          <p:cNvSpPr/>
          <p:nvPr/>
        </p:nvSpPr>
        <p:spPr>
          <a:xfrm>
            <a:off x="6035040" y="4114800"/>
            <a:ext cx="2606040" cy="594360"/>
          </a:xfrm>
          <a:prstGeom prst="roundRect">
            <a:avLst>
              <a:gd name="adj" fmla="val 12308"/>
            </a:avLst>
          </a:prstGeom>
          <a:solidFill>
            <a:srgbClr val="ECFDF5"/>
          </a:solidFill>
          <a:ln w="12700">
            <a:solidFill>
              <a:srgbClr val="ECFDF5"/>
            </a:solidFill>
            <a:prstDash val="solid"/>
          </a:ln>
        </p:spPr>
      </p:sp>
      <p:sp>
        <p:nvSpPr>
          <p:cNvPr id="23" name="Text 21"/>
          <p:cNvSpPr txBox="1"/>
          <p:nvPr/>
        </p:nvSpPr>
        <p:spPr>
          <a:xfrm>
            <a:off x="6217920" y="4160520"/>
            <a:ext cx="2286000" cy="274320"/>
          </a:xfrm>
          <a:prstGeom prst="rect">
            <a:avLst/>
          </a:prstGeom>
          <a:noFill/>
          <a:ln/>
        </p:spPr>
        <p:txBody>
          <a:bodyPr wrap="square" lIns="0" tIns="0" rIns="0" bIns="0" rtlCol="0" anchor="t"/>
          <a:lstStyle/>
          <a:p>
            <a:pPr indent="0" marL="0">
              <a:buNone/>
            </a:pPr>
            <a:r>
              <a:rPr lang="en-US" sz="1150" b="1" dirty="0">
                <a:solidFill>
                  <a:srgbClr val="047857"/>
                </a:solidFill>
                <a:latin typeface="Calibri" pitchFamily="34" charset="0"/>
                <a:ea typeface="Calibri" pitchFamily="34" charset="-122"/>
                <a:cs typeface="Calibri" pitchFamily="34" charset="-120"/>
              </a:rPr>
              <a:t>curl</a:t>
            </a:r>
            <a:endParaRPr lang="en-US" sz="1150" dirty="0"/>
          </a:p>
        </p:txBody>
      </p:sp>
      <p:sp>
        <p:nvSpPr>
          <p:cNvPr id="24" name="Text 22"/>
          <p:cNvSpPr txBox="1"/>
          <p:nvPr/>
        </p:nvSpPr>
        <p:spPr>
          <a:xfrm>
            <a:off x="6217920" y="4407408"/>
            <a:ext cx="2331720" cy="256032"/>
          </a:xfrm>
          <a:prstGeom prst="rect">
            <a:avLst/>
          </a:prstGeom>
          <a:noFill/>
          <a:ln/>
        </p:spPr>
        <p:txBody>
          <a:bodyPr wrap="square" lIns="0" tIns="0" rIns="0" bIns="0" rtlCol="0" anchor="t"/>
          <a:lstStyle/>
          <a:p>
            <a:pPr indent="0" marL="0">
              <a:buNone/>
            </a:pPr>
            <a:r>
              <a:rPr lang="en-US" sz="950" dirty="0">
                <a:solidFill>
                  <a:srgbClr val="1F2937"/>
                </a:solidFill>
                <a:latin typeface="Calibri" pitchFamily="34" charset="0"/>
                <a:ea typeface="Calibri" pitchFamily="34" charset="-122"/>
                <a:cs typeface="Calibri" pitchFamily="34" charset="-120"/>
              </a:rPr>
              <a:t>already on Mac and Windows</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BEFORE YOU START</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Watch these before you install anything</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2</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5</a:t>
            </a:r>
            <a:endParaRPr lang="en-US" sz="900" dirty="0"/>
          </a:p>
        </p:txBody>
      </p:sp>
      <p:sp>
        <p:nvSpPr>
          <p:cNvPr id="6" name="Text 4"/>
          <p:cNvSpPr txBox="1"/>
          <p:nvPr/>
        </p:nvSpPr>
        <p:spPr>
          <a:xfrm>
            <a:off x="457200" y="1143000"/>
            <a:ext cx="8229600" cy="320040"/>
          </a:xfrm>
          <a:prstGeom prst="rect">
            <a:avLst/>
          </a:prstGeom>
          <a:noFill/>
          <a:ln/>
        </p:spPr>
        <p:txBody>
          <a:bodyPr wrap="square" lIns="0" tIns="0" rIns="0" bIns="0" rtlCol="0" anchor="t"/>
          <a:lstStyle/>
          <a:p>
            <a:pPr indent="0" marL="0">
              <a:buNone/>
            </a:pPr>
            <a:r>
              <a:rPr lang="en-US" sz="1300" dirty="0">
                <a:solidFill>
                  <a:srgbClr val="6B7280"/>
                </a:solidFill>
                <a:latin typeface="Calibri" pitchFamily="34" charset="0"/>
                <a:ea typeface="Calibri" pitchFamily="34" charset="-122"/>
                <a:cs typeface="Calibri" pitchFamily="34" charset="-120"/>
              </a:rPr>
              <a:t>Two short videos take you from a blank machine to Git, Python and VS Code installed. Pick the one for your computer.</a:t>
            </a:r>
            <a:endParaRPr lang="en-US" sz="1300" dirty="0"/>
          </a:p>
        </p:txBody>
      </p:sp>
      <p:sp>
        <p:nvSpPr>
          <p:cNvPr id="7" name="Shape 5"/>
          <p:cNvSpPr/>
          <p:nvPr/>
        </p:nvSpPr>
        <p:spPr>
          <a:xfrm>
            <a:off x="457200" y="1554480"/>
            <a:ext cx="4023360" cy="1371600"/>
          </a:xfrm>
          <a:prstGeom prst="roundRect">
            <a:avLst>
              <a:gd name="adj" fmla="val 5333"/>
            </a:avLst>
          </a:prstGeom>
          <a:solidFill>
            <a:srgbClr val="F3F4F6"/>
          </a:solidFill>
          <a:ln w="12700">
            <a:solidFill>
              <a:srgbClr val="F3F4F6"/>
            </a:solidFill>
            <a:prstDash val="solid"/>
          </a:ln>
        </p:spPr>
      </p:sp>
      <p:sp>
        <p:nvSpPr>
          <p:cNvPr id="8" name="Shape 6"/>
          <p:cNvSpPr/>
          <p:nvPr/>
        </p:nvSpPr>
        <p:spPr>
          <a:xfrm>
            <a:off x="685800" y="1737360"/>
            <a:ext cx="1143000" cy="292608"/>
          </a:xfrm>
          <a:prstGeom prst="roundRect">
            <a:avLst>
              <a:gd name="adj" fmla="val 50000"/>
            </a:avLst>
          </a:prstGeom>
          <a:solidFill>
            <a:srgbClr val="1D4ED8"/>
          </a:solidFill>
          <a:ln w="12700">
            <a:solidFill>
              <a:srgbClr val="1D4ED8"/>
            </a:solidFill>
            <a:prstDash val="solid"/>
          </a:ln>
        </p:spPr>
      </p:sp>
      <p:sp>
        <p:nvSpPr>
          <p:cNvPr id="9" name="Text 7"/>
          <p:cNvSpPr txBox="1"/>
          <p:nvPr/>
        </p:nvSpPr>
        <p:spPr>
          <a:xfrm>
            <a:off x="685800" y="1737360"/>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macOS</a:t>
            </a:r>
            <a:endParaRPr lang="en-US" sz="950" dirty="0"/>
          </a:p>
        </p:txBody>
      </p:sp>
      <p:sp>
        <p:nvSpPr>
          <p:cNvPr id="10" name="Text 8"/>
          <p:cNvSpPr txBox="1"/>
          <p:nvPr/>
        </p:nvSpPr>
        <p:spPr>
          <a:xfrm>
            <a:off x="685800" y="2121408"/>
            <a:ext cx="3566160" cy="45720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Install Git, Python and VS Code on a Mac</a:t>
            </a:r>
            <a:endParaRPr lang="en-US" sz="1400" dirty="0"/>
          </a:p>
        </p:txBody>
      </p:sp>
      <p:sp>
        <p:nvSpPr>
          <p:cNvPr id="11" name="Text 9">
            <a:hlinkClick r:id="rId1" tooltip=""/>
          </p:cNvPr>
          <p:cNvSpPr txBox="1"/>
          <p:nvPr/>
        </p:nvSpPr>
        <p:spPr>
          <a:xfrm>
            <a:off x="685800" y="2560320"/>
            <a:ext cx="3566160" cy="274320"/>
          </a:xfrm>
          <a:prstGeom prst="rect">
            <a:avLst/>
          </a:prstGeom>
          <a:noFill/>
          <a:ln/>
        </p:spPr>
        <p:txBody>
          <a:bodyPr wrap="square" lIns="0" tIns="0" rIns="0" bIns="0" rtlCol="0" anchor="ctr"/>
          <a:lstStyle/>
          <a:p>
            <a:pPr indent="0" marL="0">
              <a:buNone/>
            </a:pPr>
            <a:r>
              <a:rPr lang="en-US" sz="1100" u="sng" dirty="0">
                <a:solidFill>
                  <a:srgbClr val="1D4ED8"/>
                </a:solidFill>
                <a:latin typeface="Courier New" pitchFamily="34" charset="0"/>
                <a:ea typeface="Courier New" pitchFamily="34" charset="-122"/>
                <a:cs typeface="Courier New" pitchFamily="34" charset="-120"/>
                <a:hlinkClick r:id="rId1" invalidUrl="" action="" tgtFrame="" tooltip="" history="1" highlightClick="0" endSnd="0">
                  <a:extLst>
                    <a:ext uri="{A12FA001-AC4F-418D-AE19-62706E023703}">
                      <ahyp:hlinkClr xmlns:ahyp="http://schemas.microsoft.com/office/drawing/2018/hyperlinkcolor" val="tx"/>
                    </a:ext>
                  </a:extLst>
                </a:hlinkClick>
              </a:rPr>
              <a:t>https://youtu.be/8ZIiXg4XOY0</a:t>
            </a:r>
            <a:endParaRPr lang="en-US" sz="1100" dirty="0"/>
          </a:p>
        </p:txBody>
      </p:sp>
      <p:sp>
        <p:nvSpPr>
          <p:cNvPr id="12" name="Shape 10"/>
          <p:cNvSpPr/>
          <p:nvPr/>
        </p:nvSpPr>
        <p:spPr>
          <a:xfrm>
            <a:off x="4663440" y="1554480"/>
            <a:ext cx="4023360" cy="1371600"/>
          </a:xfrm>
          <a:prstGeom prst="roundRect">
            <a:avLst>
              <a:gd name="adj" fmla="val 5333"/>
            </a:avLst>
          </a:prstGeom>
          <a:solidFill>
            <a:srgbClr val="F3F4F6"/>
          </a:solidFill>
          <a:ln w="12700">
            <a:solidFill>
              <a:srgbClr val="F3F4F6"/>
            </a:solidFill>
            <a:prstDash val="solid"/>
          </a:ln>
        </p:spPr>
      </p:sp>
      <p:sp>
        <p:nvSpPr>
          <p:cNvPr id="13" name="Shape 11"/>
          <p:cNvSpPr/>
          <p:nvPr/>
        </p:nvSpPr>
        <p:spPr>
          <a:xfrm>
            <a:off x="4892040" y="1737360"/>
            <a:ext cx="1143000" cy="292608"/>
          </a:xfrm>
          <a:prstGeom prst="roundRect">
            <a:avLst>
              <a:gd name="adj" fmla="val 50000"/>
            </a:avLst>
          </a:prstGeom>
          <a:solidFill>
            <a:srgbClr val="6D28D9"/>
          </a:solidFill>
          <a:ln w="12700">
            <a:solidFill>
              <a:srgbClr val="6D28D9"/>
            </a:solidFill>
            <a:prstDash val="solid"/>
          </a:ln>
        </p:spPr>
      </p:sp>
      <p:sp>
        <p:nvSpPr>
          <p:cNvPr id="14" name="Text 12"/>
          <p:cNvSpPr txBox="1"/>
          <p:nvPr/>
        </p:nvSpPr>
        <p:spPr>
          <a:xfrm>
            <a:off x="4892040" y="1737360"/>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WINDOWS</a:t>
            </a:r>
            <a:endParaRPr lang="en-US" sz="950" dirty="0"/>
          </a:p>
        </p:txBody>
      </p:sp>
      <p:sp>
        <p:nvSpPr>
          <p:cNvPr id="15" name="Text 13"/>
          <p:cNvSpPr txBox="1"/>
          <p:nvPr/>
        </p:nvSpPr>
        <p:spPr>
          <a:xfrm>
            <a:off x="4892040" y="2121408"/>
            <a:ext cx="3566160" cy="45720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Install Git, Python and VS Code on Windows</a:t>
            </a:r>
            <a:endParaRPr lang="en-US" sz="1400" dirty="0"/>
          </a:p>
        </p:txBody>
      </p:sp>
      <p:sp>
        <p:nvSpPr>
          <p:cNvPr id="16" name="Text 14">
            <a:hlinkClick r:id="rId2" tooltip=""/>
          </p:cNvPr>
          <p:cNvSpPr txBox="1"/>
          <p:nvPr/>
        </p:nvSpPr>
        <p:spPr>
          <a:xfrm>
            <a:off x="4892040" y="2560320"/>
            <a:ext cx="3566160" cy="274320"/>
          </a:xfrm>
          <a:prstGeom prst="rect">
            <a:avLst/>
          </a:prstGeom>
          <a:noFill/>
          <a:ln/>
        </p:spPr>
        <p:txBody>
          <a:bodyPr wrap="square" lIns="0" tIns="0" rIns="0" bIns="0" rtlCol="0" anchor="ctr"/>
          <a:lstStyle/>
          <a:p>
            <a:pPr indent="0" marL="0">
              <a:buNone/>
            </a:pPr>
            <a:r>
              <a:rPr lang="en-US" sz="1100" u="sng" dirty="0">
                <a:solidFill>
                  <a:srgbClr val="6D28D9"/>
                </a:solidFill>
                <a:latin typeface="Courier New" pitchFamily="34" charset="0"/>
                <a:ea typeface="Courier New" pitchFamily="34" charset="-122"/>
                <a:cs typeface="Courier New" pitchFamily="34" charset="-120"/>
                <a:hlinkClick r:id="rId2" invalidUrl="" action="" tgtFrame="" tooltip="" history="1" highlightClick="0" endSnd="0">
                  <a:extLst>
                    <a:ext uri="{A12FA001-AC4F-418D-AE19-62706E023703}">
                      <ahyp:hlinkClr xmlns:ahyp="http://schemas.microsoft.com/office/drawing/2018/hyperlinkcolor" val="tx"/>
                    </a:ext>
                  </a:extLst>
                </a:hlinkClick>
              </a:rPr>
              <a:t>https://youtu.be/3e2-GRBibWc</a:t>
            </a:r>
            <a:endParaRPr lang="en-US" sz="1100" dirty="0"/>
          </a:p>
        </p:txBody>
      </p:sp>
      <p:sp>
        <p:nvSpPr>
          <p:cNvPr id="17" name="Text 15"/>
          <p:cNvSpPr txBox="1"/>
          <p:nvPr/>
        </p:nvSpPr>
        <p:spPr>
          <a:xfrm>
            <a:off x="457200" y="3108960"/>
            <a:ext cx="8229600" cy="274320"/>
          </a:xfrm>
          <a:prstGeom prst="rect">
            <a:avLst/>
          </a:prstGeom>
          <a:noFill/>
          <a:ln/>
        </p:spPr>
        <p:txBody>
          <a:bodyPr wrap="square" lIns="0" tIns="0" rIns="0" bIns="0" rtlCol="0" anchor="t"/>
          <a:lstStyle/>
          <a:p>
            <a:pPr indent="0" marL="0">
              <a:buNone/>
            </a:pPr>
            <a:r>
              <a:rPr lang="en-US" sz="950" b="1" spc="200" kern="0" dirty="0">
                <a:solidFill>
                  <a:srgbClr val="6B7280"/>
                </a:solidFill>
                <a:latin typeface="Calibri" pitchFamily="34" charset="0"/>
                <a:ea typeface="Calibri" pitchFamily="34" charset="-122"/>
                <a:cs typeface="Calibri" pitchFamily="34" charset="-120"/>
              </a:rPr>
              <a:t>OFFICIAL PAGES, IF YOU PREFER TO READ</a:t>
            </a:r>
            <a:endParaRPr lang="en-US" sz="950" dirty="0"/>
          </a:p>
        </p:txBody>
      </p:sp>
      <p:sp>
        <p:nvSpPr>
          <p:cNvPr id="18" name="Shape 16"/>
          <p:cNvSpPr/>
          <p:nvPr/>
        </p:nvSpPr>
        <p:spPr>
          <a:xfrm>
            <a:off x="457200" y="3429000"/>
            <a:ext cx="4023360" cy="566928"/>
          </a:xfrm>
          <a:prstGeom prst="roundRect">
            <a:avLst>
              <a:gd name="adj" fmla="val 12903"/>
            </a:avLst>
          </a:prstGeom>
          <a:solidFill>
            <a:srgbClr val="F3F4F6"/>
          </a:solidFill>
          <a:ln w="12700">
            <a:solidFill>
              <a:srgbClr val="F3F4F6"/>
            </a:solidFill>
            <a:prstDash val="solid"/>
          </a:ln>
        </p:spPr>
      </p:sp>
      <p:sp>
        <p:nvSpPr>
          <p:cNvPr id="19" name="Text 17"/>
          <p:cNvSpPr txBox="1"/>
          <p:nvPr/>
        </p:nvSpPr>
        <p:spPr>
          <a:xfrm>
            <a:off x="658368" y="3483864"/>
            <a:ext cx="1920240" cy="237744"/>
          </a:xfrm>
          <a:prstGeom prst="rect">
            <a:avLst/>
          </a:prstGeom>
          <a:noFill/>
          <a:ln/>
        </p:spPr>
        <p:txBody>
          <a:bodyPr wrap="square" lIns="0" tIns="0" rIns="0" bIns="0" rtlCol="0" anchor="t"/>
          <a:lstStyle/>
          <a:p>
            <a:pPr indent="0" marL="0">
              <a:buNone/>
            </a:pPr>
            <a:r>
              <a:rPr lang="en-US" sz="1150" b="1" dirty="0">
                <a:solidFill>
                  <a:srgbClr val="111827"/>
                </a:solidFill>
                <a:latin typeface="Calibri" pitchFamily="34" charset="0"/>
                <a:ea typeface="Calibri" pitchFamily="34" charset="-122"/>
                <a:cs typeface="Calibri" pitchFamily="34" charset="-120"/>
              </a:rPr>
              <a:t>Install Python</a:t>
            </a:r>
            <a:endParaRPr lang="en-US" sz="1150" dirty="0"/>
          </a:p>
        </p:txBody>
      </p:sp>
      <p:sp>
        <p:nvSpPr>
          <p:cNvPr id="20" name="Text 18"/>
          <p:cNvSpPr txBox="1"/>
          <p:nvPr/>
        </p:nvSpPr>
        <p:spPr>
          <a:xfrm>
            <a:off x="658368" y="3721608"/>
            <a:ext cx="2011680" cy="219456"/>
          </a:xfrm>
          <a:prstGeom prst="rect">
            <a:avLst/>
          </a:prstGeom>
          <a:noFill/>
          <a:ln/>
        </p:spPr>
        <p:txBody>
          <a:bodyPr wrap="square" lIns="0" tIns="0" rIns="0" bIns="0" rtlCol="0" anchor="t"/>
          <a:lstStyle/>
          <a:p>
            <a:pPr indent="0" marL="0">
              <a:buNone/>
            </a:pPr>
            <a:r>
              <a:rPr lang="en-US" sz="900" dirty="0">
                <a:solidFill>
                  <a:srgbClr val="6B7280"/>
                </a:solidFill>
                <a:latin typeface="Calibri" pitchFamily="34" charset="0"/>
                <a:ea typeface="Calibri" pitchFamily="34" charset="-122"/>
                <a:cs typeface="Calibri" pitchFamily="34" charset="-120"/>
              </a:rPr>
              <a:t>Official downloads, Mac and Windows</a:t>
            </a:r>
            <a:endParaRPr lang="en-US" sz="900" dirty="0"/>
          </a:p>
        </p:txBody>
      </p:sp>
      <p:sp>
        <p:nvSpPr>
          <p:cNvPr id="21" name="Text 19">
            <a:hlinkClick r:id="rId3" tooltip=""/>
          </p:cNvPr>
          <p:cNvSpPr txBox="1"/>
          <p:nvPr/>
        </p:nvSpPr>
        <p:spPr>
          <a:xfrm>
            <a:off x="2697480" y="3429000"/>
            <a:ext cx="1691640" cy="566928"/>
          </a:xfrm>
          <a:prstGeom prst="rect">
            <a:avLst/>
          </a:prstGeom>
          <a:noFill/>
          <a:ln/>
        </p:spPr>
        <p:txBody>
          <a:bodyPr wrap="square" lIns="0" tIns="0" rIns="0" bIns="0" rtlCol="0" anchor="ctr"/>
          <a:lstStyle/>
          <a:p>
            <a:pPr indent="0" marL="0">
              <a:buNone/>
            </a:pPr>
            <a:r>
              <a:rPr lang="en-US" sz="800" u="sng" dirty="0">
                <a:solidFill>
                  <a:srgbClr val="6D28D9"/>
                </a:solidFill>
                <a:latin typeface="Courier New" pitchFamily="34" charset="0"/>
                <a:ea typeface="Courier New" pitchFamily="34" charset="-122"/>
                <a:cs typeface="Courier New" pitchFamily="34" charset="-120"/>
                <a:hlinkClick r:id="rId3" invalidUrl="" action="" tgtFrame="" tooltip="" history="1" highlightClick="0" endSnd="0">
                  <a:extLst>
                    <a:ext uri="{A12FA001-AC4F-418D-AE19-62706E023703}">
                      <ahyp:hlinkClr xmlns:ahyp="http://schemas.microsoft.com/office/drawing/2018/hyperlinkcolor" val="tx"/>
                    </a:ext>
                  </a:extLst>
                </a:hlinkClick>
              </a:rPr>
              <a:t>python.org/downloads</a:t>
            </a:r>
            <a:endParaRPr lang="en-US" sz="800" dirty="0"/>
          </a:p>
        </p:txBody>
      </p:sp>
      <p:sp>
        <p:nvSpPr>
          <p:cNvPr id="22" name="Shape 20"/>
          <p:cNvSpPr/>
          <p:nvPr/>
        </p:nvSpPr>
        <p:spPr>
          <a:xfrm>
            <a:off x="4663440" y="3429000"/>
            <a:ext cx="4023360" cy="566928"/>
          </a:xfrm>
          <a:prstGeom prst="roundRect">
            <a:avLst>
              <a:gd name="adj" fmla="val 12903"/>
            </a:avLst>
          </a:prstGeom>
          <a:solidFill>
            <a:srgbClr val="F3F4F6"/>
          </a:solidFill>
          <a:ln w="12700">
            <a:solidFill>
              <a:srgbClr val="F3F4F6"/>
            </a:solidFill>
            <a:prstDash val="solid"/>
          </a:ln>
        </p:spPr>
      </p:sp>
      <p:sp>
        <p:nvSpPr>
          <p:cNvPr id="23" name="Text 21"/>
          <p:cNvSpPr txBox="1"/>
          <p:nvPr/>
        </p:nvSpPr>
        <p:spPr>
          <a:xfrm>
            <a:off x="4864608" y="3483864"/>
            <a:ext cx="1920240" cy="237744"/>
          </a:xfrm>
          <a:prstGeom prst="rect">
            <a:avLst/>
          </a:prstGeom>
          <a:noFill/>
          <a:ln/>
        </p:spPr>
        <p:txBody>
          <a:bodyPr wrap="square" lIns="0" tIns="0" rIns="0" bIns="0" rtlCol="0" anchor="t"/>
          <a:lstStyle/>
          <a:p>
            <a:pPr indent="0" marL="0">
              <a:buNone/>
            </a:pPr>
            <a:r>
              <a:rPr lang="en-US" sz="1150" b="1" dirty="0">
                <a:solidFill>
                  <a:srgbClr val="111827"/>
                </a:solidFill>
                <a:latin typeface="Calibri" pitchFamily="34" charset="0"/>
                <a:ea typeface="Calibri" pitchFamily="34" charset="-122"/>
                <a:cs typeface="Calibri" pitchFamily="34" charset="-120"/>
              </a:rPr>
              <a:t>Virtual environments</a:t>
            </a:r>
            <a:endParaRPr lang="en-US" sz="1150" dirty="0"/>
          </a:p>
        </p:txBody>
      </p:sp>
      <p:sp>
        <p:nvSpPr>
          <p:cNvPr id="24" name="Text 22"/>
          <p:cNvSpPr txBox="1"/>
          <p:nvPr/>
        </p:nvSpPr>
        <p:spPr>
          <a:xfrm>
            <a:off x="4864608" y="3721608"/>
            <a:ext cx="2011680" cy="219456"/>
          </a:xfrm>
          <a:prstGeom prst="rect">
            <a:avLst/>
          </a:prstGeom>
          <a:noFill/>
          <a:ln/>
        </p:spPr>
        <p:txBody>
          <a:bodyPr wrap="square" lIns="0" tIns="0" rIns="0" bIns="0" rtlCol="0" anchor="t"/>
          <a:lstStyle/>
          <a:p>
            <a:pPr indent="0" marL="0">
              <a:buNone/>
            </a:pPr>
            <a:r>
              <a:rPr lang="en-US" sz="900" dirty="0">
                <a:solidFill>
                  <a:srgbClr val="6B7280"/>
                </a:solidFill>
                <a:latin typeface="Calibri" pitchFamily="34" charset="0"/>
                <a:ea typeface="Calibri" pitchFamily="34" charset="-122"/>
                <a:cs typeface="Calibri" pitchFamily="34" charset="-120"/>
              </a:rPr>
              <a:t>The official venv how-to</a:t>
            </a:r>
            <a:endParaRPr lang="en-US" sz="900" dirty="0"/>
          </a:p>
        </p:txBody>
      </p:sp>
      <p:sp>
        <p:nvSpPr>
          <p:cNvPr id="25" name="Text 23">
            <a:hlinkClick r:id="rId4" tooltip=""/>
          </p:cNvPr>
          <p:cNvSpPr txBox="1"/>
          <p:nvPr/>
        </p:nvSpPr>
        <p:spPr>
          <a:xfrm>
            <a:off x="6903720" y="3429000"/>
            <a:ext cx="1691640" cy="566928"/>
          </a:xfrm>
          <a:prstGeom prst="rect">
            <a:avLst/>
          </a:prstGeom>
          <a:noFill/>
          <a:ln/>
        </p:spPr>
        <p:txBody>
          <a:bodyPr wrap="square" lIns="0" tIns="0" rIns="0" bIns="0" rtlCol="0" anchor="ctr"/>
          <a:lstStyle/>
          <a:p>
            <a:pPr indent="0" marL="0">
              <a:buNone/>
            </a:pPr>
            <a:r>
              <a:rPr lang="en-US" sz="800" u="sng" dirty="0">
                <a:solidFill>
                  <a:srgbClr val="6D28D9"/>
                </a:solidFill>
                <a:latin typeface="Courier New" pitchFamily="34" charset="0"/>
                <a:ea typeface="Courier New" pitchFamily="34" charset="-122"/>
                <a:cs typeface="Courier New" pitchFamily="34" charset="-120"/>
                <a:hlinkClick r:id="rId4" invalidUrl="" action="" tgtFrame="" tooltip="" history="1" highlightClick="0" endSnd="0">
                  <a:extLst>
                    <a:ext uri="{A12FA001-AC4F-418D-AE19-62706E023703}">
                      <ahyp:hlinkClr xmlns:ahyp="http://schemas.microsoft.com/office/drawing/2018/hyperlinkcolor" val="tx"/>
                    </a:ext>
                  </a:extLst>
                </a:hlinkClick>
              </a:rPr>
              <a:t>docs.python.org/3/library/venv.html</a:t>
            </a:r>
            <a:endParaRPr lang="en-US" sz="800" dirty="0"/>
          </a:p>
        </p:txBody>
      </p:sp>
      <p:sp>
        <p:nvSpPr>
          <p:cNvPr id="26" name="Shape 24"/>
          <p:cNvSpPr/>
          <p:nvPr/>
        </p:nvSpPr>
        <p:spPr>
          <a:xfrm>
            <a:off x="457200" y="4087368"/>
            <a:ext cx="4023360" cy="566928"/>
          </a:xfrm>
          <a:prstGeom prst="roundRect">
            <a:avLst>
              <a:gd name="adj" fmla="val 12903"/>
            </a:avLst>
          </a:prstGeom>
          <a:solidFill>
            <a:srgbClr val="F3F4F6"/>
          </a:solidFill>
          <a:ln w="12700">
            <a:solidFill>
              <a:srgbClr val="F3F4F6"/>
            </a:solidFill>
            <a:prstDash val="solid"/>
          </a:ln>
        </p:spPr>
      </p:sp>
      <p:sp>
        <p:nvSpPr>
          <p:cNvPr id="27" name="Text 25"/>
          <p:cNvSpPr txBox="1"/>
          <p:nvPr/>
        </p:nvSpPr>
        <p:spPr>
          <a:xfrm>
            <a:off x="658368" y="4142232"/>
            <a:ext cx="1920240" cy="237744"/>
          </a:xfrm>
          <a:prstGeom prst="rect">
            <a:avLst/>
          </a:prstGeom>
          <a:noFill/>
          <a:ln/>
        </p:spPr>
        <p:txBody>
          <a:bodyPr wrap="square" lIns="0" tIns="0" rIns="0" bIns="0" rtlCol="0" anchor="t"/>
          <a:lstStyle/>
          <a:p>
            <a:pPr indent="0" marL="0">
              <a:buNone/>
            </a:pPr>
            <a:r>
              <a:rPr lang="en-US" sz="1150" b="1" dirty="0">
                <a:solidFill>
                  <a:srgbClr val="111827"/>
                </a:solidFill>
                <a:latin typeface="Calibri" pitchFamily="34" charset="0"/>
                <a:ea typeface="Calibri" pitchFamily="34" charset="-122"/>
                <a:cs typeface="Calibri" pitchFamily="34" charset="-120"/>
              </a:rPr>
              <a:t>WinGet on Windows</a:t>
            </a:r>
            <a:endParaRPr lang="en-US" sz="1150" dirty="0"/>
          </a:p>
        </p:txBody>
      </p:sp>
      <p:sp>
        <p:nvSpPr>
          <p:cNvPr id="28" name="Text 26"/>
          <p:cNvSpPr txBox="1"/>
          <p:nvPr/>
        </p:nvSpPr>
        <p:spPr>
          <a:xfrm>
            <a:off x="658368" y="4379976"/>
            <a:ext cx="2011680" cy="219456"/>
          </a:xfrm>
          <a:prstGeom prst="rect">
            <a:avLst/>
          </a:prstGeom>
          <a:noFill/>
          <a:ln/>
        </p:spPr>
        <p:txBody>
          <a:bodyPr wrap="square" lIns="0" tIns="0" rIns="0" bIns="0" rtlCol="0" anchor="t"/>
          <a:lstStyle/>
          <a:p>
            <a:pPr indent="0" marL="0">
              <a:buNone/>
            </a:pPr>
            <a:r>
              <a:rPr lang="en-US" sz="900" dirty="0">
                <a:solidFill>
                  <a:srgbClr val="6B7280"/>
                </a:solidFill>
                <a:latin typeface="Calibri" pitchFamily="34" charset="0"/>
                <a:ea typeface="Calibri" pitchFamily="34" charset="-122"/>
                <a:cs typeface="Calibri" pitchFamily="34" charset="-120"/>
              </a:rPr>
              <a:t>Official package manager docs</a:t>
            </a:r>
            <a:endParaRPr lang="en-US" sz="900" dirty="0"/>
          </a:p>
        </p:txBody>
      </p:sp>
      <p:sp>
        <p:nvSpPr>
          <p:cNvPr id="29" name="Text 27">
            <a:hlinkClick r:id="rId5" tooltip=""/>
          </p:cNvPr>
          <p:cNvSpPr txBox="1"/>
          <p:nvPr/>
        </p:nvSpPr>
        <p:spPr>
          <a:xfrm>
            <a:off x="2697480" y="4087368"/>
            <a:ext cx="1691640" cy="566928"/>
          </a:xfrm>
          <a:prstGeom prst="rect">
            <a:avLst/>
          </a:prstGeom>
          <a:noFill/>
          <a:ln/>
        </p:spPr>
        <p:txBody>
          <a:bodyPr wrap="square" lIns="0" tIns="0" rIns="0" bIns="0" rtlCol="0" anchor="ctr"/>
          <a:lstStyle/>
          <a:p>
            <a:pPr indent="0" marL="0">
              <a:buNone/>
            </a:pPr>
            <a:r>
              <a:rPr lang="en-US" sz="800" u="sng" dirty="0">
                <a:solidFill>
                  <a:srgbClr val="6D28D9"/>
                </a:solidFill>
                <a:latin typeface="Courier New" pitchFamily="34" charset="0"/>
                <a:ea typeface="Courier New" pitchFamily="34" charset="-122"/>
                <a:cs typeface="Courier New" pitchFamily="34" charset="-120"/>
                <a:hlinkClick r:id="rId5" invalidUrl="" action="" tgtFrame="" tooltip="" history="1" highlightClick="0" endSnd="0">
                  <a:extLst>
                    <a:ext uri="{A12FA001-AC4F-418D-AE19-62706E023703}">
                      <ahyp:hlinkClr xmlns:ahyp="http://schemas.microsoft.com/office/drawing/2018/hyperlinkcolor" val="tx"/>
                    </a:ext>
                  </a:extLst>
                </a:hlinkClick>
              </a:rPr>
              <a:t>learn.microsoft.com/windows/package-manager/winget</a:t>
            </a:r>
            <a:endParaRPr lang="en-US" sz="800" dirty="0"/>
          </a:p>
        </p:txBody>
      </p:sp>
      <p:sp>
        <p:nvSpPr>
          <p:cNvPr id="30" name="Shape 28"/>
          <p:cNvSpPr/>
          <p:nvPr/>
        </p:nvSpPr>
        <p:spPr>
          <a:xfrm>
            <a:off x="4663440" y="4087368"/>
            <a:ext cx="4023360" cy="566928"/>
          </a:xfrm>
          <a:prstGeom prst="roundRect">
            <a:avLst>
              <a:gd name="adj" fmla="val 12903"/>
            </a:avLst>
          </a:prstGeom>
          <a:solidFill>
            <a:srgbClr val="F3F4F6"/>
          </a:solidFill>
          <a:ln w="12700">
            <a:solidFill>
              <a:srgbClr val="F3F4F6"/>
            </a:solidFill>
            <a:prstDash val="solid"/>
          </a:ln>
        </p:spPr>
      </p:sp>
      <p:sp>
        <p:nvSpPr>
          <p:cNvPr id="31" name="Text 29"/>
          <p:cNvSpPr txBox="1"/>
          <p:nvPr/>
        </p:nvSpPr>
        <p:spPr>
          <a:xfrm>
            <a:off x="4864608" y="4142232"/>
            <a:ext cx="1920240" cy="237744"/>
          </a:xfrm>
          <a:prstGeom prst="rect">
            <a:avLst/>
          </a:prstGeom>
          <a:noFill/>
          <a:ln/>
        </p:spPr>
        <p:txBody>
          <a:bodyPr wrap="square" lIns="0" tIns="0" rIns="0" bIns="0" rtlCol="0" anchor="t"/>
          <a:lstStyle/>
          <a:p>
            <a:pPr indent="0" marL="0">
              <a:buNone/>
            </a:pPr>
            <a:r>
              <a:rPr lang="en-US" sz="1150" b="1" dirty="0">
                <a:solidFill>
                  <a:srgbClr val="111827"/>
                </a:solidFill>
                <a:latin typeface="Calibri" pitchFamily="34" charset="0"/>
                <a:ea typeface="Calibri" pitchFamily="34" charset="-122"/>
                <a:cs typeface="Calibri" pitchFamily="34" charset="-120"/>
              </a:rPr>
              <a:t>Grafana with Prometheus</a:t>
            </a:r>
            <a:endParaRPr lang="en-US" sz="1150" dirty="0"/>
          </a:p>
        </p:txBody>
      </p:sp>
      <p:sp>
        <p:nvSpPr>
          <p:cNvPr id="32" name="Text 30"/>
          <p:cNvSpPr txBox="1"/>
          <p:nvPr/>
        </p:nvSpPr>
        <p:spPr>
          <a:xfrm>
            <a:off x="4864608" y="4379976"/>
            <a:ext cx="2011680" cy="219456"/>
          </a:xfrm>
          <a:prstGeom prst="rect">
            <a:avLst/>
          </a:prstGeom>
          <a:noFill/>
          <a:ln/>
        </p:spPr>
        <p:txBody>
          <a:bodyPr wrap="square" lIns="0" tIns="0" rIns="0" bIns="0" rtlCol="0" anchor="t"/>
          <a:lstStyle/>
          <a:p>
            <a:pPr indent="0" marL="0">
              <a:buNone/>
            </a:pPr>
            <a:r>
              <a:rPr lang="en-US" sz="900" dirty="0">
                <a:solidFill>
                  <a:srgbClr val="6B7280"/>
                </a:solidFill>
                <a:latin typeface="Calibri" pitchFamily="34" charset="0"/>
                <a:ea typeface="Calibri" pitchFamily="34" charset="-122"/>
                <a:cs typeface="Calibri" pitchFamily="34" charset="-120"/>
              </a:rPr>
              <a:t>Official getting-started guide</a:t>
            </a:r>
            <a:endParaRPr lang="en-US" sz="900" dirty="0"/>
          </a:p>
        </p:txBody>
      </p:sp>
      <p:sp>
        <p:nvSpPr>
          <p:cNvPr id="33" name="Text 31">
            <a:hlinkClick r:id="rId6" tooltip=""/>
          </p:cNvPr>
          <p:cNvSpPr txBox="1"/>
          <p:nvPr/>
        </p:nvSpPr>
        <p:spPr>
          <a:xfrm>
            <a:off x="6903720" y="4087368"/>
            <a:ext cx="1691640" cy="566928"/>
          </a:xfrm>
          <a:prstGeom prst="rect">
            <a:avLst/>
          </a:prstGeom>
          <a:noFill/>
          <a:ln/>
        </p:spPr>
        <p:txBody>
          <a:bodyPr wrap="square" lIns="0" tIns="0" rIns="0" bIns="0" rtlCol="0" anchor="ctr"/>
          <a:lstStyle/>
          <a:p>
            <a:pPr indent="0" marL="0">
              <a:buNone/>
            </a:pPr>
            <a:r>
              <a:rPr lang="en-US" sz="800" u="sng" dirty="0">
                <a:solidFill>
                  <a:srgbClr val="6D28D9"/>
                </a:solidFill>
                <a:latin typeface="Courier New" pitchFamily="34" charset="0"/>
                <a:ea typeface="Courier New" pitchFamily="34" charset="-122"/>
                <a:cs typeface="Courier New" pitchFamily="34" charset="-120"/>
                <a:hlinkClick r:id="rId6" invalidUrl="" action="" tgtFrame="" tooltip="" history="1" highlightClick="0" endSnd="0">
                  <a:extLst>
                    <a:ext uri="{A12FA001-AC4F-418D-AE19-62706E023703}">
                      <ahyp:hlinkClr xmlns:ahyp="http://schemas.microsoft.com/office/drawing/2018/hyperlinkcolor" val="tx"/>
                    </a:ext>
                  </a:extLst>
                </a:hlinkClick>
              </a:rPr>
              <a:t>grafana.com/docs/grafana/latest/fundamentals</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11827"/>
        </a:solidFill>
      </p:bgPr>
    </p:bg>
    <p:spTree>
      <p:nvGrpSpPr>
        <p:cNvPr id="1" name=""/>
        <p:cNvGrpSpPr/>
        <p:nvPr/>
      </p:nvGrpSpPr>
      <p:grpSpPr>
        <a:xfrm>
          <a:off x="0" y="0"/>
          <a:ext cx="0" cy="0"/>
          <a:chOff x="0" y="0"/>
          <a:chExt cx="0" cy="0"/>
        </a:xfrm>
      </p:grpSpPr>
      <p:sp>
        <p:nvSpPr>
          <p:cNvPr id="2" name="Text 0"/>
          <p:cNvSpPr txBox="1"/>
          <p:nvPr/>
        </p:nvSpPr>
        <p:spPr>
          <a:xfrm>
            <a:off x="548640" y="1005840"/>
            <a:ext cx="2743200" cy="1280160"/>
          </a:xfrm>
          <a:prstGeom prst="rect">
            <a:avLst/>
          </a:prstGeom>
          <a:noFill/>
          <a:ln/>
        </p:spPr>
        <p:txBody>
          <a:bodyPr wrap="square" lIns="0" tIns="0" rIns="0" bIns="0" rtlCol="0" anchor="t"/>
          <a:lstStyle/>
          <a:p>
            <a:pPr indent="0" marL="0">
              <a:buNone/>
            </a:pPr>
            <a:r>
              <a:rPr lang="en-US" sz="9600" b="1" dirty="0">
                <a:solidFill>
                  <a:srgbClr val="F59E0B"/>
                </a:solidFill>
                <a:latin typeface="Cambria" pitchFamily="34" charset="0"/>
                <a:ea typeface="Cambria" pitchFamily="34" charset="-122"/>
                <a:cs typeface="Cambria" pitchFamily="34" charset="-120"/>
              </a:rPr>
              <a:t>01</a:t>
            </a:r>
            <a:endParaRPr lang="en-US" sz="9600" dirty="0"/>
          </a:p>
        </p:txBody>
      </p:sp>
      <p:sp>
        <p:nvSpPr>
          <p:cNvPr id="3" name="Text 1"/>
          <p:cNvSpPr txBox="1"/>
          <p:nvPr/>
        </p:nvSpPr>
        <p:spPr>
          <a:xfrm>
            <a:off x="548640" y="2377440"/>
            <a:ext cx="8046720" cy="91440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A Shop That Keeps No Receipts</a:t>
            </a:r>
            <a:endParaRPr lang="en-US" sz="3600" dirty="0"/>
          </a:p>
        </p:txBody>
      </p:sp>
      <p:sp>
        <p:nvSpPr>
          <p:cNvPr id="4" name="Text 2"/>
          <p:cNvSpPr txBox="1"/>
          <p:nvPr/>
        </p:nvSpPr>
        <p:spPr>
          <a:xfrm>
            <a:off x="548640" y="3383280"/>
            <a:ext cx="2743200" cy="320040"/>
          </a:xfrm>
          <a:prstGeom prst="rect">
            <a:avLst/>
          </a:prstGeom>
          <a:noFill/>
          <a:ln/>
        </p:spPr>
        <p:txBody>
          <a:bodyPr wrap="square" lIns="0" tIns="0" rIns="0" bIns="0" rtlCol="0" anchor="t"/>
          <a:lstStyle/>
          <a:p>
            <a:pPr indent="0" marL="0">
              <a:buNone/>
            </a:pPr>
            <a:r>
              <a:rPr lang="en-US" sz="1400" dirty="0">
                <a:solidFill>
                  <a:srgbClr val="9CA3AF"/>
                </a:solidFill>
                <a:latin typeface="Calibri" pitchFamily="34" charset="0"/>
                <a:ea typeface="Calibri" pitchFamily="34" charset="-122"/>
                <a:cs typeface="Calibri" pitchFamily="34" charset="-120"/>
              </a:rPr>
              <a:t>~7 min</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01 · NO RECEIPTS</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One number a month. Nothing else.</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2</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7</a:t>
            </a:r>
            <a:endParaRPr lang="en-US" sz="900" dirty="0"/>
          </a:p>
        </p:txBody>
      </p:sp>
      <p:sp>
        <p:nvSpPr>
          <p:cNvPr id="6" name="Text 4"/>
          <p:cNvSpPr txBox="1"/>
          <p:nvPr/>
        </p:nvSpPr>
        <p:spPr>
          <a:xfrm>
            <a:off x="457200" y="1234440"/>
            <a:ext cx="3931920" cy="1371600"/>
          </a:xfrm>
          <a:prstGeom prst="rect">
            <a:avLst/>
          </a:prstGeom>
          <a:noFill/>
          <a:ln/>
        </p:spPr>
        <p:txBody>
          <a:bodyPr wrap="square" lIns="0" tIns="0" rIns="0" bIns="0" rtlCol="0" anchor="t"/>
          <a:lstStyle/>
          <a:p>
            <a:pPr indent="0" marL="0">
              <a:buNone/>
            </a:pPr>
            <a:r>
              <a:rPr lang="en-US" sz="1500" dirty="0">
                <a:solidFill>
                  <a:srgbClr val="1F2937"/>
                </a:solidFill>
                <a:latin typeface="Calibri" pitchFamily="34" charset="0"/>
                <a:ea typeface="Calibri" pitchFamily="34" charset="-122"/>
                <a:cs typeface="Calibri" pitchFamily="34" charset="-120"/>
              </a:rPr>
              <a:t>Imagine you own a small shop. At the end of every month the bank sends you one number: how much money came in. No till roll. No receipts. No record of which items sold.</a:t>
            </a:r>
            <a:endParaRPr lang="en-US" sz="1500" dirty="0"/>
          </a:p>
        </p:txBody>
      </p:sp>
      <p:sp>
        <p:nvSpPr>
          <p:cNvPr id="7" name="Text 5"/>
          <p:cNvSpPr txBox="1"/>
          <p:nvPr/>
        </p:nvSpPr>
        <p:spPr>
          <a:xfrm>
            <a:off x="457200" y="2743200"/>
            <a:ext cx="3931920" cy="914400"/>
          </a:xfrm>
          <a:prstGeom prst="rect">
            <a:avLst/>
          </a:prstGeom>
          <a:noFill/>
          <a:ln/>
        </p:spPr>
        <p:txBody>
          <a:bodyPr wrap="square" lIns="0" tIns="0" rIns="0" bIns="0" rtlCol="0" anchor="t"/>
          <a:lstStyle/>
          <a:p>
            <a:pPr indent="0" marL="0">
              <a:buNone/>
            </a:pPr>
            <a:r>
              <a:rPr lang="en-US" sz="1500" b="1" i="1" dirty="0">
                <a:solidFill>
                  <a:srgbClr val="B45309"/>
                </a:solidFill>
                <a:latin typeface="Calibri" pitchFamily="34" charset="0"/>
                <a:ea typeface="Calibri" pitchFamily="34" charset="-122"/>
                <a:cs typeface="Calibri" pitchFamily="34" charset="-120"/>
              </a:rPr>
              <a:t>You could keep the shop open. You could never answer the questions that matter.</a:t>
            </a:r>
            <a:endParaRPr lang="en-US" sz="1500" dirty="0"/>
          </a:p>
        </p:txBody>
      </p:sp>
      <p:sp>
        <p:nvSpPr>
          <p:cNvPr id="8" name="Text 6"/>
          <p:cNvSpPr txBox="1"/>
          <p:nvPr/>
        </p:nvSpPr>
        <p:spPr>
          <a:xfrm>
            <a:off x="457200" y="3794760"/>
            <a:ext cx="3931920" cy="640080"/>
          </a:xfrm>
          <a:prstGeom prst="rect">
            <a:avLst/>
          </a:prstGeom>
          <a:noFill/>
          <a:ln/>
        </p:spPr>
        <p:txBody>
          <a:bodyPr wrap="square" lIns="0" tIns="0" rIns="0" bIns="0" rtlCol="0" anchor="t"/>
          <a:lstStyle/>
          <a:p>
            <a:pPr indent="0" marL="0">
              <a:buNone/>
            </a:pPr>
            <a:r>
              <a:rPr lang="en-US" sz="1400" dirty="0">
                <a:solidFill>
                  <a:srgbClr val="6B7280"/>
                </a:solidFill>
                <a:latin typeface="Calibri" pitchFamily="34" charset="0"/>
                <a:ea typeface="Calibri" pitchFamily="34" charset="-122"/>
                <a:cs typeface="Calibri" pitchFamily="34" charset="-120"/>
              </a:rPr>
              <a:t>That is exactly where you are with your agent today.</a:t>
            </a:r>
            <a:endParaRPr lang="en-US" sz="1400" dirty="0"/>
          </a:p>
        </p:txBody>
      </p:sp>
      <p:sp>
        <p:nvSpPr>
          <p:cNvPr id="9" name="Shape 7"/>
          <p:cNvSpPr/>
          <p:nvPr/>
        </p:nvSpPr>
        <p:spPr>
          <a:xfrm>
            <a:off x="4754880" y="1234440"/>
            <a:ext cx="3931920" cy="3200400"/>
          </a:xfrm>
          <a:prstGeom prst="roundRect">
            <a:avLst>
              <a:gd name="adj" fmla="val 2286"/>
            </a:avLst>
          </a:prstGeom>
          <a:solidFill>
            <a:srgbClr val="F3F4F6"/>
          </a:solidFill>
          <a:ln w="12700">
            <a:solidFill>
              <a:srgbClr val="F3F4F6"/>
            </a:solidFill>
            <a:prstDash val="solid"/>
          </a:ln>
        </p:spPr>
      </p:sp>
      <p:sp>
        <p:nvSpPr>
          <p:cNvPr id="10" name="Text 8"/>
          <p:cNvSpPr txBox="1"/>
          <p:nvPr/>
        </p:nvSpPr>
        <p:spPr>
          <a:xfrm>
            <a:off x="5029200" y="1463040"/>
            <a:ext cx="3383280" cy="274320"/>
          </a:xfrm>
          <a:prstGeom prst="rect">
            <a:avLst/>
          </a:prstGeom>
          <a:noFill/>
          <a:ln/>
        </p:spPr>
        <p:txBody>
          <a:bodyPr wrap="square" lIns="0" tIns="0" rIns="0" bIns="0" rtlCol="0" anchor="t"/>
          <a:lstStyle/>
          <a:p>
            <a:pPr indent="0" marL="0">
              <a:buNone/>
            </a:pPr>
            <a:r>
              <a:rPr lang="en-US" sz="1000" b="1" spc="200" kern="0" dirty="0">
                <a:solidFill>
                  <a:srgbClr val="6B7280"/>
                </a:solidFill>
                <a:latin typeface="Calibri" pitchFamily="34" charset="0"/>
                <a:ea typeface="Calibri" pitchFamily="34" charset="-122"/>
                <a:cs typeface="Calibri" pitchFamily="34" charset="-120"/>
              </a:rPr>
              <a:t>WHAT YOU CAN SEE</a:t>
            </a:r>
            <a:endParaRPr lang="en-US" sz="1000" dirty="0"/>
          </a:p>
        </p:txBody>
      </p:sp>
      <p:sp>
        <p:nvSpPr>
          <p:cNvPr id="11" name="Shape 9"/>
          <p:cNvSpPr/>
          <p:nvPr/>
        </p:nvSpPr>
        <p:spPr>
          <a:xfrm>
            <a:off x="5029200" y="1828800"/>
            <a:ext cx="3383280" cy="1234440"/>
          </a:xfrm>
          <a:prstGeom prst="roundRect">
            <a:avLst>
              <a:gd name="adj" fmla="val 5926"/>
            </a:avLst>
          </a:prstGeom>
          <a:solidFill>
            <a:srgbClr val="111827"/>
          </a:solidFill>
          <a:ln w="12700">
            <a:solidFill>
              <a:srgbClr val="111827"/>
            </a:solidFill>
            <a:prstDash val="solid"/>
          </a:ln>
        </p:spPr>
      </p:sp>
      <p:sp>
        <p:nvSpPr>
          <p:cNvPr id="12" name="Text 10"/>
          <p:cNvSpPr txBox="1"/>
          <p:nvPr/>
        </p:nvSpPr>
        <p:spPr>
          <a:xfrm>
            <a:off x="5212080" y="1965960"/>
            <a:ext cx="3017520" cy="274320"/>
          </a:xfrm>
          <a:prstGeom prst="rect">
            <a:avLst/>
          </a:prstGeom>
          <a:noFill/>
          <a:ln/>
        </p:spPr>
        <p:txBody>
          <a:bodyPr wrap="square" lIns="0" tIns="0" rIns="0" bIns="0" rtlCol="0" anchor="t"/>
          <a:lstStyle/>
          <a:p>
            <a:pPr indent="0" marL="0">
              <a:buNone/>
            </a:pPr>
            <a:r>
              <a:rPr lang="en-US" sz="1100" dirty="0">
                <a:solidFill>
                  <a:srgbClr val="9CA3AF"/>
                </a:solidFill>
                <a:latin typeface="Calibri" pitchFamily="34" charset="0"/>
                <a:ea typeface="Calibri" pitchFamily="34" charset="-122"/>
                <a:cs typeface="Calibri" pitchFamily="34" charset="-120"/>
              </a:rPr>
              <a:t>monthly total</a:t>
            </a:r>
            <a:endParaRPr lang="en-US" sz="1100" dirty="0"/>
          </a:p>
        </p:txBody>
      </p:sp>
      <p:sp>
        <p:nvSpPr>
          <p:cNvPr id="13" name="Text 11"/>
          <p:cNvSpPr txBox="1"/>
          <p:nvPr/>
        </p:nvSpPr>
        <p:spPr>
          <a:xfrm>
            <a:off x="5212080" y="2240280"/>
            <a:ext cx="3017520" cy="73152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$4,218</a:t>
            </a:r>
            <a:endParaRPr lang="en-US" sz="4000" dirty="0"/>
          </a:p>
        </p:txBody>
      </p:sp>
      <p:sp>
        <p:nvSpPr>
          <p:cNvPr id="14" name="Text 12"/>
          <p:cNvSpPr txBox="1"/>
          <p:nvPr/>
        </p:nvSpPr>
        <p:spPr>
          <a:xfrm>
            <a:off x="5029200" y="3246120"/>
            <a:ext cx="3383280" cy="32004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One number, once a month.</a:t>
            </a:r>
            <a:endParaRPr lang="en-US" sz="1400" dirty="0"/>
          </a:p>
        </p:txBody>
      </p:sp>
      <p:sp>
        <p:nvSpPr>
          <p:cNvPr id="15" name="Text 13"/>
          <p:cNvSpPr txBox="1"/>
          <p:nvPr/>
        </p:nvSpPr>
        <p:spPr>
          <a:xfrm>
            <a:off x="5029200" y="3611880"/>
            <a:ext cx="3383280" cy="320040"/>
          </a:xfrm>
          <a:prstGeom prst="rect">
            <a:avLst/>
          </a:prstGeom>
          <a:noFill/>
          <a:ln/>
        </p:spPr>
        <p:txBody>
          <a:bodyPr wrap="square" lIns="0" tIns="0" rIns="0" bIns="0" rtlCol="0" anchor="t"/>
          <a:lstStyle/>
          <a:p>
            <a:pPr indent="0" marL="0">
              <a:buNone/>
            </a:pPr>
            <a:r>
              <a:rPr lang="en-US" sz="1400" dirty="0">
                <a:solidFill>
                  <a:srgbClr val="B91C1C"/>
                </a:solidFill>
                <a:latin typeface="Calibri" pitchFamily="34" charset="0"/>
                <a:ea typeface="Calibri" pitchFamily="34" charset="-122"/>
                <a:cs typeface="Calibri" pitchFamily="34" charset="-120"/>
              </a:rPr>
              <a:t>And nothing else at all.</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01 · NO RECEIPTS</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Four questions you cannot answer</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2</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8</a:t>
            </a:r>
            <a:endParaRPr lang="en-US" sz="900" dirty="0"/>
          </a:p>
        </p:txBody>
      </p:sp>
      <p:sp>
        <p:nvSpPr>
          <p:cNvPr id="6" name="Shape 4"/>
          <p:cNvSpPr/>
          <p:nvPr/>
        </p:nvSpPr>
        <p:spPr>
          <a:xfrm>
            <a:off x="457200" y="1234440"/>
            <a:ext cx="4023360" cy="914400"/>
          </a:xfrm>
          <a:prstGeom prst="roundRect">
            <a:avLst>
              <a:gd name="adj" fmla="val 8000"/>
            </a:avLst>
          </a:prstGeom>
          <a:solidFill>
            <a:srgbClr val="FFFFFF"/>
          </a:solidFill>
          <a:ln w="15875">
            <a:solidFill>
              <a:srgbClr val="6B7280"/>
            </a:solidFill>
            <a:prstDash val="dash"/>
          </a:ln>
        </p:spPr>
      </p:sp>
      <p:sp>
        <p:nvSpPr>
          <p:cNvPr id="7" name="Text 5"/>
          <p:cNvSpPr txBox="1"/>
          <p:nvPr/>
        </p:nvSpPr>
        <p:spPr>
          <a:xfrm>
            <a:off x="685800" y="1353312"/>
            <a:ext cx="3657600"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Which agent spent it?</a:t>
            </a:r>
            <a:endParaRPr lang="en-US" sz="1500" dirty="0"/>
          </a:p>
        </p:txBody>
      </p:sp>
      <p:sp>
        <p:nvSpPr>
          <p:cNvPr id="8" name="Text 6"/>
          <p:cNvSpPr txBox="1"/>
          <p:nvPr/>
        </p:nvSpPr>
        <p:spPr>
          <a:xfrm>
            <a:off x="685800" y="1691640"/>
            <a:ext cx="3657600" cy="320040"/>
          </a:xfrm>
          <a:prstGeom prst="rect">
            <a:avLst/>
          </a:prstGeom>
          <a:noFill/>
          <a:ln/>
        </p:spPr>
        <p:txBody>
          <a:bodyPr wrap="square" lIns="0" tIns="0" rIns="0" bIns="0" rtlCol="0" anchor="t"/>
          <a:lstStyle/>
          <a:p>
            <a:pPr indent="0" marL="0">
              <a:buNone/>
            </a:pPr>
            <a:r>
              <a:rPr lang="en-US" sz="1200" dirty="0">
                <a:solidFill>
                  <a:srgbClr val="B91C1C"/>
                </a:solidFill>
                <a:latin typeface="Calibri" pitchFamily="34" charset="0"/>
                <a:ea typeface="Calibri" pitchFamily="34" charset="-122"/>
                <a:cs typeface="Calibri" pitchFamily="34" charset="-120"/>
              </a:rPr>
              <a:t>You do not know.</a:t>
            </a:r>
            <a:endParaRPr lang="en-US" sz="1200" dirty="0"/>
          </a:p>
        </p:txBody>
      </p:sp>
      <p:sp>
        <p:nvSpPr>
          <p:cNvPr id="9" name="Shape 7"/>
          <p:cNvSpPr/>
          <p:nvPr/>
        </p:nvSpPr>
        <p:spPr>
          <a:xfrm>
            <a:off x="4663440" y="1234440"/>
            <a:ext cx="4023360" cy="914400"/>
          </a:xfrm>
          <a:prstGeom prst="roundRect">
            <a:avLst>
              <a:gd name="adj" fmla="val 8000"/>
            </a:avLst>
          </a:prstGeom>
          <a:solidFill>
            <a:srgbClr val="FFFFFF"/>
          </a:solidFill>
          <a:ln w="15875">
            <a:solidFill>
              <a:srgbClr val="6B7280"/>
            </a:solidFill>
            <a:prstDash val="dash"/>
          </a:ln>
        </p:spPr>
      </p:sp>
      <p:sp>
        <p:nvSpPr>
          <p:cNvPr id="10" name="Text 8"/>
          <p:cNvSpPr txBox="1"/>
          <p:nvPr/>
        </p:nvSpPr>
        <p:spPr>
          <a:xfrm>
            <a:off x="4892040" y="1353312"/>
            <a:ext cx="3657600"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Which team should pay?</a:t>
            </a:r>
            <a:endParaRPr lang="en-US" sz="1500" dirty="0"/>
          </a:p>
        </p:txBody>
      </p:sp>
      <p:sp>
        <p:nvSpPr>
          <p:cNvPr id="11" name="Text 9"/>
          <p:cNvSpPr txBox="1"/>
          <p:nvPr/>
        </p:nvSpPr>
        <p:spPr>
          <a:xfrm>
            <a:off x="4892040" y="1691640"/>
            <a:ext cx="3657600" cy="320040"/>
          </a:xfrm>
          <a:prstGeom prst="rect">
            <a:avLst/>
          </a:prstGeom>
          <a:noFill/>
          <a:ln/>
        </p:spPr>
        <p:txBody>
          <a:bodyPr wrap="square" lIns="0" tIns="0" rIns="0" bIns="0" rtlCol="0" anchor="t"/>
          <a:lstStyle/>
          <a:p>
            <a:pPr indent="0" marL="0">
              <a:buNone/>
            </a:pPr>
            <a:r>
              <a:rPr lang="en-US" sz="1200" dirty="0">
                <a:solidFill>
                  <a:srgbClr val="B91C1C"/>
                </a:solidFill>
                <a:latin typeface="Calibri" pitchFamily="34" charset="0"/>
                <a:ea typeface="Calibri" pitchFamily="34" charset="-122"/>
                <a:cs typeface="Calibri" pitchFamily="34" charset="-120"/>
              </a:rPr>
              <a:t>You do not know.</a:t>
            </a:r>
            <a:endParaRPr lang="en-US" sz="1200" dirty="0"/>
          </a:p>
        </p:txBody>
      </p:sp>
      <p:sp>
        <p:nvSpPr>
          <p:cNvPr id="12" name="Shape 10"/>
          <p:cNvSpPr/>
          <p:nvPr/>
        </p:nvSpPr>
        <p:spPr>
          <a:xfrm>
            <a:off x="457200" y="2286000"/>
            <a:ext cx="4023360" cy="914400"/>
          </a:xfrm>
          <a:prstGeom prst="roundRect">
            <a:avLst>
              <a:gd name="adj" fmla="val 8000"/>
            </a:avLst>
          </a:prstGeom>
          <a:solidFill>
            <a:srgbClr val="FFFFFF"/>
          </a:solidFill>
          <a:ln w="15875">
            <a:solidFill>
              <a:srgbClr val="6B7280"/>
            </a:solidFill>
            <a:prstDash val="dash"/>
          </a:ln>
        </p:spPr>
      </p:sp>
      <p:sp>
        <p:nvSpPr>
          <p:cNvPr id="13" name="Text 11"/>
          <p:cNvSpPr txBox="1"/>
          <p:nvPr/>
        </p:nvSpPr>
        <p:spPr>
          <a:xfrm>
            <a:off x="685800" y="2404872"/>
            <a:ext cx="3657600"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Which customer was it for?</a:t>
            </a:r>
            <a:endParaRPr lang="en-US" sz="1500" dirty="0"/>
          </a:p>
        </p:txBody>
      </p:sp>
      <p:sp>
        <p:nvSpPr>
          <p:cNvPr id="14" name="Text 12"/>
          <p:cNvSpPr txBox="1"/>
          <p:nvPr/>
        </p:nvSpPr>
        <p:spPr>
          <a:xfrm>
            <a:off x="685800" y="2743200"/>
            <a:ext cx="3657600" cy="320040"/>
          </a:xfrm>
          <a:prstGeom prst="rect">
            <a:avLst/>
          </a:prstGeom>
          <a:noFill/>
          <a:ln/>
        </p:spPr>
        <p:txBody>
          <a:bodyPr wrap="square" lIns="0" tIns="0" rIns="0" bIns="0" rtlCol="0" anchor="t"/>
          <a:lstStyle/>
          <a:p>
            <a:pPr indent="0" marL="0">
              <a:buNone/>
            </a:pPr>
            <a:r>
              <a:rPr lang="en-US" sz="1200" dirty="0">
                <a:solidFill>
                  <a:srgbClr val="B91C1C"/>
                </a:solidFill>
                <a:latin typeface="Calibri" pitchFamily="34" charset="0"/>
                <a:ea typeface="Calibri" pitchFamily="34" charset="-122"/>
                <a:cs typeface="Calibri" pitchFamily="34" charset="-120"/>
              </a:rPr>
              <a:t>You do not know.</a:t>
            </a:r>
            <a:endParaRPr lang="en-US" sz="1200" dirty="0"/>
          </a:p>
        </p:txBody>
      </p:sp>
      <p:sp>
        <p:nvSpPr>
          <p:cNvPr id="15" name="Shape 13"/>
          <p:cNvSpPr/>
          <p:nvPr/>
        </p:nvSpPr>
        <p:spPr>
          <a:xfrm>
            <a:off x="4663440" y="2286000"/>
            <a:ext cx="4023360" cy="914400"/>
          </a:xfrm>
          <a:prstGeom prst="roundRect">
            <a:avLst>
              <a:gd name="adj" fmla="val 8000"/>
            </a:avLst>
          </a:prstGeom>
          <a:solidFill>
            <a:srgbClr val="FFFFFF"/>
          </a:solidFill>
          <a:ln w="15875">
            <a:solidFill>
              <a:srgbClr val="6B7280"/>
            </a:solidFill>
            <a:prstDash val="dash"/>
          </a:ln>
        </p:spPr>
      </p:sp>
      <p:sp>
        <p:nvSpPr>
          <p:cNvPr id="16" name="Text 14"/>
          <p:cNvSpPr txBox="1"/>
          <p:nvPr/>
        </p:nvSpPr>
        <p:spPr>
          <a:xfrm>
            <a:off x="4892040" y="2404872"/>
            <a:ext cx="3657600"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Did the work even succeed?</a:t>
            </a:r>
            <a:endParaRPr lang="en-US" sz="1500" dirty="0"/>
          </a:p>
        </p:txBody>
      </p:sp>
      <p:sp>
        <p:nvSpPr>
          <p:cNvPr id="17" name="Text 15"/>
          <p:cNvSpPr txBox="1"/>
          <p:nvPr/>
        </p:nvSpPr>
        <p:spPr>
          <a:xfrm>
            <a:off x="4892040" y="2743200"/>
            <a:ext cx="3657600" cy="320040"/>
          </a:xfrm>
          <a:prstGeom prst="rect">
            <a:avLst/>
          </a:prstGeom>
          <a:noFill/>
          <a:ln/>
        </p:spPr>
        <p:txBody>
          <a:bodyPr wrap="square" lIns="0" tIns="0" rIns="0" bIns="0" rtlCol="0" anchor="t"/>
          <a:lstStyle/>
          <a:p>
            <a:pPr indent="0" marL="0">
              <a:buNone/>
            </a:pPr>
            <a:r>
              <a:rPr lang="en-US" sz="1200" dirty="0">
                <a:solidFill>
                  <a:srgbClr val="B91C1C"/>
                </a:solidFill>
                <a:latin typeface="Calibri" pitchFamily="34" charset="0"/>
                <a:ea typeface="Calibri" pitchFamily="34" charset="-122"/>
                <a:cs typeface="Calibri" pitchFamily="34" charset="-120"/>
              </a:rPr>
              <a:t>No idea at all.</a:t>
            </a:r>
            <a:endParaRPr lang="en-US" sz="1200" dirty="0"/>
          </a:p>
        </p:txBody>
      </p:sp>
      <p:sp>
        <p:nvSpPr>
          <p:cNvPr id="18" name="Shape 16"/>
          <p:cNvSpPr/>
          <p:nvPr/>
        </p:nvSpPr>
        <p:spPr>
          <a:xfrm>
            <a:off x="457200" y="3474720"/>
            <a:ext cx="8229600" cy="1005840"/>
          </a:xfrm>
          <a:prstGeom prst="roundRect">
            <a:avLst>
              <a:gd name="adj" fmla="val 7273"/>
            </a:avLst>
          </a:prstGeom>
          <a:solidFill>
            <a:srgbClr val="111827"/>
          </a:solidFill>
          <a:ln w="12700">
            <a:solidFill>
              <a:srgbClr val="111827"/>
            </a:solidFill>
            <a:prstDash val="solid"/>
          </a:ln>
        </p:spPr>
      </p:sp>
      <p:sp>
        <p:nvSpPr>
          <p:cNvPr id="19" name="Text 17"/>
          <p:cNvSpPr txBox="1"/>
          <p:nvPr/>
        </p:nvSpPr>
        <p:spPr>
          <a:xfrm>
            <a:off x="731520" y="3474720"/>
            <a:ext cx="7680960" cy="1005840"/>
          </a:xfrm>
          <a:prstGeom prst="rect">
            <a:avLst/>
          </a:prstGeom>
          <a:noFill/>
          <a:ln/>
        </p:spPr>
        <p:txBody>
          <a:bodyPr wrap="square" lIns="0" tIns="0" rIns="0" bIns="0" rtlCol="0" anchor="ctr"/>
          <a:lstStyle/>
          <a:p>
            <a:pPr indent="0" marL="0">
              <a:buNone/>
            </a:pPr>
            <a:r>
              <a:rPr lang="en-US" sz="1500" b="1" dirty="0">
                <a:solidFill>
                  <a:srgbClr val="F59E0B"/>
                </a:solidFill>
                <a:latin typeface="Calibri" pitchFamily="34" charset="0"/>
                <a:ea typeface="Calibri" pitchFamily="34" charset="-122"/>
                <a:cs typeface="Calibri" pitchFamily="34" charset="-120"/>
              </a:rPr>
              <a:t>The fix is not a better bill. </a:t>
            </a:r>
            <a:pPr indent="0" marL="0">
              <a:buNone/>
            </a:pPr>
            <a:r>
              <a:rPr lang="en-US" sz="1500" dirty="0">
                <a:solidFill>
                  <a:srgbClr val="FFFFFF"/>
                </a:solidFill>
                <a:latin typeface="Calibri" pitchFamily="34" charset="0"/>
                <a:ea typeface="Calibri" pitchFamily="34" charset="-122"/>
                <a:cs typeface="Calibri" pitchFamily="34" charset="-120"/>
              </a:rPr>
              <a:t>You are not waiting for the provider to build you a nicer dashboard; you start writing a receipt yourself, every time the agent spends money.</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name="Slide 9">
    <p:bg>
      <p:bgPr>
        <a:solidFill>
          <a:srgbClr val="F9FAFB"/>
        </a:solidFill>
      </p:bgPr>
    </p:bg>
    <p:spTree>
      <p:nvGrpSpPr>
        <p:cNvPr id="1" name=""/>
        <p:cNvGrpSpPr/>
        <p:nvPr/>
      </p:nvGrpSpPr>
      <p:grpSpPr>
        <a:xfrm>
          <a:off x="0" y="0"/>
          <a:ext cx="0" cy="0"/>
          <a:chOff x="0" y="0"/>
          <a:chExt cx="0" cy="0"/>
        </a:xfrm>
      </p:grpSpPr>
      <p:sp>
        <p:nvSpPr>
          <p:cNvPr id="2" name="Text 0"/>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2</a:t>
            </a:r>
            <a:endParaRPr lang="en-US" sz="900" dirty="0"/>
          </a:p>
        </p:txBody>
      </p:sp>
      <p:sp>
        <p:nvSpPr>
          <p:cNvPr id="3" name="Text 1"/>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9</a:t>
            </a:r>
            <a:endParaRPr lang="en-US" sz="900" dirty="0"/>
          </a:p>
        </p:txBody>
      </p:sp>
      <p:sp>
        <p:nvSpPr>
          <p:cNvPr id="4" name="Shape 2"/>
          <p:cNvSpPr/>
          <p:nvPr/>
        </p:nvSpPr>
        <p:spPr>
          <a:xfrm>
            <a:off x="6583680" y="237744"/>
            <a:ext cx="2103120" cy="329184"/>
          </a:xfrm>
          <a:prstGeom prst="roundRect">
            <a:avLst>
              <a:gd name="adj" fmla="val 50000"/>
            </a:avLst>
          </a:prstGeom>
          <a:solidFill>
            <a:srgbClr val="B45309"/>
          </a:solidFill>
          <a:ln w="12700">
            <a:solidFill>
              <a:srgbClr val="B45309"/>
            </a:solidFill>
            <a:prstDash val="solid"/>
          </a:ln>
        </p:spPr>
      </p:sp>
      <p:pic>
        <p:nvPicPr>
          <p:cNvPr id="5" name="Image 0" descr="preencoded.png">    </p:cNvPr>
          <p:cNvPicPr>
            <a:picLocks noChangeAspect="1"/>
          </p:cNvPicPr>
          <p:nvPr/>
        </p:nvPicPr>
        <p:blipFill>
          <a:blip r:embed="rId1"/>
          <a:stretch>
            <a:fillRect/>
          </a:stretch>
        </p:blipFill>
        <p:spPr>
          <a:xfrm>
            <a:off x="6711696" y="320040"/>
            <a:ext cx="164592" cy="164592"/>
          </a:xfrm>
          <a:prstGeom prst="rect">
            <a:avLst/>
          </a:prstGeom>
        </p:spPr>
      </p:pic>
      <p:sp>
        <p:nvSpPr>
          <p:cNvPr id="6" name="Text 3"/>
          <p:cNvSpPr txBox="1"/>
          <p:nvPr/>
        </p:nvSpPr>
        <p:spPr>
          <a:xfrm>
            <a:off x="6949440" y="237744"/>
            <a:ext cx="1691640" cy="329184"/>
          </a:xfrm>
          <a:prstGeom prst="rect">
            <a:avLst/>
          </a:prstGeom>
          <a:noFill/>
          <a:ln/>
        </p:spPr>
        <p:txBody>
          <a:bodyPr wrap="square" lIns="0" tIns="0" rIns="0" bIns="0" rtlCol="0" anchor="ctr"/>
          <a:lstStyle/>
          <a:p>
            <a:pPr indent="0" marL="0">
              <a:buNone/>
            </a:pPr>
            <a:r>
              <a:rPr lang="en-US" sz="950" b="1" spc="100" kern="0" dirty="0">
                <a:solidFill>
                  <a:srgbClr val="FFFFFF"/>
                </a:solidFill>
                <a:latin typeface="Calibri" pitchFamily="34" charset="0"/>
                <a:ea typeface="Calibri" pitchFamily="34" charset="-122"/>
                <a:cs typeface="Calibri" pitchFamily="34" charset="-120"/>
              </a:rPr>
              <a:t>iPAD · DRAW</a:t>
            </a:r>
            <a:endParaRPr lang="en-US" sz="950" dirty="0"/>
          </a:p>
        </p:txBody>
      </p:sp>
      <p:pic>
        <p:nvPicPr>
          <p:cNvPr id="7" name="Image 1" descr="preencoded.png">    </p:cNvPr>
          <p:cNvPicPr>
            <a:picLocks noChangeAspect="1"/>
          </p:cNvPicPr>
          <p:nvPr/>
        </p:nvPicPr>
        <p:blipFill>
          <a:blip r:embed="rId2"/>
          <a:stretch>
            <a:fillRect/>
          </a:stretch>
        </p:blipFill>
        <p:spPr>
          <a:xfrm>
            <a:off x="457200" y="320040"/>
            <a:ext cx="182880" cy="164592"/>
          </a:xfrm>
          <a:prstGeom prst="rect">
            <a:avLst/>
          </a:prstGeom>
        </p:spPr>
      </p:pic>
      <p:sp>
        <p:nvSpPr>
          <p:cNvPr id="8" name="Text 4"/>
          <p:cNvSpPr txBox="1"/>
          <p:nvPr/>
        </p:nvSpPr>
        <p:spPr>
          <a:xfrm>
            <a:off x="704088" y="237744"/>
            <a:ext cx="5760720" cy="329184"/>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Hidden slide · presenter reference · 01 · No Receipts</a:t>
            </a:r>
            <a:endParaRPr lang="en-US" sz="950" dirty="0"/>
          </a:p>
        </p:txBody>
      </p:sp>
      <p:sp>
        <p:nvSpPr>
          <p:cNvPr id="9" name="Text 5"/>
          <p:cNvSpPr txBox="1"/>
          <p:nvPr/>
        </p:nvSpPr>
        <p:spPr>
          <a:xfrm>
            <a:off x="457200" y="685800"/>
            <a:ext cx="8229600" cy="457200"/>
          </a:xfrm>
          <a:prstGeom prst="rect">
            <a:avLst/>
          </a:prstGeom>
          <a:noFill/>
          <a:ln/>
        </p:spPr>
        <p:txBody>
          <a:bodyPr wrap="square" lIns="0" tIns="0" rIns="0" bIns="0" rtlCol="0" anchor="t"/>
          <a:lstStyle/>
          <a:p>
            <a:pPr indent="0" marL="0">
              <a:buNone/>
            </a:pPr>
            <a:r>
              <a:rPr lang="en-US" sz="2400" b="1" dirty="0">
                <a:solidFill>
                  <a:srgbClr val="111827"/>
                </a:solidFill>
                <a:latin typeface="Cambria" pitchFamily="34" charset="0"/>
                <a:ea typeface="Cambria" pitchFamily="34" charset="-122"/>
                <a:cs typeface="Cambria" pitchFamily="34" charset="-120"/>
              </a:rPr>
              <a:t>Draw the problem</a:t>
            </a:r>
            <a:endParaRPr lang="en-US" sz="2400" dirty="0"/>
          </a:p>
        </p:txBody>
      </p:sp>
      <p:sp>
        <p:nvSpPr>
          <p:cNvPr id="10" name="Text 6"/>
          <p:cNvSpPr txBox="1"/>
          <p:nvPr/>
        </p:nvSpPr>
        <p:spPr>
          <a:xfrm>
            <a:off x="457200" y="1143000"/>
            <a:ext cx="8229600" cy="274320"/>
          </a:xfrm>
          <a:prstGeom prst="rect">
            <a:avLst/>
          </a:prstGeom>
          <a:noFill/>
          <a:ln/>
        </p:spPr>
        <p:txBody>
          <a:bodyPr wrap="square" lIns="0" tIns="0" rIns="0" bIns="0" rtlCol="0" anchor="t"/>
          <a:lstStyle/>
          <a:p>
            <a:pPr indent="0" marL="0">
              <a:buNone/>
            </a:pPr>
            <a:r>
              <a:rPr lang="en-US" sz="1050" i="1" dirty="0">
                <a:solidFill>
                  <a:srgbClr val="6B7280"/>
                </a:solidFill>
                <a:latin typeface="Calibri" pitchFamily="34" charset="0"/>
                <a:ea typeface="Calibri" pitchFamily="34" charset="-122"/>
                <a:cs typeface="Calibri" pitchFamily="34" charset="-120"/>
              </a:rPr>
              <a:t>New iPad page. Draw the two boxes first, then the analogy and the fix underneath.</a:t>
            </a:r>
            <a:endParaRPr lang="en-US" sz="1050" dirty="0"/>
          </a:p>
        </p:txBody>
      </p:sp>
      <p:sp>
        <p:nvSpPr>
          <p:cNvPr id="11" name="Text 7"/>
          <p:cNvSpPr txBox="1"/>
          <p:nvPr/>
        </p:nvSpPr>
        <p:spPr>
          <a:xfrm>
            <a:off x="457200" y="1572768"/>
            <a:ext cx="3246120" cy="301752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Left box: WHAT YOU CAN SEE. Inside, a dark rectangle with one number: $4,218, labelled “monthly total”</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Under the number, two lines: one number, once a month · nothing else at all</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Right box, same size but dashed outline: WHAT IS MISSING</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Inside it, four questions in small dashed rectangles: Which agent spent it? Which team should pay? Which customer was it for? Did the work even succeed?</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Under those four, small: nobody wrote any of this down</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Wide box across the bottom: the shop story: the bank tells you how much came in, and that is all. No till roll, no receipts, no idea which items sold.</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One last box, big letters: the fix is not a better bill, it is writing a receipt</a:t>
            </a:r>
            <a:endParaRPr lang="en-US" sz="950" dirty="0"/>
          </a:p>
        </p:txBody>
      </p:sp>
      <p:sp>
        <p:nvSpPr>
          <p:cNvPr id="12" name="Shape 8"/>
          <p:cNvSpPr/>
          <p:nvPr/>
        </p:nvSpPr>
        <p:spPr>
          <a:xfrm>
            <a:off x="3886200" y="1536192"/>
            <a:ext cx="4800600" cy="2572002"/>
          </a:xfrm>
          <a:prstGeom prst="roundRect">
            <a:avLst>
              <a:gd name="adj" fmla="val 2844"/>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3" name="Text 9"/>
          <p:cNvSpPr txBox="1"/>
          <p:nvPr/>
        </p:nvSpPr>
        <p:spPr>
          <a:xfrm>
            <a:off x="4005072" y="1591056"/>
            <a:ext cx="4572000" cy="201168"/>
          </a:xfrm>
          <a:prstGeom prst="rect">
            <a:avLst/>
          </a:prstGeom>
          <a:noFill/>
          <a:ln/>
        </p:spPr>
        <p:txBody>
          <a:bodyPr wrap="square" lIns="0" tIns="0" rIns="0" bIns="0" rtlCol="0" anchor="t"/>
          <a:lstStyle/>
          <a:p>
            <a:pPr indent="0" marL="0">
              <a:buNone/>
            </a:pPr>
            <a:r>
              <a:rPr lang="en-US" sz="750" b="1" spc="150" kern="0" dirty="0">
                <a:solidFill>
                  <a:srgbClr val="9CA3AF"/>
                </a:solidFill>
                <a:latin typeface="Calibri" pitchFamily="34" charset="0"/>
                <a:ea typeface="Calibri" pitchFamily="34" charset="-122"/>
                <a:cs typeface="Calibri" pitchFamily="34" charset="-120"/>
              </a:rPr>
              <a:t>FINISHED PANEL: WHAT YOURS SHOULD LOOK LIKE</a:t>
            </a:r>
            <a:endParaRPr lang="en-US" sz="750" dirty="0"/>
          </a:p>
        </p:txBody>
      </p:sp>
      <p:pic>
        <p:nvPicPr>
          <p:cNvPr id="14" name="Image 2" descr="preencoded.png">    </p:cNvPr>
          <p:cNvPicPr>
            <a:picLocks noChangeAspect="1"/>
          </p:cNvPicPr>
          <p:nvPr/>
        </p:nvPicPr>
        <p:blipFill>
          <a:blip r:embed="rId3"/>
          <a:stretch>
            <a:fillRect/>
          </a:stretch>
        </p:blipFill>
        <p:spPr>
          <a:xfrm>
            <a:off x="3886200" y="1828800"/>
            <a:ext cx="4800600" cy="2114802"/>
          </a:xfrm>
          <a:prstGeom prst="rect">
            <a:avLst/>
          </a:prstGeom>
        </p:spPr>
      </p:pic>
      <p:sp>
        <p:nvSpPr>
          <p:cNvPr id="15" name="Shape 10"/>
          <p:cNvSpPr/>
          <p:nvPr/>
        </p:nvSpPr>
        <p:spPr>
          <a:xfrm>
            <a:off x="3886200" y="4263642"/>
            <a:ext cx="4800600" cy="457200"/>
          </a:xfrm>
          <a:prstGeom prst="roundRect">
            <a:avLst>
              <a:gd name="adj" fmla="val 16000"/>
            </a:avLst>
          </a:prstGeom>
          <a:solidFill>
            <a:srgbClr val="FEF3C7"/>
          </a:solidFill>
          <a:ln w="12700">
            <a:solidFill>
              <a:srgbClr val="FEF3C7"/>
            </a:solidFill>
            <a:prstDash val="solid"/>
          </a:ln>
        </p:spPr>
      </p:sp>
      <p:sp>
        <p:nvSpPr>
          <p:cNvPr id="16" name="Text 11"/>
          <p:cNvSpPr txBox="1"/>
          <p:nvPr/>
        </p:nvSpPr>
        <p:spPr>
          <a:xfrm>
            <a:off x="4069080" y="4263642"/>
            <a:ext cx="4480560" cy="457200"/>
          </a:xfrm>
          <a:prstGeom prst="rect">
            <a:avLst/>
          </a:prstGeom>
          <a:noFill/>
          <a:ln/>
        </p:spPr>
        <p:txBody>
          <a:bodyPr wrap="square" lIns="0" tIns="0" rIns="0" bIns="0" rtlCol="0" anchor="ctr"/>
          <a:lstStyle/>
          <a:p>
            <a:pPr indent="0" marL="0">
              <a:buNone/>
            </a:pPr>
            <a:r>
              <a:rPr lang="en-US" sz="1050" b="1" i="1" dirty="0">
                <a:solidFill>
                  <a:srgbClr val="B45309"/>
                </a:solidFill>
                <a:latin typeface="Calibri" pitchFamily="34" charset="0"/>
                <a:ea typeface="Calibri" pitchFamily="34" charset="-122"/>
                <a:cs typeface="Calibri" pitchFamily="34" charset="-120"/>
              </a:rPr>
              <a:t>Say: “One number you have. Four questions you cannot answer.”</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11827"/>
        </a:solidFill>
      </p:bgPr>
    </p:bg>
    <p:spTree>
      <p:nvGrpSpPr>
        <p:cNvPr id="1" name=""/>
        <p:cNvGrpSpPr/>
        <p:nvPr/>
      </p:nvGrpSpPr>
      <p:grpSpPr>
        <a:xfrm>
          <a:off x="0" y="0"/>
          <a:ext cx="0" cy="0"/>
          <a:chOff x="0" y="0"/>
          <a:chExt cx="0" cy="0"/>
        </a:xfrm>
      </p:grpSpPr>
      <p:sp>
        <p:nvSpPr>
          <p:cNvPr id="2" name="Text 0"/>
          <p:cNvSpPr txBox="1"/>
          <p:nvPr/>
        </p:nvSpPr>
        <p:spPr>
          <a:xfrm>
            <a:off x="548640" y="1005840"/>
            <a:ext cx="2743200" cy="1280160"/>
          </a:xfrm>
          <a:prstGeom prst="rect">
            <a:avLst/>
          </a:prstGeom>
          <a:noFill/>
          <a:ln/>
        </p:spPr>
        <p:txBody>
          <a:bodyPr wrap="square" lIns="0" tIns="0" rIns="0" bIns="0" rtlCol="0" anchor="t"/>
          <a:lstStyle/>
          <a:p>
            <a:pPr indent="0" marL="0">
              <a:buNone/>
            </a:pPr>
            <a:r>
              <a:rPr lang="en-US" sz="9600" b="1" dirty="0">
                <a:solidFill>
                  <a:srgbClr val="F59E0B"/>
                </a:solidFill>
                <a:latin typeface="Cambria" pitchFamily="34" charset="0"/>
                <a:ea typeface="Cambria" pitchFamily="34" charset="-122"/>
                <a:cs typeface="Cambria" pitchFamily="34" charset="-120"/>
              </a:rPr>
              <a:t>02</a:t>
            </a:r>
            <a:endParaRPr lang="en-US" sz="9600" dirty="0"/>
          </a:p>
        </p:txBody>
      </p:sp>
      <p:sp>
        <p:nvSpPr>
          <p:cNvPr id="3" name="Text 1"/>
          <p:cNvSpPr txBox="1"/>
          <p:nvPr/>
        </p:nvSpPr>
        <p:spPr>
          <a:xfrm>
            <a:off x="548640" y="2377440"/>
            <a:ext cx="8046720" cy="91440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The Receipt Is Already in the Box</a:t>
            </a:r>
            <a:endParaRPr lang="en-US" sz="3600" dirty="0"/>
          </a:p>
        </p:txBody>
      </p:sp>
      <p:sp>
        <p:nvSpPr>
          <p:cNvPr id="4" name="Text 2"/>
          <p:cNvSpPr txBox="1"/>
          <p:nvPr/>
        </p:nvSpPr>
        <p:spPr>
          <a:xfrm>
            <a:off x="548640" y="3383280"/>
            <a:ext cx="2743200" cy="320040"/>
          </a:xfrm>
          <a:prstGeom prst="rect">
            <a:avLst/>
          </a:prstGeom>
          <a:noFill/>
          <a:ln/>
        </p:spPr>
        <p:txBody>
          <a:bodyPr wrap="square" lIns="0" tIns="0" rIns="0" bIns="0" rtlCol="0" anchor="t"/>
          <a:lstStyle/>
          <a:p>
            <a:pPr indent="0" marL="0">
              <a:buNone/>
            </a:pPr>
            <a:r>
              <a:rPr lang="en-US" sz="1400" dirty="0">
                <a:solidFill>
                  <a:srgbClr val="9CA3AF"/>
                </a:solidFill>
                <a:latin typeface="Calibri" pitchFamily="34" charset="0"/>
                <a:ea typeface="Calibri" pitchFamily="34" charset="-122"/>
                <a:cs typeface="Calibri" pitchFamily="34" charset="-120"/>
              </a:rPr>
              <a:t>~7 min</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02 · THE USAGE NOTE</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What actually comes back</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2</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11</a:t>
            </a:r>
            <a:endParaRPr lang="en-US" sz="900" dirty="0"/>
          </a:p>
        </p:txBody>
      </p:sp>
      <p:sp>
        <p:nvSpPr>
          <p:cNvPr id="6" name="Shape 4"/>
          <p:cNvSpPr/>
          <p:nvPr/>
        </p:nvSpPr>
        <p:spPr>
          <a:xfrm>
            <a:off x="457200" y="1325880"/>
            <a:ext cx="1828800" cy="914400"/>
          </a:xfrm>
          <a:prstGeom prst="roundRect">
            <a:avLst>
              <a:gd name="adj" fmla="val 8000"/>
            </a:avLst>
          </a:prstGeom>
          <a:solidFill>
            <a:srgbClr val="F3F4F6"/>
          </a:solidFill>
          <a:ln w="12700">
            <a:solidFill>
              <a:srgbClr val="F3F4F6"/>
            </a:solidFill>
            <a:prstDash val="solid"/>
          </a:ln>
        </p:spPr>
      </p:sp>
      <p:sp>
        <p:nvSpPr>
          <p:cNvPr id="7" name="Text 5"/>
          <p:cNvSpPr txBox="1"/>
          <p:nvPr/>
        </p:nvSpPr>
        <p:spPr>
          <a:xfrm>
            <a:off x="640080" y="1444752"/>
            <a:ext cx="1554480" cy="274320"/>
          </a:xfrm>
          <a:prstGeom prst="rect">
            <a:avLst/>
          </a:prstGeom>
          <a:noFill/>
          <a:ln/>
        </p:spPr>
        <p:txBody>
          <a:bodyPr wrap="square" lIns="0" tIns="0" rIns="0" bIns="0" rtlCol="0" anchor="t"/>
          <a:lstStyle/>
          <a:p>
            <a:pPr indent="0" marL="0">
              <a:buNone/>
            </a:pPr>
            <a:r>
              <a:rPr lang="en-US" sz="1200" b="1" dirty="0">
                <a:solidFill>
                  <a:srgbClr val="1D4ED8"/>
                </a:solidFill>
                <a:latin typeface="Calibri" pitchFamily="34" charset="0"/>
                <a:ea typeface="Calibri" pitchFamily="34" charset="-122"/>
                <a:cs typeface="Calibri" pitchFamily="34" charset="-120"/>
              </a:rPr>
              <a:t>YOUR AGENT</a:t>
            </a:r>
            <a:endParaRPr lang="en-US" sz="1200" dirty="0"/>
          </a:p>
        </p:txBody>
      </p:sp>
      <p:sp>
        <p:nvSpPr>
          <p:cNvPr id="8" name="Text 6"/>
          <p:cNvSpPr txBox="1"/>
          <p:nvPr/>
        </p:nvSpPr>
        <p:spPr>
          <a:xfrm>
            <a:off x="640080" y="1737360"/>
            <a:ext cx="1554480" cy="27432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asks a question</a:t>
            </a:r>
            <a:endParaRPr lang="en-US" sz="1100" dirty="0"/>
          </a:p>
        </p:txBody>
      </p:sp>
      <p:pic>
        <p:nvPicPr>
          <p:cNvPr id="9" name="Image 0" descr="preencoded.png">    </p:cNvPr>
          <p:cNvPicPr>
            <a:picLocks noChangeAspect="1"/>
          </p:cNvPicPr>
          <p:nvPr/>
        </p:nvPicPr>
        <p:blipFill>
          <a:blip r:embed="rId1"/>
          <a:stretch>
            <a:fillRect/>
          </a:stretch>
        </p:blipFill>
        <p:spPr>
          <a:xfrm>
            <a:off x="2359152" y="1673352"/>
            <a:ext cx="182880" cy="182880"/>
          </a:xfrm>
          <a:prstGeom prst="rect">
            <a:avLst/>
          </a:prstGeom>
        </p:spPr>
      </p:pic>
      <p:sp>
        <p:nvSpPr>
          <p:cNvPr id="10" name="Shape 7"/>
          <p:cNvSpPr/>
          <p:nvPr/>
        </p:nvSpPr>
        <p:spPr>
          <a:xfrm>
            <a:off x="2606040" y="1325880"/>
            <a:ext cx="1828800" cy="914400"/>
          </a:xfrm>
          <a:prstGeom prst="roundRect">
            <a:avLst>
              <a:gd name="adj" fmla="val 8000"/>
            </a:avLst>
          </a:prstGeom>
          <a:solidFill>
            <a:srgbClr val="F3F4F6"/>
          </a:solidFill>
          <a:ln w="12700">
            <a:solidFill>
              <a:srgbClr val="F3F4F6"/>
            </a:solidFill>
            <a:prstDash val="solid"/>
          </a:ln>
        </p:spPr>
      </p:sp>
      <p:sp>
        <p:nvSpPr>
          <p:cNvPr id="11" name="Text 8"/>
          <p:cNvSpPr txBox="1"/>
          <p:nvPr/>
        </p:nvSpPr>
        <p:spPr>
          <a:xfrm>
            <a:off x="2788920" y="1444752"/>
            <a:ext cx="1554480" cy="274320"/>
          </a:xfrm>
          <a:prstGeom prst="rect">
            <a:avLst/>
          </a:prstGeom>
          <a:noFill/>
          <a:ln/>
        </p:spPr>
        <p:txBody>
          <a:bodyPr wrap="square" lIns="0" tIns="0" rIns="0" bIns="0" rtlCol="0" anchor="t"/>
          <a:lstStyle/>
          <a:p>
            <a:pPr indent="0" marL="0">
              <a:buNone/>
            </a:pPr>
            <a:r>
              <a:rPr lang="en-US" sz="1200" b="1" dirty="0">
                <a:solidFill>
                  <a:srgbClr val="6D28D9"/>
                </a:solidFill>
                <a:latin typeface="Calibri" pitchFamily="34" charset="0"/>
                <a:ea typeface="Calibri" pitchFamily="34" charset="-122"/>
                <a:cs typeface="Calibri" pitchFamily="34" charset="-120"/>
              </a:rPr>
              <a:t>THE MODEL</a:t>
            </a:r>
            <a:endParaRPr lang="en-US" sz="1200" dirty="0"/>
          </a:p>
        </p:txBody>
      </p:sp>
      <p:sp>
        <p:nvSpPr>
          <p:cNvPr id="12" name="Text 9"/>
          <p:cNvSpPr txBox="1"/>
          <p:nvPr/>
        </p:nvSpPr>
        <p:spPr>
          <a:xfrm>
            <a:off x="2788920" y="1737360"/>
            <a:ext cx="1554480" cy="27432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thinks, answers</a:t>
            </a:r>
            <a:endParaRPr lang="en-US" sz="1100" dirty="0"/>
          </a:p>
        </p:txBody>
      </p:sp>
      <p:pic>
        <p:nvPicPr>
          <p:cNvPr id="13" name="Image 1" descr="preencoded.png">    </p:cNvPr>
          <p:cNvPicPr>
            <a:picLocks noChangeAspect="1"/>
          </p:cNvPicPr>
          <p:nvPr/>
        </p:nvPicPr>
        <p:blipFill>
          <a:blip r:embed="rId2"/>
          <a:stretch>
            <a:fillRect/>
          </a:stretch>
        </p:blipFill>
        <p:spPr>
          <a:xfrm>
            <a:off x="4507992" y="1673352"/>
            <a:ext cx="182880" cy="182880"/>
          </a:xfrm>
          <a:prstGeom prst="rect">
            <a:avLst/>
          </a:prstGeom>
        </p:spPr>
      </p:pic>
      <p:sp>
        <p:nvSpPr>
          <p:cNvPr id="14" name="Shape 10"/>
          <p:cNvSpPr/>
          <p:nvPr/>
        </p:nvSpPr>
        <p:spPr>
          <a:xfrm>
            <a:off x="4754880" y="1325880"/>
            <a:ext cx="3931920" cy="2331720"/>
          </a:xfrm>
          <a:prstGeom prst="roundRect">
            <a:avLst>
              <a:gd name="adj" fmla="val 3137"/>
            </a:avLst>
          </a:prstGeom>
          <a:solidFill>
            <a:srgbClr val="0F172A"/>
          </a:solidFill>
          <a:ln w="12700">
            <a:solidFill>
              <a:srgbClr val="0F172A"/>
            </a:solidFill>
            <a:prstDash val="solid"/>
          </a:ln>
        </p:spPr>
      </p:sp>
      <p:sp>
        <p:nvSpPr>
          <p:cNvPr id="15" name="Text 11"/>
          <p:cNvSpPr txBox="1"/>
          <p:nvPr/>
        </p:nvSpPr>
        <p:spPr>
          <a:xfrm>
            <a:off x="4983480" y="1463040"/>
            <a:ext cx="3474720" cy="228600"/>
          </a:xfrm>
          <a:prstGeom prst="rect">
            <a:avLst/>
          </a:prstGeom>
          <a:noFill/>
          <a:ln/>
        </p:spPr>
        <p:txBody>
          <a:bodyPr wrap="square" lIns="0" tIns="0" rIns="0" bIns="0" rtlCol="0" anchor="t"/>
          <a:lstStyle/>
          <a:p>
            <a:pPr indent="0" marL="0">
              <a:buNone/>
            </a:pPr>
            <a:r>
              <a:rPr lang="en-US" sz="900" b="1" spc="200" kern="0" dirty="0">
                <a:solidFill>
                  <a:srgbClr val="6B7280"/>
                </a:solidFill>
                <a:latin typeface="Calibri" pitchFamily="34" charset="0"/>
                <a:ea typeface="Calibri" pitchFamily="34" charset="-122"/>
                <a:cs typeface="Calibri" pitchFamily="34" charset="-120"/>
              </a:rPr>
              <a:t>WHAT COMES BACK</a:t>
            </a:r>
            <a:endParaRPr lang="en-US" sz="900" dirty="0"/>
          </a:p>
        </p:txBody>
      </p:sp>
      <p:sp>
        <p:nvSpPr>
          <p:cNvPr id="16" name="Text 12"/>
          <p:cNvSpPr txBox="1"/>
          <p:nvPr/>
        </p:nvSpPr>
        <p:spPr>
          <a:xfrm>
            <a:off x="4983480" y="1783080"/>
            <a:ext cx="3566160" cy="1783080"/>
          </a:xfrm>
          <a:prstGeom prst="rect">
            <a:avLst/>
          </a:prstGeom>
          <a:noFill/>
          <a:ln/>
        </p:spPr>
        <p:txBody>
          <a:bodyPr wrap="square" lIns="0" tIns="0" rIns="0" bIns="0" rtlCol="0" anchor="t"/>
          <a:lstStyle/>
          <a:p>
            <a:pPr indent="0" marL="0">
              <a:buNone/>
            </a:pPr>
            <a:r>
              <a:rPr lang="en-US" sz="1100" dirty="0">
                <a:solidFill>
                  <a:srgbClr val="E8EAED"/>
                </a:solidFill>
                <a:latin typeface="Courier New" pitchFamily="34" charset="0"/>
                <a:ea typeface="Courier New" pitchFamily="34" charset="-122"/>
                <a:cs typeface="Courier New" pitchFamily="34" charset="-120"/>
              </a:rPr>
              <a:t>{</a:t>
            </a:r>
            <a:endParaRPr lang="en-US" sz="1100" dirty="0"/>
          </a:p>
          <a:p>
            <a:pPr indent="0" marL="0">
              <a:buNone/>
            </a:pPr>
            <a:r>
              <a:rPr lang="en-US" sz="1100" dirty="0">
                <a:solidFill>
                  <a:srgbClr val="E8EAED"/>
                </a:solidFill>
                <a:latin typeface="Courier New" pitchFamily="34" charset="0"/>
                <a:ea typeface="Courier New" pitchFamily="34" charset="-122"/>
                <a:cs typeface="Courier New" pitchFamily="34" charset="-120"/>
              </a:rPr>
              <a:t>  "text": "…the answer…",</a:t>
            </a:r>
            <a:endParaRPr lang="en-US" sz="1100" dirty="0"/>
          </a:p>
          <a:p>
            <a:pPr indent="0" marL="0">
              <a:buNone/>
            </a:pPr>
            <a:r>
              <a:rPr lang="en-US" sz="1100" dirty="0">
                <a:solidFill>
                  <a:srgbClr val="E8EAED"/>
                </a:solidFill>
                <a:latin typeface="Courier New" pitchFamily="34" charset="0"/>
                <a:ea typeface="Courier New" pitchFamily="34" charset="-122"/>
                <a:cs typeface="Courier New" pitchFamily="34" charset="-120"/>
              </a:rPr>
              <a:t>  "usage": {</a:t>
            </a:r>
            <a:endParaRPr lang="en-US" sz="1100" dirty="0"/>
          </a:p>
          <a:p>
            <a:pPr indent="0" marL="0">
              <a:buNone/>
            </a:pPr>
            <a:r>
              <a:rPr lang="en-US" sz="1100" dirty="0">
                <a:solidFill>
                  <a:srgbClr val="34D399"/>
                </a:solidFill>
                <a:latin typeface="Courier New" pitchFamily="34" charset="0"/>
                <a:ea typeface="Courier New" pitchFamily="34" charset="-122"/>
                <a:cs typeface="Courier New" pitchFamily="34" charset="-120"/>
              </a:rPr>
              <a:t>     "input_tokens": 2214,</a:t>
            </a:r>
            <a:endParaRPr lang="en-US" sz="1100" dirty="0"/>
          </a:p>
          <a:p>
            <a:pPr indent="0" marL="0">
              <a:buNone/>
            </a:pPr>
            <a:r>
              <a:rPr lang="en-US" sz="1100" dirty="0">
                <a:solidFill>
                  <a:srgbClr val="34D399"/>
                </a:solidFill>
                <a:latin typeface="Courier New" pitchFamily="34" charset="0"/>
                <a:ea typeface="Courier New" pitchFamily="34" charset="-122"/>
                <a:cs typeface="Courier New" pitchFamily="34" charset="-120"/>
              </a:rPr>
              <a:t>     "output_tokens": 187</a:t>
            </a:r>
            <a:endParaRPr lang="en-US" sz="1100" dirty="0"/>
          </a:p>
          <a:p>
            <a:pPr indent="0" marL="0">
              <a:buNone/>
            </a:pPr>
            <a:r>
              <a:rPr lang="en-US" sz="1100" dirty="0">
                <a:solidFill>
                  <a:srgbClr val="E8EAED"/>
                </a:solidFill>
                <a:latin typeface="Courier New" pitchFamily="34" charset="0"/>
                <a:ea typeface="Courier New" pitchFamily="34" charset="-122"/>
                <a:cs typeface="Courier New" pitchFamily="34" charset="-120"/>
              </a:rPr>
              <a:t>  }</a:t>
            </a:r>
            <a:endParaRPr lang="en-US" sz="1100" dirty="0"/>
          </a:p>
          <a:p>
            <a:pPr indent="0" marL="0">
              <a:buNone/>
            </a:pPr>
            <a:r>
              <a:rPr lang="en-US" sz="1100" dirty="0">
                <a:solidFill>
                  <a:srgbClr val="E8EAED"/>
                </a:solidFill>
                <a:latin typeface="Courier New" pitchFamily="34" charset="0"/>
                <a:ea typeface="Courier New" pitchFamily="34" charset="-122"/>
                <a:cs typeface="Courier New" pitchFamily="34" charset="-120"/>
              </a:rPr>
              <a:t>}</a:t>
            </a:r>
            <a:endParaRPr lang="en-US" sz="1100" dirty="0"/>
          </a:p>
        </p:txBody>
      </p:sp>
      <p:sp>
        <p:nvSpPr>
          <p:cNvPr id="17" name="Text 13"/>
          <p:cNvSpPr txBox="1"/>
          <p:nvPr/>
        </p:nvSpPr>
        <p:spPr>
          <a:xfrm>
            <a:off x="4754880" y="3749040"/>
            <a:ext cx="3931920" cy="548640"/>
          </a:xfrm>
          <a:prstGeom prst="rect">
            <a:avLst/>
          </a:prstGeom>
          <a:noFill/>
          <a:ln/>
        </p:spPr>
        <p:txBody>
          <a:bodyPr wrap="square" lIns="0" tIns="0" rIns="0" bIns="0" rtlCol="0" anchor="t"/>
          <a:lstStyle/>
          <a:p>
            <a:pPr indent="0" marL="0">
              <a:buNone/>
            </a:pPr>
            <a:r>
              <a:rPr lang="en-US" sz="1200" i="1" dirty="0">
                <a:solidFill>
                  <a:srgbClr val="047857"/>
                </a:solidFill>
                <a:latin typeface="Calibri" pitchFamily="34" charset="0"/>
                <a:ea typeface="Calibri" pitchFamily="34" charset="-122"/>
                <a:cs typeface="Calibri" pitchFamily="34" charset="-120"/>
              </a:rPr>
              <a:t>The green lines are the receipt. They arrive whether you read them or not.</a:t>
            </a:r>
            <a:endParaRPr lang="en-US" sz="1200" dirty="0"/>
          </a:p>
        </p:txBody>
      </p:sp>
      <p:sp>
        <p:nvSpPr>
          <p:cNvPr id="18" name="Shape 14"/>
          <p:cNvSpPr/>
          <p:nvPr/>
        </p:nvSpPr>
        <p:spPr>
          <a:xfrm>
            <a:off x="457200" y="2468880"/>
            <a:ext cx="4023360" cy="1188720"/>
          </a:xfrm>
          <a:prstGeom prst="roundRect">
            <a:avLst>
              <a:gd name="adj" fmla="val 6154"/>
            </a:avLst>
          </a:prstGeom>
          <a:solidFill>
            <a:srgbClr val="F3F4F6"/>
          </a:solidFill>
          <a:ln w="12700">
            <a:solidFill>
              <a:srgbClr val="F3F4F6"/>
            </a:solidFill>
            <a:prstDash val="solid"/>
          </a:ln>
        </p:spPr>
      </p:sp>
      <p:sp>
        <p:nvSpPr>
          <p:cNvPr id="19" name="Text 15"/>
          <p:cNvSpPr txBox="1"/>
          <p:nvPr/>
        </p:nvSpPr>
        <p:spPr>
          <a:xfrm>
            <a:off x="685800" y="2606040"/>
            <a:ext cx="3657600" cy="320040"/>
          </a:xfrm>
          <a:prstGeom prst="rect">
            <a:avLst/>
          </a:prstGeom>
          <a:noFill/>
          <a:ln/>
        </p:spPr>
        <p:txBody>
          <a:bodyPr wrap="square" lIns="0" tIns="0" rIns="0" bIns="0" rtlCol="0" anchor="t"/>
          <a:lstStyle/>
          <a:p>
            <a:pPr indent="0" marL="0">
              <a:buNone/>
            </a:pPr>
            <a:r>
              <a:rPr lang="en-US" sz="1600" b="1" dirty="0">
                <a:solidFill>
                  <a:srgbClr val="111827"/>
                </a:solidFill>
                <a:latin typeface="Calibri" pitchFamily="34" charset="0"/>
                <a:ea typeface="Calibri" pitchFamily="34" charset="-122"/>
                <a:cs typeface="Calibri" pitchFamily="34" charset="-120"/>
              </a:rPr>
              <a:t>The usage block</a:t>
            </a:r>
            <a:endParaRPr lang="en-US" sz="1600" dirty="0"/>
          </a:p>
        </p:txBody>
      </p:sp>
      <p:sp>
        <p:nvSpPr>
          <p:cNvPr id="20" name="Text 16"/>
          <p:cNvSpPr txBox="1"/>
          <p:nvPr/>
        </p:nvSpPr>
        <p:spPr>
          <a:xfrm>
            <a:off x="685800" y="2926080"/>
            <a:ext cx="3611880" cy="68580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 small note attached to every response. Every major provider returns one, on every call, whether you asked for it or not.</a:t>
            </a:r>
            <a:endParaRPr lang="en-US" sz="1200" dirty="0"/>
          </a:p>
        </p:txBody>
      </p:sp>
      <p:sp>
        <p:nvSpPr>
          <p:cNvPr id="21" name="Text 17"/>
          <p:cNvSpPr txBox="1"/>
          <p:nvPr/>
        </p:nvSpPr>
        <p:spPr>
          <a:xfrm>
            <a:off x="457200" y="3794760"/>
            <a:ext cx="4023360" cy="548640"/>
          </a:xfrm>
          <a:prstGeom prst="rect">
            <a:avLst/>
          </a:prstGeom>
          <a:noFill/>
          <a:ln/>
        </p:spPr>
        <p:txBody>
          <a:bodyPr wrap="square" lIns="0" tIns="0" rIns="0" bIns="0" rtlCol="0" anchor="t"/>
          <a:lstStyle/>
          <a:p>
            <a:pPr indent="0" marL="0">
              <a:buNone/>
            </a:pPr>
            <a:r>
              <a:rPr lang="en-US" sz="1100" i="1" dirty="0">
                <a:solidFill>
                  <a:srgbClr val="6B7280"/>
                </a:solidFill>
                <a:latin typeface="Calibri" pitchFamily="34" charset="0"/>
                <a:ea typeface="Calibri" pitchFamily="34" charset="-122"/>
                <a:cs typeface="Calibri" pitchFamily="34" charset="-120"/>
              </a:rPr>
              <a:t>A token ≈ four characters of English. Input is what you sent; output is what it wrote back.</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02 · THE USAGE NOTE</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The change is one extra line</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2</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12</a:t>
            </a:r>
            <a:endParaRPr lang="en-US" sz="900" dirty="0"/>
          </a:p>
        </p:txBody>
      </p:sp>
      <p:sp>
        <p:nvSpPr>
          <p:cNvPr id="6" name="Shape 4"/>
          <p:cNvSpPr/>
          <p:nvPr/>
        </p:nvSpPr>
        <p:spPr>
          <a:xfrm>
            <a:off x="457200" y="1325880"/>
            <a:ext cx="4023360" cy="3108960"/>
          </a:xfrm>
          <a:prstGeom prst="roundRect">
            <a:avLst>
              <a:gd name="adj" fmla="val 2353"/>
            </a:avLst>
          </a:prstGeom>
          <a:solidFill>
            <a:srgbClr val="FEF2F2"/>
          </a:solidFill>
          <a:ln w="12700">
            <a:solidFill>
              <a:srgbClr val="FEF2F2"/>
            </a:solidFill>
            <a:prstDash val="solid"/>
          </a:ln>
        </p:spPr>
      </p:sp>
      <p:sp>
        <p:nvSpPr>
          <p:cNvPr id="7" name="Text 5"/>
          <p:cNvSpPr txBox="1"/>
          <p:nvPr/>
        </p:nvSpPr>
        <p:spPr>
          <a:xfrm>
            <a:off x="731520" y="1508760"/>
            <a:ext cx="3566160" cy="365760"/>
          </a:xfrm>
          <a:prstGeom prst="rect">
            <a:avLst/>
          </a:prstGeom>
          <a:noFill/>
          <a:ln/>
        </p:spPr>
        <p:txBody>
          <a:bodyPr wrap="square" lIns="0" tIns="0" rIns="0" bIns="0" rtlCol="0" anchor="t"/>
          <a:lstStyle/>
          <a:p>
            <a:pPr indent="0" marL="0">
              <a:buNone/>
            </a:pPr>
            <a:r>
              <a:rPr lang="en-US" sz="1700" b="1" dirty="0">
                <a:solidFill>
                  <a:srgbClr val="B91C1C"/>
                </a:solidFill>
                <a:latin typeface="Calibri" pitchFamily="34" charset="0"/>
                <a:ea typeface="Calibri" pitchFamily="34" charset="-122"/>
                <a:cs typeface="Calibri" pitchFamily="34" charset="-120"/>
              </a:rPr>
              <a:t>What most programs do</a:t>
            </a:r>
            <a:endParaRPr lang="en-US" sz="1700" dirty="0"/>
          </a:p>
        </p:txBody>
      </p:sp>
      <p:sp>
        <p:nvSpPr>
          <p:cNvPr id="8" name="Text 6"/>
          <p:cNvSpPr txBox="1"/>
          <p:nvPr/>
        </p:nvSpPr>
        <p:spPr>
          <a:xfrm>
            <a:off x="731520" y="2011680"/>
            <a:ext cx="3566160" cy="13716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F2937"/>
                </a:solidFill>
                <a:latin typeface="Calibri" pitchFamily="34" charset="0"/>
                <a:ea typeface="Calibri" pitchFamily="34" charset="-122"/>
                <a:cs typeface="Calibri" pitchFamily="34" charset="-120"/>
              </a:rPr>
              <a:t>Read the answer</a:t>
            </a:r>
            <a:endParaRPr lang="en-US" sz="1400" dirty="0"/>
          </a:p>
          <a:p>
            <a:pPr marL="342900" indent="-342900">
              <a:spcAft>
                <a:spcPts val="800"/>
              </a:spcAft>
              <a:buSzPct val="100000"/>
              <a:buChar char="•"/>
            </a:pPr>
            <a:r>
              <a:rPr lang="en-US" sz="1400" dirty="0">
                <a:solidFill>
                  <a:srgbClr val="1F2937"/>
                </a:solidFill>
                <a:latin typeface="Calibri" pitchFamily="34" charset="0"/>
                <a:ea typeface="Calibri" pitchFamily="34" charset="-122"/>
                <a:cs typeface="Calibri" pitchFamily="34" charset="-120"/>
              </a:rPr>
              <a:t>Use the answer</a:t>
            </a:r>
            <a:endParaRPr lang="en-US" sz="1400" dirty="0"/>
          </a:p>
          <a:p>
            <a:pPr marL="342900" indent="-342900">
              <a:spcAft>
                <a:spcPts val="800"/>
              </a:spcAft>
              <a:buSzPct val="100000"/>
              <a:buChar char="•"/>
            </a:pPr>
            <a:r>
              <a:rPr lang="en-US" sz="1400" dirty="0">
                <a:solidFill>
                  <a:srgbClr val="1F2937"/>
                </a:solidFill>
                <a:latin typeface="Calibri" pitchFamily="34" charset="0"/>
                <a:ea typeface="Calibri" pitchFamily="34" charset="-122"/>
                <a:cs typeface="Calibri" pitchFamily="34" charset="-120"/>
              </a:rPr>
              <a:t>Ignore the usage part completely</a:t>
            </a:r>
            <a:endParaRPr lang="en-US" sz="1400" dirty="0"/>
          </a:p>
        </p:txBody>
      </p:sp>
      <p:sp>
        <p:nvSpPr>
          <p:cNvPr id="9" name="Shape 7"/>
          <p:cNvSpPr/>
          <p:nvPr/>
        </p:nvSpPr>
        <p:spPr>
          <a:xfrm>
            <a:off x="731520" y="3611880"/>
            <a:ext cx="3474720" cy="548640"/>
          </a:xfrm>
          <a:prstGeom prst="roundRect">
            <a:avLst>
              <a:gd name="adj" fmla="val 13333"/>
            </a:avLst>
          </a:prstGeom>
          <a:solidFill>
            <a:srgbClr val="FFFFFF"/>
          </a:solidFill>
          <a:ln w="12700">
            <a:solidFill>
              <a:srgbClr val="FFFFFF"/>
            </a:solidFill>
            <a:prstDash val="solid"/>
          </a:ln>
        </p:spPr>
      </p:sp>
      <p:sp>
        <p:nvSpPr>
          <p:cNvPr id="10" name="Text 8"/>
          <p:cNvSpPr txBox="1"/>
          <p:nvPr/>
        </p:nvSpPr>
        <p:spPr>
          <a:xfrm>
            <a:off x="731520" y="3611880"/>
            <a:ext cx="3474720" cy="548640"/>
          </a:xfrm>
          <a:prstGeom prst="rect">
            <a:avLst/>
          </a:prstGeom>
          <a:noFill/>
          <a:ln/>
        </p:spPr>
        <p:txBody>
          <a:bodyPr wrap="square" lIns="0" tIns="0" rIns="0" bIns="0" rtlCol="0" anchor="ctr"/>
          <a:lstStyle/>
          <a:p>
            <a:pPr algn="ctr" indent="0" marL="0">
              <a:buNone/>
            </a:pPr>
            <a:r>
              <a:rPr lang="en-US" sz="1300" b="1" dirty="0">
                <a:solidFill>
                  <a:srgbClr val="B91C1C"/>
                </a:solidFill>
                <a:latin typeface="Calibri" pitchFamily="34" charset="0"/>
                <a:ea typeface="Calibri" pitchFamily="34" charset="-122"/>
                <a:cs typeface="Calibri" pitchFamily="34" charset="-120"/>
              </a:rPr>
              <a:t>The receipt is thrown in the bin.</a:t>
            </a:r>
            <a:endParaRPr lang="en-US" sz="1300" dirty="0"/>
          </a:p>
        </p:txBody>
      </p:sp>
      <p:sp>
        <p:nvSpPr>
          <p:cNvPr id="11" name="Shape 9"/>
          <p:cNvSpPr/>
          <p:nvPr/>
        </p:nvSpPr>
        <p:spPr>
          <a:xfrm>
            <a:off x="4663440" y="1325880"/>
            <a:ext cx="4023360" cy="3108960"/>
          </a:xfrm>
          <a:prstGeom prst="roundRect">
            <a:avLst>
              <a:gd name="adj" fmla="val 2353"/>
            </a:avLst>
          </a:prstGeom>
          <a:solidFill>
            <a:srgbClr val="ECFDF5"/>
          </a:solidFill>
          <a:ln w="12700">
            <a:solidFill>
              <a:srgbClr val="ECFDF5"/>
            </a:solidFill>
            <a:prstDash val="solid"/>
          </a:ln>
        </p:spPr>
      </p:sp>
      <p:sp>
        <p:nvSpPr>
          <p:cNvPr id="12" name="Text 10"/>
          <p:cNvSpPr txBox="1"/>
          <p:nvPr/>
        </p:nvSpPr>
        <p:spPr>
          <a:xfrm>
            <a:off x="4937760" y="1508760"/>
            <a:ext cx="3566160" cy="365760"/>
          </a:xfrm>
          <a:prstGeom prst="rect">
            <a:avLst/>
          </a:prstGeom>
          <a:noFill/>
          <a:ln/>
        </p:spPr>
        <p:txBody>
          <a:bodyPr wrap="square" lIns="0" tIns="0" rIns="0" bIns="0" rtlCol="0" anchor="t"/>
          <a:lstStyle/>
          <a:p>
            <a:pPr indent="0" marL="0">
              <a:buNone/>
            </a:pPr>
            <a:r>
              <a:rPr lang="en-US" sz="1700" b="1" dirty="0">
                <a:solidFill>
                  <a:srgbClr val="047857"/>
                </a:solidFill>
                <a:latin typeface="Calibri" pitchFamily="34" charset="0"/>
                <a:ea typeface="Calibri" pitchFamily="34" charset="-122"/>
                <a:cs typeface="Calibri" pitchFamily="34" charset="-120"/>
              </a:rPr>
              <a:t>What we will do</a:t>
            </a:r>
            <a:endParaRPr lang="en-US" sz="1700" dirty="0"/>
          </a:p>
        </p:txBody>
      </p:sp>
      <p:sp>
        <p:nvSpPr>
          <p:cNvPr id="13" name="Text 11"/>
          <p:cNvSpPr txBox="1"/>
          <p:nvPr/>
        </p:nvSpPr>
        <p:spPr>
          <a:xfrm>
            <a:off x="4937760" y="2011680"/>
            <a:ext cx="3566160" cy="13716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rgbClr val="1F2937"/>
                </a:solidFill>
                <a:latin typeface="Calibri" pitchFamily="34" charset="0"/>
                <a:ea typeface="Calibri" pitchFamily="34" charset="-122"/>
                <a:cs typeface="Calibri" pitchFamily="34" charset="-120"/>
              </a:rPr>
              <a:t>Read the answer</a:t>
            </a:r>
            <a:endParaRPr lang="en-US" sz="1400" dirty="0"/>
          </a:p>
          <a:p>
            <a:pPr marL="342900" indent="-342900">
              <a:spcAft>
                <a:spcPts val="800"/>
              </a:spcAft>
              <a:buSzPct val="100000"/>
              <a:buChar char="•"/>
            </a:pPr>
            <a:r>
              <a:rPr lang="en-US" sz="1400" dirty="0">
                <a:solidFill>
                  <a:srgbClr val="1F2937"/>
                </a:solidFill>
                <a:latin typeface="Calibri" pitchFamily="34" charset="0"/>
                <a:ea typeface="Calibri" pitchFamily="34" charset="-122"/>
                <a:cs typeface="Calibri" pitchFamily="34" charset="-120"/>
              </a:rPr>
              <a:t>Use the answer</a:t>
            </a:r>
            <a:endParaRPr lang="en-US" sz="1400" dirty="0"/>
          </a:p>
          <a:p>
            <a:pPr marL="342900" indent="-342900">
              <a:spcAft>
                <a:spcPts val="800"/>
              </a:spcAft>
              <a:buSzPct val="100000"/>
              <a:buChar char="•"/>
            </a:pPr>
            <a:r>
              <a:rPr lang="en-US" sz="1400" b="1" dirty="0">
                <a:solidFill>
                  <a:srgbClr val="1F2937"/>
                </a:solidFill>
                <a:latin typeface="Calibri" pitchFamily="34" charset="0"/>
                <a:ea typeface="Calibri" pitchFamily="34" charset="-122"/>
                <a:cs typeface="Calibri" pitchFamily="34" charset="-120"/>
              </a:rPr>
              <a:t>AND keep the two numbers</a:t>
            </a:r>
            <a:endParaRPr lang="en-US" sz="1400" dirty="0"/>
          </a:p>
        </p:txBody>
      </p:sp>
      <p:sp>
        <p:nvSpPr>
          <p:cNvPr id="14" name="Shape 12"/>
          <p:cNvSpPr/>
          <p:nvPr/>
        </p:nvSpPr>
        <p:spPr>
          <a:xfrm>
            <a:off x="4937760" y="3611880"/>
            <a:ext cx="3474720" cy="548640"/>
          </a:xfrm>
          <a:prstGeom prst="roundRect">
            <a:avLst>
              <a:gd name="adj" fmla="val 13333"/>
            </a:avLst>
          </a:prstGeom>
          <a:solidFill>
            <a:srgbClr val="FFFFFF"/>
          </a:solidFill>
          <a:ln w="12700">
            <a:solidFill>
              <a:srgbClr val="FFFFFF"/>
            </a:solidFill>
            <a:prstDash val="solid"/>
          </a:ln>
        </p:spPr>
      </p:sp>
      <p:sp>
        <p:nvSpPr>
          <p:cNvPr id="15" name="Text 13"/>
          <p:cNvSpPr txBox="1"/>
          <p:nvPr/>
        </p:nvSpPr>
        <p:spPr>
          <a:xfrm>
            <a:off x="4937760" y="3611880"/>
            <a:ext cx="3474720" cy="548640"/>
          </a:xfrm>
          <a:prstGeom prst="rect">
            <a:avLst/>
          </a:prstGeom>
          <a:noFill/>
          <a:ln/>
        </p:spPr>
        <p:txBody>
          <a:bodyPr wrap="square" lIns="0" tIns="0" rIns="0" bIns="0" rtlCol="0" anchor="ctr"/>
          <a:lstStyle/>
          <a:p>
            <a:pPr algn="ctr" indent="0" marL="0">
              <a:buNone/>
            </a:pPr>
            <a:r>
              <a:rPr lang="en-US" sz="1300" b="1" dirty="0">
                <a:solidFill>
                  <a:srgbClr val="047857"/>
                </a:solidFill>
                <a:latin typeface="Calibri" pitchFamily="34" charset="0"/>
                <a:ea typeface="Calibri" pitchFamily="34" charset="-122"/>
                <a:cs typeface="Calibri" pitchFamily="34" charset="-120"/>
              </a:rPr>
              <a:t>That is the entire change.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name="Slide 13">
    <p:bg>
      <p:bgPr>
        <a:solidFill>
          <a:srgbClr val="F9FAFB"/>
        </a:solidFill>
      </p:bgPr>
    </p:bg>
    <p:spTree>
      <p:nvGrpSpPr>
        <p:cNvPr id="1" name=""/>
        <p:cNvGrpSpPr/>
        <p:nvPr/>
      </p:nvGrpSpPr>
      <p:grpSpPr>
        <a:xfrm>
          <a:off x="0" y="0"/>
          <a:ext cx="0" cy="0"/>
          <a:chOff x="0" y="0"/>
          <a:chExt cx="0" cy="0"/>
        </a:xfrm>
      </p:grpSpPr>
      <p:sp>
        <p:nvSpPr>
          <p:cNvPr id="2" name="Text 0"/>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2</a:t>
            </a:r>
            <a:endParaRPr lang="en-US" sz="900" dirty="0"/>
          </a:p>
        </p:txBody>
      </p:sp>
      <p:sp>
        <p:nvSpPr>
          <p:cNvPr id="3" name="Text 1"/>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13</a:t>
            </a:r>
            <a:endParaRPr lang="en-US" sz="900" dirty="0"/>
          </a:p>
        </p:txBody>
      </p:sp>
      <p:sp>
        <p:nvSpPr>
          <p:cNvPr id="4" name="Shape 2"/>
          <p:cNvSpPr/>
          <p:nvPr/>
        </p:nvSpPr>
        <p:spPr>
          <a:xfrm>
            <a:off x="6583680" y="237744"/>
            <a:ext cx="2103120" cy="329184"/>
          </a:xfrm>
          <a:prstGeom prst="roundRect">
            <a:avLst>
              <a:gd name="adj" fmla="val 50000"/>
            </a:avLst>
          </a:prstGeom>
          <a:solidFill>
            <a:srgbClr val="B45309"/>
          </a:solidFill>
          <a:ln w="12700">
            <a:solidFill>
              <a:srgbClr val="B45309"/>
            </a:solidFill>
            <a:prstDash val="solid"/>
          </a:ln>
        </p:spPr>
      </p:sp>
      <p:pic>
        <p:nvPicPr>
          <p:cNvPr id="5" name="Image 0" descr="preencoded.png">    </p:cNvPr>
          <p:cNvPicPr>
            <a:picLocks noChangeAspect="1"/>
          </p:cNvPicPr>
          <p:nvPr/>
        </p:nvPicPr>
        <p:blipFill>
          <a:blip r:embed="rId1"/>
          <a:stretch>
            <a:fillRect/>
          </a:stretch>
        </p:blipFill>
        <p:spPr>
          <a:xfrm>
            <a:off x="6711696" y="320040"/>
            <a:ext cx="164592" cy="164592"/>
          </a:xfrm>
          <a:prstGeom prst="rect">
            <a:avLst/>
          </a:prstGeom>
        </p:spPr>
      </p:pic>
      <p:sp>
        <p:nvSpPr>
          <p:cNvPr id="6" name="Text 3"/>
          <p:cNvSpPr txBox="1"/>
          <p:nvPr/>
        </p:nvSpPr>
        <p:spPr>
          <a:xfrm>
            <a:off x="6949440" y="237744"/>
            <a:ext cx="1691640" cy="329184"/>
          </a:xfrm>
          <a:prstGeom prst="rect">
            <a:avLst/>
          </a:prstGeom>
          <a:noFill/>
          <a:ln/>
        </p:spPr>
        <p:txBody>
          <a:bodyPr wrap="square" lIns="0" tIns="0" rIns="0" bIns="0" rtlCol="0" anchor="ctr"/>
          <a:lstStyle/>
          <a:p>
            <a:pPr indent="0" marL="0">
              <a:buNone/>
            </a:pPr>
            <a:r>
              <a:rPr lang="en-US" sz="950" b="1" spc="100" kern="0" dirty="0">
                <a:solidFill>
                  <a:srgbClr val="FFFFFF"/>
                </a:solidFill>
                <a:latin typeface="Calibri" pitchFamily="34" charset="0"/>
                <a:ea typeface="Calibri" pitchFamily="34" charset="-122"/>
                <a:cs typeface="Calibri" pitchFamily="34" charset="-120"/>
              </a:rPr>
              <a:t>iPAD · DRAW</a:t>
            </a:r>
            <a:endParaRPr lang="en-US" sz="950" dirty="0"/>
          </a:p>
        </p:txBody>
      </p:sp>
      <p:pic>
        <p:nvPicPr>
          <p:cNvPr id="7" name="Image 1" descr="preencoded.png">    </p:cNvPr>
          <p:cNvPicPr>
            <a:picLocks noChangeAspect="1"/>
          </p:cNvPicPr>
          <p:nvPr/>
        </p:nvPicPr>
        <p:blipFill>
          <a:blip r:embed="rId2"/>
          <a:stretch>
            <a:fillRect/>
          </a:stretch>
        </p:blipFill>
        <p:spPr>
          <a:xfrm>
            <a:off x="457200" y="320040"/>
            <a:ext cx="182880" cy="164592"/>
          </a:xfrm>
          <a:prstGeom prst="rect">
            <a:avLst/>
          </a:prstGeom>
        </p:spPr>
      </p:pic>
      <p:sp>
        <p:nvSpPr>
          <p:cNvPr id="8" name="Text 4"/>
          <p:cNvSpPr txBox="1"/>
          <p:nvPr/>
        </p:nvSpPr>
        <p:spPr>
          <a:xfrm>
            <a:off x="704088" y="237744"/>
            <a:ext cx="5760720" cy="329184"/>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Hidden slide · presenter reference · 02 · The Usage Note</a:t>
            </a:r>
            <a:endParaRPr lang="en-US" sz="950" dirty="0"/>
          </a:p>
        </p:txBody>
      </p:sp>
      <p:sp>
        <p:nvSpPr>
          <p:cNvPr id="9" name="Text 5"/>
          <p:cNvSpPr txBox="1"/>
          <p:nvPr/>
        </p:nvSpPr>
        <p:spPr>
          <a:xfrm>
            <a:off x="457200" y="685800"/>
            <a:ext cx="8229600" cy="457200"/>
          </a:xfrm>
          <a:prstGeom prst="rect">
            <a:avLst/>
          </a:prstGeom>
          <a:noFill/>
          <a:ln/>
        </p:spPr>
        <p:txBody>
          <a:bodyPr wrap="square" lIns="0" tIns="0" rIns="0" bIns="0" rtlCol="0" anchor="t"/>
          <a:lstStyle/>
          <a:p>
            <a:pPr indent="0" marL="0">
              <a:buNone/>
            </a:pPr>
            <a:r>
              <a:rPr lang="en-US" sz="2400" b="1" dirty="0">
                <a:solidFill>
                  <a:srgbClr val="111827"/>
                </a:solidFill>
                <a:latin typeface="Cambria" pitchFamily="34" charset="0"/>
                <a:ea typeface="Cambria" pitchFamily="34" charset="-122"/>
                <a:cs typeface="Cambria" pitchFamily="34" charset="-120"/>
              </a:rPr>
              <a:t>Draw what comes back</a:t>
            </a:r>
            <a:endParaRPr lang="en-US" sz="2400" dirty="0"/>
          </a:p>
        </p:txBody>
      </p:sp>
      <p:sp>
        <p:nvSpPr>
          <p:cNvPr id="10" name="Text 6"/>
          <p:cNvSpPr txBox="1"/>
          <p:nvPr/>
        </p:nvSpPr>
        <p:spPr>
          <a:xfrm>
            <a:off x="457200" y="1143000"/>
            <a:ext cx="8229600" cy="274320"/>
          </a:xfrm>
          <a:prstGeom prst="rect">
            <a:avLst/>
          </a:prstGeom>
          <a:noFill/>
          <a:ln/>
        </p:spPr>
        <p:txBody>
          <a:bodyPr wrap="square" lIns="0" tIns="0" rIns="0" bIns="0" rtlCol="0" anchor="t"/>
          <a:lstStyle/>
          <a:p>
            <a:pPr indent="0" marL="0">
              <a:buNone/>
            </a:pPr>
            <a:r>
              <a:rPr lang="en-US" sz="1050" i="1" dirty="0">
                <a:solidFill>
                  <a:srgbClr val="6B7280"/>
                </a:solidFill>
                <a:latin typeface="Calibri" pitchFamily="34" charset="0"/>
                <a:ea typeface="Calibri" pitchFamily="34" charset="-122"/>
                <a:cs typeface="Calibri" pitchFamily="34" charset="-120"/>
              </a:rPr>
              <a:t>New iPad page. Draw the flow left to right, then the two contrasting boxes underneath.</a:t>
            </a:r>
            <a:endParaRPr lang="en-US" sz="1050" dirty="0"/>
          </a:p>
        </p:txBody>
      </p:sp>
      <p:sp>
        <p:nvSpPr>
          <p:cNvPr id="11" name="Text 7"/>
          <p:cNvSpPr txBox="1"/>
          <p:nvPr/>
        </p:nvSpPr>
        <p:spPr>
          <a:xfrm>
            <a:off x="457200" y="1572768"/>
            <a:ext cx="3246120" cy="301752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Left: box labelled YOUR AGENT: “asks a question”</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Arrow right into THE MODEL: “thinks, answers”</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Arrow right into a larger dark rectangle: WHAT COMES BACK</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Inside it, write it like a document: open brace · text: … · usage: { · input tokens: 2214 · output tokens: 187 · }</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Colour those last two lines differently; under the rectangle write: the coloured lines are the receipt</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Below, left box WHAT MOST PROGRAMS DO: read the answer · use the answer · ignore the usage part completely → the receipt is thrown in the bin</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Right box WHAT WE WILL DO: read the answer · use the answer · AND keep the two numbers → that is the entire change</a:t>
            </a:r>
            <a:endParaRPr lang="en-US" sz="950" dirty="0"/>
          </a:p>
        </p:txBody>
      </p:sp>
      <p:sp>
        <p:nvSpPr>
          <p:cNvPr id="12" name="Shape 8"/>
          <p:cNvSpPr/>
          <p:nvPr/>
        </p:nvSpPr>
        <p:spPr>
          <a:xfrm>
            <a:off x="3886200" y="1536192"/>
            <a:ext cx="4800600" cy="2339788"/>
          </a:xfrm>
          <a:prstGeom prst="roundRect">
            <a:avLst>
              <a:gd name="adj" fmla="val 3126"/>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3" name="Text 9"/>
          <p:cNvSpPr txBox="1"/>
          <p:nvPr/>
        </p:nvSpPr>
        <p:spPr>
          <a:xfrm>
            <a:off x="4005072" y="1591056"/>
            <a:ext cx="4572000" cy="201168"/>
          </a:xfrm>
          <a:prstGeom prst="rect">
            <a:avLst/>
          </a:prstGeom>
          <a:noFill/>
          <a:ln/>
        </p:spPr>
        <p:txBody>
          <a:bodyPr wrap="square" lIns="0" tIns="0" rIns="0" bIns="0" rtlCol="0" anchor="t"/>
          <a:lstStyle/>
          <a:p>
            <a:pPr indent="0" marL="0">
              <a:buNone/>
            </a:pPr>
            <a:r>
              <a:rPr lang="en-US" sz="750" b="1" spc="150" kern="0" dirty="0">
                <a:solidFill>
                  <a:srgbClr val="9CA3AF"/>
                </a:solidFill>
                <a:latin typeface="Calibri" pitchFamily="34" charset="0"/>
                <a:ea typeface="Calibri" pitchFamily="34" charset="-122"/>
                <a:cs typeface="Calibri" pitchFamily="34" charset="-120"/>
              </a:rPr>
              <a:t>FINISHED PANEL: WHAT YOURS SHOULD LOOK LIKE</a:t>
            </a:r>
            <a:endParaRPr lang="en-US" sz="750" dirty="0"/>
          </a:p>
        </p:txBody>
      </p:sp>
      <p:pic>
        <p:nvPicPr>
          <p:cNvPr id="14" name="Image 2" descr="preencoded.png">    </p:cNvPr>
          <p:cNvPicPr>
            <a:picLocks noChangeAspect="1"/>
          </p:cNvPicPr>
          <p:nvPr/>
        </p:nvPicPr>
        <p:blipFill>
          <a:blip r:embed="rId3"/>
          <a:stretch>
            <a:fillRect/>
          </a:stretch>
        </p:blipFill>
        <p:spPr>
          <a:xfrm>
            <a:off x="3886200" y="1828800"/>
            <a:ext cx="4800600" cy="1882588"/>
          </a:xfrm>
          <a:prstGeom prst="rect">
            <a:avLst/>
          </a:prstGeom>
        </p:spPr>
      </p:pic>
      <p:sp>
        <p:nvSpPr>
          <p:cNvPr id="15" name="Shape 10"/>
          <p:cNvSpPr/>
          <p:nvPr/>
        </p:nvSpPr>
        <p:spPr>
          <a:xfrm>
            <a:off x="3886200" y="4031428"/>
            <a:ext cx="4800600" cy="457200"/>
          </a:xfrm>
          <a:prstGeom prst="roundRect">
            <a:avLst>
              <a:gd name="adj" fmla="val 16000"/>
            </a:avLst>
          </a:prstGeom>
          <a:solidFill>
            <a:srgbClr val="FEF3C7"/>
          </a:solidFill>
          <a:ln w="12700">
            <a:solidFill>
              <a:srgbClr val="FEF3C7"/>
            </a:solidFill>
            <a:prstDash val="solid"/>
          </a:ln>
        </p:spPr>
      </p:sp>
      <p:sp>
        <p:nvSpPr>
          <p:cNvPr id="16" name="Text 11"/>
          <p:cNvSpPr txBox="1"/>
          <p:nvPr/>
        </p:nvSpPr>
        <p:spPr>
          <a:xfrm>
            <a:off x="4069080" y="4031428"/>
            <a:ext cx="4480560" cy="457200"/>
          </a:xfrm>
          <a:prstGeom prst="rect">
            <a:avLst/>
          </a:prstGeom>
          <a:noFill/>
          <a:ln/>
        </p:spPr>
        <p:txBody>
          <a:bodyPr wrap="square" lIns="0" tIns="0" rIns="0" bIns="0" rtlCol="0" anchor="ctr"/>
          <a:lstStyle/>
          <a:p>
            <a:pPr indent="0" marL="0">
              <a:buNone/>
            </a:pPr>
            <a:r>
              <a:rPr lang="en-US" sz="1050" b="1" i="1" dirty="0">
                <a:solidFill>
                  <a:srgbClr val="B45309"/>
                </a:solidFill>
                <a:latin typeface="Calibri" pitchFamily="34" charset="0"/>
                <a:ea typeface="Calibri" pitchFamily="34" charset="-122"/>
                <a:cs typeface="Calibri" pitchFamily="34" charset="-120"/>
              </a:rPr>
              <a:t>Say: “The green lines are the receipt. They arrive whether you read them or not.”</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11827"/>
        </a:solidFill>
      </p:bgPr>
    </p:bg>
    <p:spTree>
      <p:nvGrpSpPr>
        <p:cNvPr id="1" name=""/>
        <p:cNvGrpSpPr/>
        <p:nvPr/>
      </p:nvGrpSpPr>
      <p:grpSpPr>
        <a:xfrm>
          <a:off x="0" y="0"/>
          <a:ext cx="0" cy="0"/>
          <a:chOff x="0" y="0"/>
          <a:chExt cx="0" cy="0"/>
        </a:xfrm>
      </p:grpSpPr>
      <p:sp>
        <p:nvSpPr>
          <p:cNvPr id="2" name="Text 0"/>
          <p:cNvSpPr txBox="1"/>
          <p:nvPr/>
        </p:nvSpPr>
        <p:spPr>
          <a:xfrm>
            <a:off x="548640" y="1005840"/>
            <a:ext cx="2743200" cy="1280160"/>
          </a:xfrm>
          <a:prstGeom prst="rect">
            <a:avLst/>
          </a:prstGeom>
          <a:noFill/>
          <a:ln/>
        </p:spPr>
        <p:txBody>
          <a:bodyPr wrap="square" lIns="0" tIns="0" rIns="0" bIns="0" rtlCol="0" anchor="t"/>
          <a:lstStyle/>
          <a:p>
            <a:pPr indent="0" marL="0">
              <a:buNone/>
            </a:pPr>
            <a:r>
              <a:rPr lang="en-US" sz="9600" b="1" dirty="0">
                <a:solidFill>
                  <a:srgbClr val="F59E0B"/>
                </a:solidFill>
                <a:latin typeface="Cambria" pitchFamily="34" charset="0"/>
                <a:ea typeface="Cambria" pitchFamily="34" charset="-122"/>
                <a:cs typeface="Cambria" pitchFamily="34" charset="-120"/>
              </a:rPr>
              <a:t>03</a:t>
            </a:r>
            <a:endParaRPr lang="en-US" sz="9600" dirty="0"/>
          </a:p>
        </p:txBody>
      </p:sp>
      <p:sp>
        <p:nvSpPr>
          <p:cNvPr id="3" name="Text 1"/>
          <p:cNvSpPr txBox="1"/>
          <p:nvPr/>
        </p:nvSpPr>
        <p:spPr>
          <a:xfrm>
            <a:off x="548640" y="2377440"/>
            <a:ext cx="8046720" cy="91440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Wrap, Don't Rewrite</a:t>
            </a:r>
            <a:endParaRPr lang="en-US" sz="3600" dirty="0"/>
          </a:p>
        </p:txBody>
      </p:sp>
      <p:sp>
        <p:nvSpPr>
          <p:cNvPr id="4" name="Text 2"/>
          <p:cNvSpPr txBox="1"/>
          <p:nvPr/>
        </p:nvSpPr>
        <p:spPr>
          <a:xfrm>
            <a:off x="548640" y="3383280"/>
            <a:ext cx="2743200" cy="320040"/>
          </a:xfrm>
          <a:prstGeom prst="rect">
            <a:avLst/>
          </a:prstGeom>
          <a:noFill/>
          <a:ln/>
        </p:spPr>
        <p:txBody>
          <a:bodyPr wrap="square" lIns="0" tIns="0" rIns="0" bIns="0" rtlCol="0" anchor="t"/>
          <a:lstStyle/>
          <a:p>
            <a:pPr indent="0" marL="0">
              <a:buNone/>
            </a:pPr>
            <a:r>
              <a:rPr lang="en-US" sz="1400" dirty="0">
                <a:solidFill>
                  <a:srgbClr val="9CA3AF"/>
                </a:solidFill>
                <a:latin typeface="Calibri" pitchFamily="34" charset="0"/>
                <a:ea typeface="Calibri" pitchFamily="34" charset="-122"/>
                <a:cs typeface="Calibri" pitchFamily="34" charset="-120"/>
              </a:rPr>
              <a:t>~8 min</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03 · WRAP, DON'T REWRITE</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Put an envelope around the call</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2</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15</a:t>
            </a:r>
            <a:endParaRPr lang="en-US" sz="900" dirty="0"/>
          </a:p>
        </p:txBody>
      </p:sp>
      <p:sp>
        <p:nvSpPr>
          <p:cNvPr id="6" name="Text 4"/>
          <p:cNvSpPr txBox="1"/>
          <p:nvPr/>
        </p:nvSpPr>
        <p:spPr>
          <a:xfrm>
            <a:off x="457200" y="1234440"/>
            <a:ext cx="2286000" cy="274320"/>
          </a:xfrm>
          <a:prstGeom prst="rect">
            <a:avLst/>
          </a:prstGeom>
          <a:noFill/>
          <a:ln/>
        </p:spPr>
        <p:txBody>
          <a:bodyPr wrap="square" lIns="0" tIns="0" rIns="0" bIns="0" rtlCol="0" anchor="t"/>
          <a:lstStyle/>
          <a:p>
            <a:pPr indent="0" marL="0">
              <a:buNone/>
            </a:pPr>
            <a:r>
              <a:rPr lang="en-US" sz="1000" b="1" spc="200" kern="0" dirty="0">
                <a:solidFill>
                  <a:srgbClr val="6B7280"/>
                </a:solidFill>
                <a:latin typeface="Calibri" pitchFamily="34" charset="0"/>
                <a:ea typeface="Calibri" pitchFamily="34" charset="-122"/>
                <a:cs typeface="Calibri" pitchFamily="34" charset="-120"/>
              </a:rPr>
              <a:t>BEFORE</a:t>
            </a:r>
            <a:endParaRPr lang="en-US" sz="1000" dirty="0"/>
          </a:p>
        </p:txBody>
      </p:sp>
      <p:sp>
        <p:nvSpPr>
          <p:cNvPr id="7" name="Shape 5"/>
          <p:cNvSpPr/>
          <p:nvPr/>
        </p:nvSpPr>
        <p:spPr>
          <a:xfrm>
            <a:off x="457200" y="1554480"/>
            <a:ext cx="3017520" cy="1371600"/>
          </a:xfrm>
          <a:prstGeom prst="roundRect">
            <a:avLst>
              <a:gd name="adj" fmla="val 5333"/>
            </a:avLst>
          </a:prstGeom>
          <a:solidFill>
            <a:srgbClr val="F3F4F6"/>
          </a:solidFill>
          <a:ln w="12700">
            <a:solidFill>
              <a:srgbClr val="F3F4F6"/>
            </a:solidFill>
            <a:prstDash val="solid"/>
          </a:ln>
        </p:spPr>
      </p:sp>
      <p:sp>
        <p:nvSpPr>
          <p:cNvPr id="8" name="Shape 6"/>
          <p:cNvSpPr/>
          <p:nvPr/>
        </p:nvSpPr>
        <p:spPr>
          <a:xfrm>
            <a:off x="685800" y="1874520"/>
            <a:ext cx="2560320" cy="777240"/>
          </a:xfrm>
          <a:prstGeom prst="roundRect">
            <a:avLst>
              <a:gd name="adj" fmla="val 9412"/>
            </a:avLst>
          </a:prstGeom>
          <a:solidFill>
            <a:srgbClr val="FFFFFF"/>
          </a:solidFill>
          <a:ln w="12700">
            <a:solidFill>
              <a:srgbClr val="FFFFFF"/>
            </a:solidFill>
            <a:prstDash val="solid"/>
          </a:ln>
        </p:spPr>
      </p:sp>
      <p:sp>
        <p:nvSpPr>
          <p:cNvPr id="9" name="Text 7"/>
          <p:cNvSpPr txBox="1"/>
          <p:nvPr/>
        </p:nvSpPr>
        <p:spPr>
          <a:xfrm>
            <a:off x="868680" y="1874520"/>
            <a:ext cx="2286000" cy="777240"/>
          </a:xfrm>
          <a:prstGeom prst="rect">
            <a:avLst/>
          </a:prstGeom>
          <a:noFill/>
          <a:ln/>
        </p:spPr>
        <p:txBody>
          <a:bodyPr wrap="square" lIns="0" tIns="0" rIns="0" bIns="0" rtlCol="0" anchor="ctr"/>
          <a:lstStyle/>
          <a:p>
            <a:pPr indent="0" marL="0">
              <a:buNone/>
            </a:pPr>
            <a:r>
              <a:rPr lang="en-US" sz="1100" dirty="0">
                <a:solidFill>
                  <a:srgbClr val="111827"/>
                </a:solidFill>
                <a:latin typeface="Courier New" pitchFamily="34" charset="0"/>
                <a:ea typeface="Courier New" pitchFamily="34" charset="-122"/>
                <a:cs typeface="Courier New" pitchFamily="34" charset="-120"/>
              </a:rPr>
              <a:t>ask the model</a:t>
            </a:r>
            <a:endParaRPr lang="en-US" sz="1100" dirty="0"/>
          </a:p>
          <a:p>
            <a:pPr indent="0" marL="0">
              <a:buNone/>
            </a:pPr>
            <a:r>
              <a:rPr lang="en-US" sz="1100" dirty="0">
                <a:solidFill>
                  <a:srgbClr val="111827"/>
                </a:solidFill>
                <a:latin typeface="Courier New" pitchFamily="34" charset="0"/>
                <a:ea typeface="Courier New" pitchFamily="34" charset="-122"/>
                <a:cs typeface="Courier New" pitchFamily="34" charset="-120"/>
              </a:rPr>
              <a:t>use the answer</a:t>
            </a:r>
            <a:endParaRPr lang="en-US" sz="1100" dirty="0"/>
          </a:p>
        </p:txBody>
      </p:sp>
      <p:sp>
        <p:nvSpPr>
          <p:cNvPr id="10" name="Text 8"/>
          <p:cNvSpPr txBox="1"/>
          <p:nvPr/>
        </p:nvSpPr>
        <p:spPr>
          <a:xfrm>
            <a:off x="457200" y="3063240"/>
            <a:ext cx="3017520" cy="320040"/>
          </a:xfrm>
          <a:prstGeom prst="rect">
            <a:avLst/>
          </a:prstGeom>
          <a:noFill/>
          <a:ln/>
        </p:spPr>
        <p:txBody>
          <a:bodyPr wrap="square" lIns="0" tIns="0" rIns="0" bIns="0" rtlCol="0" anchor="t"/>
          <a:lstStyle/>
          <a:p>
            <a:pPr indent="0" marL="0">
              <a:buNone/>
            </a:pPr>
            <a:r>
              <a:rPr lang="en-US" sz="1200" i="1" dirty="0">
                <a:solidFill>
                  <a:srgbClr val="B45309"/>
                </a:solidFill>
                <a:latin typeface="Calibri" pitchFamily="34" charset="0"/>
                <a:ea typeface="Calibri" pitchFamily="34" charset="-122"/>
                <a:cs typeface="Calibri" pitchFamily="34" charset="-120"/>
              </a:rPr>
              <a:t>wrap it  →</a:t>
            </a:r>
            <a:endParaRPr lang="en-US" sz="1200" dirty="0"/>
          </a:p>
        </p:txBody>
      </p:sp>
      <p:sp>
        <p:nvSpPr>
          <p:cNvPr id="11" name="Text 9"/>
          <p:cNvSpPr txBox="1"/>
          <p:nvPr/>
        </p:nvSpPr>
        <p:spPr>
          <a:xfrm>
            <a:off x="3931920" y="1234440"/>
            <a:ext cx="4754880" cy="274320"/>
          </a:xfrm>
          <a:prstGeom prst="rect">
            <a:avLst/>
          </a:prstGeom>
          <a:noFill/>
          <a:ln/>
        </p:spPr>
        <p:txBody>
          <a:bodyPr wrap="square" lIns="0" tIns="0" rIns="0" bIns="0" rtlCol="0" anchor="t"/>
          <a:lstStyle/>
          <a:p>
            <a:pPr indent="0" marL="0">
              <a:buNone/>
            </a:pPr>
            <a:r>
              <a:rPr lang="en-US" sz="1000" b="1" spc="200" kern="0" dirty="0">
                <a:solidFill>
                  <a:srgbClr val="B45309"/>
                </a:solidFill>
                <a:latin typeface="Calibri" pitchFamily="34" charset="0"/>
                <a:ea typeface="Calibri" pitchFamily="34" charset="-122"/>
                <a:cs typeface="Calibri" pitchFamily="34" charset="-120"/>
              </a:rPr>
              <a:t>AFTER: THE ENVELOPE</a:t>
            </a:r>
            <a:endParaRPr lang="en-US" sz="1000" dirty="0"/>
          </a:p>
        </p:txBody>
      </p:sp>
      <p:sp>
        <p:nvSpPr>
          <p:cNvPr id="12" name="Shape 10"/>
          <p:cNvSpPr/>
          <p:nvPr/>
        </p:nvSpPr>
        <p:spPr>
          <a:xfrm>
            <a:off x="3931920" y="1554480"/>
            <a:ext cx="4754880" cy="2514600"/>
          </a:xfrm>
          <a:prstGeom prst="roundRect">
            <a:avLst>
              <a:gd name="adj" fmla="val 2909"/>
            </a:avLst>
          </a:prstGeom>
          <a:solidFill>
            <a:srgbClr val="FEF3C7"/>
          </a:solidFill>
          <a:ln w="12700">
            <a:solidFill>
              <a:srgbClr val="FEF3C7"/>
            </a:solidFill>
            <a:prstDash val="solid"/>
          </a:ln>
        </p:spPr>
      </p:sp>
      <p:sp>
        <p:nvSpPr>
          <p:cNvPr id="13" name="Shape 11"/>
          <p:cNvSpPr/>
          <p:nvPr/>
        </p:nvSpPr>
        <p:spPr>
          <a:xfrm>
            <a:off x="4160520" y="1737360"/>
            <a:ext cx="4297680" cy="457200"/>
          </a:xfrm>
          <a:prstGeom prst="roundRect">
            <a:avLst>
              <a:gd name="adj" fmla="val 16000"/>
            </a:avLst>
          </a:prstGeom>
          <a:solidFill>
            <a:srgbClr val="FFFFFF"/>
          </a:solidFill>
          <a:ln w="12700">
            <a:solidFill>
              <a:srgbClr val="FFFFFF"/>
            </a:solidFill>
            <a:prstDash val="solid"/>
          </a:ln>
        </p:spPr>
      </p:sp>
      <p:sp>
        <p:nvSpPr>
          <p:cNvPr id="14" name="Text 12"/>
          <p:cNvSpPr txBox="1"/>
          <p:nvPr/>
        </p:nvSpPr>
        <p:spPr>
          <a:xfrm>
            <a:off x="4343400" y="1737360"/>
            <a:ext cx="3931920" cy="45720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note the time, note who is asking</a:t>
            </a:r>
            <a:endParaRPr lang="en-US" sz="1200" dirty="0"/>
          </a:p>
        </p:txBody>
      </p:sp>
      <p:sp>
        <p:nvSpPr>
          <p:cNvPr id="15" name="Shape 13"/>
          <p:cNvSpPr/>
          <p:nvPr/>
        </p:nvSpPr>
        <p:spPr>
          <a:xfrm>
            <a:off x="4160520" y="2286000"/>
            <a:ext cx="4297680" cy="777240"/>
          </a:xfrm>
          <a:prstGeom prst="roundRect">
            <a:avLst>
              <a:gd name="adj" fmla="val 9412"/>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6" name="Text 14"/>
          <p:cNvSpPr txBox="1"/>
          <p:nvPr/>
        </p:nvSpPr>
        <p:spPr>
          <a:xfrm>
            <a:off x="4343400" y="2286000"/>
            <a:ext cx="3931920" cy="777240"/>
          </a:xfrm>
          <a:prstGeom prst="rect">
            <a:avLst/>
          </a:prstGeom>
          <a:noFill/>
          <a:ln/>
        </p:spPr>
        <p:txBody>
          <a:bodyPr wrap="square" lIns="0" tIns="0" rIns="0" bIns="0" rtlCol="0" anchor="ctr"/>
          <a:lstStyle/>
          <a:p>
            <a:pPr indent="0" marL="0">
              <a:buNone/>
            </a:pPr>
            <a:r>
              <a:rPr lang="en-US" sz="1100" dirty="0">
                <a:solidFill>
                  <a:srgbClr val="111827"/>
                </a:solidFill>
                <a:latin typeface="Courier New" pitchFamily="34" charset="0"/>
                <a:ea typeface="Courier New" pitchFamily="34" charset="-122"/>
                <a:cs typeface="Courier New" pitchFamily="34" charset="-120"/>
              </a:rPr>
              <a:t>ask the model</a:t>
            </a:r>
            <a:endParaRPr lang="en-US" sz="1100" dirty="0"/>
          </a:p>
          <a:p>
            <a:pPr indent="0" marL="0">
              <a:buNone/>
            </a:pPr>
            <a:r>
              <a:rPr lang="en-US" sz="1100" dirty="0">
                <a:solidFill>
                  <a:srgbClr val="111827"/>
                </a:solidFill>
                <a:latin typeface="Courier New" pitchFamily="34" charset="0"/>
                <a:ea typeface="Courier New" pitchFamily="34" charset="-122"/>
                <a:cs typeface="Courier New" pitchFamily="34" charset="-120"/>
              </a:rPr>
              <a:t>use the answer</a:t>
            </a:r>
            <a:endParaRPr lang="en-US" sz="1100" dirty="0"/>
          </a:p>
        </p:txBody>
      </p:sp>
      <p:sp>
        <p:nvSpPr>
          <p:cNvPr id="17" name="Shape 15"/>
          <p:cNvSpPr/>
          <p:nvPr/>
        </p:nvSpPr>
        <p:spPr>
          <a:xfrm>
            <a:off x="4160520" y="3154680"/>
            <a:ext cx="4297680" cy="457200"/>
          </a:xfrm>
          <a:prstGeom prst="roundRect">
            <a:avLst>
              <a:gd name="adj" fmla="val 16000"/>
            </a:avLst>
          </a:prstGeom>
          <a:solidFill>
            <a:srgbClr val="FFFFFF"/>
          </a:solidFill>
          <a:ln w="12700">
            <a:solidFill>
              <a:srgbClr val="FFFFFF"/>
            </a:solidFill>
            <a:prstDash val="solid"/>
          </a:ln>
        </p:spPr>
      </p:sp>
      <p:sp>
        <p:nvSpPr>
          <p:cNvPr id="18" name="Text 16"/>
          <p:cNvSpPr txBox="1"/>
          <p:nvPr/>
        </p:nvSpPr>
        <p:spPr>
          <a:xfrm>
            <a:off x="4343400" y="3154680"/>
            <a:ext cx="3931920" cy="457200"/>
          </a:xfrm>
          <a:prstGeom prst="rect">
            <a:avLst/>
          </a:prstGeom>
          <a:noFill/>
          <a:ln/>
        </p:spPr>
        <p:txBody>
          <a:bodyPr wrap="square" lIns="0" tIns="0" rIns="0" bIns="0" rtlCol="0" anchor="ctr"/>
          <a:lstStyle/>
          <a:p>
            <a:pPr indent="0" marL="0">
              <a:buNone/>
            </a:pPr>
            <a:r>
              <a:rPr lang="en-US" sz="1200" dirty="0">
                <a:solidFill>
                  <a:srgbClr val="1F2937"/>
                </a:solidFill>
                <a:latin typeface="Calibri" pitchFamily="34" charset="0"/>
                <a:ea typeface="Calibri" pitchFamily="34" charset="-122"/>
                <a:cs typeface="Calibri" pitchFamily="34" charset="-120"/>
              </a:rPr>
              <a:t>read the receipt, write it down</a:t>
            </a:r>
            <a:endParaRPr lang="en-US" sz="1200" dirty="0"/>
          </a:p>
        </p:txBody>
      </p:sp>
      <p:sp>
        <p:nvSpPr>
          <p:cNvPr id="19" name="Text 17"/>
          <p:cNvSpPr txBox="1"/>
          <p:nvPr/>
        </p:nvSpPr>
        <p:spPr>
          <a:xfrm>
            <a:off x="3931920" y="4114800"/>
            <a:ext cx="4754880" cy="320040"/>
          </a:xfrm>
          <a:prstGeom prst="rect">
            <a:avLst/>
          </a:prstGeom>
          <a:noFill/>
          <a:ln/>
        </p:spPr>
        <p:txBody>
          <a:bodyPr wrap="square" lIns="0" tIns="0" rIns="0" bIns="0" rtlCol="0" anchor="t"/>
          <a:lstStyle/>
          <a:p>
            <a:pPr indent="0" marL="0">
              <a:buNone/>
            </a:pPr>
            <a:r>
              <a:rPr lang="en-US" sz="1200" b="1" i="1" dirty="0">
                <a:solidFill>
                  <a:srgbClr val="B45309"/>
                </a:solidFill>
                <a:latin typeface="Calibri" pitchFamily="34" charset="0"/>
                <a:ea typeface="Calibri" pitchFamily="34" charset="-122"/>
                <a:cs typeface="Calibri" pitchFamily="34" charset="-120"/>
              </a:rPr>
              <a:t>identical code; the middle is untouched</a:t>
            </a:r>
            <a:endParaRPr lang="en-US" sz="1200" dirty="0"/>
          </a:p>
        </p:txBody>
      </p:sp>
      <p:sp>
        <p:nvSpPr>
          <p:cNvPr id="20" name="Text 18"/>
          <p:cNvSpPr txBox="1"/>
          <p:nvPr/>
        </p:nvSpPr>
        <p:spPr>
          <a:xfrm>
            <a:off x="457200" y="3520440"/>
            <a:ext cx="3200400" cy="91440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If you remember one sentence from this module: wrap, do not rewrite.</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03 · WRAP, DON'T REWRITE</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Three reasons this is the right shape</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2</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16</a:t>
            </a:r>
            <a:endParaRPr lang="en-US" sz="900" dirty="0"/>
          </a:p>
        </p:txBody>
      </p:sp>
      <p:sp>
        <p:nvSpPr>
          <p:cNvPr id="6" name="Shape 4"/>
          <p:cNvSpPr/>
          <p:nvPr/>
        </p:nvSpPr>
        <p:spPr>
          <a:xfrm>
            <a:off x="457200" y="1371600"/>
            <a:ext cx="2606040" cy="2651760"/>
          </a:xfrm>
          <a:prstGeom prst="roundRect">
            <a:avLst>
              <a:gd name="adj" fmla="val 2807"/>
            </a:avLst>
          </a:prstGeom>
          <a:solidFill>
            <a:srgbClr val="F3F4F6"/>
          </a:solidFill>
          <a:ln w="12700">
            <a:solidFill>
              <a:srgbClr val="F3F4F6"/>
            </a:solidFill>
            <a:prstDash val="solid"/>
          </a:ln>
        </p:spPr>
      </p:sp>
      <p:sp>
        <p:nvSpPr>
          <p:cNvPr id="7" name="Shape 5"/>
          <p:cNvSpPr/>
          <p:nvPr/>
        </p:nvSpPr>
        <p:spPr>
          <a:xfrm>
            <a:off x="685800" y="1600200"/>
            <a:ext cx="411480" cy="411480"/>
          </a:xfrm>
          <a:prstGeom prst="roundRect">
            <a:avLst>
              <a:gd name="adj" fmla="val 17778"/>
            </a:avLst>
          </a:prstGeom>
          <a:solidFill>
            <a:srgbClr val="047857"/>
          </a:solidFill>
          <a:ln w="12700">
            <a:solidFill>
              <a:srgbClr val="047857"/>
            </a:solidFill>
            <a:prstDash val="solid"/>
          </a:ln>
        </p:spPr>
      </p:sp>
      <p:pic>
        <p:nvPicPr>
          <p:cNvPr id="8" name="Image 0" descr="preencoded.png">    </p:cNvPr>
          <p:cNvPicPr>
            <a:picLocks noChangeAspect="1"/>
          </p:cNvPicPr>
          <p:nvPr/>
        </p:nvPicPr>
        <p:blipFill>
          <a:blip r:embed="rId1"/>
          <a:stretch>
            <a:fillRect/>
          </a:stretch>
        </p:blipFill>
        <p:spPr>
          <a:xfrm>
            <a:off x="777240" y="1691640"/>
            <a:ext cx="228600" cy="228600"/>
          </a:xfrm>
          <a:prstGeom prst="rect">
            <a:avLst/>
          </a:prstGeom>
        </p:spPr>
      </p:pic>
      <p:sp>
        <p:nvSpPr>
          <p:cNvPr id="9" name="Text 6"/>
          <p:cNvSpPr txBox="1"/>
          <p:nvPr/>
        </p:nvSpPr>
        <p:spPr>
          <a:xfrm>
            <a:off x="685800" y="2148840"/>
            <a:ext cx="2194560" cy="365760"/>
          </a:xfrm>
          <a:prstGeom prst="rect">
            <a:avLst/>
          </a:prstGeom>
          <a:noFill/>
          <a:ln/>
        </p:spPr>
        <p:txBody>
          <a:bodyPr wrap="square" lIns="0" tIns="0" rIns="0" bIns="0" rtlCol="0" anchor="t"/>
          <a:lstStyle/>
          <a:p>
            <a:pPr indent="0" marL="0">
              <a:buNone/>
            </a:pPr>
            <a:r>
              <a:rPr lang="en-US" sz="1600" b="1" dirty="0">
                <a:solidFill>
                  <a:srgbClr val="111827"/>
                </a:solidFill>
                <a:latin typeface="Calibri" pitchFamily="34" charset="0"/>
                <a:ea typeface="Calibri" pitchFamily="34" charset="-122"/>
                <a:cs typeface="Calibri" pitchFamily="34" charset="-120"/>
              </a:rPr>
              <a:t>Nothing breaks</a:t>
            </a:r>
            <a:endParaRPr lang="en-US" sz="1600" dirty="0"/>
          </a:p>
        </p:txBody>
      </p:sp>
      <p:sp>
        <p:nvSpPr>
          <p:cNvPr id="10" name="Text 7"/>
          <p:cNvSpPr txBox="1"/>
          <p:nvPr/>
        </p:nvSpPr>
        <p:spPr>
          <a:xfrm>
            <a:off x="685800" y="2560320"/>
            <a:ext cx="2194560" cy="13258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Your agent behaves precisely as it did before, because you did not change how it works; you added two lines around the outside.</a:t>
            </a:r>
            <a:endParaRPr lang="en-US" sz="1200" dirty="0"/>
          </a:p>
        </p:txBody>
      </p:sp>
      <p:sp>
        <p:nvSpPr>
          <p:cNvPr id="11" name="Shape 8"/>
          <p:cNvSpPr/>
          <p:nvPr/>
        </p:nvSpPr>
        <p:spPr>
          <a:xfrm>
            <a:off x="3246120" y="1371600"/>
            <a:ext cx="2606040" cy="2651760"/>
          </a:xfrm>
          <a:prstGeom prst="roundRect">
            <a:avLst>
              <a:gd name="adj" fmla="val 2807"/>
            </a:avLst>
          </a:prstGeom>
          <a:solidFill>
            <a:srgbClr val="F3F4F6"/>
          </a:solidFill>
          <a:ln w="12700">
            <a:solidFill>
              <a:srgbClr val="F3F4F6"/>
            </a:solidFill>
            <a:prstDash val="solid"/>
          </a:ln>
        </p:spPr>
      </p:sp>
      <p:sp>
        <p:nvSpPr>
          <p:cNvPr id="12" name="Shape 9"/>
          <p:cNvSpPr/>
          <p:nvPr/>
        </p:nvSpPr>
        <p:spPr>
          <a:xfrm>
            <a:off x="3474720" y="1600200"/>
            <a:ext cx="411480" cy="411480"/>
          </a:xfrm>
          <a:prstGeom prst="roundRect">
            <a:avLst>
              <a:gd name="adj" fmla="val 17778"/>
            </a:avLst>
          </a:prstGeom>
          <a:solidFill>
            <a:srgbClr val="1D4ED8"/>
          </a:solidFill>
          <a:ln w="12700">
            <a:solidFill>
              <a:srgbClr val="1D4ED8"/>
            </a:solidFill>
            <a:prstDash val="solid"/>
          </a:ln>
        </p:spPr>
      </p:sp>
      <p:pic>
        <p:nvPicPr>
          <p:cNvPr id="13" name="Image 1" descr="preencoded.png">    </p:cNvPr>
          <p:cNvPicPr>
            <a:picLocks noChangeAspect="1"/>
          </p:cNvPicPr>
          <p:nvPr/>
        </p:nvPicPr>
        <p:blipFill>
          <a:blip r:embed="rId2"/>
          <a:stretch>
            <a:fillRect/>
          </a:stretch>
        </p:blipFill>
        <p:spPr>
          <a:xfrm>
            <a:off x="3566160" y="1691640"/>
            <a:ext cx="228600" cy="228600"/>
          </a:xfrm>
          <a:prstGeom prst="rect">
            <a:avLst/>
          </a:prstGeom>
        </p:spPr>
      </p:pic>
      <p:sp>
        <p:nvSpPr>
          <p:cNvPr id="14" name="Text 10"/>
          <p:cNvSpPr txBox="1"/>
          <p:nvPr/>
        </p:nvSpPr>
        <p:spPr>
          <a:xfrm>
            <a:off x="3474720" y="2148840"/>
            <a:ext cx="2194560" cy="365760"/>
          </a:xfrm>
          <a:prstGeom prst="rect">
            <a:avLst/>
          </a:prstGeom>
          <a:noFill/>
          <a:ln/>
        </p:spPr>
        <p:txBody>
          <a:bodyPr wrap="square" lIns="0" tIns="0" rIns="0" bIns="0" rtlCol="0" anchor="t"/>
          <a:lstStyle/>
          <a:p>
            <a:pPr indent="0" marL="0">
              <a:buNone/>
            </a:pPr>
            <a:r>
              <a:rPr lang="en-US" sz="1600" b="1" dirty="0">
                <a:solidFill>
                  <a:srgbClr val="111827"/>
                </a:solidFill>
                <a:latin typeface="Calibri" pitchFamily="34" charset="0"/>
                <a:ea typeface="Calibri" pitchFamily="34" charset="-122"/>
                <a:cs typeface="Calibri" pitchFamily="34" charset="-120"/>
              </a:rPr>
              <a:t>One place to change</a:t>
            </a:r>
            <a:endParaRPr lang="en-US" sz="1600" dirty="0"/>
          </a:p>
        </p:txBody>
      </p:sp>
      <p:sp>
        <p:nvSpPr>
          <p:cNvPr id="15" name="Text 11"/>
          <p:cNvSpPr txBox="1"/>
          <p:nvPr/>
        </p:nvSpPr>
        <p:spPr>
          <a:xfrm>
            <a:off x="3474720" y="2560320"/>
            <a:ext cx="2194560" cy="13258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Every model call goes through the same envelope. Fix it once and every agent is covered, including ones you write next year.</a:t>
            </a:r>
            <a:endParaRPr lang="en-US" sz="1200" dirty="0"/>
          </a:p>
        </p:txBody>
      </p:sp>
      <p:sp>
        <p:nvSpPr>
          <p:cNvPr id="16" name="Shape 12"/>
          <p:cNvSpPr/>
          <p:nvPr/>
        </p:nvSpPr>
        <p:spPr>
          <a:xfrm>
            <a:off x="6035040" y="1371600"/>
            <a:ext cx="2606040" cy="2651760"/>
          </a:xfrm>
          <a:prstGeom prst="roundRect">
            <a:avLst>
              <a:gd name="adj" fmla="val 2807"/>
            </a:avLst>
          </a:prstGeom>
          <a:solidFill>
            <a:srgbClr val="F3F4F6"/>
          </a:solidFill>
          <a:ln w="12700">
            <a:solidFill>
              <a:srgbClr val="F3F4F6"/>
            </a:solidFill>
            <a:prstDash val="solid"/>
          </a:ln>
        </p:spPr>
      </p:sp>
      <p:sp>
        <p:nvSpPr>
          <p:cNvPr id="17" name="Shape 13"/>
          <p:cNvSpPr/>
          <p:nvPr/>
        </p:nvSpPr>
        <p:spPr>
          <a:xfrm>
            <a:off x="6263640" y="1600200"/>
            <a:ext cx="411480" cy="411480"/>
          </a:xfrm>
          <a:prstGeom prst="roundRect">
            <a:avLst>
              <a:gd name="adj" fmla="val 17778"/>
            </a:avLst>
          </a:prstGeom>
          <a:solidFill>
            <a:srgbClr val="6D28D9"/>
          </a:solidFill>
          <a:ln w="12700">
            <a:solidFill>
              <a:srgbClr val="6D28D9"/>
            </a:solidFill>
            <a:prstDash val="solid"/>
          </a:ln>
        </p:spPr>
      </p:sp>
      <p:pic>
        <p:nvPicPr>
          <p:cNvPr id="18" name="Image 2" descr="preencoded.png">    </p:cNvPr>
          <p:cNvPicPr>
            <a:picLocks noChangeAspect="1"/>
          </p:cNvPicPr>
          <p:nvPr/>
        </p:nvPicPr>
        <p:blipFill>
          <a:blip r:embed="rId3"/>
          <a:stretch>
            <a:fillRect/>
          </a:stretch>
        </p:blipFill>
        <p:spPr>
          <a:xfrm>
            <a:off x="6355080" y="1691640"/>
            <a:ext cx="228600" cy="228600"/>
          </a:xfrm>
          <a:prstGeom prst="rect">
            <a:avLst/>
          </a:prstGeom>
        </p:spPr>
      </p:pic>
      <p:sp>
        <p:nvSpPr>
          <p:cNvPr id="19" name="Text 14"/>
          <p:cNvSpPr txBox="1"/>
          <p:nvPr/>
        </p:nvSpPr>
        <p:spPr>
          <a:xfrm>
            <a:off x="6263640" y="2148840"/>
            <a:ext cx="2194560" cy="365760"/>
          </a:xfrm>
          <a:prstGeom prst="rect">
            <a:avLst/>
          </a:prstGeom>
          <a:noFill/>
          <a:ln/>
        </p:spPr>
        <p:txBody>
          <a:bodyPr wrap="square" lIns="0" tIns="0" rIns="0" bIns="0" rtlCol="0" anchor="t"/>
          <a:lstStyle/>
          <a:p>
            <a:pPr indent="0" marL="0">
              <a:buNone/>
            </a:pPr>
            <a:r>
              <a:rPr lang="en-US" sz="1600" b="1" dirty="0">
                <a:solidFill>
                  <a:srgbClr val="111827"/>
                </a:solidFill>
                <a:latin typeface="Calibri" pitchFamily="34" charset="0"/>
                <a:ea typeface="Calibri" pitchFamily="34" charset="-122"/>
                <a:cs typeface="Calibri" pitchFamily="34" charset="-120"/>
              </a:rPr>
              <a:t>It outlives tools</a:t>
            </a:r>
            <a:endParaRPr lang="en-US" sz="1600" dirty="0"/>
          </a:p>
        </p:txBody>
      </p:sp>
      <p:sp>
        <p:nvSpPr>
          <p:cNvPr id="20" name="Text 15"/>
          <p:cNvSpPr txBox="1"/>
          <p:nvPr/>
        </p:nvSpPr>
        <p:spPr>
          <a:xfrm>
            <a:off x="6263640" y="2560320"/>
            <a:ext cx="2194560" cy="132588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Agent frameworks change constantly. An envelope around a function call works in all of them, because they all call the model the same way.</a:t>
            </a:r>
            <a:endParaRPr lang="en-US" sz="1200" dirty="0"/>
          </a:p>
        </p:txBody>
      </p:sp>
      <p:sp>
        <p:nvSpPr>
          <p:cNvPr id="21" name="Text 16"/>
          <p:cNvSpPr txBox="1"/>
          <p:nvPr/>
        </p:nvSpPr>
        <p:spPr>
          <a:xfrm>
            <a:off x="457200" y="4160520"/>
            <a:ext cx="8229600" cy="411480"/>
          </a:xfrm>
          <a:prstGeom prst="rect">
            <a:avLst/>
          </a:prstGeom>
          <a:noFill/>
          <a:ln/>
        </p:spPr>
        <p:txBody>
          <a:bodyPr wrap="square" lIns="0" tIns="0" rIns="0" bIns="0" rtlCol="0" anchor="t"/>
          <a:lstStyle/>
          <a:p>
            <a:pPr algn="ctr" indent="0" marL="0">
              <a:buNone/>
            </a:pPr>
            <a:r>
              <a:rPr lang="en-US" sz="2000" b="1" dirty="0">
                <a:solidFill>
                  <a:srgbClr val="B45309"/>
                </a:solidFill>
                <a:latin typeface="Cambria" pitchFamily="34" charset="0"/>
                <a:ea typeface="Cambria" pitchFamily="34" charset="-122"/>
                <a:cs typeface="Cambria" pitchFamily="34" charset="-120"/>
              </a:rPr>
              <a:t>Wrap, do not rewrite.</a:t>
            </a:r>
            <a:endParaRPr lang="en-US"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name="Slide 17">
    <p:bg>
      <p:bgPr>
        <a:solidFill>
          <a:srgbClr val="F9FAFB"/>
        </a:solidFill>
      </p:bgPr>
    </p:bg>
    <p:spTree>
      <p:nvGrpSpPr>
        <p:cNvPr id="1" name=""/>
        <p:cNvGrpSpPr/>
        <p:nvPr/>
      </p:nvGrpSpPr>
      <p:grpSpPr>
        <a:xfrm>
          <a:off x="0" y="0"/>
          <a:ext cx="0" cy="0"/>
          <a:chOff x="0" y="0"/>
          <a:chExt cx="0" cy="0"/>
        </a:xfrm>
      </p:grpSpPr>
      <p:sp>
        <p:nvSpPr>
          <p:cNvPr id="2" name="Text 0"/>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2</a:t>
            </a:r>
            <a:endParaRPr lang="en-US" sz="900" dirty="0"/>
          </a:p>
        </p:txBody>
      </p:sp>
      <p:sp>
        <p:nvSpPr>
          <p:cNvPr id="3" name="Text 1"/>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17</a:t>
            </a:r>
            <a:endParaRPr lang="en-US" sz="900" dirty="0"/>
          </a:p>
        </p:txBody>
      </p:sp>
      <p:sp>
        <p:nvSpPr>
          <p:cNvPr id="4" name="Shape 2"/>
          <p:cNvSpPr/>
          <p:nvPr/>
        </p:nvSpPr>
        <p:spPr>
          <a:xfrm>
            <a:off x="6583680" y="237744"/>
            <a:ext cx="2103120" cy="329184"/>
          </a:xfrm>
          <a:prstGeom prst="roundRect">
            <a:avLst>
              <a:gd name="adj" fmla="val 50000"/>
            </a:avLst>
          </a:prstGeom>
          <a:solidFill>
            <a:srgbClr val="B45309"/>
          </a:solidFill>
          <a:ln w="12700">
            <a:solidFill>
              <a:srgbClr val="B45309"/>
            </a:solidFill>
            <a:prstDash val="solid"/>
          </a:ln>
        </p:spPr>
      </p:sp>
      <p:pic>
        <p:nvPicPr>
          <p:cNvPr id="5" name="Image 0" descr="preencoded.png">    </p:cNvPr>
          <p:cNvPicPr>
            <a:picLocks noChangeAspect="1"/>
          </p:cNvPicPr>
          <p:nvPr/>
        </p:nvPicPr>
        <p:blipFill>
          <a:blip r:embed="rId1"/>
          <a:stretch>
            <a:fillRect/>
          </a:stretch>
        </p:blipFill>
        <p:spPr>
          <a:xfrm>
            <a:off x="6711696" y="320040"/>
            <a:ext cx="164592" cy="164592"/>
          </a:xfrm>
          <a:prstGeom prst="rect">
            <a:avLst/>
          </a:prstGeom>
        </p:spPr>
      </p:pic>
      <p:sp>
        <p:nvSpPr>
          <p:cNvPr id="6" name="Text 3"/>
          <p:cNvSpPr txBox="1"/>
          <p:nvPr/>
        </p:nvSpPr>
        <p:spPr>
          <a:xfrm>
            <a:off x="6949440" y="237744"/>
            <a:ext cx="1691640" cy="329184"/>
          </a:xfrm>
          <a:prstGeom prst="rect">
            <a:avLst/>
          </a:prstGeom>
          <a:noFill/>
          <a:ln/>
        </p:spPr>
        <p:txBody>
          <a:bodyPr wrap="square" lIns="0" tIns="0" rIns="0" bIns="0" rtlCol="0" anchor="ctr"/>
          <a:lstStyle/>
          <a:p>
            <a:pPr indent="0" marL="0">
              <a:buNone/>
            </a:pPr>
            <a:r>
              <a:rPr lang="en-US" sz="950" b="1" spc="100" kern="0" dirty="0">
                <a:solidFill>
                  <a:srgbClr val="FFFFFF"/>
                </a:solidFill>
                <a:latin typeface="Calibri" pitchFamily="34" charset="0"/>
                <a:ea typeface="Calibri" pitchFamily="34" charset="-122"/>
                <a:cs typeface="Calibri" pitchFamily="34" charset="-120"/>
              </a:rPr>
              <a:t>iPAD · DRAW</a:t>
            </a:r>
            <a:endParaRPr lang="en-US" sz="950" dirty="0"/>
          </a:p>
        </p:txBody>
      </p:sp>
      <p:pic>
        <p:nvPicPr>
          <p:cNvPr id="7" name="Image 1" descr="preencoded.png">    </p:cNvPr>
          <p:cNvPicPr>
            <a:picLocks noChangeAspect="1"/>
          </p:cNvPicPr>
          <p:nvPr/>
        </p:nvPicPr>
        <p:blipFill>
          <a:blip r:embed="rId2"/>
          <a:stretch>
            <a:fillRect/>
          </a:stretch>
        </p:blipFill>
        <p:spPr>
          <a:xfrm>
            <a:off x="457200" y="320040"/>
            <a:ext cx="182880" cy="164592"/>
          </a:xfrm>
          <a:prstGeom prst="rect">
            <a:avLst/>
          </a:prstGeom>
        </p:spPr>
      </p:pic>
      <p:sp>
        <p:nvSpPr>
          <p:cNvPr id="8" name="Text 4"/>
          <p:cNvSpPr txBox="1"/>
          <p:nvPr/>
        </p:nvSpPr>
        <p:spPr>
          <a:xfrm>
            <a:off x="704088" y="237744"/>
            <a:ext cx="5760720" cy="329184"/>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Hidden slide · presenter reference · 03 · Wrap, Don't Rewrite</a:t>
            </a:r>
            <a:endParaRPr lang="en-US" sz="950" dirty="0"/>
          </a:p>
        </p:txBody>
      </p:sp>
      <p:sp>
        <p:nvSpPr>
          <p:cNvPr id="9" name="Text 5"/>
          <p:cNvSpPr txBox="1"/>
          <p:nvPr/>
        </p:nvSpPr>
        <p:spPr>
          <a:xfrm>
            <a:off x="457200" y="685800"/>
            <a:ext cx="8229600" cy="457200"/>
          </a:xfrm>
          <a:prstGeom prst="rect">
            <a:avLst/>
          </a:prstGeom>
          <a:noFill/>
          <a:ln/>
        </p:spPr>
        <p:txBody>
          <a:bodyPr wrap="square" lIns="0" tIns="0" rIns="0" bIns="0" rtlCol="0" anchor="t"/>
          <a:lstStyle/>
          <a:p>
            <a:pPr indent="0" marL="0">
              <a:buNone/>
            </a:pPr>
            <a:r>
              <a:rPr lang="en-US" sz="2400" b="1" dirty="0">
                <a:solidFill>
                  <a:srgbClr val="111827"/>
                </a:solidFill>
                <a:latin typeface="Cambria" pitchFamily="34" charset="0"/>
                <a:ea typeface="Cambria" pitchFamily="34" charset="-122"/>
                <a:cs typeface="Cambria" pitchFamily="34" charset="-120"/>
              </a:rPr>
              <a:t>Draw the envelope</a:t>
            </a:r>
            <a:endParaRPr lang="en-US" sz="2400" dirty="0"/>
          </a:p>
        </p:txBody>
      </p:sp>
      <p:sp>
        <p:nvSpPr>
          <p:cNvPr id="10" name="Text 6"/>
          <p:cNvSpPr txBox="1"/>
          <p:nvPr/>
        </p:nvSpPr>
        <p:spPr>
          <a:xfrm>
            <a:off x="457200" y="1143000"/>
            <a:ext cx="8229600" cy="274320"/>
          </a:xfrm>
          <a:prstGeom prst="rect">
            <a:avLst/>
          </a:prstGeom>
          <a:noFill/>
          <a:ln/>
        </p:spPr>
        <p:txBody>
          <a:bodyPr wrap="square" lIns="0" tIns="0" rIns="0" bIns="0" rtlCol="0" anchor="t"/>
          <a:lstStyle/>
          <a:p>
            <a:pPr indent="0" marL="0">
              <a:buNone/>
            </a:pPr>
            <a:r>
              <a:rPr lang="en-US" sz="1050" i="1" dirty="0">
                <a:solidFill>
                  <a:srgbClr val="6B7280"/>
                </a:solidFill>
                <a:latin typeface="Calibri" pitchFamily="34" charset="0"/>
                <a:ea typeface="Calibri" pitchFamily="34" charset="-122"/>
                <a:cs typeface="Calibri" pitchFamily="34" charset="-120"/>
              </a:rPr>
              <a:t>New iPad page. Draw before on the left, after on the right, and make the unchanged middle visually identical in both.</a:t>
            </a:r>
            <a:endParaRPr lang="en-US" sz="1050" dirty="0"/>
          </a:p>
        </p:txBody>
      </p:sp>
      <p:sp>
        <p:nvSpPr>
          <p:cNvPr id="11" name="Text 7"/>
          <p:cNvSpPr txBox="1"/>
          <p:nvPr/>
        </p:nvSpPr>
        <p:spPr>
          <a:xfrm>
            <a:off x="457200" y="1572768"/>
            <a:ext cx="3246120" cy="301752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Left: heading BEFORE, a box, and inside it a smaller box with two lines: ask the model · use the answer</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Arrow pointing right, labelled: wrap it</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Right: heading AFTER, a taller box titled THE ENVELOPE</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Inside, stacked: thin strip “note the time, note who is asking” · the exact same small box, drawn identically · thin strip “read the receipt, write it down”</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Small arrow into the middle box labelled: identical code. Under the envelope: the middle is untouched</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Across the bottom, three boxes: NOTHING BREAKS · ONE PLACE TO CHANGE · IT OUTLIVES TOOLS, with a line or two under each</a:t>
            </a:r>
            <a:endParaRPr lang="en-US" sz="950" dirty="0"/>
          </a:p>
        </p:txBody>
      </p:sp>
      <p:sp>
        <p:nvSpPr>
          <p:cNvPr id="12" name="Shape 8"/>
          <p:cNvSpPr/>
          <p:nvPr/>
        </p:nvSpPr>
        <p:spPr>
          <a:xfrm>
            <a:off x="3886200" y="1536192"/>
            <a:ext cx="4800600" cy="2222126"/>
          </a:xfrm>
          <a:prstGeom prst="roundRect">
            <a:avLst>
              <a:gd name="adj" fmla="val 3292"/>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3" name="Text 9"/>
          <p:cNvSpPr txBox="1"/>
          <p:nvPr/>
        </p:nvSpPr>
        <p:spPr>
          <a:xfrm>
            <a:off x="4005072" y="1591056"/>
            <a:ext cx="4572000" cy="201168"/>
          </a:xfrm>
          <a:prstGeom prst="rect">
            <a:avLst/>
          </a:prstGeom>
          <a:noFill/>
          <a:ln/>
        </p:spPr>
        <p:txBody>
          <a:bodyPr wrap="square" lIns="0" tIns="0" rIns="0" bIns="0" rtlCol="0" anchor="t"/>
          <a:lstStyle/>
          <a:p>
            <a:pPr indent="0" marL="0">
              <a:buNone/>
            </a:pPr>
            <a:r>
              <a:rPr lang="en-US" sz="750" b="1" spc="150" kern="0" dirty="0">
                <a:solidFill>
                  <a:srgbClr val="9CA3AF"/>
                </a:solidFill>
                <a:latin typeface="Calibri" pitchFamily="34" charset="0"/>
                <a:ea typeface="Calibri" pitchFamily="34" charset="-122"/>
                <a:cs typeface="Calibri" pitchFamily="34" charset="-120"/>
              </a:rPr>
              <a:t>FINISHED PANEL: WHAT YOURS SHOULD LOOK LIKE</a:t>
            </a:r>
            <a:endParaRPr lang="en-US" sz="750" dirty="0"/>
          </a:p>
        </p:txBody>
      </p:sp>
      <p:pic>
        <p:nvPicPr>
          <p:cNvPr id="14" name="Image 2" descr="preencoded.png">    </p:cNvPr>
          <p:cNvPicPr>
            <a:picLocks noChangeAspect="1"/>
          </p:cNvPicPr>
          <p:nvPr/>
        </p:nvPicPr>
        <p:blipFill>
          <a:blip r:embed="rId3"/>
          <a:stretch>
            <a:fillRect/>
          </a:stretch>
        </p:blipFill>
        <p:spPr>
          <a:xfrm>
            <a:off x="3886200" y="1828800"/>
            <a:ext cx="4800600" cy="1764926"/>
          </a:xfrm>
          <a:prstGeom prst="rect">
            <a:avLst/>
          </a:prstGeom>
        </p:spPr>
      </p:pic>
      <p:sp>
        <p:nvSpPr>
          <p:cNvPr id="15" name="Shape 10"/>
          <p:cNvSpPr/>
          <p:nvPr/>
        </p:nvSpPr>
        <p:spPr>
          <a:xfrm>
            <a:off x="3886200" y="3913766"/>
            <a:ext cx="4800600" cy="457200"/>
          </a:xfrm>
          <a:prstGeom prst="roundRect">
            <a:avLst>
              <a:gd name="adj" fmla="val 16000"/>
            </a:avLst>
          </a:prstGeom>
          <a:solidFill>
            <a:srgbClr val="FEF3C7"/>
          </a:solidFill>
          <a:ln w="12700">
            <a:solidFill>
              <a:srgbClr val="FEF3C7"/>
            </a:solidFill>
            <a:prstDash val="solid"/>
          </a:ln>
        </p:spPr>
      </p:sp>
      <p:sp>
        <p:nvSpPr>
          <p:cNvPr id="16" name="Text 11"/>
          <p:cNvSpPr txBox="1"/>
          <p:nvPr/>
        </p:nvSpPr>
        <p:spPr>
          <a:xfrm>
            <a:off x="4069080" y="3913766"/>
            <a:ext cx="4480560" cy="457200"/>
          </a:xfrm>
          <a:prstGeom prst="rect">
            <a:avLst/>
          </a:prstGeom>
          <a:noFill/>
          <a:ln/>
        </p:spPr>
        <p:txBody>
          <a:bodyPr wrap="square" lIns="0" tIns="0" rIns="0" bIns="0" rtlCol="0" anchor="ctr"/>
          <a:lstStyle/>
          <a:p>
            <a:pPr indent="0" marL="0">
              <a:buNone/>
            </a:pPr>
            <a:r>
              <a:rPr lang="en-US" sz="1050" b="1" i="1" dirty="0">
                <a:solidFill>
                  <a:srgbClr val="B45309"/>
                </a:solidFill>
                <a:latin typeface="Calibri" pitchFamily="34" charset="0"/>
                <a:ea typeface="Calibri" pitchFamily="34" charset="-122"/>
                <a:cs typeface="Calibri" pitchFamily="34" charset="-120"/>
              </a:rPr>
              <a:t>Say: “Draw the middle box identically in both halves. That's the whole idea.”</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11827"/>
        </a:solidFill>
      </p:bgPr>
    </p:bg>
    <p:spTree>
      <p:nvGrpSpPr>
        <p:cNvPr id="1" name=""/>
        <p:cNvGrpSpPr/>
        <p:nvPr/>
      </p:nvGrpSpPr>
      <p:grpSpPr>
        <a:xfrm>
          <a:off x="0" y="0"/>
          <a:ext cx="0" cy="0"/>
          <a:chOff x="0" y="0"/>
          <a:chExt cx="0" cy="0"/>
        </a:xfrm>
      </p:grpSpPr>
      <p:sp>
        <p:nvSpPr>
          <p:cNvPr id="2" name="Text 0"/>
          <p:cNvSpPr txBox="1"/>
          <p:nvPr/>
        </p:nvSpPr>
        <p:spPr>
          <a:xfrm>
            <a:off x="548640" y="1005840"/>
            <a:ext cx="2743200" cy="1280160"/>
          </a:xfrm>
          <a:prstGeom prst="rect">
            <a:avLst/>
          </a:prstGeom>
          <a:noFill/>
          <a:ln/>
        </p:spPr>
        <p:txBody>
          <a:bodyPr wrap="square" lIns="0" tIns="0" rIns="0" bIns="0" rtlCol="0" anchor="t"/>
          <a:lstStyle/>
          <a:p>
            <a:pPr indent="0" marL="0">
              <a:buNone/>
            </a:pPr>
            <a:r>
              <a:rPr lang="en-US" sz="9600" b="1" dirty="0">
                <a:solidFill>
                  <a:srgbClr val="F59E0B"/>
                </a:solidFill>
                <a:latin typeface="Cambria" pitchFamily="34" charset="0"/>
                <a:ea typeface="Cambria" pitchFamily="34" charset="-122"/>
                <a:cs typeface="Cambria" pitchFamily="34" charset="-120"/>
              </a:rPr>
              <a:t>04</a:t>
            </a:r>
            <a:endParaRPr lang="en-US" sz="9600" dirty="0"/>
          </a:p>
        </p:txBody>
      </p:sp>
      <p:sp>
        <p:nvSpPr>
          <p:cNvPr id="3" name="Text 1"/>
          <p:cNvSpPr txBox="1"/>
          <p:nvPr/>
        </p:nvSpPr>
        <p:spPr>
          <a:xfrm>
            <a:off x="548640" y="2377440"/>
            <a:ext cx="8046720" cy="91440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Four Labels</a:t>
            </a:r>
            <a:endParaRPr lang="en-US" sz="3600" dirty="0"/>
          </a:p>
        </p:txBody>
      </p:sp>
      <p:sp>
        <p:nvSpPr>
          <p:cNvPr id="4" name="Text 2"/>
          <p:cNvSpPr txBox="1"/>
          <p:nvPr/>
        </p:nvSpPr>
        <p:spPr>
          <a:xfrm>
            <a:off x="548640" y="3383280"/>
            <a:ext cx="2743200" cy="320040"/>
          </a:xfrm>
          <a:prstGeom prst="rect">
            <a:avLst/>
          </a:prstGeom>
          <a:noFill/>
          <a:ln/>
        </p:spPr>
        <p:txBody>
          <a:bodyPr wrap="square" lIns="0" tIns="0" rIns="0" bIns="0" rtlCol="0" anchor="t"/>
          <a:lstStyle/>
          <a:p>
            <a:pPr indent="0" marL="0">
              <a:buNone/>
            </a:pPr>
            <a:r>
              <a:rPr lang="en-US" sz="1400" dirty="0">
                <a:solidFill>
                  <a:srgbClr val="9CA3AF"/>
                </a:solidFill>
                <a:latin typeface="Calibri" pitchFamily="34" charset="0"/>
                <a:ea typeface="Calibri" pitchFamily="34" charset="-122"/>
                <a:cs typeface="Calibri" pitchFamily="34" charset="-120"/>
              </a:rPr>
              <a:t>~8 min</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04 · FOUR LABELS</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The same four cents, twice</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2</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19</a:t>
            </a:r>
            <a:endParaRPr lang="en-US" sz="900" dirty="0"/>
          </a:p>
        </p:txBody>
      </p:sp>
      <p:sp>
        <p:nvSpPr>
          <p:cNvPr id="6" name="Shape 4"/>
          <p:cNvSpPr/>
          <p:nvPr/>
        </p:nvSpPr>
        <p:spPr>
          <a:xfrm>
            <a:off x="457200" y="1325880"/>
            <a:ext cx="3840480" cy="2743200"/>
          </a:xfrm>
          <a:prstGeom prst="roundRect">
            <a:avLst>
              <a:gd name="adj" fmla="val 2667"/>
            </a:avLst>
          </a:prstGeom>
          <a:solidFill>
            <a:srgbClr val="F3F4F6"/>
          </a:solidFill>
          <a:ln w="12700">
            <a:solidFill>
              <a:srgbClr val="F3F4F6"/>
            </a:solidFill>
            <a:prstDash val="solid"/>
          </a:ln>
        </p:spPr>
      </p:sp>
      <p:sp>
        <p:nvSpPr>
          <p:cNvPr id="7" name="Text 5"/>
          <p:cNvSpPr txBox="1"/>
          <p:nvPr/>
        </p:nvSpPr>
        <p:spPr>
          <a:xfrm>
            <a:off x="685800" y="1508760"/>
            <a:ext cx="3383280" cy="274320"/>
          </a:xfrm>
          <a:prstGeom prst="rect">
            <a:avLst/>
          </a:prstGeom>
          <a:noFill/>
          <a:ln/>
        </p:spPr>
        <p:txBody>
          <a:bodyPr wrap="square" lIns="0" tIns="0" rIns="0" bIns="0" rtlCol="0" anchor="t"/>
          <a:lstStyle/>
          <a:p>
            <a:pPr indent="0" marL="0">
              <a:buNone/>
            </a:pPr>
            <a:r>
              <a:rPr lang="en-US" sz="1000" b="1" spc="200" kern="0" dirty="0">
                <a:solidFill>
                  <a:srgbClr val="6B7280"/>
                </a:solidFill>
                <a:latin typeface="Calibri" pitchFamily="34" charset="0"/>
                <a:ea typeface="Calibri" pitchFamily="34" charset="-122"/>
                <a:cs typeface="Calibri" pitchFamily="34" charset="-120"/>
              </a:rPr>
              <a:t>WITHOUT LABELS</a:t>
            </a:r>
            <a:endParaRPr lang="en-US" sz="1000" dirty="0"/>
          </a:p>
        </p:txBody>
      </p:sp>
      <p:sp>
        <p:nvSpPr>
          <p:cNvPr id="8" name="Shape 6"/>
          <p:cNvSpPr/>
          <p:nvPr/>
        </p:nvSpPr>
        <p:spPr>
          <a:xfrm>
            <a:off x="685800" y="1828800"/>
            <a:ext cx="3383280" cy="777240"/>
          </a:xfrm>
          <a:prstGeom prst="roundRect">
            <a:avLst>
              <a:gd name="adj" fmla="val 9412"/>
            </a:avLst>
          </a:prstGeom>
          <a:solidFill>
            <a:srgbClr val="111827"/>
          </a:solidFill>
          <a:ln w="12700">
            <a:solidFill>
              <a:srgbClr val="111827"/>
            </a:solidFill>
            <a:prstDash val="solid"/>
          </a:ln>
        </p:spPr>
      </p:sp>
      <p:sp>
        <p:nvSpPr>
          <p:cNvPr id="9" name="Text 7"/>
          <p:cNvSpPr txBox="1"/>
          <p:nvPr/>
        </p:nvSpPr>
        <p:spPr>
          <a:xfrm>
            <a:off x="685800" y="1828800"/>
            <a:ext cx="3383280" cy="777240"/>
          </a:xfrm>
          <a:prstGeom prst="rect">
            <a:avLst/>
          </a:prstGeom>
          <a:noFill/>
          <a:ln/>
        </p:spPr>
        <p:txBody>
          <a:bodyPr wrap="square" lIns="0" tIns="0" rIns="0" bIns="0" rtlCol="0" anchor="ctr"/>
          <a:lstStyle/>
          <a:p>
            <a:pPr algn="ctr" indent="0" marL="0">
              <a:buNone/>
            </a:pPr>
            <a:r>
              <a:rPr lang="en-US" sz="2200" b="1" dirty="0">
                <a:solidFill>
                  <a:srgbClr val="FFFFFF"/>
                </a:solidFill>
                <a:latin typeface="Courier New" pitchFamily="34" charset="0"/>
                <a:ea typeface="Courier New" pitchFamily="34" charset="-122"/>
                <a:cs typeface="Courier New" pitchFamily="34" charset="-120"/>
              </a:rPr>
              <a:t>$0.04</a:t>
            </a:r>
            <a:endParaRPr lang="en-US" sz="2200" dirty="0"/>
          </a:p>
        </p:txBody>
      </p:sp>
      <p:sp>
        <p:nvSpPr>
          <p:cNvPr id="10" name="Text 8"/>
          <p:cNvSpPr txBox="1"/>
          <p:nvPr/>
        </p:nvSpPr>
        <p:spPr>
          <a:xfrm>
            <a:off x="685800" y="2743200"/>
            <a:ext cx="3383280" cy="914400"/>
          </a:xfrm>
          <a:prstGeom prst="rect">
            <a:avLst/>
          </a:prstGeom>
          <a:noFill/>
          <a:ln/>
        </p:spPr>
        <p:txBody>
          <a:bodyPr wrap="square" lIns="0" tIns="0" rIns="0" bIns="0" rtlCol="0" anchor="t"/>
          <a:lstStyle/>
          <a:p>
            <a:pPr indent="0" marL="0">
              <a:buNone/>
            </a:pPr>
            <a:r>
              <a:rPr lang="en-US" sz="1300" dirty="0">
                <a:solidFill>
                  <a:srgbClr val="B91C1C"/>
                </a:solidFill>
                <a:latin typeface="Calibri" pitchFamily="34" charset="0"/>
                <a:ea typeface="Calibri" pitchFamily="34" charset="-122"/>
                <a:cs typeface="Calibri" pitchFamily="34" charset="-120"/>
              </a:rPr>
              <a:t>True, and useless.</a:t>
            </a:r>
            <a:endParaRPr lang="en-US" sz="1300" dirty="0"/>
          </a:p>
          <a:p>
            <a:pPr indent="0" marL="0">
              <a:buNone/>
            </a:pPr>
            <a:r>
              <a:rPr lang="en-US" sz="1300" dirty="0">
                <a:solidFill>
                  <a:srgbClr val="B91C1C"/>
                </a:solidFill>
                <a:latin typeface="Calibri" pitchFamily="34" charset="0"/>
                <a:ea typeface="Calibri" pitchFamily="34" charset="-122"/>
                <a:cs typeface="Calibri" pitchFamily="34" charset="-120"/>
              </a:rPr>
              <a:t>You cannot ask it a single question.</a:t>
            </a:r>
            <a:endParaRPr lang="en-US" sz="1300" dirty="0"/>
          </a:p>
        </p:txBody>
      </p:sp>
      <p:sp>
        <p:nvSpPr>
          <p:cNvPr id="11" name="Shape 9"/>
          <p:cNvSpPr/>
          <p:nvPr/>
        </p:nvSpPr>
        <p:spPr>
          <a:xfrm>
            <a:off x="4846320" y="1325880"/>
            <a:ext cx="3840480" cy="2743200"/>
          </a:xfrm>
          <a:prstGeom prst="roundRect">
            <a:avLst>
              <a:gd name="adj" fmla="val 2667"/>
            </a:avLst>
          </a:prstGeom>
          <a:solidFill>
            <a:srgbClr val="ECFDF5"/>
          </a:solidFill>
          <a:ln w="12700">
            <a:solidFill>
              <a:srgbClr val="ECFDF5"/>
            </a:solidFill>
            <a:prstDash val="solid"/>
          </a:ln>
        </p:spPr>
      </p:sp>
      <p:sp>
        <p:nvSpPr>
          <p:cNvPr id="12" name="Text 10"/>
          <p:cNvSpPr txBox="1"/>
          <p:nvPr/>
        </p:nvSpPr>
        <p:spPr>
          <a:xfrm>
            <a:off x="5074920" y="1508760"/>
            <a:ext cx="3383280" cy="274320"/>
          </a:xfrm>
          <a:prstGeom prst="rect">
            <a:avLst/>
          </a:prstGeom>
          <a:noFill/>
          <a:ln/>
        </p:spPr>
        <p:txBody>
          <a:bodyPr wrap="square" lIns="0" tIns="0" rIns="0" bIns="0" rtlCol="0" anchor="t"/>
          <a:lstStyle/>
          <a:p>
            <a:pPr indent="0" marL="0">
              <a:buNone/>
            </a:pPr>
            <a:r>
              <a:rPr lang="en-US" sz="1000" b="1" spc="200" kern="0" dirty="0">
                <a:solidFill>
                  <a:srgbClr val="047857"/>
                </a:solidFill>
                <a:latin typeface="Calibri" pitchFamily="34" charset="0"/>
                <a:ea typeface="Calibri" pitchFamily="34" charset="-122"/>
                <a:cs typeface="Calibri" pitchFamily="34" charset="-120"/>
              </a:rPr>
              <a:t>WITH LABELS</a:t>
            </a:r>
            <a:endParaRPr lang="en-US" sz="1000" dirty="0"/>
          </a:p>
        </p:txBody>
      </p:sp>
      <p:sp>
        <p:nvSpPr>
          <p:cNvPr id="13" name="Shape 11"/>
          <p:cNvSpPr/>
          <p:nvPr/>
        </p:nvSpPr>
        <p:spPr>
          <a:xfrm>
            <a:off x="5074920" y="1828800"/>
            <a:ext cx="3383280" cy="1691640"/>
          </a:xfrm>
          <a:prstGeom prst="roundRect">
            <a:avLst>
              <a:gd name="adj" fmla="val 4324"/>
            </a:avLst>
          </a:prstGeom>
          <a:solidFill>
            <a:srgbClr val="111827"/>
          </a:solidFill>
          <a:ln w="12700">
            <a:solidFill>
              <a:srgbClr val="111827"/>
            </a:solidFill>
            <a:prstDash val="solid"/>
          </a:ln>
        </p:spPr>
      </p:sp>
      <p:sp>
        <p:nvSpPr>
          <p:cNvPr id="14" name="Text 12"/>
          <p:cNvSpPr txBox="1"/>
          <p:nvPr/>
        </p:nvSpPr>
        <p:spPr>
          <a:xfrm>
            <a:off x="5303520" y="1920240"/>
            <a:ext cx="3017520" cy="1554480"/>
          </a:xfrm>
          <a:prstGeom prst="rect">
            <a:avLst/>
          </a:prstGeom>
          <a:noFill/>
          <a:ln/>
        </p:spPr>
        <p:txBody>
          <a:bodyPr wrap="square" lIns="0" tIns="0" rIns="0" bIns="0" rtlCol="0" anchor="t"/>
          <a:lstStyle/>
          <a:p>
            <a:pPr indent="0" marL="0">
              <a:buNone/>
            </a:pPr>
            <a:r>
              <a:rPr lang="en-US" sz="1200" b="1" dirty="0">
                <a:solidFill>
                  <a:srgbClr val="FFFFFF"/>
                </a:solidFill>
                <a:latin typeface="Courier New" pitchFamily="34" charset="0"/>
                <a:ea typeface="Courier New" pitchFamily="34" charset="-122"/>
                <a:cs typeface="Courier New" pitchFamily="34" charset="-120"/>
              </a:rPr>
              <a:t>$0.04</a:t>
            </a:r>
            <a:endParaRPr lang="en-US" sz="1200" dirty="0"/>
          </a:p>
          <a:p>
            <a:pPr indent="0" marL="0">
              <a:buNone/>
            </a:pPr>
            <a:r>
              <a:rPr lang="en-US" sz="1200" dirty="0">
                <a:solidFill>
                  <a:srgbClr val="34D399"/>
                </a:solidFill>
                <a:latin typeface="Courier New" pitchFamily="34" charset="0"/>
                <a:ea typeface="Courier New" pitchFamily="34" charset="-122"/>
                <a:cs typeface="Courier New" pitchFamily="34" charset="-120"/>
              </a:rPr>
              <a:t>agent  = invoice-reader</a:t>
            </a:r>
            <a:endParaRPr lang="en-US" sz="1200" dirty="0"/>
          </a:p>
          <a:p>
            <a:pPr indent="0" marL="0">
              <a:buNone/>
            </a:pPr>
            <a:r>
              <a:rPr lang="en-US" sz="1200" dirty="0">
                <a:solidFill>
                  <a:srgbClr val="34D399"/>
                </a:solidFill>
                <a:latin typeface="Courier New" pitchFamily="34" charset="0"/>
                <a:ea typeface="Courier New" pitchFamily="34" charset="-122"/>
                <a:cs typeface="Courier New" pitchFamily="34" charset="-120"/>
              </a:rPr>
              <a:t>team   = finance</a:t>
            </a:r>
            <a:endParaRPr lang="en-US" sz="1200" dirty="0"/>
          </a:p>
          <a:p>
            <a:pPr indent="0" marL="0">
              <a:buNone/>
            </a:pPr>
            <a:r>
              <a:rPr lang="en-US" sz="1200" dirty="0">
                <a:solidFill>
                  <a:srgbClr val="34D399"/>
                </a:solidFill>
                <a:latin typeface="Courier New" pitchFamily="34" charset="0"/>
                <a:ea typeface="Courier New" pitchFamily="34" charset="-122"/>
                <a:cs typeface="Courier New" pitchFamily="34" charset="-120"/>
              </a:rPr>
              <a:t>run    = a41f…</a:t>
            </a:r>
            <a:endParaRPr lang="en-US" sz="1200" dirty="0"/>
          </a:p>
          <a:p>
            <a:pPr indent="0" marL="0">
              <a:buNone/>
            </a:pPr>
            <a:r>
              <a:rPr lang="en-US" sz="1200" dirty="0">
                <a:solidFill>
                  <a:srgbClr val="34D399"/>
                </a:solidFill>
                <a:latin typeface="Courier New" pitchFamily="34" charset="0"/>
                <a:ea typeface="Courier New" pitchFamily="34" charset="-122"/>
                <a:cs typeface="Courier New" pitchFamily="34" charset="-120"/>
              </a:rPr>
              <a:t>result = success</a:t>
            </a:r>
            <a:endParaRPr lang="en-US" sz="1200" dirty="0"/>
          </a:p>
        </p:txBody>
      </p:sp>
      <p:sp>
        <p:nvSpPr>
          <p:cNvPr id="15" name="Text 13"/>
          <p:cNvSpPr txBox="1"/>
          <p:nvPr/>
        </p:nvSpPr>
        <p:spPr>
          <a:xfrm>
            <a:off x="5074920" y="3611880"/>
            <a:ext cx="3383280" cy="365760"/>
          </a:xfrm>
          <a:prstGeom prst="rect">
            <a:avLst/>
          </a:prstGeom>
          <a:noFill/>
          <a:ln/>
        </p:spPr>
        <p:txBody>
          <a:bodyPr wrap="square" lIns="0" tIns="0" rIns="0" bIns="0" rtlCol="0" anchor="t"/>
          <a:lstStyle/>
          <a:p>
            <a:pPr indent="0" marL="0">
              <a:buNone/>
            </a:pPr>
            <a:r>
              <a:rPr lang="en-US" sz="1300" b="1" dirty="0">
                <a:solidFill>
                  <a:srgbClr val="047857"/>
                </a:solidFill>
                <a:latin typeface="Calibri" pitchFamily="34" charset="0"/>
                <a:ea typeface="Calibri" pitchFamily="34" charset="-122"/>
                <a:cs typeface="Calibri" pitchFamily="34" charset="-120"/>
              </a:rPr>
              <a:t>Now it can answer things.</a:t>
            </a:r>
            <a:endParaRPr lang="en-US" sz="1300" dirty="0"/>
          </a:p>
        </p:txBody>
      </p:sp>
      <p:sp>
        <p:nvSpPr>
          <p:cNvPr id="16" name="Text 14"/>
          <p:cNvSpPr txBox="1"/>
          <p:nvPr/>
        </p:nvSpPr>
        <p:spPr>
          <a:xfrm>
            <a:off x="457200" y="4206240"/>
            <a:ext cx="8229600" cy="457200"/>
          </a:xfrm>
          <a:prstGeom prst="rect">
            <a:avLst/>
          </a:prstGeom>
          <a:noFill/>
          <a:ln/>
        </p:spPr>
        <p:txBody>
          <a:bodyPr wrap="square" lIns="0" tIns="0" rIns="0" bIns="0" rtlCol="0" anchor="t"/>
          <a:lstStyle/>
          <a:p>
            <a:pPr indent="0" marL="0">
              <a:buNone/>
            </a:pPr>
            <a:r>
              <a:rPr lang="en-US" sz="1200" i="1" dirty="0">
                <a:solidFill>
                  <a:srgbClr val="6B7280"/>
                </a:solidFill>
                <a:latin typeface="Calibri" pitchFamily="34" charset="0"/>
                <a:ea typeface="Calibri" pitchFamily="34" charset="-122"/>
                <a:cs typeface="Calibri" pitchFamily="34" charset="-120"/>
              </a:rPr>
              <a:t>A label is just a word attached to the number saying what it was about; like writing on the back of a photograph.</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04 · FOUR LABELS</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Four labels, four questions</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2</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20</a:t>
            </a:r>
            <a:endParaRPr lang="en-US" sz="900" dirty="0"/>
          </a:p>
        </p:txBody>
      </p:sp>
      <p:sp>
        <p:nvSpPr>
          <p:cNvPr id="6" name="Shape 4"/>
          <p:cNvSpPr/>
          <p:nvPr/>
        </p:nvSpPr>
        <p:spPr>
          <a:xfrm>
            <a:off x="457200" y="1325880"/>
            <a:ext cx="1920240" cy="2834640"/>
          </a:xfrm>
          <a:prstGeom prst="roundRect">
            <a:avLst>
              <a:gd name="adj" fmla="val 3810"/>
            </a:avLst>
          </a:prstGeom>
          <a:solidFill>
            <a:srgbClr val="F3F4F6"/>
          </a:solidFill>
          <a:ln w="12700">
            <a:solidFill>
              <a:srgbClr val="F3F4F6"/>
            </a:solidFill>
            <a:prstDash val="solid"/>
          </a:ln>
        </p:spPr>
      </p:sp>
      <p:sp>
        <p:nvSpPr>
          <p:cNvPr id="7" name="Shape 5"/>
          <p:cNvSpPr/>
          <p:nvPr/>
        </p:nvSpPr>
        <p:spPr>
          <a:xfrm>
            <a:off x="640080" y="1508760"/>
            <a:ext cx="1554480" cy="411480"/>
          </a:xfrm>
          <a:prstGeom prst="roundRect">
            <a:avLst>
              <a:gd name="adj" fmla="val 17778"/>
            </a:avLst>
          </a:prstGeom>
          <a:solidFill>
            <a:srgbClr val="111827"/>
          </a:solidFill>
          <a:ln w="12700">
            <a:solidFill>
              <a:srgbClr val="111827"/>
            </a:solidFill>
            <a:prstDash val="solid"/>
          </a:ln>
        </p:spPr>
      </p:sp>
      <p:sp>
        <p:nvSpPr>
          <p:cNvPr id="8" name="Text 6"/>
          <p:cNvSpPr txBox="1"/>
          <p:nvPr/>
        </p:nvSpPr>
        <p:spPr>
          <a:xfrm>
            <a:off x="640080" y="1508760"/>
            <a:ext cx="1554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agent</a:t>
            </a:r>
            <a:endParaRPr lang="en-US" sz="1300" dirty="0"/>
          </a:p>
        </p:txBody>
      </p:sp>
      <p:sp>
        <p:nvSpPr>
          <p:cNvPr id="9" name="Text 7"/>
          <p:cNvSpPr txBox="1"/>
          <p:nvPr/>
        </p:nvSpPr>
        <p:spPr>
          <a:xfrm>
            <a:off x="640080" y="2057400"/>
            <a:ext cx="1600200" cy="685800"/>
          </a:xfrm>
          <a:prstGeom prst="rect">
            <a:avLst/>
          </a:prstGeom>
          <a:noFill/>
          <a:ln/>
        </p:spPr>
        <p:txBody>
          <a:bodyPr wrap="square" lIns="0" tIns="0" rIns="0" bIns="0" rtlCol="0" anchor="t"/>
          <a:lstStyle/>
          <a:p>
            <a:pPr indent="0" marL="0">
              <a:buNone/>
            </a:pPr>
            <a:r>
              <a:rPr lang="en-US" sz="1200" b="1" spc="50" kern="0" dirty="0">
                <a:solidFill>
                  <a:srgbClr val="1D4ED8"/>
                </a:solidFill>
                <a:latin typeface="Calibri" pitchFamily="34" charset="0"/>
                <a:ea typeface="Calibri" pitchFamily="34" charset="-122"/>
                <a:cs typeface="Calibri" pitchFamily="34" charset="-120"/>
              </a:rPr>
              <a:t>WHICH ONE SPENT IT?</a:t>
            </a:r>
            <a:endParaRPr lang="en-US" sz="1200" dirty="0"/>
          </a:p>
        </p:txBody>
      </p:sp>
      <p:sp>
        <p:nvSpPr>
          <p:cNvPr id="10" name="Text 8"/>
          <p:cNvSpPr txBox="1"/>
          <p:nvPr/>
        </p:nvSpPr>
        <p:spPr>
          <a:xfrm>
            <a:off x="640080" y="2788920"/>
            <a:ext cx="1600200" cy="118872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So you can find the expensive agent.</a:t>
            </a:r>
            <a:endParaRPr lang="en-US" sz="1100" dirty="0"/>
          </a:p>
        </p:txBody>
      </p:sp>
      <p:sp>
        <p:nvSpPr>
          <p:cNvPr id="11" name="Shape 9"/>
          <p:cNvSpPr/>
          <p:nvPr/>
        </p:nvSpPr>
        <p:spPr>
          <a:xfrm>
            <a:off x="2560320" y="1325880"/>
            <a:ext cx="1920240" cy="2834640"/>
          </a:xfrm>
          <a:prstGeom prst="roundRect">
            <a:avLst>
              <a:gd name="adj" fmla="val 3810"/>
            </a:avLst>
          </a:prstGeom>
          <a:solidFill>
            <a:srgbClr val="F3F4F6"/>
          </a:solidFill>
          <a:ln w="12700">
            <a:solidFill>
              <a:srgbClr val="F3F4F6"/>
            </a:solidFill>
            <a:prstDash val="solid"/>
          </a:ln>
        </p:spPr>
      </p:sp>
      <p:sp>
        <p:nvSpPr>
          <p:cNvPr id="12" name="Shape 10"/>
          <p:cNvSpPr/>
          <p:nvPr/>
        </p:nvSpPr>
        <p:spPr>
          <a:xfrm>
            <a:off x="2743200" y="1508760"/>
            <a:ext cx="1554480" cy="411480"/>
          </a:xfrm>
          <a:prstGeom prst="roundRect">
            <a:avLst>
              <a:gd name="adj" fmla="val 17778"/>
            </a:avLst>
          </a:prstGeom>
          <a:solidFill>
            <a:srgbClr val="111827"/>
          </a:solidFill>
          <a:ln w="12700">
            <a:solidFill>
              <a:srgbClr val="111827"/>
            </a:solidFill>
            <a:prstDash val="solid"/>
          </a:ln>
        </p:spPr>
      </p:sp>
      <p:sp>
        <p:nvSpPr>
          <p:cNvPr id="13" name="Text 11"/>
          <p:cNvSpPr txBox="1"/>
          <p:nvPr/>
        </p:nvSpPr>
        <p:spPr>
          <a:xfrm>
            <a:off x="2743200" y="1508760"/>
            <a:ext cx="1554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team</a:t>
            </a:r>
            <a:endParaRPr lang="en-US" sz="1300" dirty="0"/>
          </a:p>
        </p:txBody>
      </p:sp>
      <p:sp>
        <p:nvSpPr>
          <p:cNvPr id="14" name="Text 12"/>
          <p:cNvSpPr txBox="1"/>
          <p:nvPr/>
        </p:nvSpPr>
        <p:spPr>
          <a:xfrm>
            <a:off x="2743200" y="2057400"/>
            <a:ext cx="1600200" cy="685800"/>
          </a:xfrm>
          <a:prstGeom prst="rect">
            <a:avLst/>
          </a:prstGeom>
          <a:noFill/>
          <a:ln/>
        </p:spPr>
        <p:txBody>
          <a:bodyPr wrap="square" lIns="0" tIns="0" rIns="0" bIns="0" rtlCol="0" anchor="t"/>
          <a:lstStyle/>
          <a:p>
            <a:pPr indent="0" marL="0">
              <a:buNone/>
            </a:pPr>
            <a:r>
              <a:rPr lang="en-US" sz="1200" b="1" spc="50" kern="0" dirty="0">
                <a:solidFill>
                  <a:srgbClr val="6D28D9"/>
                </a:solidFill>
                <a:latin typeface="Calibri" pitchFamily="34" charset="0"/>
                <a:ea typeface="Calibri" pitchFamily="34" charset="-122"/>
                <a:cs typeface="Calibri" pitchFamily="34" charset="-120"/>
              </a:rPr>
              <a:t>WHO SHOULD PAY?</a:t>
            </a:r>
            <a:endParaRPr lang="en-US" sz="1200" dirty="0"/>
          </a:p>
        </p:txBody>
      </p:sp>
      <p:sp>
        <p:nvSpPr>
          <p:cNvPr id="15" name="Text 13"/>
          <p:cNvSpPr txBox="1"/>
          <p:nvPr/>
        </p:nvSpPr>
        <p:spPr>
          <a:xfrm>
            <a:off x="2743200" y="2788920"/>
            <a:ext cx="1600200" cy="118872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So the bill goes to the right budget.</a:t>
            </a:r>
            <a:endParaRPr lang="en-US" sz="1100" dirty="0"/>
          </a:p>
        </p:txBody>
      </p:sp>
      <p:sp>
        <p:nvSpPr>
          <p:cNvPr id="16" name="Shape 14"/>
          <p:cNvSpPr/>
          <p:nvPr/>
        </p:nvSpPr>
        <p:spPr>
          <a:xfrm>
            <a:off x="4663440" y="1325880"/>
            <a:ext cx="1920240" cy="2834640"/>
          </a:xfrm>
          <a:prstGeom prst="roundRect">
            <a:avLst>
              <a:gd name="adj" fmla="val 3810"/>
            </a:avLst>
          </a:prstGeom>
          <a:solidFill>
            <a:srgbClr val="F3F4F6"/>
          </a:solidFill>
          <a:ln w="12700">
            <a:solidFill>
              <a:srgbClr val="F3F4F6"/>
            </a:solidFill>
            <a:prstDash val="solid"/>
          </a:ln>
        </p:spPr>
      </p:sp>
      <p:sp>
        <p:nvSpPr>
          <p:cNvPr id="17" name="Shape 15"/>
          <p:cNvSpPr/>
          <p:nvPr/>
        </p:nvSpPr>
        <p:spPr>
          <a:xfrm>
            <a:off x="4846320" y="1508760"/>
            <a:ext cx="1554480" cy="411480"/>
          </a:xfrm>
          <a:prstGeom prst="roundRect">
            <a:avLst>
              <a:gd name="adj" fmla="val 17778"/>
            </a:avLst>
          </a:prstGeom>
          <a:solidFill>
            <a:srgbClr val="111827"/>
          </a:solidFill>
          <a:ln w="12700">
            <a:solidFill>
              <a:srgbClr val="111827"/>
            </a:solidFill>
            <a:prstDash val="solid"/>
          </a:ln>
        </p:spPr>
      </p:sp>
      <p:sp>
        <p:nvSpPr>
          <p:cNvPr id="18" name="Text 16"/>
          <p:cNvSpPr txBox="1"/>
          <p:nvPr/>
        </p:nvSpPr>
        <p:spPr>
          <a:xfrm>
            <a:off x="4846320" y="1508760"/>
            <a:ext cx="1554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run</a:t>
            </a:r>
            <a:endParaRPr lang="en-US" sz="1300" dirty="0"/>
          </a:p>
        </p:txBody>
      </p:sp>
      <p:sp>
        <p:nvSpPr>
          <p:cNvPr id="19" name="Text 17"/>
          <p:cNvSpPr txBox="1"/>
          <p:nvPr/>
        </p:nvSpPr>
        <p:spPr>
          <a:xfrm>
            <a:off x="4846320" y="2057400"/>
            <a:ext cx="1600200" cy="685800"/>
          </a:xfrm>
          <a:prstGeom prst="rect">
            <a:avLst/>
          </a:prstGeom>
          <a:noFill/>
          <a:ln/>
        </p:spPr>
        <p:txBody>
          <a:bodyPr wrap="square" lIns="0" tIns="0" rIns="0" bIns="0" rtlCol="0" anchor="t"/>
          <a:lstStyle/>
          <a:p>
            <a:pPr indent="0" marL="0">
              <a:buNone/>
            </a:pPr>
            <a:r>
              <a:rPr lang="en-US" sz="1200" b="1" spc="50" kern="0" dirty="0">
                <a:solidFill>
                  <a:srgbClr val="B45309"/>
                </a:solidFill>
                <a:latin typeface="Calibri" pitchFamily="34" charset="0"/>
                <a:ea typeface="Calibri" pitchFamily="34" charset="-122"/>
                <a:cs typeface="Calibri" pitchFamily="34" charset="-120"/>
              </a:rPr>
              <a:t>WHICH ATTEMPT?</a:t>
            </a:r>
            <a:endParaRPr lang="en-US" sz="1200" dirty="0"/>
          </a:p>
        </p:txBody>
      </p:sp>
      <p:sp>
        <p:nvSpPr>
          <p:cNvPr id="20" name="Text 18"/>
          <p:cNvSpPr txBox="1"/>
          <p:nvPr/>
        </p:nvSpPr>
        <p:spPr>
          <a:xfrm>
            <a:off x="4846320" y="2788920"/>
            <a:ext cx="1600200" cy="118872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So you can add up one whole task: twelve calls, one number.</a:t>
            </a:r>
            <a:endParaRPr lang="en-US" sz="1100" dirty="0"/>
          </a:p>
        </p:txBody>
      </p:sp>
      <p:sp>
        <p:nvSpPr>
          <p:cNvPr id="21" name="Shape 19"/>
          <p:cNvSpPr/>
          <p:nvPr/>
        </p:nvSpPr>
        <p:spPr>
          <a:xfrm>
            <a:off x="6766560" y="1325880"/>
            <a:ext cx="1920240" cy="2834640"/>
          </a:xfrm>
          <a:prstGeom prst="roundRect">
            <a:avLst>
              <a:gd name="adj" fmla="val 3810"/>
            </a:avLst>
          </a:prstGeom>
          <a:solidFill>
            <a:srgbClr val="F3F4F6"/>
          </a:solidFill>
          <a:ln w="12700">
            <a:solidFill>
              <a:srgbClr val="F3F4F6"/>
            </a:solidFill>
            <a:prstDash val="solid"/>
          </a:ln>
        </p:spPr>
      </p:sp>
      <p:sp>
        <p:nvSpPr>
          <p:cNvPr id="22" name="Shape 20"/>
          <p:cNvSpPr/>
          <p:nvPr/>
        </p:nvSpPr>
        <p:spPr>
          <a:xfrm>
            <a:off x="6949440" y="1508760"/>
            <a:ext cx="1554480" cy="411480"/>
          </a:xfrm>
          <a:prstGeom prst="roundRect">
            <a:avLst>
              <a:gd name="adj" fmla="val 17778"/>
            </a:avLst>
          </a:prstGeom>
          <a:solidFill>
            <a:srgbClr val="111827"/>
          </a:solidFill>
          <a:ln w="12700">
            <a:solidFill>
              <a:srgbClr val="111827"/>
            </a:solidFill>
            <a:prstDash val="solid"/>
          </a:ln>
        </p:spPr>
      </p:sp>
      <p:sp>
        <p:nvSpPr>
          <p:cNvPr id="23" name="Text 21"/>
          <p:cNvSpPr txBox="1"/>
          <p:nvPr/>
        </p:nvSpPr>
        <p:spPr>
          <a:xfrm>
            <a:off x="6949440" y="1508760"/>
            <a:ext cx="1554480" cy="411480"/>
          </a:xfrm>
          <a:prstGeom prst="rect">
            <a:avLst/>
          </a:prstGeom>
          <a:noFill/>
          <a:ln/>
        </p:spPr>
        <p:txBody>
          <a:bodyPr wrap="square" lIns="0" tIns="0" rIns="0" bIns="0" rtlCol="0" anchor="ctr"/>
          <a:lstStyle/>
          <a:p>
            <a:pPr algn="ctr" indent="0" marL="0">
              <a:buNone/>
            </a:pPr>
            <a:r>
              <a:rPr lang="en-US" sz="1300" b="1" dirty="0">
                <a:solidFill>
                  <a:srgbClr val="FFFFFF"/>
                </a:solidFill>
                <a:latin typeface="Courier New" pitchFamily="34" charset="0"/>
                <a:ea typeface="Courier New" pitchFamily="34" charset="-122"/>
                <a:cs typeface="Courier New" pitchFamily="34" charset="-120"/>
              </a:rPr>
              <a:t>result</a:t>
            </a:r>
            <a:endParaRPr lang="en-US" sz="1300" dirty="0"/>
          </a:p>
        </p:txBody>
      </p:sp>
      <p:sp>
        <p:nvSpPr>
          <p:cNvPr id="24" name="Text 22"/>
          <p:cNvSpPr txBox="1"/>
          <p:nvPr/>
        </p:nvSpPr>
        <p:spPr>
          <a:xfrm>
            <a:off x="6949440" y="2057400"/>
            <a:ext cx="1600200" cy="685800"/>
          </a:xfrm>
          <a:prstGeom prst="rect">
            <a:avLst/>
          </a:prstGeom>
          <a:noFill/>
          <a:ln/>
        </p:spPr>
        <p:txBody>
          <a:bodyPr wrap="square" lIns="0" tIns="0" rIns="0" bIns="0" rtlCol="0" anchor="t"/>
          <a:lstStyle/>
          <a:p>
            <a:pPr indent="0" marL="0">
              <a:buNone/>
            </a:pPr>
            <a:r>
              <a:rPr lang="en-US" sz="1200" b="1" spc="50" kern="0" dirty="0">
                <a:solidFill>
                  <a:srgbClr val="047857"/>
                </a:solidFill>
                <a:latin typeface="Calibri" pitchFamily="34" charset="0"/>
                <a:ea typeface="Calibri" pitchFamily="34" charset="-122"/>
                <a:cs typeface="Calibri" pitchFamily="34" charset="-120"/>
              </a:rPr>
              <a:t>DID IT WORK?</a:t>
            </a:r>
            <a:endParaRPr lang="en-US" sz="1200" dirty="0"/>
          </a:p>
        </p:txBody>
      </p:sp>
      <p:sp>
        <p:nvSpPr>
          <p:cNvPr id="25" name="Text 23"/>
          <p:cNvSpPr txBox="1"/>
          <p:nvPr/>
        </p:nvSpPr>
        <p:spPr>
          <a:xfrm>
            <a:off x="6949440" y="2788920"/>
            <a:ext cx="1600200" cy="118872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So you can separate money well spent from money burned.</a:t>
            </a:r>
            <a:endParaRPr lang="en-US" sz="1100" dirty="0"/>
          </a:p>
        </p:txBody>
      </p:sp>
      <p:sp>
        <p:nvSpPr>
          <p:cNvPr id="26" name="Shape 24"/>
          <p:cNvSpPr/>
          <p:nvPr/>
        </p:nvSpPr>
        <p:spPr>
          <a:xfrm>
            <a:off x="457200" y="4297680"/>
            <a:ext cx="8229600" cy="457200"/>
          </a:xfrm>
          <a:prstGeom prst="roundRect">
            <a:avLst>
              <a:gd name="adj" fmla="val 16000"/>
            </a:avLst>
          </a:prstGeom>
          <a:solidFill>
            <a:srgbClr val="111827"/>
          </a:solidFill>
          <a:ln w="12700">
            <a:solidFill>
              <a:srgbClr val="111827"/>
            </a:solidFill>
            <a:prstDash val="solid"/>
          </a:ln>
        </p:spPr>
      </p:sp>
      <p:sp>
        <p:nvSpPr>
          <p:cNvPr id="27" name="Text 25"/>
          <p:cNvSpPr txBox="1"/>
          <p:nvPr/>
        </p:nvSpPr>
        <p:spPr>
          <a:xfrm>
            <a:off x="685800" y="4297680"/>
            <a:ext cx="7772400" cy="457200"/>
          </a:xfrm>
          <a:prstGeom prst="rect">
            <a:avLst/>
          </a:prstGeom>
          <a:noFill/>
          <a:ln/>
        </p:spPr>
        <p:txBody>
          <a:bodyPr wrap="square" lIns="0" tIns="0" rIns="0" bIns="0" rtlCol="0" anchor="ctr"/>
          <a:lstStyle/>
          <a:p>
            <a:pPr indent="0" marL="0">
              <a:buNone/>
            </a:pPr>
            <a:r>
              <a:rPr lang="en-US" sz="1250" dirty="0">
                <a:solidFill>
                  <a:srgbClr val="FFFFFF"/>
                </a:solidFill>
                <a:latin typeface="Calibri" pitchFamily="34" charset="0"/>
                <a:ea typeface="Calibri" pitchFamily="34" charset="-122"/>
                <a:cs typeface="Calibri" pitchFamily="34" charset="-120"/>
              </a:rPr>
              <a:t>Add a label today and you can ask that question forever. Miss it today and the runs that already happened are gone.</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04 · FOUR LABELS</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One warning: never label something that changes constantly</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2</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21</a:t>
            </a:r>
            <a:endParaRPr lang="en-US" sz="900" dirty="0"/>
          </a:p>
        </p:txBody>
      </p:sp>
      <p:sp>
        <p:nvSpPr>
          <p:cNvPr id="6" name="Shape 4"/>
          <p:cNvSpPr/>
          <p:nvPr/>
        </p:nvSpPr>
        <p:spPr>
          <a:xfrm>
            <a:off x="457200" y="1371600"/>
            <a:ext cx="4023360" cy="2011680"/>
          </a:xfrm>
          <a:prstGeom prst="roundRect">
            <a:avLst>
              <a:gd name="adj" fmla="val 3636"/>
            </a:avLst>
          </a:prstGeom>
          <a:solidFill>
            <a:srgbClr val="FEF2F2"/>
          </a:solidFill>
          <a:ln w="12700">
            <a:solidFill>
              <a:srgbClr val="FEF2F2"/>
            </a:solidFill>
            <a:prstDash val="solid"/>
          </a:ln>
        </p:spPr>
      </p:sp>
      <p:pic>
        <p:nvPicPr>
          <p:cNvPr id="7" name="Image 0" descr="preencoded.png">    </p:cNvPr>
          <p:cNvPicPr>
            <a:picLocks noChangeAspect="1"/>
          </p:cNvPicPr>
          <p:nvPr/>
        </p:nvPicPr>
        <p:blipFill>
          <a:blip r:embed="rId1"/>
          <a:stretch>
            <a:fillRect/>
          </a:stretch>
        </p:blipFill>
        <p:spPr>
          <a:xfrm>
            <a:off x="731520" y="1600200"/>
            <a:ext cx="411480" cy="411480"/>
          </a:xfrm>
          <a:prstGeom prst="rect">
            <a:avLst/>
          </a:prstGeom>
        </p:spPr>
      </p:pic>
      <p:sp>
        <p:nvSpPr>
          <p:cNvPr id="8" name="Text 5"/>
          <p:cNvSpPr txBox="1"/>
          <p:nvPr/>
        </p:nvSpPr>
        <p:spPr>
          <a:xfrm>
            <a:off x="1325880" y="1600200"/>
            <a:ext cx="2926080" cy="365760"/>
          </a:xfrm>
          <a:prstGeom prst="rect">
            <a:avLst/>
          </a:prstGeom>
          <a:noFill/>
          <a:ln/>
        </p:spPr>
        <p:txBody>
          <a:bodyPr wrap="square" lIns="0" tIns="0" rIns="0" bIns="0" rtlCol="0" anchor="t"/>
          <a:lstStyle/>
          <a:p>
            <a:pPr indent="0" marL="0">
              <a:buNone/>
            </a:pPr>
            <a:r>
              <a:rPr lang="en-US" sz="1600" b="1" dirty="0">
                <a:solidFill>
                  <a:srgbClr val="B91C1C"/>
                </a:solidFill>
                <a:latin typeface="Calibri" pitchFamily="34" charset="0"/>
                <a:ea typeface="Calibri" pitchFamily="34" charset="-122"/>
                <a:cs typeface="Calibri" pitchFamily="34" charset="-120"/>
              </a:rPr>
              <a:t>Don't do this</a:t>
            </a:r>
            <a:endParaRPr lang="en-US" sz="1600" dirty="0"/>
          </a:p>
        </p:txBody>
      </p:sp>
      <p:sp>
        <p:nvSpPr>
          <p:cNvPr id="9" name="Text 6"/>
          <p:cNvSpPr txBox="1"/>
          <p:nvPr/>
        </p:nvSpPr>
        <p:spPr>
          <a:xfrm>
            <a:off x="731520" y="2194560"/>
            <a:ext cx="3566160" cy="10058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F2937"/>
                </a:solidFill>
                <a:latin typeface="Courier New" pitchFamily="34" charset="0"/>
                <a:ea typeface="Courier New" pitchFamily="34" charset="-122"/>
                <a:cs typeface="Courier New" pitchFamily="34" charset="-120"/>
              </a:rPr>
              <a:t>customer email address</a:t>
            </a:r>
            <a:endParaRPr lang="en-US" sz="1300" dirty="0"/>
          </a:p>
          <a:p>
            <a:pPr marL="342900" indent="-342900">
              <a:spcAft>
                <a:spcPts val="600"/>
              </a:spcAft>
              <a:buSzPct val="100000"/>
              <a:buChar char="•"/>
            </a:pPr>
            <a:r>
              <a:rPr lang="en-US" sz="1300" dirty="0">
                <a:solidFill>
                  <a:srgbClr val="1F2937"/>
                </a:solidFill>
                <a:latin typeface="Courier New" pitchFamily="34" charset="0"/>
                <a:ea typeface="Courier New" pitchFamily="34" charset="-122"/>
                <a:cs typeface="Courier New" pitchFamily="34" charset="-120"/>
              </a:rPr>
              <a:t>document ID</a:t>
            </a:r>
            <a:endParaRPr lang="en-US" sz="1300" dirty="0"/>
          </a:p>
          <a:p>
            <a:pPr marL="342900" indent="-342900">
              <a:spcAft>
                <a:spcPts val="600"/>
              </a:spcAft>
              <a:buSzPct val="100000"/>
              <a:buChar char="•"/>
            </a:pPr>
            <a:r>
              <a:rPr lang="en-US" sz="1300" dirty="0">
                <a:solidFill>
                  <a:srgbClr val="1F2937"/>
                </a:solidFill>
                <a:latin typeface="Courier New" pitchFamily="34" charset="0"/>
                <a:ea typeface="Courier New" pitchFamily="34" charset="-122"/>
                <a:cs typeface="Courier New" pitchFamily="34" charset="-120"/>
              </a:rPr>
              <a:t>timestamp</a:t>
            </a:r>
            <a:endParaRPr lang="en-US" sz="1300" dirty="0"/>
          </a:p>
        </p:txBody>
      </p:sp>
      <p:sp>
        <p:nvSpPr>
          <p:cNvPr id="10" name="Shape 7"/>
          <p:cNvSpPr/>
          <p:nvPr/>
        </p:nvSpPr>
        <p:spPr>
          <a:xfrm>
            <a:off x="4663440" y="1371600"/>
            <a:ext cx="4023360" cy="2011680"/>
          </a:xfrm>
          <a:prstGeom prst="roundRect">
            <a:avLst>
              <a:gd name="adj" fmla="val 3636"/>
            </a:avLst>
          </a:prstGeom>
          <a:solidFill>
            <a:srgbClr val="ECFDF5"/>
          </a:solidFill>
          <a:ln w="12700">
            <a:solidFill>
              <a:srgbClr val="ECFDF5"/>
            </a:solidFill>
            <a:prstDash val="solid"/>
          </a:ln>
        </p:spPr>
      </p:sp>
      <p:sp>
        <p:nvSpPr>
          <p:cNvPr id="11" name="Shape 8"/>
          <p:cNvSpPr/>
          <p:nvPr/>
        </p:nvSpPr>
        <p:spPr>
          <a:xfrm>
            <a:off x="4937760" y="1600200"/>
            <a:ext cx="411480" cy="411480"/>
          </a:xfrm>
          <a:prstGeom prst="ellipse">
            <a:avLst/>
          </a:prstGeom>
          <a:solidFill>
            <a:srgbClr val="047857"/>
          </a:solidFill>
          <a:ln w="12700">
            <a:solidFill>
              <a:srgbClr val="047857"/>
            </a:solidFill>
            <a:prstDash val="solid"/>
          </a:ln>
        </p:spPr>
      </p:sp>
      <p:pic>
        <p:nvPicPr>
          <p:cNvPr id="12" name="Image 1" descr="preencoded.png">    </p:cNvPr>
          <p:cNvPicPr>
            <a:picLocks noChangeAspect="1"/>
          </p:cNvPicPr>
          <p:nvPr/>
        </p:nvPicPr>
        <p:blipFill>
          <a:blip r:embed="rId2"/>
          <a:stretch>
            <a:fillRect/>
          </a:stretch>
        </p:blipFill>
        <p:spPr>
          <a:xfrm>
            <a:off x="5028286" y="1690726"/>
            <a:ext cx="230429" cy="230429"/>
          </a:xfrm>
          <a:prstGeom prst="rect">
            <a:avLst/>
          </a:prstGeom>
        </p:spPr>
      </p:pic>
      <p:sp>
        <p:nvSpPr>
          <p:cNvPr id="13" name="Text 9"/>
          <p:cNvSpPr txBox="1"/>
          <p:nvPr/>
        </p:nvSpPr>
        <p:spPr>
          <a:xfrm>
            <a:off x="5532120" y="1600200"/>
            <a:ext cx="2926080" cy="365760"/>
          </a:xfrm>
          <a:prstGeom prst="rect">
            <a:avLst/>
          </a:prstGeom>
          <a:noFill/>
          <a:ln/>
        </p:spPr>
        <p:txBody>
          <a:bodyPr wrap="square" lIns="0" tIns="0" rIns="0" bIns="0" rtlCol="0" anchor="t"/>
          <a:lstStyle/>
          <a:p>
            <a:pPr indent="0" marL="0">
              <a:buNone/>
            </a:pPr>
            <a:r>
              <a:rPr lang="en-US" sz="1600" b="1" dirty="0">
                <a:solidFill>
                  <a:srgbClr val="047857"/>
                </a:solidFill>
                <a:latin typeface="Calibri" pitchFamily="34" charset="0"/>
                <a:ea typeface="Calibri" pitchFamily="34" charset="-122"/>
                <a:cs typeface="Calibri" pitchFamily="34" charset="-120"/>
              </a:rPr>
              <a:t>Do this</a:t>
            </a:r>
            <a:endParaRPr lang="en-US" sz="1600" dirty="0"/>
          </a:p>
        </p:txBody>
      </p:sp>
      <p:sp>
        <p:nvSpPr>
          <p:cNvPr id="14" name="Text 10"/>
          <p:cNvSpPr txBox="1"/>
          <p:nvPr/>
        </p:nvSpPr>
        <p:spPr>
          <a:xfrm>
            <a:off x="4937760" y="2194560"/>
            <a:ext cx="3566160" cy="10058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agent name: a handful of values</a:t>
            </a:r>
            <a:endParaRPr lang="en-US" sz="1300" dirty="0"/>
          </a:p>
          <a:p>
            <a:pPr marL="342900" indent="-3429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team name: a handful of values</a:t>
            </a:r>
            <a:endParaRPr lang="en-US" sz="1300" dirty="0"/>
          </a:p>
          <a:p>
            <a:pPr marL="342900" indent="-342900">
              <a:spcAft>
                <a:spcPts val="600"/>
              </a:spcAft>
              <a:buSzPct val="100000"/>
              <a:buChar char="•"/>
            </a:pPr>
            <a:r>
              <a:rPr lang="en-US" sz="1300" dirty="0">
                <a:solidFill>
                  <a:srgbClr val="1F2937"/>
                </a:solidFill>
                <a:latin typeface="Calibri" pitchFamily="34" charset="0"/>
                <a:ea typeface="Calibri" pitchFamily="34" charset="-122"/>
                <a:cs typeface="Calibri" pitchFamily="34" charset="-120"/>
              </a:rPr>
              <a:t>result: success or failure</a:t>
            </a:r>
            <a:endParaRPr lang="en-US" sz="1300" dirty="0"/>
          </a:p>
        </p:txBody>
      </p:sp>
      <p:sp>
        <p:nvSpPr>
          <p:cNvPr id="15" name="Shape 11"/>
          <p:cNvSpPr/>
          <p:nvPr/>
        </p:nvSpPr>
        <p:spPr>
          <a:xfrm>
            <a:off x="457200" y="3611880"/>
            <a:ext cx="8229600" cy="914400"/>
          </a:xfrm>
          <a:prstGeom prst="roundRect">
            <a:avLst>
              <a:gd name="adj" fmla="val 8000"/>
            </a:avLst>
          </a:prstGeom>
          <a:solidFill>
            <a:srgbClr val="F3F4F6"/>
          </a:solidFill>
          <a:ln w="12700">
            <a:solidFill>
              <a:srgbClr val="F3F4F6"/>
            </a:solidFill>
            <a:prstDash val="solid"/>
          </a:ln>
        </p:spPr>
      </p:sp>
      <p:sp>
        <p:nvSpPr>
          <p:cNvPr id="16" name="Text 12"/>
          <p:cNvSpPr txBox="1"/>
          <p:nvPr/>
        </p:nvSpPr>
        <p:spPr>
          <a:xfrm>
            <a:off x="731520" y="3611880"/>
            <a:ext cx="7680960" cy="914400"/>
          </a:xfrm>
          <a:prstGeom prst="rect">
            <a:avLst/>
          </a:prstGeom>
          <a:noFill/>
          <a:ln/>
        </p:spPr>
        <p:txBody>
          <a:bodyPr wrap="square" lIns="0" tIns="0" rIns="0" bIns="0" rtlCol="0" anchor="ctr"/>
          <a:lstStyle/>
          <a:p>
            <a:pPr indent="0" marL="0">
              <a:buNone/>
            </a:pPr>
            <a:r>
              <a:rPr lang="en-US" sz="1400" dirty="0">
                <a:solidFill>
                  <a:srgbClr val="1F2937"/>
                </a:solidFill>
                <a:latin typeface="Calibri" pitchFamily="34" charset="0"/>
                <a:ea typeface="Calibri" pitchFamily="34" charset="-122"/>
                <a:cs typeface="Calibri" pitchFamily="34" charset="-120"/>
              </a:rPr>
              <a:t>Labels with unlimited possible values make your monitoring system slow and expensive; an unfortunate way to end a course about cost. Keep labels to small, fixed sets of values.</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name="Slide 22">
    <p:bg>
      <p:bgPr>
        <a:solidFill>
          <a:srgbClr val="F9FAFB"/>
        </a:solidFill>
      </p:bgPr>
    </p:bg>
    <p:spTree>
      <p:nvGrpSpPr>
        <p:cNvPr id="1" name=""/>
        <p:cNvGrpSpPr/>
        <p:nvPr/>
      </p:nvGrpSpPr>
      <p:grpSpPr>
        <a:xfrm>
          <a:off x="0" y="0"/>
          <a:ext cx="0" cy="0"/>
          <a:chOff x="0" y="0"/>
          <a:chExt cx="0" cy="0"/>
        </a:xfrm>
      </p:grpSpPr>
      <p:sp>
        <p:nvSpPr>
          <p:cNvPr id="2" name="Text 0"/>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2</a:t>
            </a:r>
            <a:endParaRPr lang="en-US" sz="900" dirty="0"/>
          </a:p>
        </p:txBody>
      </p:sp>
      <p:sp>
        <p:nvSpPr>
          <p:cNvPr id="3" name="Text 1"/>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22</a:t>
            </a:r>
            <a:endParaRPr lang="en-US" sz="900" dirty="0"/>
          </a:p>
        </p:txBody>
      </p:sp>
      <p:sp>
        <p:nvSpPr>
          <p:cNvPr id="4" name="Shape 2"/>
          <p:cNvSpPr/>
          <p:nvPr/>
        </p:nvSpPr>
        <p:spPr>
          <a:xfrm>
            <a:off x="6583680" y="237744"/>
            <a:ext cx="2103120" cy="329184"/>
          </a:xfrm>
          <a:prstGeom prst="roundRect">
            <a:avLst>
              <a:gd name="adj" fmla="val 50000"/>
            </a:avLst>
          </a:prstGeom>
          <a:solidFill>
            <a:srgbClr val="B45309"/>
          </a:solidFill>
          <a:ln w="12700">
            <a:solidFill>
              <a:srgbClr val="B45309"/>
            </a:solidFill>
            <a:prstDash val="solid"/>
          </a:ln>
        </p:spPr>
      </p:sp>
      <p:pic>
        <p:nvPicPr>
          <p:cNvPr id="5" name="Image 0" descr="preencoded.png">    </p:cNvPr>
          <p:cNvPicPr>
            <a:picLocks noChangeAspect="1"/>
          </p:cNvPicPr>
          <p:nvPr/>
        </p:nvPicPr>
        <p:blipFill>
          <a:blip r:embed="rId1"/>
          <a:stretch>
            <a:fillRect/>
          </a:stretch>
        </p:blipFill>
        <p:spPr>
          <a:xfrm>
            <a:off x="6711696" y="320040"/>
            <a:ext cx="164592" cy="164592"/>
          </a:xfrm>
          <a:prstGeom prst="rect">
            <a:avLst/>
          </a:prstGeom>
        </p:spPr>
      </p:pic>
      <p:sp>
        <p:nvSpPr>
          <p:cNvPr id="6" name="Text 3"/>
          <p:cNvSpPr txBox="1"/>
          <p:nvPr/>
        </p:nvSpPr>
        <p:spPr>
          <a:xfrm>
            <a:off x="6949440" y="237744"/>
            <a:ext cx="1691640" cy="329184"/>
          </a:xfrm>
          <a:prstGeom prst="rect">
            <a:avLst/>
          </a:prstGeom>
          <a:noFill/>
          <a:ln/>
        </p:spPr>
        <p:txBody>
          <a:bodyPr wrap="square" lIns="0" tIns="0" rIns="0" bIns="0" rtlCol="0" anchor="ctr"/>
          <a:lstStyle/>
          <a:p>
            <a:pPr indent="0" marL="0">
              <a:buNone/>
            </a:pPr>
            <a:r>
              <a:rPr lang="en-US" sz="950" b="1" spc="100" kern="0" dirty="0">
                <a:solidFill>
                  <a:srgbClr val="FFFFFF"/>
                </a:solidFill>
                <a:latin typeface="Calibri" pitchFamily="34" charset="0"/>
                <a:ea typeface="Calibri" pitchFamily="34" charset="-122"/>
                <a:cs typeface="Calibri" pitchFamily="34" charset="-120"/>
              </a:rPr>
              <a:t>iPAD · DRAW</a:t>
            </a:r>
            <a:endParaRPr lang="en-US" sz="950" dirty="0"/>
          </a:p>
        </p:txBody>
      </p:sp>
      <p:pic>
        <p:nvPicPr>
          <p:cNvPr id="7" name="Image 1" descr="preencoded.png">    </p:cNvPr>
          <p:cNvPicPr>
            <a:picLocks noChangeAspect="1"/>
          </p:cNvPicPr>
          <p:nvPr/>
        </p:nvPicPr>
        <p:blipFill>
          <a:blip r:embed="rId2"/>
          <a:stretch>
            <a:fillRect/>
          </a:stretch>
        </p:blipFill>
        <p:spPr>
          <a:xfrm>
            <a:off x="457200" y="320040"/>
            <a:ext cx="182880" cy="164592"/>
          </a:xfrm>
          <a:prstGeom prst="rect">
            <a:avLst/>
          </a:prstGeom>
        </p:spPr>
      </p:pic>
      <p:sp>
        <p:nvSpPr>
          <p:cNvPr id="8" name="Text 4"/>
          <p:cNvSpPr txBox="1"/>
          <p:nvPr/>
        </p:nvSpPr>
        <p:spPr>
          <a:xfrm>
            <a:off x="704088" y="237744"/>
            <a:ext cx="5760720" cy="329184"/>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Hidden slide · presenter reference · 04 · Four Labels</a:t>
            </a:r>
            <a:endParaRPr lang="en-US" sz="950" dirty="0"/>
          </a:p>
        </p:txBody>
      </p:sp>
      <p:sp>
        <p:nvSpPr>
          <p:cNvPr id="9" name="Text 5"/>
          <p:cNvSpPr txBox="1"/>
          <p:nvPr/>
        </p:nvSpPr>
        <p:spPr>
          <a:xfrm>
            <a:off x="457200" y="685800"/>
            <a:ext cx="8229600" cy="457200"/>
          </a:xfrm>
          <a:prstGeom prst="rect">
            <a:avLst/>
          </a:prstGeom>
          <a:noFill/>
          <a:ln/>
        </p:spPr>
        <p:txBody>
          <a:bodyPr wrap="square" lIns="0" tIns="0" rIns="0" bIns="0" rtlCol="0" anchor="t"/>
          <a:lstStyle/>
          <a:p>
            <a:pPr indent="0" marL="0">
              <a:buNone/>
            </a:pPr>
            <a:r>
              <a:rPr lang="en-US" sz="2400" b="1" dirty="0">
                <a:solidFill>
                  <a:srgbClr val="111827"/>
                </a:solidFill>
                <a:latin typeface="Cambria" pitchFamily="34" charset="0"/>
                <a:ea typeface="Cambria" pitchFamily="34" charset="-122"/>
                <a:cs typeface="Cambria" pitchFamily="34" charset="-120"/>
              </a:rPr>
              <a:t>Draw the same four cents twice</a:t>
            </a:r>
            <a:endParaRPr lang="en-US" sz="2400" dirty="0"/>
          </a:p>
        </p:txBody>
      </p:sp>
      <p:sp>
        <p:nvSpPr>
          <p:cNvPr id="10" name="Text 6"/>
          <p:cNvSpPr txBox="1"/>
          <p:nvPr/>
        </p:nvSpPr>
        <p:spPr>
          <a:xfrm>
            <a:off x="457200" y="1143000"/>
            <a:ext cx="8229600" cy="274320"/>
          </a:xfrm>
          <a:prstGeom prst="rect">
            <a:avLst/>
          </a:prstGeom>
          <a:noFill/>
          <a:ln/>
        </p:spPr>
        <p:txBody>
          <a:bodyPr wrap="square" lIns="0" tIns="0" rIns="0" bIns="0" rtlCol="0" anchor="t"/>
          <a:lstStyle/>
          <a:p>
            <a:pPr indent="0" marL="0">
              <a:buNone/>
            </a:pPr>
            <a:r>
              <a:rPr lang="en-US" sz="1050" i="1" dirty="0">
                <a:solidFill>
                  <a:srgbClr val="6B7280"/>
                </a:solidFill>
                <a:latin typeface="Calibri" pitchFamily="34" charset="0"/>
                <a:ea typeface="Calibri" pitchFamily="34" charset="-122"/>
                <a:cs typeface="Calibri" pitchFamily="34" charset="-120"/>
              </a:rPr>
              <a:t>New iPad page. The before-and-after at the top, then the four labels as separate cards.</a:t>
            </a:r>
            <a:endParaRPr lang="en-US" sz="1050" dirty="0"/>
          </a:p>
        </p:txBody>
      </p:sp>
      <p:sp>
        <p:nvSpPr>
          <p:cNvPr id="11" name="Text 7"/>
          <p:cNvSpPr txBox="1"/>
          <p:nvPr/>
        </p:nvSpPr>
        <p:spPr>
          <a:xfrm>
            <a:off x="457200" y="1572768"/>
            <a:ext cx="3246120" cy="301752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Left box WITHOUT LABELS: a dark rectangle with just “four cents”. Under it: true, and useless · you cannot ask it a single question</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Arrow right, labelled: add four labels</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Right box WITH LABELS: the same four cents at the top, then agent = invoice-reader · team = finance · run = a41f… · result = success</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Under that box: now it can answer things</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Across the bottom, four cards. Label name in a small dark rectangle at the top of each: agent · team · run · result</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Under each name, the question in capitals: WHICH ONE SPENT IT? WHO SHOULD PAY? WHICH ATTEMPT? DID IT WORK?</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Under each question, why, in small letters: find the expensive agent · the right budget · add up one whole task · separate money well spent</a:t>
            </a:r>
            <a:endParaRPr lang="en-US" sz="950" dirty="0"/>
          </a:p>
        </p:txBody>
      </p:sp>
      <p:sp>
        <p:nvSpPr>
          <p:cNvPr id="12" name="Shape 8"/>
          <p:cNvSpPr/>
          <p:nvPr/>
        </p:nvSpPr>
        <p:spPr>
          <a:xfrm>
            <a:off x="3886200" y="1536192"/>
            <a:ext cx="4800600" cy="2275609"/>
          </a:xfrm>
          <a:prstGeom prst="roundRect">
            <a:avLst>
              <a:gd name="adj" fmla="val 3215"/>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3" name="Text 9"/>
          <p:cNvSpPr txBox="1"/>
          <p:nvPr/>
        </p:nvSpPr>
        <p:spPr>
          <a:xfrm>
            <a:off x="4005072" y="1591056"/>
            <a:ext cx="4572000" cy="201168"/>
          </a:xfrm>
          <a:prstGeom prst="rect">
            <a:avLst/>
          </a:prstGeom>
          <a:noFill/>
          <a:ln/>
        </p:spPr>
        <p:txBody>
          <a:bodyPr wrap="square" lIns="0" tIns="0" rIns="0" bIns="0" rtlCol="0" anchor="t"/>
          <a:lstStyle/>
          <a:p>
            <a:pPr indent="0" marL="0">
              <a:buNone/>
            </a:pPr>
            <a:r>
              <a:rPr lang="en-US" sz="750" b="1" spc="150" kern="0" dirty="0">
                <a:solidFill>
                  <a:srgbClr val="9CA3AF"/>
                </a:solidFill>
                <a:latin typeface="Calibri" pitchFamily="34" charset="0"/>
                <a:ea typeface="Calibri" pitchFamily="34" charset="-122"/>
                <a:cs typeface="Calibri" pitchFamily="34" charset="-120"/>
              </a:rPr>
              <a:t>FINISHED PANEL: WHAT YOURS SHOULD LOOK LIKE</a:t>
            </a:r>
            <a:endParaRPr lang="en-US" sz="750" dirty="0"/>
          </a:p>
        </p:txBody>
      </p:sp>
      <p:pic>
        <p:nvPicPr>
          <p:cNvPr id="14" name="Image 2" descr="preencoded.png">    </p:cNvPr>
          <p:cNvPicPr>
            <a:picLocks noChangeAspect="1"/>
          </p:cNvPicPr>
          <p:nvPr/>
        </p:nvPicPr>
        <p:blipFill>
          <a:blip r:embed="rId3"/>
          <a:stretch>
            <a:fillRect/>
          </a:stretch>
        </p:blipFill>
        <p:spPr>
          <a:xfrm>
            <a:off x="3886200" y="1828800"/>
            <a:ext cx="4800600" cy="1818409"/>
          </a:xfrm>
          <a:prstGeom prst="rect">
            <a:avLst/>
          </a:prstGeom>
        </p:spPr>
      </p:pic>
      <p:sp>
        <p:nvSpPr>
          <p:cNvPr id="15" name="Shape 10"/>
          <p:cNvSpPr/>
          <p:nvPr/>
        </p:nvSpPr>
        <p:spPr>
          <a:xfrm>
            <a:off x="3886200" y="3967249"/>
            <a:ext cx="4800600" cy="457200"/>
          </a:xfrm>
          <a:prstGeom prst="roundRect">
            <a:avLst>
              <a:gd name="adj" fmla="val 16000"/>
            </a:avLst>
          </a:prstGeom>
          <a:solidFill>
            <a:srgbClr val="FEF3C7"/>
          </a:solidFill>
          <a:ln w="12700">
            <a:solidFill>
              <a:srgbClr val="FEF3C7"/>
            </a:solidFill>
            <a:prstDash val="solid"/>
          </a:ln>
        </p:spPr>
      </p:sp>
      <p:sp>
        <p:nvSpPr>
          <p:cNvPr id="16" name="Text 11"/>
          <p:cNvSpPr txBox="1"/>
          <p:nvPr/>
        </p:nvSpPr>
        <p:spPr>
          <a:xfrm>
            <a:off x="4069080" y="3967249"/>
            <a:ext cx="4480560" cy="457200"/>
          </a:xfrm>
          <a:prstGeom prst="rect">
            <a:avLst/>
          </a:prstGeom>
          <a:noFill/>
          <a:ln/>
        </p:spPr>
        <p:txBody>
          <a:bodyPr wrap="square" lIns="0" tIns="0" rIns="0" bIns="0" rtlCol="0" anchor="ctr"/>
          <a:lstStyle/>
          <a:p>
            <a:pPr indent="0" marL="0">
              <a:buNone/>
            </a:pPr>
            <a:r>
              <a:rPr lang="en-US" sz="1050" b="1" i="1" dirty="0">
                <a:solidFill>
                  <a:srgbClr val="B45309"/>
                </a:solidFill>
                <a:latin typeface="Calibri" pitchFamily="34" charset="0"/>
                <a:ea typeface="Calibri" pitchFamily="34" charset="-122"/>
                <a:cs typeface="Calibri" pitchFamily="34" charset="-120"/>
              </a:rPr>
              <a:t>Say: “The same amount of money. One version can answer questions.”</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11827"/>
        </a:solidFill>
      </p:bgPr>
    </p:bg>
    <p:spTree>
      <p:nvGrpSpPr>
        <p:cNvPr id="1" name=""/>
        <p:cNvGrpSpPr/>
        <p:nvPr/>
      </p:nvGrpSpPr>
      <p:grpSpPr>
        <a:xfrm>
          <a:off x="0" y="0"/>
          <a:ext cx="0" cy="0"/>
          <a:chOff x="0" y="0"/>
          <a:chExt cx="0" cy="0"/>
        </a:xfrm>
      </p:grpSpPr>
      <p:sp>
        <p:nvSpPr>
          <p:cNvPr id="2" name="Text 0"/>
          <p:cNvSpPr txBox="1"/>
          <p:nvPr/>
        </p:nvSpPr>
        <p:spPr>
          <a:xfrm>
            <a:off x="548640" y="1005840"/>
            <a:ext cx="2743200" cy="1280160"/>
          </a:xfrm>
          <a:prstGeom prst="rect">
            <a:avLst/>
          </a:prstGeom>
          <a:noFill/>
          <a:ln/>
        </p:spPr>
        <p:txBody>
          <a:bodyPr wrap="square" lIns="0" tIns="0" rIns="0" bIns="0" rtlCol="0" anchor="t"/>
          <a:lstStyle/>
          <a:p>
            <a:pPr indent="0" marL="0">
              <a:buNone/>
            </a:pPr>
            <a:r>
              <a:rPr lang="en-US" sz="9600" b="1" dirty="0">
                <a:solidFill>
                  <a:srgbClr val="F59E0B"/>
                </a:solidFill>
                <a:latin typeface="Cambria" pitchFamily="34" charset="0"/>
                <a:ea typeface="Cambria" pitchFamily="34" charset="-122"/>
                <a:cs typeface="Cambria" pitchFamily="34" charset="-120"/>
              </a:rPr>
              <a:t>05</a:t>
            </a:r>
            <a:endParaRPr lang="en-US" sz="9600" dirty="0"/>
          </a:p>
        </p:txBody>
      </p:sp>
      <p:sp>
        <p:nvSpPr>
          <p:cNvPr id="3" name="Text 1"/>
          <p:cNvSpPr txBox="1"/>
          <p:nvPr/>
        </p:nvSpPr>
        <p:spPr>
          <a:xfrm>
            <a:off x="548640" y="2377440"/>
            <a:ext cx="8046720" cy="91440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From a Number to a Picture</a:t>
            </a:r>
            <a:endParaRPr lang="en-US" sz="3600" dirty="0"/>
          </a:p>
        </p:txBody>
      </p:sp>
      <p:sp>
        <p:nvSpPr>
          <p:cNvPr id="4" name="Text 2"/>
          <p:cNvSpPr txBox="1"/>
          <p:nvPr/>
        </p:nvSpPr>
        <p:spPr>
          <a:xfrm>
            <a:off x="548640" y="3383280"/>
            <a:ext cx="2743200" cy="320040"/>
          </a:xfrm>
          <a:prstGeom prst="rect">
            <a:avLst/>
          </a:prstGeom>
          <a:noFill/>
          <a:ln/>
        </p:spPr>
        <p:txBody>
          <a:bodyPr wrap="square" lIns="0" tIns="0" rIns="0" bIns="0" rtlCol="0" anchor="t"/>
          <a:lstStyle/>
          <a:p>
            <a:pPr indent="0" marL="0">
              <a:buNone/>
            </a:pPr>
            <a:r>
              <a:rPr lang="en-US" sz="1400" dirty="0">
                <a:solidFill>
                  <a:srgbClr val="9CA3AF"/>
                </a:solidFill>
                <a:latin typeface="Calibri" pitchFamily="34" charset="0"/>
                <a:ea typeface="Calibri" pitchFamily="34" charset="-122"/>
                <a:cs typeface="Calibri" pitchFamily="34" charset="-120"/>
              </a:rPr>
              <a:t>~7 min</a:t>
            </a:r>
            <a:endParaRPr lang="en-US" sz="1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05 · NUMBER TO PICTURE</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Three stages</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2</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24</a:t>
            </a:r>
            <a:endParaRPr lang="en-US" sz="900" dirty="0"/>
          </a:p>
        </p:txBody>
      </p:sp>
      <p:sp>
        <p:nvSpPr>
          <p:cNvPr id="6" name="Shape 4"/>
          <p:cNvSpPr/>
          <p:nvPr/>
        </p:nvSpPr>
        <p:spPr>
          <a:xfrm>
            <a:off x="457200" y="1325880"/>
            <a:ext cx="2606040" cy="2377440"/>
          </a:xfrm>
          <a:prstGeom prst="roundRect">
            <a:avLst>
              <a:gd name="adj" fmla="val 3077"/>
            </a:avLst>
          </a:prstGeom>
          <a:solidFill>
            <a:srgbClr val="F3F4F6"/>
          </a:solidFill>
          <a:ln w="12700">
            <a:solidFill>
              <a:srgbClr val="F3F4F6"/>
            </a:solidFill>
            <a:prstDash val="solid"/>
          </a:ln>
        </p:spPr>
      </p:sp>
      <p:sp>
        <p:nvSpPr>
          <p:cNvPr id="7" name="Text 5"/>
          <p:cNvSpPr txBox="1"/>
          <p:nvPr/>
        </p:nvSpPr>
        <p:spPr>
          <a:xfrm>
            <a:off x="685800" y="1463040"/>
            <a:ext cx="457200" cy="411480"/>
          </a:xfrm>
          <a:prstGeom prst="rect">
            <a:avLst/>
          </a:prstGeom>
          <a:noFill/>
          <a:ln/>
        </p:spPr>
        <p:txBody>
          <a:bodyPr wrap="square" lIns="0" tIns="0" rIns="0" bIns="0" rtlCol="0" anchor="t"/>
          <a:lstStyle/>
          <a:p>
            <a:pPr indent="0" marL="0">
              <a:buNone/>
            </a:pPr>
            <a:r>
              <a:rPr lang="en-US" sz="2400" b="1" dirty="0">
                <a:solidFill>
                  <a:srgbClr val="6B7280"/>
                </a:solidFill>
                <a:latin typeface="Cambria" pitchFamily="34" charset="0"/>
                <a:ea typeface="Cambria" pitchFamily="34" charset="-122"/>
                <a:cs typeface="Cambria" pitchFamily="34" charset="-120"/>
              </a:rPr>
              <a:t>1</a:t>
            </a:r>
            <a:endParaRPr lang="en-US" sz="2400" dirty="0"/>
          </a:p>
        </p:txBody>
      </p:sp>
      <p:sp>
        <p:nvSpPr>
          <p:cNvPr id="8" name="Text 6"/>
          <p:cNvSpPr txBox="1"/>
          <p:nvPr/>
        </p:nvSpPr>
        <p:spPr>
          <a:xfrm>
            <a:off x="685800" y="1920240"/>
            <a:ext cx="2194560" cy="320040"/>
          </a:xfrm>
          <a:prstGeom prst="rect">
            <a:avLst/>
          </a:prstGeom>
          <a:noFill/>
          <a:ln/>
        </p:spPr>
        <p:txBody>
          <a:bodyPr wrap="square" lIns="0" tIns="0" rIns="0" bIns="0" rtlCol="0" anchor="t"/>
          <a:lstStyle/>
          <a:p>
            <a:pPr indent="0" marL="0">
              <a:buNone/>
            </a:pPr>
            <a:r>
              <a:rPr lang="en-US" sz="1400" b="1" spc="100" kern="0" dirty="0">
                <a:solidFill>
                  <a:srgbClr val="111827"/>
                </a:solidFill>
                <a:latin typeface="Calibri" pitchFamily="34" charset="0"/>
                <a:ea typeface="Calibri" pitchFamily="34" charset="-122"/>
                <a:cs typeface="Calibri" pitchFamily="34" charset="-120"/>
              </a:rPr>
              <a:t>A NUMBER</a:t>
            </a:r>
            <a:endParaRPr lang="en-US" sz="1400" dirty="0"/>
          </a:p>
        </p:txBody>
      </p:sp>
      <p:sp>
        <p:nvSpPr>
          <p:cNvPr id="9" name="Text 7"/>
          <p:cNvSpPr txBox="1"/>
          <p:nvPr/>
        </p:nvSpPr>
        <p:spPr>
          <a:xfrm>
            <a:off x="685800" y="2286000"/>
            <a:ext cx="2194560" cy="73152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One run just cost four cents.</a:t>
            </a:r>
            <a:endParaRPr lang="en-US" sz="1300" dirty="0"/>
          </a:p>
        </p:txBody>
      </p:sp>
      <p:sp>
        <p:nvSpPr>
          <p:cNvPr id="10" name="Text 8"/>
          <p:cNvSpPr txBox="1"/>
          <p:nvPr/>
        </p:nvSpPr>
        <p:spPr>
          <a:xfrm>
            <a:off x="685800" y="3017520"/>
            <a:ext cx="2194560" cy="594360"/>
          </a:xfrm>
          <a:prstGeom prst="rect">
            <a:avLst/>
          </a:prstGeom>
          <a:noFill/>
          <a:ln/>
        </p:spPr>
        <p:txBody>
          <a:bodyPr wrap="square" lIns="0" tIns="0" rIns="0" bIns="0" rtlCol="0" anchor="t"/>
          <a:lstStyle/>
          <a:p>
            <a:pPr indent="0" marL="0">
              <a:buNone/>
            </a:pPr>
            <a:r>
              <a:rPr lang="en-US" sz="1100" i="1" dirty="0">
                <a:solidFill>
                  <a:srgbClr val="6B7280"/>
                </a:solidFill>
                <a:latin typeface="Calibri" pitchFamily="34" charset="0"/>
                <a:ea typeface="Calibri" pitchFamily="34" charset="-122"/>
                <a:cs typeface="Calibri" pitchFamily="34" charset="-120"/>
              </a:rPr>
              <a:t>It exists for a moment, then it is gone.</a:t>
            </a:r>
            <a:endParaRPr lang="en-US" sz="1100" dirty="0"/>
          </a:p>
        </p:txBody>
      </p:sp>
      <p:sp>
        <p:nvSpPr>
          <p:cNvPr id="11" name="Shape 9"/>
          <p:cNvSpPr/>
          <p:nvPr/>
        </p:nvSpPr>
        <p:spPr>
          <a:xfrm>
            <a:off x="3246120" y="1325880"/>
            <a:ext cx="2606040" cy="2377440"/>
          </a:xfrm>
          <a:prstGeom prst="roundRect">
            <a:avLst>
              <a:gd name="adj" fmla="val 3077"/>
            </a:avLst>
          </a:prstGeom>
          <a:solidFill>
            <a:srgbClr val="F3F4F6"/>
          </a:solidFill>
          <a:ln w="12700">
            <a:solidFill>
              <a:srgbClr val="F3F4F6"/>
            </a:solidFill>
            <a:prstDash val="solid"/>
          </a:ln>
        </p:spPr>
      </p:sp>
      <p:sp>
        <p:nvSpPr>
          <p:cNvPr id="12" name="Text 10"/>
          <p:cNvSpPr txBox="1"/>
          <p:nvPr/>
        </p:nvSpPr>
        <p:spPr>
          <a:xfrm>
            <a:off x="3474720" y="1463040"/>
            <a:ext cx="457200" cy="411480"/>
          </a:xfrm>
          <a:prstGeom prst="rect">
            <a:avLst/>
          </a:prstGeom>
          <a:noFill/>
          <a:ln/>
        </p:spPr>
        <p:txBody>
          <a:bodyPr wrap="square" lIns="0" tIns="0" rIns="0" bIns="0" rtlCol="0" anchor="t"/>
          <a:lstStyle/>
          <a:p>
            <a:pPr indent="0" marL="0">
              <a:buNone/>
            </a:pPr>
            <a:r>
              <a:rPr lang="en-US" sz="2400" b="1" dirty="0">
                <a:solidFill>
                  <a:srgbClr val="B45309"/>
                </a:solidFill>
                <a:latin typeface="Cambria" pitchFamily="34" charset="0"/>
                <a:ea typeface="Cambria" pitchFamily="34" charset="-122"/>
                <a:cs typeface="Cambria" pitchFamily="34" charset="-120"/>
              </a:rPr>
              <a:t>2</a:t>
            </a:r>
            <a:endParaRPr lang="en-US" sz="2400" dirty="0"/>
          </a:p>
        </p:txBody>
      </p:sp>
      <p:sp>
        <p:nvSpPr>
          <p:cNvPr id="13" name="Text 11"/>
          <p:cNvSpPr txBox="1"/>
          <p:nvPr/>
        </p:nvSpPr>
        <p:spPr>
          <a:xfrm>
            <a:off x="3474720" y="1920240"/>
            <a:ext cx="2194560" cy="320040"/>
          </a:xfrm>
          <a:prstGeom prst="rect">
            <a:avLst/>
          </a:prstGeom>
          <a:noFill/>
          <a:ln/>
        </p:spPr>
        <p:txBody>
          <a:bodyPr wrap="square" lIns="0" tIns="0" rIns="0" bIns="0" rtlCol="0" anchor="t"/>
          <a:lstStyle/>
          <a:p>
            <a:pPr indent="0" marL="0">
              <a:buNone/>
            </a:pPr>
            <a:r>
              <a:rPr lang="en-US" sz="1400" b="1" spc="100" kern="0" dirty="0">
                <a:solidFill>
                  <a:srgbClr val="111827"/>
                </a:solidFill>
                <a:latin typeface="Calibri" pitchFamily="34" charset="0"/>
                <a:ea typeface="Calibri" pitchFamily="34" charset="-122"/>
                <a:cs typeface="Calibri" pitchFamily="34" charset="-120"/>
              </a:rPr>
              <a:t>A COUNTER</a:t>
            </a:r>
            <a:endParaRPr lang="en-US" sz="1400" dirty="0"/>
          </a:p>
        </p:txBody>
      </p:sp>
      <p:sp>
        <p:nvSpPr>
          <p:cNvPr id="14" name="Text 12"/>
          <p:cNvSpPr txBox="1"/>
          <p:nvPr/>
        </p:nvSpPr>
        <p:spPr>
          <a:xfrm>
            <a:off x="3474720" y="2286000"/>
            <a:ext cx="2194560" cy="73152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Add it to a running total that never resets.</a:t>
            </a:r>
            <a:endParaRPr lang="en-US" sz="1300" dirty="0"/>
          </a:p>
        </p:txBody>
      </p:sp>
      <p:sp>
        <p:nvSpPr>
          <p:cNvPr id="15" name="Text 13"/>
          <p:cNvSpPr txBox="1"/>
          <p:nvPr/>
        </p:nvSpPr>
        <p:spPr>
          <a:xfrm>
            <a:off x="3474720" y="3017520"/>
            <a:ext cx="2194560" cy="594360"/>
          </a:xfrm>
          <a:prstGeom prst="rect">
            <a:avLst/>
          </a:prstGeom>
          <a:noFill/>
          <a:ln/>
        </p:spPr>
        <p:txBody>
          <a:bodyPr wrap="square" lIns="0" tIns="0" rIns="0" bIns="0" rtlCol="0" anchor="t"/>
          <a:lstStyle/>
          <a:p>
            <a:pPr indent="0" marL="0">
              <a:buNone/>
            </a:pPr>
            <a:r>
              <a:rPr lang="en-US" sz="1100" i="1" dirty="0">
                <a:solidFill>
                  <a:srgbClr val="6B7280"/>
                </a:solidFill>
                <a:latin typeface="Calibri" pitchFamily="34" charset="0"/>
                <a:ea typeface="Calibri" pitchFamily="34" charset="-122"/>
                <a:cs typeface="Calibri" pitchFamily="34" charset="-120"/>
              </a:rPr>
              <a:t>A tally on the wall that only goes up.</a:t>
            </a:r>
            <a:endParaRPr lang="en-US" sz="1100" dirty="0"/>
          </a:p>
        </p:txBody>
      </p:sp>
      <p:sp>
        <p:nvSpPr>
          <p:cNvPr id="16" name="Shape 14"/>
          <p:cNvSpPr/>
          <p:nvPr/>
        </p:nvSpPr>
        <p:spPr>
          <a:xfrm>
            <a:off x="6035040" y="1325880"/>
            <a:ext cx="2606040" cy="2377440"/>
          </a:xfrm>
          <a:prstGeom prst="roundRect">
            <a:avLst>
              <a:gd name="adj" fmla="val 3077"/>
            </a:avLst>
          </a:prstGeom>
          <a:solidFill>
            <a:srgbClr val="ECFDF5"/>
          </a:solidFill>
          <a:ln w="12700">
            <a:solidFill>
              <a:srgbClr val="ECFDF5"/>
            </a:solidFill>
            <a:prstDash val="solid"/>
          </a:ln>
        </p:spPr>
      </p:sp>
      <p:sp>
        <p:nvSpPr>
          <p:cNvPr id="17" name="Text 15"/>
          <p:cNvSpPr txBox="1"/>
          <p:nvPr/>
        </p:nvSpPr>
        <p:spPr>
          <a:xfrm>
            <a:off x="6263640" y="1463040"/>
            <a:ext cx="457200" cy="411480"/>
          </a:xfrm>
          <a:prstGeom prst="rect">
            <a:avLst/>
          </a:prstGeom>
          <a:noFill/>
          <a:ln/>
        </p:spPr>
        <p:txBody>
          <a:bodyPr wrap="square" lIns="0" tIns="0" rIns="0" bIns="0" rtlCol="0" anchor="t"/>
          <a:lstStyle/>
          <a:p>
            <a:pPr indent="0" marL="0">
              <a:buNone/>
            </a:pPr>
            <a:r>
              <a:rPr lang="en-US" sz="2400" b="1" dirty="0">
                <a:solidFill>
                  <a:srgbClr val="047857"/>
                </a:solidFill>
                <a:latin typeface="Cambria" pitchFamily="34" charset="0"/>
                <a:ea typeface="Cambria" pitchFamily="34" charset="-122"/>
                <a:cs typeface="Cambria" pitchFamily="34" charset="-120"/>
              </a:rPr>
              <a:t>3</a:t>
            </a:r>
            <a:endParaRPr lang="en-US" sz="2400" dirty="0"/>
          </a:p>
        </p:txBody>
      </p:sp>
      <p:sp>
        <p:nvSpPr>
          <p:cNvPr id="18" name="Text 16"/>
          <p:cNvSpPr txBox="1"/>
          <p:nvPr/>
        </p:nvSpPr>
        <p:spPr>
          <a:xfrm>
            <a:off x="6263640" y="1920240"/>
            <a:ext cx="2194560" cy="320040"/>
          </a:xfrm>
          <a:prstGeom prst="rect">
            <a:avLst/>
          </a:prstGeom>
          <a:noFill/>
          <a:ln/>
        </p:spPr>
        <p:txBody>
          <a:bodyPr wrap="square" lIns="0" tIns="0" rIns="0" bIns="0" rtlCol="0" anchor="t"/>
          <a:lstStyle/>
          <a:p>
            <a:pPr indent="0" marL="0">
              <a:buNone/>
            </a:pPr>
            <a:r>
              <a:rPr lang="en-US" sz="1400" b="1" spc="100" kern="0" dirty="0">
                <a:solidFill>
                  <a:srgbClr val="111827"/>
                </a:solidFill>
                <a:latin typeface="Calibri" pitchFamily="34" charset="0"/>
                <a:ea typeface="Calibri" pitchFamily="34" charset="-122"/>
                <a:cs typeface="Calibri" pitchFamily="34" charset="-120"/>
              </a:rPr>
              <a:t>A PICTURE</a:t>
            </a:r>
            <a:endParaRPr lang="en-US" sz="1400" dirty="0"/>
          </a:p>
        </p:txBody>
      </p:sp>
      <p:sp>
        <p:nvSpPr>
          <p:cNvPr id="19" name="Text 17"/>
          <p:cNvSpPr txBox="1"/>
          <p:nvPr/>
        </p:nvSpPr>
        <p:spPr>
          <a:xfrm>
            <a:off x="6263640" y="2286000"/>
            <a:ext cx="2194560" cy="73152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A line on a screen you can look at.</a:t>
            </a:r>
            <a:endParaRPr lang="en-US" sz="1300" dirty="0"/>
          </a:p>
        </p:txBody>
      </p:sp>
      <p:sp>
        <p:nvSpPr>
          <p:cNvPr id="20" name="Text 18"/>
          <p:cNvSpPr txBox="1"/>
          <p:nvPr/>
        </p:nvSpPr>
        <p:spPr>
          <a:xfrm>
            <a:off x="6263640" y="3017520"/>
            <a:ext cx="2194560" cy="594360"/>
          </a:xfrm>
          <a:prstGeom prst="rect">
            <a:avLst/>
          </a:prstGeom>
          <a:noFill/>
          <a:ln/>
        </p:spPr>
        <p:txBody>
          <a:bodyPr wrap="square" lIns="0" tIns="0" rIns="0" bIns="0" rtlCol="0" anchor="t"/>
          <a:lstStyle/>
          <a:p>
            <a:pPr indent="0" marL="0">
              <a:buNone/>
            </a:pPr>
            <a:r>
              <a:rPr lang="en-US" sz="1100" i="1" dirty="0">
                <a:solidFill>
                  <a:srgbClr val="6B7280"/>
                </a:solidFill>
                <a:latin typeface="Calibri" pitchFamily="34" charset="0"/>
                <a:ea typeface="Calibri" pitchFamily="34" charset="-122"/>
                <a:cs typeface="Calibri" pitchFamily="34" charset="-120"/>
              </a:rPr>
              <a:t>Now a human can see it at a glance.</a:t>
            </a:r>
            <a:endParaRPr lang="en-US" sz="1100" dirty="0"/>
          </a:p>
        </p:txBody>
      </p:sp>
      <p:sp>
        <p:nvSpPr>
          <p:cNvPr id="21" name="Shape 19"/>
          <p:cNvSpPr/>
          <p:nvPr/>
        </p:nvSpPr>
        <p:spPr>
          <a:xfrm>
            <a:off x="457200" y="3886200"/>
            <a:ext cx="8229600" cy="777240"/>
          </a:xfrm>
          <a:prstGeom prst="roundRect">
            <a:avLst>
              <a:gd name="adj" fmla="val 9412"/>
            </a:avLst>
          </a:prstGeom>
          <a:solidFill>
            <a:srgbClr val="111827"/>
          </a:solidFill>
          <a:ln w="12700">
            <a:solidFill>
              <a:srgbClr val="111827"/>
            </a:solidFill>
            <a:prstDash val="solid"/>
          </a:ln>
        </p:spPr>
      </p:sp>
      <p:sp>
        <p:nvSpPr>
          <p:cNvPr id="22" name="Text 20"/>
          <p:cNvSpPr txBox="1"/>
          <p:nvPr/>
        </p:nvSpPr>
        <p:spPr>
          <a:xfrm>
            <a:off x="731520" y="3886200"/>
            <a:ext cx="7680960" cy="777240"/>
          </a:xfrm>
          <a:prstGeom prst="rect">
            <a:avLst/>
          </a:prstGeom>
          <a:noFill/>
          <a:ln/>
        </p:spPr>
        <p:txBody>
          <a:bodyPr wrap="square" lIns="0" tIns="0" rIns="0" bIns="0" rtlCol="0" anchor="ctr"/>
          <a:lstStyle/>
          <a:p>
            <a:pPr indent="0" marL="0">
              <a:buNone/>
            </a:pPr>
            <a:r>
              <a:rPr lang="en-US" sz="1300" b="1" dirty="0">
                <a:solidFill>
                  <a:srgbClr val="F59E0B"/>
                </a:solidFill>
                <a:latin typeface="Calibri" pitchFamily="34" charset="0"/>
                <a:ea typeface="Calibri" pitchFamily="34" charset="-122"/>
                <a:cs typeface="Calibri" pitchFamily="34" charset="-120"/>
              </a:rPr>
              <a:t>Why a tally that never resets? </a:t>
            </a:r>
            <a:pPr indent="0" marL="0">
              <a:buNone/>
            </a:pPr>
            <a:r>
              <a:rPr lang="en-US" sz="1300" dirty="0">
                <a:solidFill>
                  <a:srgbClr val="FFFFFF"/>
                </a:solidFill>
                <a:latin typeface="Calibri" pitchFamily="34" charset="0"/>
                <a:ea typeface="Calibri" pitchFamily="34" charset="-122"/>
                <a:cs typeface="Calibri" pitchFamily="34" charset="-120"/>
              </a:rPr>
              <a:t>To find what one hour cost, look at the mark now and the mark an hour ago, and subtract. Any window you like, from one number.</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05 · NUMBER TO PICTURE</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Two tools, set up today, used in module 6</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2</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25</a:t>
            </a:r>
            <a:endParaRPr lang="en-US" sz="900" dirty="0"/>
          </a:p>
        </p:txBody>
      </p:sp>
      <p:sp>
        <p:nvSpPr>
          <p:cNvPr id="6" name="Shape 4"/>
          <p:cNvSpPr/>
          <p:nvPr/>
        </p:nvSpPr>
        <p:spPr>
          <a:xfrm>
            <a:off x="457200" y="1325880"/>
            <a:ext cx="4023360" cy="1737360"/>
          </a:xfrm>
          <a:prstGeom prst="roundRect">
            <a:avLst>
              <a:gd name="adj" fmla="val 4211"/>
            </a:avLst>
          </a:prstGeom>
          <a:solidFill>
            <a:srgbClr val="F3F4F6"/>
          </a:solidFill>
          <a:ln w="12700">
            <a:solidFill>
              <a:srgbClr val="F3F4F6"/>
            </a:solidFill>
            <a:prstDash val="solid"/>
          </a:ln>
        </p:spPr>
      </p:sp>
      <p:sp>
        <p:nvSpPr>
          <p:cNvPr id="7" name="Text 5"/>
          <p:cNvSpPr txBox="1"/>
          <p:nvPr/>
        </p:nvSpPr>
        <p:spPr>
          <a:xfrm>
            <a:off x="731520" y="1508760"/>
            <a:ext cx="3474720" cy="365760"/>
          </a:xfrm>
          <a:prstGeom prst="rect">
            <a:avLst/>
          </a:prstGeom>
          <a:noFill/>
          <a:ln/>
        </p:spPr>
        <p:txBody>
          <a:bodyPr wrap="square" lIns="0" tIns="0" rIns="0" bIns="0" rtlCol="0" anchor="t"/>
          <a:lstStyle/>
          <a:p>
            <a:pPr indent="0" marL="0">
              <a:buNone/>
            </a:pPr>
            <a:r>
              <a:rPr lang="en-US" sz="1800" b="1" dirty="0">
                <a:solidFill>
                  <a:srgbClr val="B45309"/>
                </a:solidFill>
                <a:latin typeface="Calibri" pitchFamily="34" charset="0"/>
                <a:ea typeface="Calibri" pitchFamily="34" charset="-122"/>
                <a:cs typeface="Calibri" pitchFamily="34" charset="-120"/>
              </a:rPr>
              <a:t>Prometheus</a:t>
            </a:r>
            <a:endParaRPr lang="en-US" sz="1800" dirty="0"/>
          </a:p>
        </p:txBody>
      </p:sp>
      <p:sp>
        <p:nvSpPr>
          <p:cNvPr id="8" name="Text 6"/>
          <p:cNvSpPr txBox="1"/>
          <p:nvPr/>
        </p:nvSpPr>
        <p:spPr>
          <a:xfrm>
            <a:off x="731520" y="1920240"/>
            <a:ext cx="3520440" cy="1005840"/>
          </a:xfrm>
          <a:prstGeom prst="rect">
            <a:avLst/>
          </a:prstGeom>
          <a:noFill/>
          <a:ln/>
        </p:spPr>
        <p:txBody>
          <a:bodyPr wrap="square" lIns="0" tIns="0" rIns="0" bIns="0" rtlCol="0" anchor="t"/>
          <a:lstStyle/>
          <a:p>
            <a:pPr indent="0" marL="0">
              <a:buNone/>
            </a:pPr>
            <a:r>
              <a:rPr lang="en-US" sz="1250" dirty="0">
                <a:solidFill>
                  <a:srgbClr val="6B7280"/>
                </a:solidFill>
                <a:latin typeface="Calibri" pitchFamily="34" charset="0"/>
                <a:ea typeface="Calibri" pitchFamily="34" charset="-122"/>
                <a:cs typeface="Calibri" pitchFamily="34" charset="-120"/>
              </a:rPr>
              <a:t>Remembers numbers over time. It periodically reads the tallies your program keeps and stores them with a timestamp. The industry standard.</a:t>
            </a:r>
            <a:endParaRPr lang="en-US" sz="1250" dirty="0"/>
          </a:p>
        </p:txBody>
      </p:sp>
      <p:sp>
        <p:nvSpPr>
          <p:cNvPr id="9" name="Shape 7"/>
          <p:cNvSpPr/>
          <p:nvPr/>
        </p:nvSpPr>
        <p:spPr>
          <a:xfrm>
            <a:off x="4663440" y="1325880"/>
            <a:ext cx="4023360" cy="1737360"/>
          </a:xfrm>
          <a:prstGeom prst="roundRect">
            <a:avLst>
              <a:gd name="adj" fmla="val 4211"/>
            </a:avLst>
          </a:prstGeom>
          <a:solidFill>
            <a:srgbClr val="F3F4F6"/>
          </a:solidFill>
          <a:ln w="12700">
            <a:solidFill>
              <a:srgbClr val="F3F4F6"/>
            </a:solidFill>
            <a:prstDash val="solid"/>
          </a:ln>
        </p:spPr>
      </p:sp>
      <p:sp>
        <p:nvSpPr>
          <p:cNvPr id="10" name="Text 8"/>
          <p:cNvSpPr txBox="1"/>
          <p:nvPr/>
        </p:nvSpPr>
        <p:spPr>
          <a:xfrm>
            <a:off x="4937760" y="1508760"/>
            <a:ext cx="3474720" cy="365760"/>
          </a:xfrm>
          <a:prstGeom prst="rect">
            <a:avLst/>
          </a:prstGeom>
          <a:noFill/>
          <a:ln/>
        </p:spPr>
        <p:txBody>
          <a:bodyPr wrap="square" lIns="0" tIns="0" rIns="0" bIns="0" rtlCol="0" anchor="t"/>
          <a:lstStyle/>
          <a:p>
            <a:pPr indent="0" marL="0">
              <a:buNone/>
            </a:pPr>
            <a:r>
              <a:rPr lang="en-US" sz="1800" b="1" dirty="0">
                <a:solidFill>
                  <a:srgbClr val="1D4ED8"/>
                </a:solidFill>
                <a:latin typeface="Calibri" pitchFamily="34" charset="0"/>
                <a:ea typeface="Calibri" pitchFamily="34" charset="-122"/>
                <a:cs typeface="Calibri" pitchFamily="34" charset="-120"/>
              </a:rPr>
              <a:t>Grafana</a:t>
            </a:r>
            <a:endParaRPr lang="en-US" sz="1800" dirty="0"/>
          </a:p>
        </p:txBody>
      </p:sp>
      <p:sp>
        <p:nvSpPr>
          <p:cNvPr id="11" name="Text 9"/>
          <p:cNvSpPr txBox="1"/>
          <p:nvPr/>
        </p:nvSpPr>
        <p:spPr>
          <a:xfrm>
            <a:off x="4937760" y="1920240"/>
            <a:ext cx="3520440" cy="1005840"/>
          </a:xfrm>
          <a:prstGeom prst="rect">
            <a:avLst/>
          </a:prstGeom>
          <a:noFill/>
          <a:ln/>
        </p:spPr>
        <p:txBody>
          <a:bodyPr wrap="square" lIns="0" tIns="0" rIns="0" bIns="0" rtlCol="0" anchor="t"/>
          <a:lstStyle/>
          <a:p>
            <a:pPr indent="0" marL="0">
              <a:buNone/>
            </a:pPr>
            <a:r>
              <a:rPr lang="en-US" sz="1250" dirty="0">
                <a:solidFill>
                  <a:srgbClr val="6B7280"/>
                </a:solidFill>
                <a:latin typeface="Calibri" pitchFamily="34" charset="0"/>
                <a:ea typeface="Calibri" pitchFamily="34" charset="-122"/>
                <a:cs typeface="Calibri" pitchFamily="34" charset="-120"/>
              </a:rPr>
              <a:t>Asks Prometheus for numbers and draws them as lines on a screen, so a human can see at a glance.</a:t>
            </a:r>
            <a:endParaRPr lang="en-US" sz="1250" dirty="0"/>
          </a:p>
        </p:txBody>
      </p:sp>
      <p:sp>
        <p:nvSpPr>
          <p:cNvPr id="12" name="Shape 10"/>
          <p:cNvSpPr/>
          <p:nvPr/>
        </p:nvSpPr>
        <p:spPr>
          <a:xfrm>
            <a:off x="457200" y="3246120"/>
            <a:ext cx="8229600" cy="1280160"/>
          </a:xfrm>
          <a:prstGeom prst="roundRect">
            <a:avLst>
              <a:gd name="adj" fmla="val 5714"/>
            </a:avLst>
          </a:prstGeom>
          <a:solidFill>
            <a:srgbClr val="111827"/>
          </a:solidFill>
          <a:ln w="12700">
            <a:solidFill>
              <a:srgbClr val="111827"/>
            </a:solidFill>
            <a:prstDash val="solid"/>
          </a:ln>
        </p:spPr>
      </p:sp>
      <p:sp>
        <p:nvSpPr>
          <p:cNvPr id="13" name="Text 11"/>
          <p:cNvSpPr txBox="1"/>
          <p:nvPr/>
        </p:nvSpPr>
        <p:spPr>
          <a:xfrm>
            <a:off x="731520" y="3246120"/>
            <a:ext cx="7680960" cy="1280160"/>
          </a:xfrm>
          <a:prstGeom prst="rect">
            <a:avLst/>
          </a:prstGeom>
          <a:noFill/>
          <a:ln/>
        </p:spPr>
        <p:txBody>
          <a:bodyPr wrap="square" lIns="0" tIns="0" rIns="0" bIns="0" rtlCol="0" anchor="ctr"/>
          <a:lstStyle/>
          <a:p>
            <a:pPr indent="0" marL="0">
              <a:buNone/>
            </a:pPr>
            <a:r>
              <a:rPr lang="en-US" sz="1600" b="1" dirty="0">
                <a:solidFill>
                  <a:srgbClr val="F59E0B"/>
                </a:solidFill>
                <a:latin typeface="Calibri" pitchFamily="34" charset="0"/>
                <a:ea typeface="Calibri" pitchFamily="34" charset="-122"/>
                <a:cs typeface="Calibri" pitchFamily="34" charset="-120"/>
              </a:rPr>
              <a:t>At the end of this module, nothing is stopped or limited yet. </a:t>
            </a:r>
            <a:endParaRPr lang="en-US" sz="1600" dirty="0"/>
          </a:p>
          <a:p>
            <a:pPr indent="0" marL="0">
              <a:buNone/>
            </a:pPr>
            <a:r>
              <a:rPr lang="en-US" sz="1600" dirty="0">
                <a:solidFill>
                  <a:srgbClr val="FFFFFF"/>
                </a:solidFill>
                <a:latin typeface="Calibri" pitchFamily="34" charset="0"/>
                <a:ea typeface="Calibri" pitchFamily="34" charset="-122"/>
                <a:cs typeface="Calibri" pitchFamily="34" charset="-120"/>
              </a:rPr>
              <a:t>You can only see. And seeing comes first; you cannot bound what you cannot measure.</a:t>
            </a:r>
            <a:endParaRPr lang="en-US" sz="16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0">
  <p:cSld name="Slide 26">
    <p:bg>
      <p:bgPr>
        <a:solidFill>
          <a:srgbClr val="F9FAFB"/>
        </a:solidFill>
      </p:bgPr>
    </p:bg>
    <p:spTree>
      <p:nvGrpSpPr>
        <p:cNvPr id="1" name=""/>
        <p:cNvGrpSpPr/>
        <p:nvPr/>
      </p:nvGrpSpPr>
      <p:grpSpPr>
        <a:xfrm>
          <a:off x="0" y="0"/>
          <a:ext cx="0" cy="0"/>
          <a:chOff x="0" y="0"/>
          <a:chExt cx="0" cy="0"/>
        </a:xfrm>
      </p:grpSpPr>
      <p:sp>
        <p:nvSpPr>
          <p:cNvPr id="2" name="Text 0"/>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2</a:t>
            </a:r>
            <a:endParaRPr lang="en-US" sz="900" dirty="0"/>
          </a:p>
        </p:txBody>
      </p:sp>
      <p:sp>
        <p:nvSpPr>
          <p:cNvPr id="3" name="Text 1"/>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26</a:t>
            </a:r>
            <a:endParaRPr lang="en-US" sz="900" dirty="0"/>
          </a:p>
        </p:txBody>
      </p:sp>
      <p:sp>
        <p:nvSpPr>
          <p:cNvPr id="4" name="Shape 2"/>
          <p:cNvSpPr/>
          <p:nvPr/>
        </p:nvSpPr>
        <p:spPr>
          <a:xfrm>
            <a:off x="6583680" y="237744"/>
            <a:ext cx="2103120" cy="329184"/>
          </a:xfrm>
          <a:prstGeom prst="roundRect">
            <a:avLst>
              <a:gd name="adj" fmla="val 50000"/>
            </a:avLst>
          </a:prstGeom>
          <a:solidFill>
            <a:srgbClr val="B45309"/>
          </a:solidFill>
          <a:ln w="12700">
            <a:solidFill>
              <a:srgbClr val="B45309"/>
            </a:solidFill>
            <a:prstDash val="solid"/>
          </a:ln>
        </p:spPr>
      </p:sp>
      <p:pic>
        <p:nvPicPr>
          <p:cNvPr id="5" name="Image 0" descr="preencoded.png">    </p:cNvPr>
          <p:cNvPicPr>
            <a:picLocks noChangeAspect="1"/>
          </p:cNvPicPr>
          <p:nvPr/>
        </p:nvPicPr>
        <p:blipFill>
          <a:blip r:embed="rId1"/>
          <a:stretch>
            <a:fillRect/>
          </a:stretch>
        </p:blipFill>
        <p:spPr>
          <a:xfrm>
            <a:off x="6711696" y="320040"/>
            <a:ext cx="164592" cy="164592"/>
          </a:xfrm>
          <a:prstGeom prst="rect">
            <a:avLst/>
          </a:prstGeom>
        </p:spPr>
      </p:pic>
      <p:sp>
        <p:nvSpPr>
          <p:cNvPr id="6" name="Text 3"/>
          <p:cNvSpPr txBox="1"/>
          <p:nvPr/>
        </p:nvSpPr>
        <p:spPr>
          <a:xfrm>
            <a:off x="6949440" y="237744"/>
            <a:ext cx="1691640" cy="329184"/>
          </a:xfrm>
          <a:prstGeom prst="rect">
            <a:avLst/>
          </a:prstGeom>
          <a:noFill/>
          <a:ln/>
        </p:spPr>
        <p:txBody>
          <a:bodyPr wrap="square" lIns="0" tIns="0" rIns="0" bIns="0" rtlCol="0" anchor="ctr"/>
          <a:lstStyle/>
          <a:p>
            <a:pPr indent="0" marL="0">
              <a:buNone/>
            </a:pPr>
            <a:r>
              <a:rPr lang="en-US" sz="950" b="1" spc="100" kern="0" dirty="0">
                <a:solidFill>
                  <a:srgbClr val="FFFFFF"/>
                </a:solidFill>
                <a:latin typeface="Calibri" pitchFamily="34" charset="0"/>
                <a:ea typeface="Calibri" pitchFamily="34" charset="-122"/>
                <a:cs typeface="Calibri" pitchFamily="34" charset="-120"/>
              </a:rPr>
              <a:t>iPAD · DRAW</a:t>
            </a:r>
            <a:endParaRPr lang="en-US" sz="950" dirty="0"/>
          </a:p>
        </p:txBody>
      </p:sp>
      <p:pic>
        <p:nvPicPr>
          <p:cNvPr id="7" name="Image 1" descr="preencoded.png">    </p:cNvPr>
          <p:cNvPicPr>
            <a:picLocks noChangeAspect="1"/>
          </p:cNvPicPr>
          <p:nvPr/>
        </p:nvPicPr>
        <p:blipFill>
          <a:blip r:embed="rId2"/>
          <a:stretch>
            <a:fillRect/>
          </a:stretch>
        </p:blipFill>
        <p:spPr>
          <a:xfrm>
            <a:off x="457200" y="320040"/>
            <a:ext cx="182880" cy="164592"/>
          </a:xfrm>
          <a:prstGeom prst="rect">
            <a:avLst/>
          </a:prstGeom>
        </p:spPr>
      </p:pic>
      <p:sp>
        <p:nvSpPr>
          <p:cNvPr id="8" name="Text 4"/>
          <p:cNvSpPr txBox="1"/>
          <p:nvPr/>
        </p:nvSpPr>
        <p:spPr>
          <a:xfrm>
            <a:off x="704088" y="237744"/>
            <a:ext cx="5760720" cy="329184"/>
          </a:xfrm>
          <a:prstGeom prst="rect">
            <a:avLst/>
          </a:prstGeom>
          <a:noFill/>
          <a:ln/>
        </p:spPr>
        <p:txBody>
          <a:bodyPr wrap="square" lIns="0" tIns="0" rIns="0" bIns="0" rtlCol="0" anchor="ctr"/>
          <a:lstStyle/>
          <a:p>
            <a:pPr indent="0" marL="0">
              <a:buNone/>
            </a:pPr>
            <a:r>
              <a:rPr lang="en-US" sz="950" dirty="0">
                <a:solidFill>
                  <a:srgbClr val="6B7280"/>
                </a:solidFill>
                <a:latin typeface="Calibri" pitchFamily="34" charset="0"/>
                <a:ea typeface="Calibri" pitchFamily="34" charset="-122"/>
                <a:cs typeface="Calibri" pitchFamily="34" charset="-120"/>
              </a:rPr>
              <a:t>Hidden slide · presenter reference · 05 · Number to Picture</a:t>
            </a:r>
            <a:endParaRPr lang="en-US" sz="950" dirty="0"/>
          </a:p>
        </p:txBody>
      </p:sp>
      <p:sp>
        <p:nvSpPr>
          <p:cNvPr id="9" name="Text 5"/>
          <p:cNvSpPr txBox="1"/>
          <p:nvPr/>
        </p:nvSpPr>
        <p:spPr>
          <a:xfrm>
            <a:off x="457200" y="685800"/>
            <a:ext cx="8229600" cy="457200"/>
          </a:xfrm>
          <a:prstGeom prst="rect">
            <a:avLst/>
          </a:prstGeom>
          <a:noFill/>
          <a:ln/>
        </p:spPr>
        <p:txBody>
          <a:bodyPr wrap="square" lIns="0" tIns="0" rIns="0" bIns="0" rtlCol="0" anchor="t"/>
          <a:lstStyle/>
          <a:p>
            <a:pPr indent="0" marL="0">
              <a:buNone/>
            </a:pPr>
            <a:r>
              <a:rPr lang="en-US" sz="2400" b="1" dirty="0">
                <a:solidFill>
                  <a:srgbClr val="111827"/>
                </a:solidFill>
                <a:latin typeface="Cambria" pitchFamily="34" charset="0"/>
                <a:ea typeface="Cambria" pitchFamily="34" charset="-122"/>
                <a:cs typeface="Cambria" pitchFamily="34" charset="-120"/>
              </a:rPr>
              <a:t>Draw the three stages</a:t>
            </a:r>
            <a:endParaRPr lang="en-US" sz="2400" dirty="0"/>
          </a:p>
        </p:txBody>
      </p:sp>
      <p:sp>
        <p:nvSpPr>
          <p:cNvPr id="10" name="Text 6"/>
          <p:cNvSpPr txBox="1"/>
          <p:nvPr/>
        </p:nvSpPr>
        <p:spPr>
          <a:xfrm>
            <a:off x="457200" y="1143000"/>
            <a:ext cx="8229600" cy="274320"/>
          </a:xfrm>
          <a:prstGeom prst="rect">
            <a:avLst/>
          </a:prstGeom>
          <a:noFill/>
          <a:ln/>
        </p:spPr>
        <p:txBody>
          <a:bodyPr wrap="square" lIns="0" tIns="0" rIns="0" bIns="0" rtlCol="0" anchor="t"/>
          <a:lstStyle/>
          <a:p>
            <a:pPr indent="0" marL="0">
              <a:buNone/>
            </a:pPr>
            <a:r>
              <a:rPr lang="en-US" sz="1050" i="1" dirty="0">
                <a:solidFill>
                  <a:srgbClr val="6B7280"/>
                </a:solidFill>
                <a:latin typeface="Calibri" pitchFamily="34" charset="0"/>
                <a:ea typeface="Calibri" pitchFamily="34" charset="-122"/>
                <a:cs typeface="Calibri" pitchFamily="34" charset="-120"/>
              </a:rPr>
              <a:t>New iPad page. Three stages across the top, then the tally explanation, then the ending state.</a:t>
            </a:r>
            <a:endParaRPr lang="en-US" sz="1050" dirty="0"/>
          </a:p>
        </p:txBody>
      </p:sp>
      <p:sp>
        <p:nvSpPr>
          <p:cNvPr id="11" name="Text 7"/>
          <p:cNvSpPr txBox="1"/>
          <p:nvPr/>
        </p:nvSpPr>
        <p:spPr>
          <a:xfrm>
            <a:off x="457200" y="1572768"/>
            <a:ext cx="3246120" cy="3017520"/>
          </a:xfrm>
          <a:prstGeom prst="rect">
            <a:avLst/>
          </a:prstGeom>
          <a:noFill/>
          <a:ln/>
        </p:spPr>
        <p:txBody>
          <a:bodyPr wrap="square" lIns="0" tIns="0" rIns="0" bIns="0" rtlCol="0" anchor="t"/>
          <a:lstStyle/>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Three boxes across the top, connected by arrows, numbered 1, 2, 3</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Box one A NUMBER: one run just cost four cents · smaller: it exists for a moment, then it is gone</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Box two A COUNTER: add it to a running total that never resets · smaller: a tally on the wall that only goes up</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Box three A PICTURE: a line on a screen you can look at · smaller: now a human can see it at a glance</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Wide box below: it is a tally, like marks on a wall, and you never rub any out. To find what one hour cost, look at the mark now and the mark an hour ago, and subtract.</a:t>
            </a:r>
            <a:endParaRPr lang="en-US" sz="950" dirty="0"/>
          </a:p>
          <a:p>
            <a:pPr marL="342900" indent="-342900">
              <a:spcAft>
                <a:spcPts val="500"/>
              </a:spcAft>
              <a:buSzPct val="100000"/>
              <a:buFont typeface="+mj-lt"/>
              <a:buAutoNum type="arabicPeriod" startAt="1"/>
            </a:pPr>
            <a:r>
              <a:rPr lang="en-US" sz="950" dirty="0">
                <a:solidFill>
                  <a:srgbClr val="1F2937"/>
                </a:solidFill>
                <a:latin typeface="Calibri" pitchFamily="34" charset="0"/>
                <a:ea typeface="Calibri" pitchFamily="34" charset="-122"/>
                <a:cs typeface="Calibri" pitchFamily="34" charset="-120"/>
              </a:rPr>
              <a:t>Final box: at the end of this module, nothing is stopped or limited yet. You can only see. Seeing comes first; you cannot bound what you cannot measure.</a:t>
            </a:r>
            <a:endParaRPr lang="en-US" sz="950" dirty="0"/>
          </a:p>
        </p:txBody>
      </p:sp>
      <p:sp>
        <p:nvSpPr>
          <p:cNvPr id="12" name="Shape 8"/>
          <p:cNvSpPr/>
          <p:nvPr/>
        </p:nvSpPr>
        <p:spPr>
          <a:xfrm>
            <a:off x="3886200" y="1536192"/>
            <a:ext cx="4800600" cy="1990938"/>
          </a:xfrm>
          <a:prstGeom prst="roundRect">
            <a:avLst>
              <a:gd name="adj" fmla="val 3674"/>
            </a:avLst>
          </a:prstGeom>
          <a:solidFill>
            <a:srgbClr val="FFFFFF"/>
          </a:solidFill>
          <a:ln w="12700">
            <a:solidFill>
              <a:srgbClr val="FFFFFF"/>
            </a:solidFill>
            <a:prstDash val="solid"/>
          </a:ln>
          <a:effectLst>
            <a:outerShdw sx="100000" sy="100000" kx="0" ky="0" algn="bl" rotWithShape="0" blurRad="101600" dist="25400" dir="5400000">
              <a:srgbClr val="000000">
                <a:alpha val="12000"/>
              </a:srgbClr>
            </a:outerShdw>
          </a:effectLst>
        </p:spPr>
      </p:sp>
      <p:sp>
        <p:nvSpPr>
          <p:cNvPr id="13" name="Text 9"/>
          <p:cNvSpPr txBox="1"/>
          <p:nvPr/>
        </p:nvSpPr>
        <p:spPr>
          <a:xfrm>
            <a:off x="4005072" y="1591056"/>
            <a:ext cx="4572000" cy="201168"/>
          </a:xfrm>
          <a:prstGeom prst="rect">
            <a:avLst/>
          </a:prstGeom>
          <a:noFill/>
          <a:ln/>
        </p:spPr>
        <p:txBody>
          <a:bodyPr wrap="square" lIns="0" tIns="0" rIns="0" bIns="0" rtlCol="0" anchor="t"/>
          <a:lstStyle/>
          <a:p>
            <a:pPr indent="0" marL="0">
              <a:buNone/>
            </a:pPr>
            <a:r>
              <a:rPr lang="en-US" sz="750" b="1" spc="150" kern="0" dirty="0">
                <a:solidFill>
                  <a:srgbClr val="9CA3AF"/>
                </a:solidFill>
                <a:latin typeface="Calibri" pitchFamily="34" charset="0"/>
                <a:ea typeface="Calibri" pitchFamily="34" charset="-122"/>
                <a:cs typeface="Calibri" pitchFamily="34" charset="-120"/>
              </a:rPr>
              <a:t>FINISHED PANEL: WHAT YOURS SHOULD LOOK LIKE</a:t>
            </a:r>
            <a:endParaRPr lang="en-US" sz="750" dirty="0"/>
          </a:p>
        </p:txBody>
      </p:sp>
      <p:pic>
        <p:nvPicPr>
          <p:cNvPr id="14" name="Image 2" descr="preencoded.png">    </p:cNvPr>
          <p:cNvPicPr>
            <a:picLocks noChangeAspect="1"/>
          </p:cNvPicPr>
          <p:nvPr/>
        </p:nvPicPr>
        <p:blipFill>
          <a:blip r:embed="rId3"/>
          <a:stretch>
            <a:fillRect/>
          </a:stretch>
        </p:blipFill>
        <p:spPr>
          <a:xfrm>
            <a:off x="3886200" y="1828800"/>
            <a:ext cx="4800600" cy="1533738"/>
          </a:xfrm>
          <a:prstGeom prst="rect">
            <a:avLst/>
          </a:prstGeom>
        </p:spPr>
      </p:pic>
      <p:sp>
        <p:nvSpPr>
          <p:cNvPr id="15" name="Shape 10"/>
          <p:cNvSpPr/>
          <p:nvPr/>
        </p:nvSpPr>
        <p:spPr>
          <a:xfrm>
            <a:off x="3886200" y="3682578"/>
            <a:ext cx="4800600" cy="457200"/>
          </a:xfrm>
          <a:prstGeom prst="roundRect">
            <a:avLst>
              <a:gd name="adj" fmla="val 16000"/>
            </a:avLst>
          </a:prstGeom>
          <a:solidFill>
            <a:srgbClr val="FEF3C7"/>
          </a:solidFill>
          <a:ln w="12700">
            <a:solidFill>
              <a:srgbClr val="FEF3C7"/>
            </a:solidFill>
            <a:prstDash val="solid"/>
          </a:ln>
        </p:spPr>
      </p:sp>
      <p:sp>
        <p:nvSpPr>
          <p:cNvPr id="16" name="Text 11"/>
          <p:cNvSpPr txBox="1"/>
          <p:nvPr/>
        </p:nvSpPr>
        <p:spPr>
          <a:xfrm>
            <a:off x="4069080" y="3682578"/>
            <a:ext cx="4480560" cy="457200"/>
          </a:xfrm>
          <a:prstGeom prst="rect">
            <a:avLst/>
          </a:prstGeom>
          <a:noFill/>
          <a:ln/>
        </p:spPr>
        <p:txBody>
          <a:bodyPr wrap="square" lIns="0" tIns="0" rIns="0" bIns="0" rtlCol="0" anchor="ctr"/>
          <a:lstStyle/>
          <a:p>
            <a:pPr indent="0" marL="0">
              <a:buNone/>
            </a:pPr>
            <a:r>
              <a:rPr lang="en-US" sz="1050" b="1" i="1" dirty="0">
                <a:solidFill>
                  <a:srgbClr val="B45309"/>
                </a:solidFill>
                <a:latin typeface="Calibri" pitchFamily="34" charset="0"/>
                <a:ea typeface="Calibri" pitchFamily="34" charset="-122"/>
                <a:cs typeface="Calibri" pitchFamily="34" charset="-120"/>
              </a:rPr>
              <a:t>Say: “Three small steps. Each one is smaller than it sounds.”</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11827"/>
        </a:solidFill>
      </p:bgPr>
    </p:bg>
    <p:spTree>
      <p:nvGrpSpPr>
        <p:cNvPr id="1" name=""/>
        <p:cNvGrpSpPr/>
        <p:nvPr/>
      </p:nvGrpSpPr>
      <p:grpSpPr>
        <a:xfrm>
          <a:off x="0" y="0"/>
          <a:ext cx="0" cy="0"/>
          <a:chOff x="0" y="0"/>
          <a:chExt cx="0" cy="0"/>
        </a:xfrm>
      </p:grpSpPr>
      <p:sp>
        <p:nvSpPr>
          <p:cNvPr id="2" name="Text 0"/>
          <p:cNvSpPr txBox="1"/>
          <p:nvPr/>
        </p:nvSpPr>
        <p:spPr>
          <a:xfrm>
            <a:off x="548640" y="1005840"/>
            <a:ext cx="2743200" cy="1280160"/>
          </a:xfrm>
          <a:prstGeom prst="rect">
            <a:avLst/>
          </a:prstGeom>
          <a:noFill/>
          <a:ln/>
        </p:spPr>
        <p:txBody>
          <a:bodyPr wrap="square" lIns="0" tIns="0" rIns="0" bIns="0" rtlCol="0" anchor="t"/>
          <a:lstStyle/>
          <a:p>
            <a:pPr indent="0" marL="0">
              <a:buNone/>
            </a:pPr>
            <a:r>
              <a:rPr lang="en-US" sz="9600" b="1" dirty="0">
                <a:solidFill>
                  <a:srgbClr val="F59E0B"/>
                </a:solidFill>
                <a:latin typeface="Cambria" pitchFamily="34" charset="0"/>
                <a:ea typeface="Cambria" pitchFamily="34" charset="-122"/>
                <a:cs typeface="Cambria" pitchFamily="34" charset="-120"/>
              </a:rPr>
              <a:t>06</a:t>
            </a:r>
            <a:endParaRPr lang="en-US" sz="9600" dirty="0"/>
          </a:p>
        </p:txBody>
      </p:sp>
      <p:sp>
        <p:nvSpPr>
          <p:cNvPr id="3" name="Text 1"/>
          <p:cNvSpPr txBox="1"/>
          <p:nvPr/>
        </p:nvSpPr>
        <p:spPr>
          <a:xfrm>
            <a:off x="548640" y="2377440"/>
            <a:ext cx="8046720" cy="914400"/>
          </a:xfrm>
          <a:prstGeom prst="rect">
            <a:avLst/>
          </a:prstGeom>
          <a:noFill/>
          <a:ln/>
        </p:spPr>
        <p:txBody>
          <a:bodyPr wrap="square" lIns="0" tIns="0" rIns="0" bIns="0" rtlCol="0" anchor="t"/>
          <a:lstStyle/>
          <a:p>
            <a:pPr indent="0" marL="0">
              <a:buNone/>
            </a:pPr>
            <a:r>
              <a:rPr lang="en-US" sz="3600" b="1" dirty="0">
                <a:solidFill>
                  <a:srgbClr val="FFFFFF"/>
                </a:solidFill>
                <a:latin typeface="Cambria" pitchFamily="34" charset="0"/>
                <a:ea typeface="Cambria" pitchFamily="34" charset="-122"/>
                <a:cs typeface="Cambria" pitchFamily="34" charset="-120"/>
              </a:rPr>
              <a:t>Build It: Write Your First Receipt</a:t>
            </a:r>
            <a:endParaRPr lang="en-US" sz="3600" dirty="0"/>
          </a:p>
        </p:txBody>
      </p:sp>
      <p:sp>
        <p:nvSpPr>
          <p:cNvPr id="4" name="Text 2"/>
          <p:cNvSpPr txBox="1"/>
          <p:nvPr/>
        </p:nvSpPr>
        <p:spPr>
          <a:xfrm>
            <a:off x="548640" y="3383280"/>
            <a:ext cx="2743200" cy="320040"/>
          </a:xfrm>
          <a:prstGeom prst="rect">
            <a:avLst/>
          </a:prstGeom>
          <a:noFill/>
          <a:ln/>
        </p:spPr>
        <p:txBody>
          <a:bodyPr wrap="square" lIns="0" tIns="0" rIns="0" bIns="0" rtlCol="0" anchor="t"/>
          <a:lstStyle/>
          <a:p>
            <a:pPr indent="0" marL="0">
              <a:buNone/>
            </a:pPr>
            <a:r>
              <a:rPr lang="en-US" sz="1400" dirty="0">
                <a:solidFill>
                  <a:srgbClr val="9CA3AF"/>
                </a:solidFill>
                <a:latin typeface="Calibri" pitchFamily="34" charset="0"/>
                <a:ea typeface="Calibri" pitchFamily="34" charset="-122"/>
                <a:cs typeface="Calibri" pitchFamily="34" charset="-120"/>
              </a:rPr>
              <a:t>~10 min</a:t>
            </a:r>
            <a:endParaRPr lang="en-US" sz="14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06 · BUILD IT</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Four stages: run after every one</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2</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28</a:t>
            </a:r>
            <a:endParaRPr lang="en-US" sz="900" dirty="0"/>
          </a:p>
        </p:txBody>
      </p:sp>
      <p:sp>
        <p:nvSpPr>
          <p:cNvPr id="6" name="Shape 4"/>
          <p:cNvSpPr/>
          <p:nvPr/>
        </p:nvSpPr>
        <p:spPr>
          <a:xfrm>
            <a:off x="457200" y="1325880"/>
            <a:ext cx="4023360" cy="1280160"/>
          </a:xfrm>
          <a:prstGeom prst="roundRect">
            <a:avLst>
              <a:gd name="adj" fmla="val 5714"/>
            </a:avLst>
          </a:prstGeom>
          <a:solidFill>
            <a:srgbClr val="F3F4F6"/>
          </a:solidFill>
          <a:ln w="12700">
            <a:solidFill>
              <a:srgbClr val="F3F4F6"/>
            </a:solidFill>
            <a:prstDash val="solid"/>
          </a:ln>
        </p:spPr>
      </p:sp>
      <p:sp>
        <p:nvSpPr>
          <p:cNvPr id="7" name="Text 5"/>
          <p:cNvSpPr txBox="1"/>
          <p:nvPr/>
        </p:nvSpPr>
        <p:spPr>
          <a:xfrm>
            <a:off x="731520" y="1463040"/>
            <a:ext cx="1828800" cy="228600"/>
          </a:xfrm>
          <a:prstGeom prst="rect">
            <a:avLst/>
          </a:prstGeom>
          <a:noFill/>
          <a:ln/>
        </p:spPr>
        <p:txBody>
          <a:bodyPr wrap="square" lIns="0" tIns="0" rIns="0" bIns="0" rtlCol="0" anchor="t"/>
          <a:lstStyle/>
          <a:p>
            <a:pPr indent="0" marL="0">
              <a:buNone/>
            </a:pPr>
            <a:r>
              <a:rPr lang="en-US" sz="900" b="1" spc="200" kern="0" dirty="0">
                <a:solidFill>
                  <a:srgbClr val="B45309"/>
                </a:solidFill>
                <a:latin typeface="Calibri" pitchFamily="34" charset="0"/>
                <a:ea typeface="Calibri" pitchFamily="34" charset="-122"/>
                <a:cs typeface="Calibri" pitchFamily="34" charset="-120"/>
              </a:rPr>
              <a:t>STAGE 1</a:t>
            </a:r>
            <a:endParaRPr lang="en-US" sz="900" dirty="0"/>
          </a:p>
        </p:txBody>
      </p:sp>
      <p:sp>
        <p:nvSpPr>
          <p:cNvPr id="8" name="Text 6"/>
          <p:cNvSpPr txBox="1"/>
          <p:nvPr/>
        </p:nvSpPr>
        <p:spPr>
          <a:xfrm>
            <a:off x="731520" y="1709928"/>
            <a:ext cx="3566160" cy="320040"/>
          </a:xfrm>
          <a:prstGeom prst="rect">
            <a:avLst/>
          </a:prstGeom>
          <a:noFill/>
          <a:ln/>
        </p:spPr>
        <p:txBody>
          <a:bodyPr wrap="square" lIns="0" tIns="0" rIns="0" bIns="0" rtlCol="0" anchor="t"/>
          <a:lstStyle/>
          <a:p>
            <a:pPr indent="0" marL="0">
              <a:buNone/>
            </a:pPr>
            <a:r>
              <a:rPr lang="en-US" sz="1600" b="1" dirty="0">
                <a:solidFill>
                  <a:srgbClr val="111827"/>
                </a:solidFill>
                <a:latin typeface="Calibri" pitchFamily="34" charset="0"/>
                <a:ea typeface="Calibri" pitchFamily="34" charset="-122"/>
                <a:cs typeface="Calibri" pitchFamily="34" charset="-120"/>
              </a:rPr>
              <a:t>Catch the receipt</a:t>
            </a:r>
            <a:endParaRPr lang="en-US" sz="1600" dirty="0"/>
          </a:p>
        </p:txBody>
      </p:sp>
      <p:sp>
        <p:nvSpPr>
          <p:cNvPr id="9" name="Text 7"/>
          <p:cNvSpPr txBox="1"/>
          <p:nvPr/>
        </p:nvSpPr>
        <p:spPr>
          <a:xfrm>
            <a:off x="731520" y="2057400"/>
            <a:ext cx="3566160" cy="45720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Wrap the model call. Read the two token counts and print them.</a:t>
            </a:r>
            <a:endParaRPr lang="en-US" sz="1200" dirty="0"/>
          </a:p>
        </p:txBody>
      </p:sp>
      <p:sp>
        <p:nvSpPr>
          <p:cNvPr id="10" name="Shape 8"/>
          <p:cNvSpPr/>
          <p:nvPr/>
        </p:nvSpPr>
        <p:spPr>
          <a:xfrm>
            <a:off x="4663440" y="1325880"/>
            <a:ext cx="4023360" cy="1280160"/>
          </a:xfrm>
          <a:prstGeom prst="roundRect">
            <a:avLst>
              <a:gd name="adj" fmla="val 5714"/>
            </a:avLst>
          </a:prstGeom>
          <a:solidFill>
            <a:srgbClr val="F3F4F6"/>
          </a:solidFill>
          <a:ln w="12700">
            <a:solidFill>
              <a:srgbClr val="F3F4F6"/>
            </a:solidFill>
            <a:prstDash val="solid"/>
          </a:ln>
        </p:spPr>
      </p:sp>
      <p:sp>
        <p:nvSpPr>
          <p:cNvPr id="11" name="Text 9"/>
          <p:cNvSpPr txBox="1"/>
          <p:nvPr/>
        </p:nvSpPr>
        <p:spPr>
          <a:xfrm>
            <a:off x="4937760" y="1463040"/>
            <a:ext cx="1828800" cy="228600"/>
          </a:xfrm>
          <a:prstGeom prst="rect">
            <a:avLst/>
          </a:prstGeom>
          <a:noFill/>
          <a:ln/>
        </p:spPr>
        <p:txBody>
          <a:bodyPr wrap="square" lIns="0" tIns="0" rIns="0" bIns="0" rtlCol="0" anchor="t"/>
          <a:lstStyle/>
          <a:p>
            <a:pPr indent="0" marL="0">
              <a:buNone/>
            </a:pPr>
            <a:r>
              <a:rPr lang="en-US" sz="900" b="1" spc="200" kern="0" dirty="0">
                <a:solidFill>
                  <a:srgbClr val="B45309"/>
                </a:solidFill>
                <a:latin typeface="Calibri" pitchFamily="34" charset="0"/>
                <a:ea typeface="Calibri" pitchFamily="34" charset="-122"/>
                <a:cs typeface="Calibri" pitchFamily="34" charset="-120"/>
              </a:rPr>
              <a:t>STAGE 2</a:t>
            </a:r>
            <a:endParaRPr lang="en-US" sz="900" dirty="0"/>
          </a:p>
        </p:txBody>
      </p:sp>
      <p:sp>
        <p:nvSpPr>
          <p:cNvPr id="12" name="Text 10"/>
          <p:cNvSpPr txBox="1"/>
          <p:nvPr/>
        </p:nvSpPr>
        <p:spPr>
          <a:xfrm>
            <a:off x="4937760" y="1709928"/>
            <a:ext cx="3566160" cy="320040"/>
          </a:xfrm>
          <a:prstGeom prst="rect">
            <a:avLst/>
          </a:prstGeom>
          <a:noFill/>
          <a:ln/>
        </p:spPr>
        <p:txBody>
          <a:bodyPr wrap="square" lIns="0" tIns="0" rIns="0" bIns="0" rtlCol="0" anchor="t"/>
          <a:lstStyle/>
          <a:p>
            <a:pPr indent="0" marL="0">
              <a:buNone/>
            </a:pPr>
            <a:r>
              <a:rPr lang="en-US" sz="1600" b="1" dirty="0">
                <a:solidFill>
                  <a:srgbClr val="111827"/>
                </a:solidFill>
                <a:latin typeface="Calibri" pitchFamily="34" charset="0"/>
                <a:ea typeface="Calibri" pitchFamily="34" charset="-122"/>
                <a:cs typeface="Calibri" pitchFamily="34" charset="-120"/>
              </a:rPr>
              <a:t>Turn tokens into money</a:t>
            </a:r>
            <a:endParaRPr lang="en-US" sz="1600" dirty="0"/>
          </a:p>
        </p:txBody>
      </p:sp>
      <p:sp>
        <p:nvSpPr>
          <p:cNvPr id="13" name="Text 11"/>
          <p:cNvSpPr txBox="1"/>
          <p:nvPr/>
        </p:nvSpPr>
        <p:spPr>
          <a:xfrm>
            <a:off x="4937760" y="2057400"/>
            <a:ext cx="3566160" cy="45720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Add the two rates. Multiply, add, print the cost.</a:t>
            </a:r>
            <a:endParaRPr lang="en-US" sz="1200" dirty="0"/>
          </a:p>
        </p:txBody>
      </p:sp>
      <p:sp>
        <p:nvSpPr>
          <p:cNvPr id="14" name="Shape 12"/>
          <p:cNvSpPr/>
          <p:nvPr/>
        </p:nvSpPr>
        <p:spPr>
          <a:xfrm>
            <a:off x="457200" y="2788920"/>
            <a:ext cx="4023360" cy="1280160"/>
          </a:xfrm>
          <a:prstGeom prst="roundRect">
            <a:avLst>
              <a:gd name="adj" fmla="val 5714"/>
            </a:avLst>
          </a:prstGeom>
          <a:solidFill>
            <a:srgbClr val="F3F4F6"/>
          </a:solidFill>
          <a:ln w="12700">
            <a:solidFill>
              <a:srgbClr val="F3F4F6"/>
            </a:solidFill>
            <a:prstDash val="solid"/>
          </a:ln>
        </p:spPr>
      </p:sp>
      <p:sp>
        <p:nvSpPr>
          <p:cNvPr id="15" name="Text 13"/>
          <p:cNvSpPr txBox="1"/>
          <p:nvPr/>
        </p:nvSpPr>
        <p:spPr>
          <a:xfrm>
            <a:off x="731520" y="2926080"/>
            <a:ext cx="1828800" cy="228600"/>
          </a:xfrm>
          <a:prstGeom prst="rect">
            <a:avLst/>
          </a:prstGeom>
          <a:noFill/>
          <a:ln/>
        </p:spPr>
        <p:txBody>
          <a:bodyPr wrap="square" lIns="0" tIns="0" rIns="0" bIns="0" rtlCol="0" anchor="t"/>
          <a:lstStyle/>
          <a:p>
            <a:pPr indent="0" marL="0">
              <a:buNone/>
            </a:pPr>
            <a:r>
              <a:rPr lang="en-US" sz="900" b="1" spc="200" kern="0" dirty="0">
                <a:solidFill>
                  <a:srgbClr val="B45309"/>
                </a:solidFill>
                <a:latin typeface="Calibri" pitchFamily="34" charset="0"/>
                <a:ea typeface="Calibri" pitchFamily="34" charset="-122"/>
                <a:cs typeface="Calibri" pitchFamily="34" charset="-120"/>
              </a:rPr>
              <a:t>STAGE 3</a:t>
            </a:r>
            <a:endParaRPr lang="en-US" sz="900" dirty="0"/>
          </a:p>
        </p:txBody>
      </p:sp>
      <p:sp>
        <p:nvSpPr>
          <p:cNvPr id="16" name="Text 14"/>
          <p:cNvSpPr txBox="1"/>
          <p:nvPr/>
        </p:nvSpPr>
        <p:spPr>
          <a:xfrm>
            <a:off x="731520" y="3172968"/>
            <a:ext cx="3566160" cy="320040"/>
          </a:xfrm>
          <a:prstGeom prst="rect">
            <a:avLst/>
          </a:prstGeom>
          <a:noFill/>
          <a:ln/>
        </p:spPr>
        <p:txBody>
          <a:bodyPr wrap="square" lIns="0" tIns="0" rIns="0" bIns="0" rtlCol="0" anchor="t"/>
          <a:lstStyle/>
          <a:p>
            <a:pPr indent="0" marL="0">
              <a:buNone/>
            </a:pPr>
            <a:r>
              <a:rPr lang="en-US" sz="1600" b="1" dirty="0">
                <a:solidFill>
                  <a:srgbClr val="111827"/>
                </a:solidFill>
                <a:latin typeface="Calibri" pitchFamily="34" charset="0"/>
                <a:ea typeface="Calibri" pitchFamily="34" charset="-122"/>
                <a:cs typeface="Calibri" pitchFamily="34" charset="-120"/>
              </a:rPr>
              <a:t>Add the four labels</a:t>
            </a:r>
            <a:endParaRPr lang="en-US" sz="1600" dirty="0"/>
          </a:p>
        </p:txBody>
      </p:sp>
      <p:sp>
        <p:nvSpPr>
          <p:cNvPr id="17" name="Text 15"/>
          <p:cNvSpPr txBox="1"/>
          <p:nvPr/>
        </p:nvSpPr>
        <p:spPr>
          <a:xfrm>
            <a:off x="731520" y="3520440"/>
            <a:ext cx="3566160" cy="45720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agent, team, run, result. One run ID for the whole run.</a:t>
            </a:r>
            <a:endParaRPr lang="en-US" sz="1200" dirty="0"/>
          </a:p>
        </p:txBody>
      </p:sp>
      <p:sp>
        <p:nvSpPr>
          <p:cNvPr id="18" name="Shape 16"/>
          <p:cNvSpPr/>
          <p:nvPr/>
        </p:nvSpPr>
        <p:spPr>
          <a:xfrm>
            <a:off x="4663440" y="2788920"/>
            <a:ext cx="4023360" cy="1280160"/>
          </a:xfrm>
          <a:prstGeom prst="roundRect">
            <a:avLst>
              <a:gd name="adj" fmla="val 5714"/>
            </a:avLst>
          </a:prstGeom>
          <a:solidFill>
            <a:srgbClr val="F3F4F6"/>
          </a:solidFill>
          <a:ln w="12700">
            <a:solidFill>
              <a:srgbClr val="F3F4F6"/>
            </a:solidFill>
            <a:prstDash val="solid"/>
          </a:ln>
        </p:spPr>
      </p:sp>
      <p:sp>
        <p:nvSpPr>
          <p:cNvPr id="19" name="Text 17"/>
          <p:cNvSpPr txBox="1"/>
          <p:nvPr/>
        </p:nvSpPr>
        <p:spPr>
          <a:xfrm>
            <a:off x="4937760" y="2926080"/>
            <a:ext cx="1828800" cy="228600"/>
          </a:xfrm>
          <a:prstGeom prst="rect">
            <a:avLst/>
          </a:prstGeom>
          <a:noFill/>
          <a:ln/>
        </p:spPr>
        <p:txBody>
          <a:bodyPr wrap="square" lIns="0" tIns="0" rIns="0" bIns="0" rtlCol="0" anchor="t"/>
          <a:lstStyle/>
          <a:p>
            <a:pPr indent="0" marL="0">
              <a:buNone/>
            </a:pPr>
            <a:r>
              <a:rPr lang="en-US" sz="900" b="1" spc="200" kern="0" dirty="0">
                <a:solidFill>
                  <a:srgbClr val="B45309"/>
                </a:solidFill>
                <a:latin typeface="Calibri" pitchFamily="34" charset="0"/>
                <a:ea typeface="Calibri" pitchFamily="34" charset="-122"/>
                <a:cs typeface="Calibri" pitchFamily="34" charset="-120"/>
              </a:rPr>
              <a:t>STAGE 4</a:t>
            </a:r>
            <a:endParaRPr lang="en-US" sz="900" dirty="0"/>
          </a:p>
        </p:txBody>
      </p:sp>
      <p:sp>
        <p:nvSpPr>
          <p:cNvPr id="20" name="Text 18"/>
          <p:cNvSpPr txBox="1"/>
          <p:nvPr/>
        </p:nvSpPr>
        <p:spPr>
          <a:xfrm>
            <a:off x="4937760" y="3172968"/>
            <a:ext cx="3566160" cy="320040"/>
          </a:xfrm>
          <a:prstGeom prst="rect">
            <a:avLst/>
          </a:prstGeom>
          <a:noFill/>
          <a:ln/>
        </p:spPr>
        <p:txBody>
          <a:bodyPr wrap="square" lIns="0" tIns="0" rIns="0" bIns="0" rtlCol="0" anchor="t"/>
          <a:lstStyle/>
          <a:p>
            <a:pPr indent="0" marL="0">
              <a:buNone/>
            </a:pPr>
            <a:r>
              <a:rPr lang="en-US" sz="1600" b="1" dirty="0">
                <a:solidFill>
                  <a:srgbClr val="111827"/>
                </a:solidFill>
                <a:latin typeface="Calibri" pitchFamily="34" charset="0"/>
                <a:ea typeface="Calibri" pitchFamily="34" charset="-122"/>
                <a:cs typeface="Calibri" pitchFamily="34" charset="-120"/>
              </a:rPr>
              <a:t>Make the counter</a:t>
            </a:r>
            <a:endParaRPr lang="en-US" sz="1600" dirty="0"/>
          </a:p>
        </p:txBody>
      </p:sp>
      <p:sp>
        <p:nvSpPr>
          <p:cNvPr id="21" name="Text 19"/>
          <p:cNvSpPr txBox="1"/>
          <p:nvPr/>
        </p:nvSpPr>
        <p:spPr>
          <a:xfrm>
            <a:off x="4937760" y="3520440"/>
            <a:ext cx="3566160" cy="457200"/>
          </a:xfrm>
          <a:prstGeom prst="rect">
            <a:avLst/>
          </a:prstGeom>
          <a:noFill/>
          <a:ln/>
        </p:spPr>
        <p:txBody>
          <a:bodyPr wrap="square" lIns="0" tIns="0" rIns="0" bIns="0" rtlCol="0" anchor="t"/>
          <a:lstStyle/>
          <a:p>
            <a:pPr indent="0" marL="0">
              <a:buNone/>
            </a:pPr>
            <a:r>
              <a:rPr lang="en-US" sz="1200" dirty="0">
                <a:solidFill>
                  <a:srgbClr val="6B7280"/>
                </a:solidFill>
                <a:latin typeface="Calibri" pitchFamily="34" charset="0"/>
                <a:ea typeface="Calibri" pitchFamily="34" charset="-122"/>
                <a:cs typeface="Calibri" pitchFamily="34" charset="-120"/>
              </a:rPr>
              <a:t>Prometheus counters, plus the /metrics endpoint.</a:t>
            </a:r>
            <a:endParaRPr lang="en-US" sz="1200" dirty="0"/>
          </a:p>
        </p:txBody>
      </p:sp>
      <p:sp>
        <p:nvSpPr>
          <p:cNvPr id="22" name="Text 20"/>
          <p:cNvSpPr txBox="1"/>
          <p:nvPr/>
        </p:nvSpPr>
        <p:spPr>
          <a:xfrm>
            <a:off x="457200" y="4343400"/>
            <a:ext cx="8229600" cy="365760"/>
          </a:xfrm>
          <a:prstGeom prst="rect">
            <a:avLst/>
          </a:prstGeom>
          <a:noFill/>
          <a:ln/>
        </p:spPr>
        <p:txBody>
          <a:bodyPr wrap="square" lIns="0" tIns="0" rIns="0" bIns="0" rtlCol="0" anchor="t"/>
          <a:lstStyle/>
          <a:p>
            <a:pPr indent="0" marL="0">
              <a:buNone/>
            </a:pPr>
            <a:r>
              <a:rPr lang="en-US" sz="1300" i="1" dirty="0">
                <a:solidFill>
                  <a:srgbClr val="6B7280"/>
                </a:solidFill>
                <a:latin typeface="Calibri" pitchFamily="34" charset="0"/>
                <a:ea typeface="Calibri" pitchFamily="34" charset="-122"/>
                <a:cs typeface="Calibri" pitchFamily="34" charset="-120"/>
              </a:rPr>
              <a:t>Same agent as module one; the uninstrumented one from the course repository. Setup first: a virtual environment, then one package.</a:t>
            </a:r>
            <a:endParaRPr lang="en-US" sz="13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06 · BUILD IT: SETUP, STEP 1 OF 2</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Work inside a virtual environment</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2</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29</a:t>
            </a:r>
            <a:endParaRPr lang="en-US" sz="900" dirty="0"/>
          </a:p>
        </p:txBody>
      </p:sp>
      <p:sp>
        <p:nvSpPr>
          <p:cNvPr id="6" name="Text 4"/>
          <p:cNvSpPr txBox="1"/>
          <p:nvPr/>
        </p:nvSpPr>
        <p:spPr>
          <a:xfrm>
            <a:off x="457200" y="1188720"/>
            <a:ext cx="8229600" cy="68580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A virtual environment is a private box of Python packages that belongs to this project only. Nothing you install here touches the rest of your computer, and you can throw it away and rebuild it in seconds.</a:t>
            </a:r>
            <a:endParaRPr lang="en-US" sz="1400" dirty="0"/>
          </a:p>
        </p:txBody>
      </p:sp>
      <p:sp>
        <p:nvSpPr>
          <p:cNvPr id="7" name="Shape 5"/>
          <p:cNvSpPr/>
          <p:nvPr/>
        </p:nvSpPr>
        <p:spPr>
          <a:xfrm>
            <a:off x="457200" y="1965960"/>
            <a:ext cx="4023360" cy="2057400"/>
          </a:xfrm>
          <a:prstGeom prst="roundRect">
            <a:avLst>
              <a:gd name="adj" fmla="val 3556"/>
            </a:avLst>
          </a:prstGeom>
          <a:solidFill>
            <a:srgbClr val="F3F4F6"/>
          </a:solidFill>
          <a:ln w="12700">
            <a:solidFill>
              <a:srgbClr val="F3F4F6"/>
            </a:solidFill>
            <a:prstDash val="solid"/>
          </a:ln>
        </p:spPr>
      </p:sp>
      <p:sp>
        <p:nvSpPr>
          <p:cNvPr id="8" name="Text 6"/>
          <p:cNvSpPr txBox="1"/>
          <p:nvPr/>
        </p:nvSpPr>
        <p:spPr>
          <a:xfrm>
            <a:off x="685800" y="2103120"/>
            <a:ext cx="3566160" cy="274320"/>
          </a:xfrm>
          <a:prstGeom prst="rect">
            <a:avLst/>
          </a:prstGeom>
          <a:noFill/>
          <a:ln/>
        </p:spPr>
        <p:txBody>
          <a:bodyPr wrap="square" lIns="0" tIns="0" rIns="0" bIns="0" rtlCol="0" anchor="t"/>
          <a:lstStyle/>
          <a:p>
            <a:pPr indent="0" marL="0">
              <a:buNone/>
            </a:pPr>
            <a:r>
              <a:rPr lang="en-US" sz="1200" b="1" spc="100" kern="0" dirty="0">
                <a:solidFill>
                  <a:srgbClr val="1D4ED8"/>
                </a:solidFill>
                <a:latin typeface="Calibri" pitchFamily="34" charset="0"/>
                <a:ea typeface="Calibri" pitchFamily="34" charset="-122"/>
                <a:cs typeface="Calibri" pitchFamily="34" charset="-120"/>
              </a:rPr>
              <a:t>macOS  ·  Linux</a:t>
            </a:r>
            <a:endParaRPr lang="en-US" sz="1200" dirty="0"/>
          </a:p>
        </p:txBody>
      </p:sp>
      <p:sp>
        <p:nvSpPr>
          <p:cNvPr id="9" name="Shape 7"/>
          <p:cNvSpPr/>
          <p:nvPr/>
        </p:nvSpPr>
        <p:spPr>
          <a:xfrm>
            <a:off x="685800" y="2423160"/>
            <a:ext cx="3566160" cy="1325880"/>
          </a:xfrm>
          <a:prstGeom prst="roundRect">
            <a:avLst>
              <a:gd name="adj" fmla="val 5517"/>
            </a:avLst>
          </a:prstGeom>
          <a:solidFill>
            <a:srgbClr val="0F172A"/>
          </a:solidFill>
          <a:ln w="12700">
            <a:solidFill>
              <a:srgbClr val="0F172A"/>
            </a:solidFill>
            <a:prstDash val="solid"/>
          </a:ln>
        </p:spPr>
      </p:sp>
      <p:sp>
        <p:nvSpPr>
          <p:cNvPr id="10" name="Text 8"/>
          <p:cNvSpPr txBox="1"/>
          <p:nvPr/>
        </p:nvSpPr>
        <p:spPr>
          <a:xfrm>
            <a:off x="886968" y="2587752"/>
            <a:ext cx="3200400" cy="1051560"/>
          </a:xfrm>
          <a:prstGeom prst="rect">
            <a:avLst/>
          </a:prstGeom>
          <a:noFill/>
          <a:ln/>
        </p:spPr>
        <p:txBody>
          <a:bodyPr wrap="square" lIns="0" tIns="0" rIns="0" bIns="0" rtlCol="0" anchor="t"/>
          <a:lstStyle/>
          <a:p>
            <a:pPr indent="0" marL="0">
              <a:buNone/>
            </a:pPr>
            <a:r>
              <a:rPr lang="en-US" sz="1100" dirty="0">
                <a:solidFill>
                  <a:srgbClr val="E8EAED"/>
                </a:solidFill>
                <a:latin typeface="Courier New" pitchFamily="34" charset="0"/>
                <a:ea typeface="Courier New" pitchFamily="34" charset="-122"/>
                <a:cs typeface="Courier New" pitchFamily="34" charset="-120"/>
              </a:rPr>
              <a:t>$ cd agent-cost-control</a:t>
            </a:r>
            <a:endParaRPr lang="en-US" sz="1100" dirty="0"/>
          </a:p>
          <a:p>
            <a:pPr indent="0" marL="0">
              <a:buNone/>
            </a:pPr>
            <a:r>
              <a:rPr lang="en-US" sz="1100" dirty="0">
                <a:solidFill>
                  <a:srgbClr val="E8EAED"/>
                </a:solidFill>
                <a:latin typeface="Courier New" pitchFamily="34" charset="0"/>
                <a:ea typeface="Courier New" pitchFamily="34" charset="-122"/>
                <a:cs typeface="Courier New" pitchFamily="34" charset="-120"/>
              </a:rPr>
              <a:t>$ python3 -m venv .venv</a:t>
            </a:r>
            <a:endParaRPr lang="en-US" sz="1100" dirty="0"/>
          </a:p>
          <a:p>
            <a:pPr indent="0" marL="0">
              <a:buNone/>
            </a:pPr>
            <a:r>
              <a:rPr lang="en-US" sz="1100" dirty="0">
                <a:solidFill>
                  <a:srgbClr val="E8EAED"/>
                </a:solidFill>
                <a:latin typeface="Courier New" pitchFamily="34" charset="0"/>
                <a:ea typeface="Courier New" pitchFamily="34" charset="-122"/>
                <a:cs typeface="Courier New" pitchFamily="34" charset="-120"/>
              </a:rPr>
              <a:t>$ source .venv/bin/activate</a:t>
            </a:r>
            <a:endParaRPr lang="en-US" sz="1100" dirty="0"/>
          </a:p>
        </p:txBody>
      </p:sp>
      <p:sp>
        <p:nvSpPr>
          <p:cNvPr id="11" name="Shape 9"/>
          <p:cNvSpPr/>
          <p:nvPr/>
        </p:nvSpPr>
        <p:spPr>
          <a:xfrm>
            <a:off x="4663440" y="1965960"/>
            <a:ext cx="4023360" cy="2057400"/>
          </a:xfrm>
          <a:prstGeom prst="roundRect">
            <a:avLst>
              <a:gd name="adj" fmla="val 3556"/>
            </a:avLst>
          </a:prstGeom>
          <a:solidFill>
            <a:srgbClr val="F3F4F6"/>
          </a:solidFill>
          <a:ln w="12700">
            <a:solidFill>
              <a:srgbClr val="F3F4F6"/>
            </a:solidFill>
            <a:prstDash val="solid"/>
          </a:ln>
        </p:spPr>
      </p:sp>
      <p:sp>
        <p:nvSpPr>
          <p:cNvPr id="12" name="Text 10"/>
          <p:cNvSpPr txBox="1"/>
          <p:nvPr/>
        </p:nvSpPr>
        <p:spPr>
          <a:xfrm>
            <a:off x="4892040" y="2103120"/>
            <a:ext cx="3566160" cy="274320"/>
          </a:xfrm>
          <a:prstGeom prst="rect">
            <a:avLst/>
          </a:prstGeom>
          <a:noFill/>
          <a:ln/>
        </p:spPr>
        <p:txBody>
          <a:bodyPr wrap="square" lIns="0" tIns="0" rIns="0" bIns="0" rtlCol="0" anchor="t"/>
          <a:lstStyle/>
          <a:p>
            <a:pPr indent="0" marL="0">
              <a:buNone/>
            </a:pPr>
            <a:r>
              <a:rPr lang="en-US" sz="1200" b="1" spc="100" kern="0" dirty="0">
                <a:solidFill>
                  <a:srgbClr val="6D28D9"/>
                </a:solidFill>
                <a:latin typeface="Calibri" pitchFamily="34" charset="0"/>
                <a:ea typeface="Calibri" pitchFamily="34" charset="-122"/>
                <a:cs typeface="Calibri" pitchFamily="34" charset="-120"/>
              </a:rPr>
              <a:t>WINDOWS  ·  POWERSHELL</a:t>
            </a:r>
            <a:endParaRPr lang="en-US" sz="1200" dirty="0"/>
          </a:p>
        </p:txBody>
      </p:sp>
      <p:sp>
        <p:nvSpPr>
          <p:cNvPr id="13" name="Shape 11"/>
          <p:cNvSpPr/>
          <p:nvPr/>
        </p:nvSpPr>
        <p:spPr>
          <a:xfrm>
            <a:off x="4892040" y="2423160"/>
            <a:ext cx="3566160" cy="1325880"/>
          </a:xfrm>
          <a:prstGeom prst="roundRect">
            <a:avLst>
              <a:gd name="adj" fmla="val 5517"/>
            </a:avLst>
          </a:prstGeom>
          <a:solidFill>
            <a:srgbClr val="0F172A"/>
          </a:solidFill>
          <a:ln w="12700">
            <a:solidFill>
              <a:srgbClr val="0F172A"/>
            </a:solidFill>
            <a:prstDash val="solid"/>
          </a:ln>
        </p:spPr>
      </p:sp>
      <p:sp>
        <p:nvSpPr>
          <p:cNvPr id="14" name="Text 12"/>
          <p:cNvSpPr txBox="1"/>
          <p:nvPr/>
        </p:nvSpPr>
        <p:spPr>
          <a:xfrm>
            <a:off x="5093208" y="2587752"/>
            <a:ext cx="3200400" cy="1051560"/>
          </a:xfrm>
          <a:prstGeom prst="rect">
            <a:avLst/>
          </a:prstGeom>
          <a:noFill/>
          <a:ln/>
        </p:spPr>
        <p:txBody>
          <a:bodyPr wrap="square" lIns="0" tIns="0" rIns="0" bIns="0" rtlCol="0" anchor="t"/>
          <a:lstStyle/>
          <a:p>
            <a:pPr indent="0" marL="0">
              <a:buNone/>
            </a:pPr>
            <a:r>
              <a:rPr lang="en-US" sz="1100" dirty="0">
                <a:solidFill>
                  <a:srgbClr val="E8EAED"/>
                </a:solidFill>
                <a:latin typeface="Courier New" pitchFamily="34" charset="0"/>
                <a:ea typeface="Courier New" pitchFamily="34" charset="-122"/>
                <a:cs typeface="Courier New" pitchFamily="34" charset="-120"/>
              </a:rPr>
              <a:t>&gt; cd agent-cost-control</a:t>
            </a:r>
            <a:endParaRPr lang="en-US" sz="1100" dirty="0"/>
          </a:p>
          <a:p>
            <a:pPr indent="0" marL="0">
              <a:buNone/>
            </a:pPr>
            <a:r>
              <a:rPr lang="en-US" sz="1100" dirty="0">
                <a:solidFill>
                  <a:srgbClr val="E8EAED"/>
                </a:solidFill>
                <a:latin typeface="Courier New" pitchFamily="34" charset="0"/>
                <a:ea typeface="Courier New" pitchFamily="34" charset="-122"/>
                <a:cs typeface="Courier New" pitchFamily="34" charset="-120"/>
              </a:rPr>
              <a:t>&gt; py -m venv .venv</a:t>
            </a:r>
            <a:endParaRPr lang="en-US" sz="1100" dirty="0"/>
          </a:p>
          <a:p>
            <a:pPr indent="0" marL="0">
              <a:buNone/>
            </a:pPr>
            <a:r>
              <a:rPr lang="en-US" sz="1100" dirty="0">
                <a:solidFill>
                  <a:srgbClr val="E8EAED"/>
                </a:solidFill>
                <a:latin typeface="Courier New" pitchFamily="34" charset="0"/>
                <a:ea typeface="Courier New" pitchFamily="34" charset="-122"/>
                <a:cs typeface="Courier New" pitchFamily="34" charset="-120"/>
              </a:rPr>
              <a:t>&gt; .venv\Scripts\Activate.ps1</a:t>
            </a:r>
            <a:endParaRPr lang="en-US" sz="1100" dirty="0"/>
          </a:p>
        </p:txBody>
      </p:sp>
      <p:sp>
        <p:nvSpPr>
          <p:cNvPr id="15" name="Shape 13"/>
          <p:cNvSpPr/>
          <p:nvPr/>
        </p:nvSpPr>
        <p:spPr>
          <a:xfrm>
            <a:off x="457200" y="4114800"/>
            <a:ext cx="8229600" cy="548640"/>
          </a:xfrm>
          <a:prstGeom prst="roundRect">
            <a:avLst>
              <a:gd name="adj" fmla="val 13333"/>
            </a:avLst>
          </a:prstGeom>
          <a:solidFill>
            <a:srgbClr val="ECFDF5"/>
          </a:solidFill>
          <a:ln w="12700">
            <a:solidFill>
              <a:srgbClr val="ECFDF5"/>
            </a:solidFill>
            <a:prstDash val="solid"/>
          </a:ln>
        </p:spPr>
      </p:sp>
      <p:sp>
        <p:nvSpPr>
          <p:cNvPr id="16" name="Text 14"/>
          <p:cNvSpPr txBox="1"/>
          <p:nvPr/>
        </p:nvSpPr>
        <p:spPr>
          <a:xfrm>
            <a:off x="731520" y="4114800"/>
            <a:ext cx="7680960" cy="548640"/>
          </a:xfrm>
          <a:prstGeom prst="rect">
            <a:avLst/>
          </a:prstGeom>
          <a:noFill/>
          <a:ln/>
        </p:spPr>
        <p:txBody>
          <a:bodyPr wrap="square" lIns="0" tIns="0" rIns="0" bIns="0" rtlCol="0" anchor="ctr"/>
          <a:lstStyle/>
          <a:p>
            <a:pPr indent="0" marL="0">
              <a:buNone/>
            </a:pPr>
            <a:r>
              <a:rPr lang="en-US" sz="1300" b="1" dirty="0">
                <a:solidFill>
                  <a:srgbClr val="047857"/>
                </a:solidFill>
                <a:latin typeface="Calibri" pitchFamily="34" charset="0"/>
                <a:ea typeface="Calibri" pitchFamily="34" charset="-122"/>
                <a:cs typeface="Calibri" pitchFamily="34" charset="-120"/>
              </a:rPr>
              <a:t>Your prompt now starts with (.venv). That is how you know you are inside the box.</a:t>
            </a:r>
            <a:endParaRPr lang="en-US" sz="1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06 · BUILD IT: SETUP, STEP 2 OF 2</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Install the library that keeps the tallies</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2</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30</a:t>
            </a:r>
            <a:endParaRPr lang="en-US" sz="900" dirty="0"/>
          </a:p>
        </p:txBody>
      </p:sp>
      <p:sp>
        <p:nvSpPr>
          <p:cNvPr id="6" name="Shape 4"/>
          <p:cNvSpPr/>
          <p:nvPr/>
        </p:nvSpPr>
        <p:spPr>
          <a:xfrm>
            <a:off x="365760" y="1234440"/>
            <a:ext cx="8412480" cy="868680"/>
          </a:xfrm>
          <a:prstGeom prst="roundRect">
            <a:avLst>
              <a:gd name="adj" fmla="val 8421"/>
            </a:avLst>
          </a:prstGeom>
          <a:solidFill>
            <a:srgbClr val="0F172A"/>
          </a:solidFill>
          <a:ln w="12700">
            <a:solidFill>
              <a:srgbClr val="0F172A"/>
            </a:solidFill>
            <a:prstDash val="solid"/>
          </a:ln>
        </p:spPr>
      </p:sp>
      <p:sp>
        <p:nvSpPr>
          <p:cNvPr id="7" name="Text 5"/>
          <p:cNvSpPr txBox="1"/>
          <p:nvPr/>
        </p:nvSpPr>
        <p:spPr>
          <a:xfrm>
            <a:off x="594360" y="1234440"/>
            <a:ext cx="8092440" cy="868680"/>
          </a:xfrm>
          <a:prstGeom prst="rect">
            <a:avLst/>
          </a:prstGeom>
          <a:noFill/>
          <a:ln/>
        </p:spPr>
        <p:txBody>
          <a:bodyPr wrap="square" lIns="0" tIns="0" rIns="0" bIns="0" rtlCol="0" anchor="ctr"/>
          <a:lstStyle/>
          <a:p>
            <a:pPr indent="0" marL="0">
              <a:buNone/>
            </a:pPr>
            <a:r>
              <a:rPr lang="en-US" sz="1600" b="1" dirty="0">
                <a:solidFill>
                  <a:srgbClr val="F59E0B"/>
                </a:solidFill>
                <a:latin typeface="Courier New" pitchFamily="34" charset="0"/>
                <a:ea typeface="Courier New" pitchFamily="34" charset="-122"/>
                <a:cs typeface="Courier New" pitchFamily="34" charset="-120"/>
              </a:rPr>
              <a:t>$ </a:t>
            </a:r>
            <a:pPr indent="0" marL="0">
              <a:buNone/>
            </a:pPr>
            <a:r>
              <a:rPr lang="en-US" sz="1600" dirty="0">
                <a:solidFill>
                  <a:srgbClr val="E8EAED"/>
                </a:solidFill>
                <a:latin typeface="Courier New" pitchFamily="34" charset="0"/>
                <a:ea typeface="Courier New" pitchFamily="34" charset="-122"/>
                <a:cs typeface="Courier New" pitchFamily="34" charset="-120"/>
              </a:rPr>
              <a:t>pip install prometheus-client</a:t>
            </a:r>
            <a:endParaRPr lang="en-US" sz="1600" dirty="0"/>
          </a:p>
        </p:txBody>
      </p:sp>
      <p:sp>
        <p:nvSpPr>
          <p:cNvPr id="8" name="Shape 6"/>
          <p:cNvSpPr/>
          <p:nvPr/>
        </p:nvSpPr>
        <p:spPr>
          <a:xfrm>
            <a:off x="457200" y="2286000"/>
            <a:ext cx="4023360" cy="1371600"/>
          </a:xfrm>
          <a:prstGeom prst="roundRect">
            <a:avLst>
              <a:gd name="adj" fmla="val 5333"/>
            </a:avLst>
          </a:prstGeom>
          <a:solidFill>
            <a:srgbClr val="F3F4F6"/>
          </a:solidFill>
          <a:ln w="12700">
            <a:solidFill>
              <a:srgbClr val="F3F4F6"/>
            </a:solidFill>
            <a:prstDash val="solid"/>
          </a:ln>
        </p:spPr>
      </p:sp>
      <p:sp>
        <p:nvSpPr>
          <p:cNvPr id="9" name="Text 7"/>
          <p:cNvSpPr txBox="1"/>
          <p:nvPr/>
        </p:nvSpPr>
        <p:spPr>
          <a:xfrm>
            <a:off x="685800" y="2423160"/>
            <a:ext cx="3566160" cy="274320"/>
          </a:xfrm>
          <a:prstGeom prst="rect">
            <a:avLst/>
          </a:prstGeom>
          <a:noFill/>
          <a:ln/>
        </p:spPr>
        <p:txBody>
          <a:bodyPr wrap="square" lIns="0" tIns="0" rIns="0" bIns="0" rtlCol="0" anchor="t"/>
          <a:lstStyle/>
          <a:p>
            <a:pPr indent="0" marL="0">
              <a:buNone/>
            </a:pPr>
            <a:r>
              <a:rPr lang="en-US" sz="1300" b="1" dirty="0">
                <a:solidFill>
                  <a:srgbClr val="111827"/>
                </a:solidFill>
                <a:latin typeface="Calibri" pitchFamily="34" charset="0"/>
                <a:ea typeface="Calibri" pitchFamily="34" charset="-122"/>
                <a:cs typeface="Calibri" pitchFamily="34" charset="-120"/>
              </a:rPr>
              <a:t>Check you are in the right place</a:t>
            </a:r>
            <a:endParaRPr lang="en-US" sz="1300" dirty="0"/>
          </a:p>
        </p:txBody>
      </p:sp>
      <p:sp>
        <p:nvSpPr>
          <p:cNvPr id="10" name="Shape 8"/>
          <p:cNvSpPr/>
          <p:nvPr/>
        </p:nvSpPr>
        <p:spPr>
          <a:xfrm>
            <a:off x="685800" y="2743200"/>
            <a:ext cx="3566160" cy="777240"/>
          </a:xfrm>
          <a:prstGeom prst="roundRect">
            <a:avLst>
              <a:gd name="adj" fmla="val 9412"/>
            </a:avLst>
          </a:prstGeom>
          <a:solidFill>
            <a:srgbClr val="0F172A"/>
          </a:solidFill>
          <a:ln w="12700">
            <a:solidFill>
              <a:srgbClr val="0F172A"/>
            </a:solidFill>
            <a:prstDash val="solid"/>
          </a:ln>
        </p:spPr>
      </p:sp>
      <p:sp>
        <p:nvSpPr>
          <p:cNvPr id="11" name="Text 9"/>
          <p:cNvSpPr txBox="1"/>
          <p:nvPr/>
        </p:nvSpPr>
        <p:spPr>
          <a:xfrm>
            <a:off x="886968" y="2907792"/>
            <a:ext cx="3200400" cy="502920"/>
          </a:xfrm>
          <a:prstGeom prst="rect">
            <a:avLst/>
          </a:prstGeom>
          <a:noFill/>
          <a:ln/>
        </p:spPr>
        <p:txBody>
          <a:bodyPr wrap="square" lIns="0" tIns="0" rIns="0" bIns="0" rtlCol="0" anchor="t"/>
          <a:lstStyle/>
          <a:p>
            <a:pPr indent="0" marL="0">
              <a:buNone/>
            </a:pPr>
            <a:r>
              <a:rPr lang="en-US" sz="1100" dirty="0">
                <a:solidFill>
                  <a:srgbClr val="9CA3AF"/>
                </a:solidFill>
                <a:latin typeface="Courier New" pitchFamily="34" charset="0"/>
                <a:ea typeface="Courier New" pitchFamily="34" charset="-122"/>
                <a:cs typeface="Courier New" pitchFamily="34" charset="-120"/>
              </a:rPr>
              <a:t>$ which python   </a:t>
            </a:r>
            <a:endParaRPr lang="en-US" sz="1100" dirty="0"/>
          </a:p>
          <a:p>
            <a:pPr indent="0" marL="0">
              <a:buNone/>
            </a:pPr>
            <a:r>
              <a:rPr lang="en-US" sz="1100" dirty="0">
                <a:solidFill>
                  <a:srgbClr val="9CA3AF"/>
                </a:solidFill>
                <a:latin typeface="Courier New" pitchFamily="34" charset="0"/>
                <a:ea typeface="Courier New" pitchFamily="34" charset="-122"/>
                <a:cs typeface="Courier New" pitchFamily="34" charset="-120"/>
              </a:rPr>
              <a:t>&gt; where python</a:t>
            </a:r>
            <a:endParaRPr lang="en-US" sz="1100" dirty="0"/>
          </a:p>
        </p:txBody>
      </p:sp>
      <p:sp>
        <p:nvSpPr>
          <p:cNvPr id="12" name="Shape 10"/>
          <p:cNvSpPr/>
          <p:nvPr/>
        </p:nvSpPr>
        <p:spPr>
          <a:xfrm>
            <a:off x="4663440" y="2286000"/>
            <a:ext cx="4023360" cy="1371600"/>
          </a:xfrm>
          <a:prstGeom prst="roundRect">
            <a:avLst>
              <a:gd name="adj" fmla="val 5333"/>
            </a:avLst>
          </a:prstGeom>
          <a:solidFill>
            <a:srgbClr val="F3F4F6"/>
          </a:solidFill>
          <a:ln w="12700">
            <a:solidFill>
              <a:srgbClr val="F3F4F6"/>
            </a:solidFill>
            <a:prstDash val="solid"/>
          </a:ln>
        </p:spPr>
      </p:sp>
      <p:sp>
        <p:nvSpPr>
          <p:cNvPr id="13" name="Text 11"/>
          <p:cNvSpPr txBox="1"/>
          <p:nvPr/>
        </p:nvSpPr>
        <p:spPr>
          <a:xfrm>
            <a:off x="4892040" y="2423160"/>
            <a:ext cx="3566160" cy="274320"/>
          </a:xfrm>
          <a:prstGeom prst="rect">
            <a:avLst/>
          </a:prstGeom>
          <a:noFill/>
          <a:ln/>
        </p:spPr>
        <p:txBody>
          <a:bodyPr wrap="square" lIns="0" tIns="0" rIns="0" bIns="0" rtlCol="0" anchor="t"/>
          <a:lstStyle/>
          <a:p>
            <a:pPr indent="0" marL="0">
              <a:buNone/>
            </a:pPr>
            <a:r>
              <a:rPr lang="en-US" sz="1300" b="1" dirty="0">
                <a:solidFill>
                  <a:srgbClr val="111827"/>
                </a:solidFill>
                <a:latin typeface="Calibri" pitchFamily="34" charset="0"/>
                <a:ea typeface="Calibri" pitchFamily="34" charset="-122"/>
                <a:cs typeface="Calibri" pitchFamily="34" charset="-120"/>
              </a:rPr>
              <a:t>When you are finished for the day</a:t>
            </a:r>
            <a:endParaRPr lang="en-US" sz="1300" dirty="0"/>
          </a:p>
        </p:txBody>
      </p:sp>
      <p:sp>
        <p:nvSpPr>
          <p:cNvPr id="14" name="Shape 12"/>
          <p:cNvSpPr/>
          <p:nvPr/>
        </p:nvSpPr>
        <p:spPr>
          <a:xfrm>
            <a:off x="4892040" y="2743200"/>
            <a:ext cx="3566160" cy="777240"/>
          </a:xfrm>
          <a:prstGeom prst="roundRect">
            <a:avLst>
              <a:gd name="adj" fmla="val 9412"/>
            </a:avLst>
          </a:prstGeom>
          <a:solidFill>
            <a:srgbClr val="0F172A"/>
          </a:solidFill>
          <a:ln w="12700">
            <a:solidFill>
              <a:srgbClr val="0F172A"/>
            </a:solidFill>
            <a:prstDash val="solid"/>
          </a:ln>
        </p:spPr>
      </p:sp>
      <p:sp>
        <p:nvSpPr>
          <p:cNvPr id="15" name="Text 13"/>
          <p:cNvSpPr txBox="1"/>
          <p:nvPr/>
        </p:nvSpPr>
        <p:spPr>
          <a:xfrm>
            <a:off x="5093208" y="2907792"/>
            <a:ext cx="3200400" cy="502920"/>
          </a:xfrm>
          <a:prstGeom prst="rect">
            <a:avLst/>
          </a:prstGeom>
          <a:noFill/>
          <a:ln/>
        </p:spPr>
        <p:txBody>
          <a:bodyPr wrap="square" lIns="0" tIns="0" rIns="0" bIns="0" rtlCol="0" anchor="t"/>
          <a:lstStyle/>
          <a:p>
            <a:pPr indent="0" marL="0">
              <a:buNone/>
            </a:pPr>
            <a:r>
              <a:rPr lang="en-US" sz="1100" dirty="0">
                <a:solidFill>
                  <a:srgbClr val="E8EAED"/>
                </a:solidFill>
                <a:latin typeface="Courier New" pitchFamily="34" charset="0"/>
                <a:ea typeface="Courier New" pitchFamily="34" charset="-122"/>
                <a:cs typeface="Courier New" pitchFamily="34" charset="-120"/>
              </a:rPr>
              <a:t>$ deactivate</a:t>
            </a:r>
            <a:endParaRPr lang="en-US" sz="1100" dirty="0"/>
          </a:p>
          <a:p>
            <a:pPr indent="0" marL="0">
              <a:buNone/>
            </a:pPr>
            <a:r>
              <a:rPr lang="en-US" sz="1100" dirty="0">
                <a:solidFill>
                  <a:srgbClr val="E8EAED"/>
                </a:solidFill>
                <a:latin typeface="Courier New" pitchFamily="34" charset="0"/>
                <a:ea typeface="Courier New" pitchFamily="34" charset="-122"/>
                <a:cs typeface="Courier New" pitchFamily="34" charset="-120"/>
              </a:rPr>
              <a:t> </a:t>
            </a:r>
            <a:endParaRPr lang="en-US" sz="1100" dirty="0"/>
          </a:p>
        </p:txBody>
      </p:sp>
      <p:sp>
        <p:nvSpPr>
          <p:cNvPr id="16" name="Shape 14"/>
          <p:cNvSpPr/>
          <p:nvPr/>
        </p:nvSpPr>
        <p:spPr>
          <a:xfrm>
            <a:off x="457200" y="3794760"/>
            <a:ext cx="8229600" cy="777240"/>
          </a:xfrm>
          <a:prstGeom prst="roundRect">
            <a:avLst>
              <a:gd name="adj" fmla="val 9412"/>
            </a:avLst>
          </a:prstGeom>
          <a:solidFill>
            <a:srgbClr val="FEF3C7"/>
          </a:solidFill>
          <a:ln w="12700">
            <a:solidFill>
              <a:srgbClr val="FEF3C7"/>
            </a:solidFill>
            <a:prstDash val="solid"/>
          </a:ln>
        </p:spPr>
      </p:sp>
      <p:sp>
        <p:nvSpPr>
          <p:cNvPr id="17" name="Text 15"/>
          <p:cNvSpPr txBox="1"/>
          <p:nvPr/>
        </p:nvSpPr>
        <p:spPr>
          <a:xfrm>
            <a:off x="731520" y="3794760"/>
            <a:ext cx="7680960" cy="77724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One package, and it is the standard one. It lands inside .venv, not on your system Python; that is the whole point of the box.</a:t>
            </a:r>
            <a:endParaRPr lang="en-US" sz="13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06 · BUILD IT: STAGE 1 OF 4</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Catch the receipt</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2</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31</a:t>
            </a:r>
            <a:endParaRPr lang="en-US" sz="900" dirty="0"/>
          </a:p>
        </p:txBody>
      </p:sp>
      <p:sp>
        <p:nvSpPr>
          <p:cNvPr id="6" name="Text 4"/>
          <p:cNvSpPr txBox="1"/>
          <p:nvPr/>
        </p:nvSpPr>
        <p:spPr>
          <a:xfrm>
            <a:off x="457200" y="1188720"/>
            <a:ext cx="8229600" cy="73152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Find where the agent calls the model. Don't edit it; write a new function around it. Inside, call the model exactly as before, read the two token counts out of the response's usage block, and print them.</a:t>
            </a:r>
            <a:endParaRPr lang="en-US" sz="1400" dirty="0"/>
          </a:p>
        </p:txBody>
      </p:sp>
      <p:sp>
        <p:nvSpPr>
          <p:cNvPr id="7" name="Shape 5"/>
          <p:cNvSpPr/>
          <p:nvPr/>
        </p:nvSpPr>
        <p:spPr>
          <a:xfrm>
            <a:off x="365760" y="2057400"/>
            <a:ext cx="8412480" cy="868680"/>
          </a:xfrm>
          <a:prstGeom prst="roundRect">
            <a:avLst>
              <a:gd name="adj" fmla="val 8421"/>
            </a:avLst>
          </a:prstGeom>
          <a:solidFill>
            <a:srgbClr val="0F172A"/>
          </a:solidFill>
          <a:ln w="12700">
            <a:solidFill>
              <a:srgbClr val="0F172A"/>
            </a:solidFill>
            <a:prstDash val="solid"/>
          </a:ln>
        </p:spPr>
      </p:sp>
      <p:sp>
        <p:nvSpPr>
          <p:cNvPr id="8" name="Text 6"/>
          <p:cNvSpPr txBox="1"/>
          <p:nvPr/>
        </p:nvSpPr>
        <p:spPr>
          <a:xfrm>
            <a:off x="594360" y="2057400"/>
            <a:ext cx="8092440" cy="868680"/>
          </a:xfrm>
          <a:prstGeom prst="rect">
            <a:avLst/>
          </a:prstGeom>
          <a:noFill/>
          <a:ln/>
        </p:spPr>
        <p:txBody>
          <a:bodyPr wrap="square" lIns="0" tIns="0" rIns="0" bIns="0" rtlCol="0" anchor="ctr"/>
          <a:lstStyle/>
          <a:p>
            <a:pPr indent="0" marL="0">
              <a:buNone/>
            </a:pPr>
            <a:r>
              <a:rPr lang="en-US" sz="1600" b="1" dirty="0">
                <a:solidFill>
                  <a:srgbClr val="F59E0B"/>
                </a:solidFill>
                <a:latin typeface="Courier New" pitchFamily="34" charset="0"/>
                <a:ea typeface="Courier New" pitchFamily="34" charset="-122"/>
                <a:cs typeface="Courier New" pitchFamily="34" charset="-120"/>
              </a:rPr>
              <a:t>$ </a:t>
            </a:r>
            <a:pPr indent="0" marL="0">
              <a:buNone/>
            </a:pPr>
            <a:r>
              <a:rPr lang="en-US" sz="1600" dirty="0">
                <a:solidFill>
                  <a:srgbClr val="E8EAED"/>
                </a:solidFill>
                <a:latin typeface="Courier New" pitchFamily="34" charset="0"/>
                <a:ea typeface="Courier New" pitchFamily="34" charset="-122"/>
                <a:cs typeface="Courier New" pitchFamily="34" charset="-120"/>
              </a:rPr>
              <a:t>python3 run_agent.py --input samples/normal.json</a:t>
            </a:r>
            <a:endParaRPr lang="en-US" sz="1600" dirty="0"/>
          </a:p>
        </p:txBody>
      </p:sp>
      <p:sp>
        <p:nvSpPr>
          <p:cNvPr id="9" name="Shape 7"/>
          <p:cNvSpPr/>
          <p:nvPr/>
        </p:nvSpPr>
        <p:spPr>
          <a:xfrm>
            <a:off x="457200" y="3154680"/>
            <a:ext cx="8229600" cy="1097280"/>
          </a:xfrm>
          <a:prstGeom prst="roundRect">
            <a:avLst>
              <a:gd name="adj" fmla="val 6667"/>
            </a:avLst>
          </a:prstGeom>
          <a:solidFill>
            <a:srgbClr val="ECFDF5"/>
          </a:solidFill>
          <a:ln w="12700">
            <a:solidFill>
              <a:srgbClr val="ECFDF5"/>
            </a:solidFill>
            <a:prstDash val="solid"/>
          </a:ln>
        </p:spPr>
      </p:sp>
      <p:sp>
        <p:nvSpPr>
          <p:cNvPr id="10" name="Text 8"/>
          <p:cNvSpPr txBox="1"/>
          <p:nvPr/>
        </p:nvSpPr>
        <p:spPr>
          <a:xfrm>
            <a:off x="731520" y="3154680"/>
            <a:ext cx="7680960" cy="1097280"/>
          </a:xfrm>
          <a:prstGeom prst="rect">
            <a:avLst/>
          </a:prstGeom>
          <a:noFill/>
          <a:ln/>
        </p:spPr>
        <p:txBody>
          <a:bodyPr wrap="square" lIns="0" tIns="0" rIns="0" bIns="0" rtlCol="0" anchor="ctr"/>
          <a:lstStyle/>
          <a:p>
            <a:pPr indent="0" marL="0">
              <a:buNone/>
            </a:pPr>
            <a:r>
              <a:rPr lang="en-US" sz="1400" b="1" dirty="0">
                <a:solidFill>
                  <a:srgbClr val="047857"/>
                </a:solidFill>
                <a:latin typeface="Calibri" pitchFamily="34" charset="0"/>
                <a:ea typeface="Calibri" pitchFamily="34" charset="-122"/>
                <a:cs typeface="Calibri" pitchFamily="34" charset="-120"/>
              </a:rPr>
              <a:t>You should see two numbers printed for every step. </a:t>
            </a:r>
            <a:pPr indent="0" marL="0">
              <a:buNone/>
            </a:pPr>
            <a:r>
              <a:rPr lang="en-US" sz="1400" dirty="0">
                <a:solidFill>
                  <a:srgbClr val="1F2937"/>
                </a:solidFill>
                <a:latin typeface="Calibri" pitchFamily="34" charset="0"/>
                <a:ea typeface="Calibri" pitchFamily="34" charset="-122"/>
                <a:cs typeface="Calibri" pitchFamily="34" charset="-120"/>
              </a:rPr>
              <a:t>That is the receipt, caught for the first time. The agent behaved identically; you only added printing.</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06 · BUILD IT: STAGE 2 OF 4</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Turn tokens into money</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2</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32</a:t>
            </a:r>
            <a:endParaRPr lang="en-US" sz="900" dirty="0"/>
          </a:p>
        </p:txBody>
      </p:sp>
      <p:sp>
        <p:nvSpPr>
          <p:cNvPr id="6" name="Text 4"/>
          <p:cNvSpPr txBox="1"/>
          <p:nvPr/>
        </p:nvSpPr>
        <p:spPr>
          <a:xfrm>
            <a:off x="457200" y="1188720"/>
            <a:ext cx="8229600" cy="73152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Add two constants near the top of the file for the input and output rates from your provider's pricing page. In the envelope, multiply each count by its rate and add them. Print the cost alongside the tokens.</a:t>
            </a:r>
            <a:endParaRPr lang="en-US" sz="1400" dirty="0"/>
          </a:p>
        </p:txBody>
      </p:sp>
      <p:sp>
        <p:nvSpPr>
          <p:cNvPr id="7" name="Shape 5"/>
          <p:cNvSpPr/>
          <p:nvPr/>
        </p:nvSpPr>
        <p:spPr>
          <a:xfrm>
            <a:off x="365760" y="2057400"/>
            <a:ext cx="8412480" cy="868680"/>
          </a:xfrm>
          <a:prstGeom prst="roundRect">
            <a:avLst>
              <a:gd name="adj" fmla="val 8421"/>
            </a:avLst>
          </a:prstGeom>
          <a:solidFill>
            <a:srgbClr val="0F172A"/>
          </a:solidFill>
          <a:ln w="12700">
            <a:solidFill>
              <a:srgbClr val="0F172A"/>
            </a:solidFill>
            <a:prstDash val="solid"/>
          </a:ln>
        </p:spPr>
      </p:sp>
      <p:sp>
        <p:nvSpPr>
          <p:cNvPr id="8" name="Text 6"/>
          <p:cNvSpPr txBox="1"/>
          <p:nvPr/>
        </p:nvSpPr>
        <p:spPr>
          <a:xfrm>
            <a:off x="594360" y="2057400"/>
            <a:ext cx="8092440" cy="868680"/>
          </a:xfrm>
          <a:prstGeom prst="rect">
            <a:avLst/>
          </a:prstGeom>
          <a:noFill/>
          <a:ln/>
        </p:spPr>
        <p:txBody>
          <a:bodyPr wrap="square" lIns="0" tIns="0" rIns="0" bIns="0" rtlCol="0" anchor="ctr"/>
          <a:lstStyle/>
          <a:p>
            <a:pPr indent="0" marL="0">
              <a:buNone/>
            </a:pPr>
            <a:r>
              <a:rPr lang="en-US" sz="1600" b="1" dirty="0">
                <a:solidFill>
                  <a:srgbClr val="F59E0B"/>
                </a:solidFill>
                <a:latin typeface="Courier New" pitchFamily="34" charset="0"/>
                <a:ea typeface="Courier New" pitchFamily="34" charset="-122"/>
                <a:cs typeface="Courier New" pitchFamily="34" charset="-120"/>
              </a:rPr>
              <a:t>$ </a:t>
            </a:r>
            <a:pPr indent="0" marL="0">
              <a:buNone/>
            </a:pPr>
            <a:r>
              <a:rPr lang="en-US" sz="1600" dirty="0">
                <a:solidFill>
                  <a:srgbClr val="E8EAED"/>
                </a:solidFill>
                <a:latin typeface="Courier New" pitchFamily="34" charset="0"/>
                <a:ea typeface="Courier New" pitchFamily="34" charset="-122"/>
                <a:cs typeface="Courier New" pitchFamily="34" charset="-120"/>
              </a:rPr>
              <a:t>python3 run_agent.py --input samples/normal.json</a:t>
            </a:r>
            <a:endParaRPr lang="en-US" sz="1600" dirty="0"/>
          </a:p>
        </p:txBody>
      </p:sp>
      <p:sp>
        <p:nvSpPr>
          <p:cNvPr id="9" name="Shape 7"/>
          <p:cNvSpPr/>
          <p:nvPr/>
        </p:nvSpPr>
        <p:spPr>
          <a:xfrm>
            <a:off x="457200" y="3154680"/>
            <a:ext cx="8229600" cy="1097280"/>
          </a:xfrm>
          <a:prstGeom prst="roundRect">
            <a:avLst>
              <a:gd name="adj" fmla="val 6667"/>
            </a:avLst>
          </a:prstGeom>
          <a:solidFill>
            <a:srgbClr val="FEF3C7"/>
          </a:solidFill>
          <a:ln w="12700">
            <a:solidFill>
              <a:srgbClr val="FEF3C7"/>
            </a:solidFill>
            <a:prstDash val="solid"/>
          </a:ln>
        </p:spPr>
      </p:sp>
      <p:sp>
        <p:nvSpPr>
          <p:cNvPr id="10" name="Text 8"/>
          <p:cNvSpPr txBox="1"/>
          <p:nvPr/>
        </p:nvSpPr>
        <p:spPr>
          <a:xfrm>
            <a:off x="731520" y="3154680"/>
            <a:ext cx="7680960" cy="1097280"/>
          </a:xfrm>
          <a:prstGeom prst="rect">
            <a:avLst/>
          </a:prstGeom>
          <a:noFill/>
          <a:ln/>
        </p:spPr>
        <p:txBody>
          <a:bodyPr wrap="square" lIns="0" tIns="0" rIns="0" bIns="0" rtlCol="0" anchor="ctr"/>
          <a:lstStyle/>
          <a:p>
            <a:pPr indent="0" marL="0">
              <a:buNone/>
            </a:pPr>
            <a:r>
              <a:rPr lang="en-US" sz="1400" b="1" dirty="0">
                <a:solidFill>
                  <a:srgbClr val="B45309"/>
                </a:solidFill>
                <a:latin typeface="Calibri" pitchFamily="34" charset="0"/>
                <a:ea typeface="Calibri" pitchFamily="34" charset="-122"/>
                <a:cs typeface="Calibri" pitchFamily="34" charset="-120"/>
              </a:rPr>
              <a:t>Add these up by hand and compare with your module 1 figure. </a:t>
            </a:r>
            <a:pPr indent="0" marL="0">
              <a:buNone/>
            </a:pPr>
            <a:r>
              <a:rPr lang="en-US" sz="1400" dirty="0">
                <a:solidFill>
                  <a:srgbClr val="1F2937"/>
                </a:solidFill>
                <a:latin typeface="Calibri" pitchFamily="34" charset="0"/>
                <a:ea typeface="Calibri" pitchFamily="34" charset="-122"/>
                <a:cs typeface="Calibri" pitchFamily="34" charset="-120"/>
              </a:rPr>
              <a:t>If they don't match, you have a rate wrong; and finding that now is better than finding it in a report.</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06 · BUILD IT: STAGE 3 OF 4</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Add the four labels</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2</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33</a:t>
            </a:r>
            <a:endParaRPr lang="en-US" sz="900" dirty="0"/>
          </a:p>
        </p:txBody>
      </p:sp>
      <p:sp>
        <p:nvSpPr>
          <p:cNvPr id="6" name="Text 4"/>
          <p:cNvSpPr txBox="1"/>
          <p:nvPr/>
        </p:nvSpPr>
        <p:spPr>
          <a:xfrm>
            <a:off x="457200" y="1188720"/>
            <a:ext cx="8229600" cy="73152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Give the agent a name and a team as constants. Generate a run ID once when the run starts; a short random string is fine. Pass it into every call. Set result to unknown for now; module five sets it properly.</a:t>
            </a:r>
            <a:endParaRPr lang="en-US" sz="1400" dirty="0"/>
          </a:p>
        </p:txBody>
      </p:sp>
      <p:sp>
        <p:nvSpPr>
          <p:cNvPr id="7" name="Shape 5"/>
          <p:cNvSpPr/>
          <p:nvPr/>
        </p:nvSpPr>
        <p:spPr>
          <a:xfrm>
            <a:off x="365760" y="2057400"/>
            <a:ext cx="8412480" cy="868680"/>
          </a:xfrm>
          <a:prstGeom prst="roundRect">
            <a:avLst>
              <a:gd name="adj" fmla="val 8421"/>
            </a:avLst>
          </a:prstGeom>
          <a:solidFill>
            <a:srgbClr val="0F172A"/>
          </a:solidFill>
          <a:ln w="12700">
            <a:solidFill>
              <a:srgbClr val="0F172A"/>
            </a:solidFill>
            <a:prstDash val="solid"/>
          </a:ln>
        </p:spPr>
      </p:sp>
      <p:sp>
        <p:nvSpPr>
          <p:cNvPr id="8" name="Text 6"/>
          <p:cNvSpPr txBox="1"/>
          <p:nvPr/>
        </p:nvSpPr>
        <p:spPr>
          <a:xfrm>
            <a:off x="594360" y="2057400"/>
            <a:ext cx="8092440" cy="868680"/>
          </a:xfrm>
          <a:prstGeom prst="rect">
            <a:avLst/>
          </a:prstGeom>
          <a:noFill/>
          <a:ln/>
        </p:spPr>
        <p:txBody>
          <a:bodyPr wrap="square" lIns="0" tIns="0" rIns="0" bIns="0" rtlCol="0" anchor="ctr"/>
          <a:lstStyle/>
          <a:p>
            <a:pPr indent="0" marL="0">
              <a:buNone/>
            </a:pPr>
            <a:r>
              <a:rPr lang="en-US" sz="1600" b="1" dirty="0">
                <a:solidFill>
                  <a:srgbClr val="F59E0B"/>
                </a:solidFill>
                <a:latin typeface="Courier New" pitchFamily="34" charset="0"/>
                <a:ea typeface="Courier New" pitchFamily="34" charset="-122"/>
                <a:cs typeface="Courier New" pitchFamily="34" charset="-120"/>
              </a:rPr>
              <a:t>$ </a:t>
            </a:r>
            <a:pPr indent="0" marL="0">
              <a:buNone/>
            </a:pPr>
            <a:r>
              <a:rPr lang="en-US" sz="1600" dirty="0">
                <a:solidFill>
                  <a:srgbClr val="E8EAED"/>
                </a:solidFill>
                <a:latin typeface="Courier New" pitchFamily="34" charset="0"/>
                <a:ea typeface="Courier New" pitchFamily="34" charset="-122"/>
                <a:cs typeface="Courier New" pitchFamily="34" charset="-120"/>
              </a:rPr>
              <a:t>python3 run_agent.py --input samples/normal.json</a:t>
            </a:r>
            <a:endParaRPr lang="en-US" sz="1600" dirty="0"/>
          </a:p>
        </p:txBody>
      </p:sp>
      <p:sp>
        <p:nvSpPr>
          <p:cNvPr id="9" name="Shape 7"/>
          <p:cNvSpPr/>
          <p:nvPr/>
        </p:nvSpPr>
        <p:spPr>
          <a:xfrm>
            <a:off x="457200" y="3154680"/>
            <a:ext cx="8229600" cy="1097280"/>
          </a:xfrm>
          <a:prstGeom prst="roundRect">
            <a:avLst>
              <a:gd name="adj" fmla="val 6667"/>
            </a:avLst>
          </a:prstGeom>
          <a:solidFill>
            <a:srgbClr val="FEF2F2"/>
          </a:solidFill>
          <a:ln w="12700">
            <a:solidFill>
              <a:srgbClr val="FEF2F2"/>
            </a:solidFill>
            <a:prstDash val="solid"/>
          </a:ln>
        </p:spPr>
      </p:sp>
      <p:pic>
        <p:nvPicPr>
          <p:cNvPr id="10" name="Image 0" descr="preencoded.png">    </p:cNvPr>
          <p:cNvPicPr>
            <a:picLocks noChangeAspect="1"/>
          </p:cNvPicPr>
          <p:nvPr/>
        </p:nvPicPr>
        <p:blipFill>
          <a:blip r:embed="rId1"/>
          <a:stretch>
            <a:fillRect/>
          </a:stretch>
        </p:blipFill>
        <p:spPr>
          <a:xfrm>
            <a:off x="731520" y="3502152"/>
            <a:ext cx="384048" cy="384048"/>
          </a:xfrm>
          <a:prstGeom prst="rect">
            <a:avLst/>
          </a:prstGeom>
        </p:spPr>
      </p:pic>
      <p:sp>
        <p:nvSpPr>
          <p:cNvPr id="11" name="Text 8"/>
          <p:cNvSpPr txBox="1"/>
          <p:nvPr/>
        </p:nvSpPr>
        <p:spPr>
          <a:xfrm>
            <a:off x="1325880" y="3154680"/>
            <a:ext cx="7132320" cy="1097280"/>
          </a:xfrm>
          <a:prstGeom prst="rect">
            <a:avLst/>
          </a:prstGeom>
          <a:noFill/>
          <a:ln/>
        </p:spPr>
        <p:txBody>
          <a:bodyPr wrap="square" lIns="0" tIns="0" rIns="0" bIns="0" rtlCol="0" anchor="ctr"/>
          <a:lstStyle/>
          <a:p>
            <a:pPr indent="0" marL="0">
              <a:buNone/>
            </a:pPr>
            <a:r>
              <a:rPr lang="en-US" sz="1400" b="1" dirty="0">
                <a:solidFill>
                  <a:srgbClr val="B91C1C"/>
                </a:solidFill>
                <a:latin typeface="Calibri" pitchFamily="34" charset="0"/>
                <a:ea typeface="Calibri" pitchFamily="34" charset="-122"/>
                <a:cs typeface="Calibri" pitchFamily="34" charset="-120"/>
              </a:rPr>
              <a:t>Check the run ID is the same on every line. </a:t>
            </a:r>
            <a:pPr indent="0" marL="0">
              <a:buNone/>
            </a:pPr>
            <a:r>
              <a:rPr lang="en-US" sz="1400" dirty="0">
                <a:solidFill>
                  <a:srgbClr val="1F2937"/>
                </a:solidFill>
                <a:latin typeface="Calibri" pitchFamily="34" charset="0"/>
                <a:ea typeface="Calibri" pitchFamily="34" charset="-122"/>
                <a:cs typeface="Calibri" pitchFamily="34" charset="-120"/>
              </a:rPr>
              <a:t>If it changes between steps, you generated it in the wrong place; it belongs at the start of the run, not inside the envelope.</a:t>
            </a:r>
            <a:endParaRPr lang="en-US" sz="1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06 · BUILD IT: STAGE 4 OF 4</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Make the counter</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2</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34</a:t>
            </a:r>
            <a:endParaRPr lang="en-US" sz="900" dirty="0"/>
          </a:p>
        </p:txBody>
      </p:sp>
      <p:sp>
        <p:nvSpPr>
          <p:cNvPr id="6" name="Text 4"/>
          <p:cNvSpPr txBox="1"/>
          <p:nvPr/>
        </p:nvSpPr>
        <p:spPr>
          <a:xfrm>
            <a:off x="457200" y="1188720"/>
            <a:ext cx="8229600" cy="731520"/>
          </a:xfrm>
          <a:prstGeom prst="rect">
            <a:avLst/>
          </a:prstGeom>
          <a:noFill/>
          <a:ln/>
        </p:spPr>
        <p:txBody>
          <a:bodyPr wrap="square" lIns="0" tIns="0" rIns="0" bIns="0" rtlCol="0" anchor="t"/>
          <a:lstStyle/>
          <a:p>
            <a:pPr indent="0" marL="0">
              <a:buNone/>
            </a:pPr>
            <a:r>
              <a:rPr lang="en-US" sz="1400" dirty="0">
                <a:solidFill>
                  <a:srgbClr val="1F2937"/>
                </a:solidFill>
                <a:latin typeface="Calibri" pitchFamily="34" charset="0"/>
                <a:ea typeface="Calibri" pitchFamily="34" charset="-122"/>
                <a:cs typeface="Calibri" pitchFamily="34" charset="-120"/>
              </a:rPr>
              <a:t>Import Counter from the prometheus client, create two: one for cost, one for tokens. Each carries your four label names. In the envelope, add the cost to the counter instead of only printing. Then start the metrics server.</a:t>
            </a:r>
            <a:endParaRPr lang="en-US" sz="1400" dirty="0"/>
          </a:p>
        </p:txBody>
      </p:sp>
      <p:sp>
        <p:nvSpPr>
          <p:cNvPr id="7" name="Shape 5"/>
          <p:cNvSpPr/>
          <p:nvPr/>
        </p:nvSpPr>
        <p:spPr>
          <a:xfrm>
            <a:off x="365760" y="2011680"/>
            <a:ext cx="8412480" cy="868680"/>
          </a:xfrm>
          <a:prstGeom prst="roundRect">
            <a:avLst>
              <a:gd name="adj" fmla="val 8421"/>
            </a:avLst>
          </a:prstGeom>
          <a:solidFill>
            <a:srgbClr val="0F172A"/>
          </a:solidFill>
          <a:ln w="12700">
            <a:solidFill>
              <a:srgbClr val="0F172A"/>
            </a:solidFill>
            <a:prstDash val="solid"/>
          </a:ln>
        </p:spPr>
      </p:sp>
      <p:sp>
        <p:nvSpPr>
          <p:cNvPr id="8" name="Text 6"/>
          <p:cNvSpPr txBox="1"/>
          <p:nvPr/>
        </p:nvSpPr>
        <p:spPr>
          <a:xfrm>
            <a:off x="594360" y="2011680"/>
            <a:ext cx="8092440" cy="868680"/>
          </a:xfrm>
          <a:prstGeom prst="rect">
            <a:avLst/>
          </a:prstGeom>
          <a:noFill/>
          <a:ln/>
        </p:spPr>
        <p:txBody>
          <a:bodyPr wrap="square" lIns="0" tIns="0" rIns="0" bIns="0" rtlCol="0" anchor="ctr"/>
          <a:lstStyle/>
          <a:p>
            <a:pPr indent="0" marL="0">
              <a:buNone/>
            </a:pPr>
            <a:r>
              <a:rPr lang="en-US" sz="1600" b="1" dirty="0">
                <a:solidFill>
                  <a:srgbClr val="F59E0B"/>
                </a:solidFill>
                <a:latin typeface="Courier New" pitchFamily="34" charset="0"/>
                <a:ea typeface="Courier New" pitchFamily="34" charset="-122"/>
                <a:cs typeface="Courier New" pitchFamily="34" charset="-120"/>
              </a:rPr>
              <a:t>$ </a:t>
            </a:r>
            <a:pPr indent="0" marL="0">
              <a:buNone/>
            </a:pPr>
            <a:r>
              <a:rPr lang="en-US" sz="1600" dirty="0">
                <a:solidFill>
                  <a:srgbClr val="E8EAED"/>
                </a:solidFill>
                <a:latin typeface="Courier New" pitchFamily="34" charset="0"/>
                <a:ea typeface="Courier New" pitchFamily="34" charset="-122"/>
                <a:cs typeface="Courier New" pitchFamily="34" charset="-120"/>
              </a:rPr>
              <a:t>python3 run_agent.py --input samples/normal.json &amp;</a:t>
            </a:r>
            <a:endParaRPr lang="en-US" sz="1600" dirty="0"/>
          </a:p>
        </p:txBody>
      </p:sp>
      <p:sp>
        <p:nvSpPr>
          <p:cNvPr id="9" name="Shape 7"/>
          <p:cNvSpPr/>
          <p:nvPr/>
        </p:nvSpPr>
        <p:spPr>
          <a:xfrm>
            <a:off x="365760" y="3017520"/>
            <a:ext cx="8412480" cy="868680"/>
          </a:xfrm>
          <a:prstGeom prst="roundRect">
            <a:avLst>
              <a:gd name="adj" fmla="val 8421"/>
            </a:avLst>
          </a:prstGeom>
          <a:solidFill>
            <a:srgbClr val="0F172A"/>
          </a:solidFill>
          <a:ln w="12700">
            <a:solidFill>
              <a:srgbClr val="0F172A"/>
            </a:solidFill>
            <a:prstDash val="solid"/>
          </a:ln>
        </p:spPr>
      </p:sp>
      <p:sp>
        <p:nvSpPr>
          <p:cNvPr id="10" name="Text 8"/>
          <p:cNvSpPr txBox="1"/>
          <p:nvPr/>
        </p:nvSpPr>
        <p:spPr>
          <a:xfrm>
            <a:off x="594360" y="3017520"/>
            <a:ext cx="8092440" cy="868680"/>
          </a:xfrm>
          <a:prstGeom prst="rect">
            <a:avLst/>
          </a:prstGeom>
          <a:noFill/>
          <a:ln/>
        </p:spPr>
        <p:txBody>
          <a:bodyPr wrap="square" lIns="0" tIns="0" rIns="0" bIns="0" rtlCol="0" anchor="ctr"/>
          <a:lstStyle/>
          <a:p>
            <a:pPr indent="0" marL="0">
              <a:buNone/>
            </a:pPr>
            <a:r>
              <a:rPr lang="en-US" sz="1600" b="1" dirty="0">
                <a:solidFill>
                  <a:srgbClr val="F59E0B"/>
                </a:solidFill>
                <a:latin typeface="Courier New" pitchFamily="34" charset="0"/>
                <a:ea typeface="Courier New" pitchFamily="34" charset="-122"/>
                <a:cs typeface="Courier New" pitchFamily="34" charset="-120"/>
              </a:rPr>
              <a:t>$ </a:t>
            </a:r>
            <a:pPr indent="0" marL="0">
              <a:buNone/>
            </a:pPr>
            <a:r>
              <a:rPr lang="en-US" sz="1600" dirty="0">
                <a:solidFill>
                  <a:srgbClr val="E8EAED"/>
                </a:solidFill>
                <a:latin typeface="Courier New" pitchFamily="34" charset="0"/>
                <a:ea typeface="Courier New" pitchFamily="34" charset="-122"/>
                <a:cs typeface="Courier New" pitchFamily="34" charset="-120"/>
              </a:rPr>
              <a:t>curl http://localhost:8000/metrics | grep agent_cost</a:t>
            </a:r>
            <a:endParaRPr lang="en-US" sz="1600" dirty="0"/>
          </a:p>
        </p:txBody>
      </p:sp>
      <p:sp>
        <p:nvSpPr>
          <p:cNvPr id="11" name="Shape 9"/>
          <p:cNvSpPr/>
          <p:nvPr/>
        </p:nvSpPr>
        <p:spPr>
          <a:xfrm>
            <a:off x="457200" y="4069080"/>
            <a:ext cx="8229600" cy="685800"/>
          </a:xfrm>
          <a:prstGeom prst="roundRect">
            <a:avLst>
              <a:gd name="adj" fmla="val 10667"/>
            </a:avLst>
          </a:prstGeom>
          <a:solidFill>
            <a:srgbClr val="ECFDF5"/>
          </a:solidFill>
          <a:ln w="12700">
            <a:solidFill>
              <a:srgbClr val="ECFDF5"/>
            </a:solidFill>
            <a:prstDash val="solid"/>
          </a:ln>
        </p:spPr>
      </p:sp>
      <p:sp>
        <p:nvSpPr>
          <p:cNvPr id="12" name="Text 10"/>
          <p:cNvSpPr txBox="1"/>
          <p:nvPr/>
        </p:nvSpPr>
        <p:spPr>
          <a:xfrm>
            <a:off x="731520" y="4069080"/>
            <a:ext cx="7680960" cy="685800"/>
          </a:xfrm>
          <a:prstGeom prst="rect">
            <a:avLst/>
          </a:prstGeom>
          <a:noFill/>
          <a:ln/>
        </p:spPr>
        <p:txBody>
          <a:bodyPr wrap="square" lIns="0" tIns="0" rIns="0" bIns="0" rtlCol="0" anchor="ctr"/>
          <a:lstStyle/>
          <a:p>
            <a:pPr indent="0" marL="0">
              <a:buNone/>
            </a:pPr>
            <a:r>
              <a:rPr lang="en-US" sz="1300" dirty="0">
                <a:solidFill>
                  <a:srgbClr val="1F2937"/>
                </a:solidFill>
                <a:latin typeface="Calibri" pitchFamily="34" charset="0"/>
                <a:ea typeface="Calibri" pitchFamily="34" charset="-122"/>
                <a:cs typeface="Calibri" pitchFamily="34" charset="-120"/>
              </a:rPr>
              <a:t>There it is; your cost, with all four labels attached, in the format the monitoring world reads. That output is what Prometheus will collect from you.</a:t>
            </a:r>
            <a:endParaRPr lang="en-US" sz="13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06 · BUILD IT: CONFIRM</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Watch the tally grow</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2</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35</a:t>
            </a:r>
            <a:endParaRPr lang="en-US" sz="900" dirty="0"/>
          </a:p>
        </p:txBody>
      </p:sp>
      <p:sp>
        <p:nvSpPr>
          <p:cNvPr id="6" name="Shape 4"/>
          <p:cNvSpPr/>
          <p:nvPr/>
        </p:nvSpPr>
        <p:spPr>
          <a:xfrm>
            <a:off x="365760" y="1325880"/>
            <a:ext cx="8412480" cy="868680"/>
          </a:xfrm>
          <a:prstGeom prst="roundRect">
            <a:avLst>
              <a:gd name="adj" fmla="val 8421"/>
            </a:avLst>
          </a:prstGeom>
          <a:solidFill>
            <a:srgbClr val="0F172A"/>
          </a:solidFill>
          <a:ln w="12700">
            <a:solidFill>
              <a:srgbClr val="0F172A"/>
            </a:solidFill>
            <a:prstDash val="solid"/>
          </a:ln>
        </p:spPr>
      </p:sp>
      <p:sp>
        <p:nvSpPr>
          <p:cNvPr id="7" name="Text 5"/>
          <p:cNvSpPr txBox="1"/>
          <p:nvPr/>
        </p:nvSpPr>
        <p:spPr>
          <a:xfrm>
            <a:off x="594360" y="1325880"/>
            <a:ext cx="8092440" cy="868680"/>
          </a:xfrm>
          <a:prstGeom prst="rect">
            <a:avLst/>
          </a:prstGeom>
          <a:noFill/>
          <a:ln/>
        </p:spPr>
        <p:txBody>
          <a:bodyPr wrap="square" lIns="0" tIns="0" rIns="0" bIns="0" rtlCol="0" anchor="ctr"/>
          <a:lstStyle/>
          <a:p>
            <a:pPr indent="0" marL="0">
              <a:buNone/>
            </a:pPr>
            <a:r>
              <a:rPr lang="en-US" sz="900" b="1" dirty="0">
                <a:solidFill>
                  <a:srgbClr val="F59E0B"/>
                </a:solidFill>
                <a:latin typeface="Courier New" pitchFamily="34" charset="0"/>
                <a:ea typeface="Courier New" pitchFamily="34" charset="-122"/>
                <a:cs typeface="Courier New" pitchFamily="34" charset="-120"/>
              </a:rPr>
              <a:t>$ </a:t>
            </a:r>
            <a:pPr indent="0" marL="0">
              <a:buNone/>
            </a:pPr>
            <a:r>
              <a:rPr lang="en-US" sz="900" dirty="0">
                <a:solidFill>
                  <a:srgbClr val="E8EAED"/>
                </a:solidFill>
                <a:latin typeface="Courier New" pitchFamily="34" charset="0"/>
                <a:ea typeface="Courier New" pitchFamily="34" charset="-122"/>
                <a:cs typeface="Courier New" pitchFamily="34" charset="-120"/>
              </a:rPr>
              <a:t>python3 run_agent.py --input samples/normal.json &amp;&amp; curl -s http://localhost:8000/metrics | grep agent_cost_total</a:t>
            </a:r>
            <a:endParaRPr lang="en-US" sz="900" dirty="0"/>
          </a:p>
        </p:txBody>
      </p:sp>
      <p:sp>
        <p:nvSpPr>
          <p:cNvPr id="8" name="Text 6"/>
          <p:cNvSpPr txBox="1"/>
          <p:nvPr/>
        </p:nvSpPr>
        <p:spPr>
          <a:xfrm>
            <a:off x="457200" y="2423160"/>
            <a:ext cx="8229600" cy="457200"/>
          </a:xfrm>
          <a:prstGeom prst="rect">
            <a:avLst/>
          </a:prstGeom>
          <a:noFill/>
          <a:ln/>
        </p:spPr>
        <p:txBody>
          <a:bodyPr wrap="square" lIns="0" tIns="0" rIns="0" bIns="0" rtlCol="0" anchor="t"/>
          <a:lstStyle/>
          <a:p>
            <a:pPr indent="0" marL="0">
              <a:buNone/>
            </a:pPr>
            <a:r>
              <a:rPr lang="en-US" sz="1500" dirty="0">
                <a:solidFill>
                  <a:srgbClr val="1F2937"/>
                </a:solidFill>
                <a:latin typeface="Calibri" pitchFamily="34" charset="0"/>
                <a:ea typeface="Calibri" pitchFamily="34" charset="-122"/>
                <a:cs typeface="Calibri" pitchFamily="34" charset="-120"/>
              </a:rPr>
              <a:t>Run the agent three more times and curl it again after each one.</a:t>
            </a:r>
            <a:endParaRPr lang="en-US" sz="1500" dirty="0"/>
          </a:p>
        </p:txBody>
      </p:sp>
      <p:sp>
        <p:nvSpPr>
          <p:cNvPr id="9" name="Shape 7"/>
          <p:cNvSpPr/>
          <p:nvPr/>
        </p:nvSpPr>
        <p:spPr>
          <a:xfrm>
            <a:off x="457200" y="2971800"/>
            <a:ext cx="8229600" cy="1234440"/>
          </a:xfrm>
          <a:prstGeom prst="roundRect">
            <a:avLst>
              <a:gd name="adj" fmla="val 5926"/>
            </a:avLst>
          </a:prstGeom>
          <a:solidFill>
            <a:srgbClr val="111827"/>
          </a:solidFill>
          <a:ln w="12700">
            <a:solidFill>
              <a:srgbClr val="111827"/>
            </a:solidFill>
            <a:prstDash val="solid"/>
          </a:ln>
        </p:spPr>
      </p:sp>
      <p:sp>
        <p:nvSpPr>
          <p:cNvPr id="10" name="Text 8"/>
          <p:cNvSpPr txBox="1"/>
          <p:nvPr/>
        </p:nvSpPr>
        <p:spPr>
          <a:xfrm>
            <a:off x="731520" y="2971800"/>
            <a:ext cx="7680960" cy="1234440"/>
          </a:xfrm>
          <a:prstGeom prst="rect">
            <a:avLst/>
          </a:prstGeom>
          <a:noFill/>
          <a:ln/>
        </p:spPr>
        <p:txBody>
          <a:bodyPr wrap="square" lIns="0" tIns="0" rIns="0" bIns="0" rtlCol="0" anchor="ctr"/>
          <a:lstStyle/>
          <a:p>
            <a:pPr indent="0" marL="0">
              <a:buNone/>
            </a:pPr>
            <a:r>
              <a:rPr lang="en-US" sz="1500" b="1" dirty="0">
                <a:solidFill>
                  <a:srgbClr val="F59E0B"/>
                </a:solidFill>
                <a:latin typeface="Calibri" pitchFamily="34" charset="0"/>
                <a:ea typeface="Calibri" pitchFamily="34" charset="-122"/>
                <a:cs typeface="Calibri" pitchFamily="34" charset="-120"/>
              </a:rPr>
              <a:t>Watch the number grow rather than reset. </a:t>
            </a:r>
            <a:endParaRPr lang="en-US" sz="1500" dirty="0"/>
          </a:p>
          <a:p>
            <a:pPr indent="0" marL="0">
              <a:buNone/>
            </a:pPr>
            <a:r>
              <a:rPr lang="en-US" sz="1500" dirty="0">
                <a:solidFill>
                  <a:srgbClr val="FFFFFF"/>
                </a:solidFill>
                <a:latin typeface="Calibri" pitchFamily="34" charset="0"/>
                <a:ea typeface="Calibri" pitchFamily="34" charset="-122"/>
                <a:cs typeface="Calibri" pitchFamily="34" charset="-120"/>
              </a:rPr>
              <a:t>That is the tally behaving exactly as it should; and it is why you can measure any window you like later.</a:t>
            </a:r>
            <a:endParaRPr lang="en-US" sz="15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RECAP</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What changed; and what didn't</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2</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36</a:t>
            </a:r>
            <a:endParaRPr lang="en-US" sz="900" dirty="0"/>
          </a:p>
        </p:txBody>
      </p:sp>
      <p:sp>
        <p:nvSpPr>
          <p:cNvPr id="6" name="Shape 4"/>
          <p:cNvSpPr/>
          <p:nvPr/>
        </p:nvSpPr>
        <p:spPr>
          <a:xfrm>
            <a:off x="457200" y="1325880"/>
            <a:ext cx="4023360" cy="2926080"/>
          </a:xfrm>
          <a:prstGeom prst="roundRect">
            <a:avLst>
              <a:gd name="adj" fmla="val 2500"/>
            </a:avLst>
          </a:prstGeom>
          <a:solidFill>
            <a:srgbClr val="ECFDF5"/>
          </a:solidFill>
          <a:ln w="12700">
            <a:solidFill>
              <a:srgbClr val="ECFDF5"/>
            </a:solidFill>
            <a:prstDash val="solid"/>
          </a:ln>
        </p:spPr>
      </p:sp>
      <p:sp>
        <p:nvSpPr>
          <p:cNvPr id="7" name="Text 5"/>
          <p:cNvSpPr txBox="1"/>
          <p:nvPr/>
        </p:nvSpPr>
        <p:spPr>
          <a:xfrm>
            <a:off x="731520" y="1508760"/>
            <a:ext cx="3474720" cy="274320"/>
          </a:xfrm>
          <a:prstGeom prst="rect">
            <a:avLst/>
          </a:prstGeom>
          <a:noFill/>
          <a:ln/>
        </p:spPr>
        <p:txBody>
          <a:bodyPr wrap="square" lIns="0" tIns="0" rIns="0" bIns="0" rtlCol="0" anchor="t"/>
          <a:lstStyle/>
          <a:p>
            <a:pPr indent="0" marL="0">
              <a:buNone/>
            </a:pPr>
            <a:r>
              <a:rPr lang="en-US" sz="1000" b="1" spc="200" kern="0" dirty="0">
                <a:solidFill>
                  <a:srgbClr val="047857"/>
                </a:solidFill>
                <a:latin typeface="Calibri" pitchFamily="34" charset="0"/>
                <a:ea typeface="Calibri" pitchFamily="34" charset="-122"/>
                <a:cs typeface="Calibri" pitchFamily="34" charset="-120"/>
              </a:rPr>
              <a:t>WHAT CHANGED</a:t>
            </a:r>
            <a:endParaRPr lang="en-US" sz="1000" dirty="0"/>
          </a:p>
        </p:txBody>
      </p:sp>
      <p:sp>
        <p:nvSpPr>
          <p:cNvPr id="8" name="Text 6"/>
          <p:cNvSpPr txBox="1"/>
          <p:nvPr/>
        </p:nvSpPr>
        <p:spPr>
          <a:xfrm>
            <a:off x="731520" y="1874520"/>
            <a:ext cx="3520440" cy="21945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F2937"/>
                </a:solidFill>
                <a:latin typeface="Calibri" pitchFamily="34" charset="0"/>
                <a:ea typeface="Calibri" pitchFamily="34" charset="-122"/>
                <a:cs typeface="Calibri" pitchFamily="34" charset="-120"/>
              </a:rPr>
              <a:t>Every model call writes a receipt</a:t>
            </a:r>
            <a:endParaRPr lang="en-US" sz="1300" dirty="0"/>
          </a:p>
          <a:p>
            <a:pPr marL="342900" indent="-342900">
              <a:spcAft>
                <a:spcPts val="800"/>
              </a:spcAft>
              <a:buSzPct val="100000"/>
              <a:buChar char="•"/>
            </a:pPr>
            <a:r>
              <a:rPr lang="en-US" sz="1300" dirty="0">
                <a:solidFill>
                  <a:srgbClr val="1F2937"/>
                </a:solidFill>
                <a:latin typeface="Calibri" pitchFamily="34" charset="0"/>
                <a:ea typeface="Calibri" pitchFamily="34" charset="-122"/>
                <a:cs typeface="Calibri" pitchFamily="34" charset="-120"/>
              </a:rPr>
              <a:t>The receipt carries cost and tokens</a:t>
            </a:r>
            <a:endParaRPr lang="en-US" sz="1300" dirty="0"/>
          </a:p>
          <a:p>
            <a:pPr marL="342900" indent="-342900">
              <a:spcAft>
                <a:spcPts val="800"/>
              </a:spcAft>
              <a:buSzPct val="100000"/>
              <a:buChar char="•"/>
            </a:pPr>
            <a:r>
              <a:rPr lang="en-US" sz="1300" dirty="0">
                <a:solidFill>
                  <a:srgbClr val="1F2937"/>
                </a:solidFill>
                <a:latin typeface="Calibri" pitchFamily="34" charset="0"/>
                <a:ea typeface="Calibri" pitchFamily="34" charset="-122"/>
                <a:cs typeface="Calibri" pitchFamily="34" charset="-120"/>
              </a:rPr>
              <a:t>Four labels: agent, team, run, result</a:t>
            </a:r>
            <a:endParaRPr lang="en-US" sz="1300" dirty="0"/>
          </a:p>
          <a:p>
            <a:pPr marL="342900" indent="-342900">
              <a:spcAft>
                <a:spcPts val="800"/>
              </a:spcAft>
              <a:buSzPct val="100000"/>
              <a:buChar char="•"/>
            </a:pPr>
            <a:r>
              <a:rPr lang="en-US" sz="1300" dirty="0">
                <a:solidFill>
                  <a:srgbClr val="1F2937"/>
                </a:solidFill>
                <a:latin typeface="Calibri" pitchFamily="34" charset="0"/>
                <a:ea typeface="Calibri" pitchFamily="34" charset="-122"/>
                <a:cs typeface="Calibri" pitchFamily="34" charset="-120"/>
              </a:rPr>
              <a:t>The receipts add up into tallies a monitoring system can read</a:t>
            </a:r>
            <a:endParaRPr lang="en-US" sz="1300" dirty="0"/>
          </a:p>
        </p:txBody>
      </p:sp>
      <p:sp>
        <p:nvSpPr>
          <p:cNvPr id="9" name="Shape 7"/>
          <p:cNvSpPr/>
          <p:nvPr/>
        </p:nvSpPr>
        <p:spPr>
          <a:xfrm>
            <a:off x="4663440" y="1325880"/>
            <a:ext cx="4023360" cy="2926080"/>
          </a:xfrm>
          <a:prstGeom prst="roundRect">
            <a:avLst>
              <a:gd name="adj" fmla="val 2500"/>
            </a:avLst>
          </a:prstGeom>
          <a:solidFill>
            <a:srgbClr val="F3F4F6"/>
          </a:solidFill>
          <a:ln w="12700">
            <a:solidFill>
              <a:srgbClr val="F3F4F6"/>
            </a:solidFill>
            <a:prstDash val="solid"/>
          </a:ln>
        </p:spPr>
      </p:sp>
      <p:sp>
        <p:nvSpPr>
          <p:cNvPr id="10" name="Text 8"/>
          <p:cNvSpPr txBox="1"/>
          <p:nvPr/>
        </p:nvSpPr>
        <p:spPr>
          <a:xfrm>
            <a:off x="4937760" y="1508760"/>
            <a:ext cx="3474720" cy="274320"/>
          </a:xfrm>
          <a:prstGeom prst="rect">
            <a:avLst/>
          </a:prstGeom>
          <a:noFill/>
          <a:ln/>
        </p:spPr>
        <p:txBody>
          <a:bodyPr wrap="square" lIns="0" tIns="0" rIns="0" bIns="0" rtlCol="0" anchor="t"/>
          <a:lstStyle/>
          <a:p>
            <a:pPr indent="0" marL="0">
              <a:buNone/>
            </a:pPr>
            <a:r>
              <a:rPr lang="en-US" sz="1000" b="1" spc="200" kern="0" dirty="0">
                <a:solidFill>
                  <a:srgbClr val="6B7280"/>
                </a:solidFill>
                <a:latin typeface="Calibri" pitchFamily="34" charset="0"/>
                <a:ea typeface="Calibri" pitchFamily="34" charset="-122"/>
                <a:cs typeface="Calibri" pitchFamily="34" charset="-120"/>
              </a:rPr>
              <a:t>WHAT DID NOT</a:t>
            </a:r>
            <a:endParaRPr lang="en-US" sz="1000" dirty="0"/>
          </a:p>
        </p:txBody>
      </p:sp>
      <p:sp>
        <p:nvSpPr>
          <p:cNvPr id="11" name="Text 9"/>
          <p:cNvSpPr txBox="1"/>
          <p:nvPr/>
        </p:nvSpPr>
        <p:spPr>
          <a:xfrm>
            <a:off x="4937760" y="1874520"/>
            <a:ext cx="3520440" cy="219456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rgbClr val="1F2937"/>
                </a:solidFill>
                <a:latin typeface="Calibri" pitchFamily="34" charset="0"/>
                <a:ea typeface="Calibri" pitchFamily="34" charset="-122"/>
                <a:cs typeface="Calibri" pitchFamily="34" charset="-120"/>
              </a:rPr>
              <a:t>Your agent's behaviour: unchanged</a:t>
            </a:r>
            <a:endParaRPr lang="en-US" sz="1300" dirty="0"/>
          </a:p>
          <a:p>
            <a:pPr marL="342900" indent="-342900">
              <a:spcAft>
                <a:spcPts val="800"/>
              </a:spcAft>
              <a:buSzPct val="100000"/>
              <a:buChar char="•"/>
            </a:pPr>
            <a:r>
              <a:rPr lang="en-US" sz="1300" dirty="0">
                <a:solidFill>
                  <a:srgbClr val="1F2937"/>
                </a:solidFill>
                <a:latin typeface="Calibri" pitchFamily="34" charset="0"/>
                <a:ea typeface="Calibri" pitchFamily="34" charset="-122"/>
                <a:cs typeface="Calibri" pitchFamily="34" charset="-120"/>
              </a:rPr>
              <a:t>Nothing is limited</a:t>
            </a:r>
            <a:endParaRPr lang="en-US" sz="1300" dirty="0"/>
          </a:p>
          <a:p>
            <a:pPr marL="342900" indent="-342900">
              <a:spcAft>
                <a:spcPts val="800"/>
              </a:spcAft>
              <a:buSzPct val="100000"/>
              <a:buChar char="•"/>
            </a:pPr>
            <a:r>
              <a:rPr lang="en-US" sz="1300" dirty="0">
                <a:solidFill>
                  <a:srgbClr val="1F2937"/>
                </a:solidFill>
                <a:latin typeface="Calibri" pitchFamily="34" charset="0"/>
                <a:ea typeface="Calibri" pitchFamily="34" charset="-122"/>
                <a:cs typeface="Calibri" pitchFamily="34" charset="-120"/>
              </a:rPr>
              <a:t>It can still run away overnight, exactly as in module one</a:t>
            </a:r>
            <a:endParaRPr lang="en-US" sz="1300" dirty="0"/>
          </a:p>
        </p:txBody>
      </p:sp>
      <p:sp>
        <p:nvSpPr>
          <p:cNvPr id="12" name="Text 10"/>
          <p:cNvSpPr txBox="1"/>
          <p:nvPr/>
        </p:nvSpPr>
        <p:spPr>
          <a:xfrm>
            <a:off x="457200" y="4343400"/>
            <a:ext cx="8229600" cy="365760"/>
          </a:xfrm>
          <a:prstGeom prst="rect">
            <a:avLst/>
          </a:prstGeom>
          <a:noFill/>
          <a:ln/>
        </p:spPr>
        <p:txBody>
          <a:bodyPr wrap="square" lIns="0" tIns="0" rIns="0" bIns="0" rtlCol="0" anchor="t"/>
          <a:lstStyle/>
          <a:p>
            <a:pPr indent="0" marL="0">
              <a:buNone/>
            </a:pPr>
            <a:r>
              <a:rPr lang="en-US" sz="1300" i="1" dirty="0">
                <a:solidFill>
                  <a:srgbClr val="6B7280"/>
                </a:solidFill>
                <a:latin typeface="Calibri" pitchFamily="34" charset="0"/>
                <a:ea typeface="Calibri" pitchFamily="34" charset="-122"/>
                <a:cs typeface="Calibri" pitchFamily="34" charset="-120"/>
              </a:rPr>
              <a:t>In module one you had one number and a shrug.</a:t>
            </a:r>
            <a:endParaRPr lang="en-US" sz="13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111827"/>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F59E0B"/>
                </a:solidFill>
                <a:latin typeface="Calibri" pitchFamily="34" charset="0"/>
                <a:ea typeface="Calibri" pitchFamily="34" charset="-122"/>
                <a:cs typeface="Calibri" pitchFamily="34" charset="-120"/>
              </a:rPr>
              <a:t>BEFORE MODULE 3</a:t>
            </a:r>
            <a:endParaRPr lang="en-US" sz="1000" dirty="0"/>
          </a:p>
        </p:txBody>
      </p:sp>
      <p:sp>
        <p:nvSpPr>
          <p:cNvPr id="3" name="Text 1"/>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6B7280"/>
                </a:solidFill>
                <a:latin typeface="Calibri" pitchFamily="34" charset="0"/>
                <a:ea typeface="Calibri" pitchFamily="34" charset="-122"/>
                <a:cs typeface="Calibri" pitchFamily="34" charset="-120"/>
              </a:rPr>
              <a:t>Agent Cost Control · Module 2</a:t>
            </a:r>
            <a:endParaRPr lang="en-US" sz="900" dirty="0"/>
          </a:p>
        </p:txBody>
      </p:sp>
      <p:sp>
        <p:nvSpPr>
          <p:cNvPr id="4" name="Text 2"/>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6B7280"/>
                </a:solidFill>
                <a:latin typeface="Calibri" pitchFamily="34" charset="0"/>
                <a:ea typeface="Calibri" pitchFamily="34" charset="-122"/>
                <a:cs typeface="Calibri" pitchFamily="34" charset="-120"/>
              </a:rPr>
              <a:t>37</a:t>
            </a:r>
            <a:endParaRPr lang="en-US" sz="900" dirty="0"/>
          </a:p>
        </p:txBody>
      </p:sp>
      <p:sp>
        <p:nvSpPr>
          <p:cNvPr id="5" name="Text 3"/>
          <p:cNvSpPr txBox="1"/>
          <p:nvPr/>
        </p:nvSpPr>
        <p:spPr>
          <a:xfrm>
            <a:off x="457200" y="1005840"/>
            <a:ext cx="7955280" cy="1005840"/>
          </a:xfrm>
          <a:prstGeom prst="rect">
            <a:avLst/>
          </a:prstGeom>
          <a:noFill/>
          <a:ln/>
        </p:spPr>
        <p:txBody>
          <a:bodyPr wrap="square" lIns="0" tIns="0" rIns="0" bIns="0" rtlCol="0" anchor="t"/>
          <a:lstStyle/>
          <a:p>
            <a:pPr indent="0" marL="0">
              <a:buNone/>
            </a:pPr>
            <a:r>
              <a:rPr lang="en-US" sz="1800" dirty="0">
                <a:solidFill>
                  <a:srgbClr val="9CA3AF"/>
                </a:solidFill>
                <a:latin typeface="Calibri" pitchFamily="34" charset="0"/>
                <a:ea typeface="Calibri" pitchFamily="34" charset="-122"/>
                <a:cs typeface="Calibri" pitchFamily="34" charset="-120"/>
              </a:rPr>
              <a:t>If it ran away tonight, tomorrow morning you could say exactly which agent, which team, how many runs, and what each one cost.</a:t>
            </a:r>
            <a:endParaRPr lang="en-US" sz="1800" dirty="0"/>
          </a:p>
        </p:txBody>
      </p:sp>
      <p:sp>
        <p:nvSpPr>
          <p:cNvPr id="6" name="Text 4"/>
          <p:cNvSpPr txBox="1"/>
          <p:nvPr/>
        </p:nvSpPr>
        <p:spPr>
          <a:xfrm>
            <a:off x="457200" y="2148840"/>
            <a:ext cx="8229600" cy="731520"/>
          </a:xfrm>
          <a:prstGeom prst="rect">
            <a:avLst/>
          </a:prstGeom>
          <a:noFill/>
          <a:ln/>
        </p:spPr>
        <p:txBody>
          <a:bodyPr wrap="square" lIns="0" tIns="0" rIns="0" bIns="0" rtlCol="0" anchor="t"/>
          <a:lstStyle/>
          <a:p>
            <a:pPr indent="0" marL="0">
              <a:buNone/>
            </a:pPr>
            <a:r>
              <a:rPr lang="en-US" sz="4000" b="1" dirty="0">
                <a:solidFill>
                  <a:srgbClr val="FFFFFF"/>
                </a:solidFill>
                <a:latin typeface="Cambria" pitchFamily="34" charset="0"/>
                <a:ea typeface="Cambria" pitchFamily="34" charset="-122"/>
                <a:cs typeface="Cambria" pitchFamily="34" charset="-120"/>
              </a:rPr>
              <a:t>Instrument the runaway.</a:t>
            </a:r>
            <a:endParaRPr lang="en-US" sz="4000" dirty="0"/>
          </a:p>
        </p:txBody>
      </p:sp>
      <p:sp>
        <p:nvSpPr>
          <p:cNvPr id="7" name="Text 5"/>
          <p:cNvSpPr txBox="1"/>
          <p:nvPr/>
        </p:nvSpPr>
        <p:spPr>
          <a:xfrm>
            <a:off x="457200" y="3017520"/>
            <a:ext cx="7772400" cy="914400"/>
          </a:xfrm>
          <a:prstGeom prst="rect">
            <a:avLst/>
          </a:prstGeom>
          <a:noFill/>
          <a:ln/>
        </p:spPr>
        <p:txBody>
          <a:bodyPr wrap="square" lIns="0" tIns="0" rIns="0" bIns="0" rtlCol="0" anchor="t"/>
          <a:lstStyle/>
          <a:p>
            <a:pPr indent="0" marL="0">
              <a:buNone/>
            </a:pPr>
            <a:r>
              <a:rPr lang="en-US" sz="1500" dirty="0">
                <a:solidFill>
                  <a:srgbClr val="9CA3AF"/>
                </a:solidFill>
                <a:latin typeface="Calibri" pitchFamily="34" charset="0"/>
                <a:ea typeface="Calibri" pitchFamily="34" charset="-122"/>
                <a:cs typeface="Calibri" pitchFamily="34" charset="-120"/>
              </a:rPr>
              <a:t>Run the malformed input again, under a timeout, with your new instrumentation switched on. Then watch the cost climb in real time, with your own labels on it.</a:t>
            </a:r>
            <a:endParaRPr lang="en-US" sz="1500" dirty="0"/>
          </a:p>
        </p:txBody>
      </p:sp>
      <p:sp>
        <p:nvSpPr>
          <p:cNvPr id="8" name="Text 6"/>
          <p:cNvSpPr txBox="1"/>
          <p:nvPr/>
        </p:nvSpPr>
        <p:spPr>
          <a:xfrm>
            <a:off x="457200" y="3977640"/>
            <a:ext cx="7772400" cy="457200"/>
          </a:xfrm>
          <a:prstGeom prst="rect">
            <a:avLst/>
          </a:prstGeom>
          <a:noFill/>
          <a:ln/>
        </p:spPr>
        <p:txBody>
          <a:bodyPr wrap="square" lIns="0" tIns="0" rIns="0" bIns="0" rtlCol="0" anchor="t"/>
          <a:lstStyle/>
          <a:p>
            <a:pPr indent="0" marL="0">
              <a:buNone/>
            </a:pPr>
            <a:r>
              <a:rPr lang="en-US" sz="1400" i="1" dirty="0">
                <a:solidFill>
                  <a:srgbClr val="F59E0B"/>
                </a:solidFill>
                <a:latin typeface="Calibri" pitchFamily="34" charset="0"/>
                <a:ea typeface="Calibri" pitchFamily="34" charset="-122"/>
                <a:cs typeface="Calibri" pitchFamily="34" charset="-120"/>
              </a:rPr>
              <a:t>That is the moment most people feel this rather than just understand it.</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111827"/>
        </a:solidFill>
      </p:bgPr>
    </p:bg>
    <p:spTree>
      <p:nvGrpSpPr>
        <p:cNvPr id="1" name=""/>
        <p:cNvGrpSpPr/>
        <p:nvPr/>
      </p:nvGrpSpPr>
      <p:grpSpPr>
        <a:xfrm>
          <a:off x="0" y="0"/>
          <a:ext cx="0" cy="0"/>
          <a:chOff x="0" y="0"/>
          <a:chExt cx="0" cy="0"/>
        </a:xfrm>
      </p:grpSpPr>
      <p:sp>
        <p:nvSpPr>
          <p:cNvPr id="2" name="Text 0"/>
          <p:cNvSpPr txBox="1"/>
          <p:nvPr/>
        </p:nvSpPr>
        <p:spPr>
          <a:xfrm>
            <a:off x="548640" y="1097280"/>
            <a:ext cx="5486400" cy="274320"/>
          </a:xfrm>
          <a:prstGeom prst="rect">
            <a:avLst/>
          </a:prstGeom>
          <a:noFill/>
          <a:ln/>
        </p:spPr>
        <p:txBody>
          <a:bodyPr wrap="square" lIns="0" tIns="0" rIns="0" bIns="0" rtlCol="0" anchor="t"/>
          <a:lstStyle/>
          <a:p>
            <a:pPr indent="0" marL="0">
              <a:buNone/>
            </a:pPr>
            <a:r>
              <a:rPr lang="en-US" sz="1100" b="1" spc="300" kern="0" dirty="0">
                <a:solidFill>
                  <a:srgbClr val="F59E0B"/>
                </a:solidFill>
                <a:latin typeface="Calibri" pitchFamily="34" charset="0"/>
                <a:ea typeface="Calibri" pitchFamily="34" charset="-122"/>
                <a:cs typeface="Calibri" pitchFamily="34" charset="-120"/>
              </a:rPr>
              <a:t>NEXT · MODULE 3 OF 6</a:t>
            </a:r>
            <a:endParaRPr lang="en-US" sz="1100" dirty="0"/>
          </a:p>
        </p:txBody>
      </p:sp>
      <p:sp>
        <p:nvSpPr>
          <p:cNvPr id="3" name="Text 1"/>
          <p:cNvSpPr txBox="1"/>
          <p:nvPr/>
        </p:nvSpPr>
        <p:spPr>
          <a:xfrm>
            <a:off x="548640" y="1463040"/>
            <a:ext cx="7772400" cy="914400"/>
          </a:xfrm>
          <a:prstGeom prst="rect">
            <a:avLst/>
          </a:prstGeom>
          <a:noFill/>
          <a:ln/>
        </p:spPr>
        <p:txBody>
          <a:bodyPr wrap="square" lIns="0" tIns="0" rIns="0" bIns="0" rtlCol="0" anchor="t"/>
          <a:lstStyle/>
          <a:p>
            <a:pPr indent="0" marL="0">
              <a:buNone/>
            </a:pPr>
            <a:r>
              <a:rPr lang="en-US" sz="4800" b="1" dirty="0">
                <a:solidFill>
                  <a:srgbClr val="FFFFFF"/>
                </a:solidFill>
                <a:latin typeface="Cambria" pitchFamily="34" charset="0"/>
                <a:ea typeface="Cambria" pitchFamily="34" charset="-122"/>
                <a:cs typeface="Cambria" pitchFamily="34" charset="-120"/>
              </a:rPr>
              <a:t>Stop it.</a:t>
            </a:r>
            <a:endParaRPr lang="en-US" sz="4800" dirty="0"/>
          </a:p>
        </p:txBody>
      </p:sp>
      <p:sp>
        <p:nvSpPr>
          <p:cNvPr id="4" name="Text 2"/>
          <p:cNvSpPr txBox="1"/>
          <p:nvPr/>
        </p:nvSpPr>
        <p:spPr>
          <a:xfrm>
            <a:off x="548640" y="2514600"/>
            <a:ext cx="7132320" cy="822960"/>
          </a:xfrm>
          <a:prstGeom prst="rect">
            <a:avLst/>
          </a:prstGeom>
          <a:noFill/>
          <a:ln/>
        </p:spPr>
        <p:txBody>
          <a:bodyPr wrap="square" lIns="0" tIns="0" rIns="0" bIns="0" rtlCol="0" anchor="t"/>
          <a:lstStyle/>
          <a:p>
            <a:pPr indent="0" marL="0">
              <a:buNone/>
            </a:pPr>
            <a:r>
              <a:rPr lang="en-US" sz="1800" dirty="0">
                <a:solidFill>
                  <a:srgbClr val="9CA3AF"/>
                </a:solidFill>
                <a:latin typeface="Calibri" pitchFamily="34" charset="0"/>
                <a:ea typeface="Calibri" pitchFamily="34" charset="-122"/>
                <a:cs typeface="Calibri" pitchFamily="34" charset="-120"/>
              </a:rPr>
              <a:t>Budget caps and kill switches: a hard limit that fires by itself at three in the morning without waking anyone.</a:t>
            </a:r>
            <a:endParaRPr lang="en-US" sz="1800" dirty="0"/>
          </a:p>
        </p:txBody>
      </p:sp>
      <p:sp>
        <p:nvSpPr>
          <p:cNvPr id="5" name="Text 3"/>
          <p:cNvSpPr txBox="1"/>
          <p:nvPr/>
        </p:nvSpPr>
        <p:spPr>
          <a:xfrm>
            <a:off x="548640" y="3931920"/>
            <a:ext cx="5486400" cy="365760"/>
          </a:xfrm>
          <a:prstGeom prst="rect">
            <a:avLst/>
          </a:prstGeom>
          <a:noFill/>
          <a:ln/>
        </p:spPr>
        <p:txBody>
          <a:bodyPr wrap="square" lIns="0" tIns="0" rIns="0" bIns="0" rtlCol="0" anchor="t"/>
          <a:lstStyle/>
          <a:p>
            <a:pPr indent="0" marL="0">
              <a:buNone/>
            </a:pPr>
            <a:r>
              <a:rPr lang="en-US" sz="1600" i="1" dirty="0">
                <a:solidFill>
                  <a:srgbClr val="F59E0B"/>
                </a:solidFill>
                <a:latin typeface="Cambria" pitchFamily="34" charset="0"/>
                <a:ea typeface="Cambria" pitchFamily="34" charset="-122"/>
                <a:cs typeface="Cambria" pitchFamily="34" charset="-120"/>
              </a:rPr>
              <a:t>Receipts  ·  Labels  ·  Tallies</a:t>
            </a:r>
            <a:endParaRPr lang="en-US" sz="1600" dirty="0"/>
          </a:p>
        </p:txBody>
      </p:sp>
      <p:sp>
        <p:nvSpPr>
          <p:cNvPr id="6" name="Text 4"/>
          <p:cNvSpPr txBox="1"/>
          <p:nvPr/>
        </p:nvSpPr>
        <p:spPr>
          <a:xfrm>
            <a:off x="548640" y="4343400"/>
            <a:ext cx="7315200" cy="274320"/>
          </a:xfrm>
          <a:prstGeom prst="rect">
            <a:avLst/>
          </a:prstGeom>
          <a:noFill/>
          <a:ln/>
        </p:spPr>
        <p:txBody>
          <a:bodyPr wrap="square" lIns="0" tIns="0" rIns="0" bIns="0" rtlCol="0" anchor="t"/>
          <a:lstStyle/>
          <a:p>
            <a:pPr indent="0" marL="0">
              <a:buNone/>
            </a:pPr>
            <a:r>
              <a:rPr lang="en-US" sz="1100" dirty="0">
                <a:solidFill>
                  <a:srgbClr val="6B7280"/>
                </a:solidFill>
                <a:latin typeface="Calibri" pitchFamily="34" charset="0"/>
                <a:ea typeface="Calibri" pitchFamily="34" charset="-122"/>
                <a:cs typeface="Calibri" pitchFamily="34" charset="-120"/>
              </a:rPr>
              <a:t>Emmanuel Naweji  ·  github.com/Here2ServeU/agent-cost-control</a:t>
            </a:r>
            <a:endParaRPr lang="en-US" sz="11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APPENDIX A</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Exercises: do these before Module 3</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2</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39</a:t>
            </a:r>
            <a:endParaRPr lang="en-US" sz="900" dirty="0"/>
          </a:p>
        </p:txBody>
      </p:sp>
      <p:sp>
        <p:nvSpPr>
          <p:cNvPr id="6" name="Shape 4"/>
          <p:cNvSpPr/>
          <p:nvPr/>
        </p:nvSpPr>
        <p:spPr>
          <a:xfrm>
            <a:off x="457200" y="1371600"/>
            <a:ext cx="1554480" cy="1463040"/>
          </a:xfrm>
          <a:prstGeom prst="roundRect">
            <a:avLst>
              <a:gd name="adj" fmla="val 5000"/>
            </a:avLst>
          </a:prstGeom>
          <a:solidFill>
            <a:srgbClr val="F3F4F6"/>
          </a:solidFill>
          <a:ln w="12700">
            <a:solidFill>
              <a:srgbClr val="F3F4F6"/>
            </a:solidFill>
            <a:prstDash val="solid"/>
          </a:ln>
        </p:spPr>
      </p:sp>
      <p:sp>
        <p:nvSpPr>
          <p:cNvPr id="7" name="Text 5"/>
          <p:cNvSpPr txBox="1"/>
          <p:nvPr/>
        </p:nvSpPr>
        <p:spPr>
          <a:xfrm>
            <a:off x="594360" y="1481328"/>
            <a:ext cx="731520" cy="320040"/>
          </a:xfrm>
          <a:prstGeom prst="rect">
            <a:avLst/>
          </a:prstGeom>
          <a:noFill/>
          <a:ln/>
        </p:spPr>
        <p:txBody>
          <a:bodyPr wrap="square" lIns="0" tIns="0" rIns="0" bIns="0" rtlCol="0" anchor="t"/>
          <a:lstStyle/>
          <a:p>
            <a:pPr indent="0" marL="0">
              <a:buNone/>
            </a:pPr>
            <a:r>
              <a:rPr lang="en-US" sz="1800" b="1" dirty="0">
                <a:solidFill>
                  <a:srgbClr val="B45309"/>
                </a:solidFill>
                <a:latin typeface="Cambria" pitchFamily="34" charset="0"/>
                <a:ea typeface="Cambria" pitchFamily="34" charset="-122"/>
                <a:cs typeface="Cambria" pitchFamily="34" charset="-120"/>
              </a:rPr>
              <a:t>01</a:t>
            </a:r>
            <a:endParaRPr lang="en-US" sz="1800" dirty="0"/>
          </a:p>
        </p:txBody>
      </p:sp>
      <p:sp>
        <p:nvSpPr>
          <p:cNvPr id="8" name="Text 6"/>
          <p:cNvSpPr txBox="1"/>
          <p:nvPr/>
        </p:nvSpPr>
        <p:spPr>
          <a:xfrm>
            <a:off x="594360" y="1810512"/>
            <a:ext cx="1325880" cy="365760"/>
          </a:xfrm>
          <a:prstGeom prst="rect">
            <a:avLst/>
          </a:prstGeom>
          <a:noFill/>
          <a:ln/>
        </p:spPr>
        <p:txBody>
          <a:bodyPr wrap="square" lIns="0" tIns="0" rIns="0" bIns="0" rtlCol="0" anchor="t"/>
          <a:lstStyle/>
          <a:p>
            <a:pPr indent="0" marL="0">
              <a:buNone/>
            </a:pPr>
            <a:r>
              <a:rPr lang="en-US" sz="1100" b="1" dirty="0">
                <a:solidFill>
                  <a:srgbClr val="111827"/>
                </a:solidFill>
                <a:latin typeface="Calibri" pitchFamily="34" charset="0"/>
                <a:ea typeface="Calibri" pitchFamily="34" charset="-122"/>
                <a:cs typeface="Calibri" pitchFamily="34" charset="-120"/>
              </a:rPr>
              <a:t>Set up the venv</a:t>
            </a:r>
            <a:endParaRPr lang="en-US" sz="1100" dirty="0"/>
          </a:p>
        </p:txBody>
      </p:sp>
      <p:sp>
        <p:nvSpPr>
          <p:cNvPr id="9" name="Text 7"/>
          <p:cNvSpPr txBox="1"/>
          <p:nvPr/>
        </p:nvSpPr>
        <p:spPr>
          <a:xfrm>
            <a:off x="594360" y="2194560"/>
            <a:ext cx="1325880" cy="594360"/>
          </a:xfrm>
          <a:prstGeom prst="rect">
            <a:avLst/>
          </a:prstGeom>
          <a:noFill/>
          <a:ln/>
        </p:spPr>
        <p:txBody>
          <a:bodyPr wrap="square" lIns="0" tIns="0" rIns="0" bIns="0" rtlCol="0" anchor="t"/>
          <a:lstStyle/>
          <a:p>
            <a:pPr indent="0" marL="0">
              <a:buNone/>
            </a:pPr>
            <a:r>
              <a:rPr lang="en-US" sz="900" dirty="0">
                <a:solidFill>
                  <a:srgbClr val="6B7280"/>
                </a:solidFill>
                <a:latin typeface="Calibri" pitchFamily="34" charset="0"/>
                <a:ea typeface="Calibri" pitchFamily="34" charset="-122"/>
                <a:cs typeface="Calibri" pitchFamily="34" charset="-120"/>
              </a:rPr>
              <a:t>Create and activate .venv on your own machine; install prometheus-client inside it.</a:t>
            </a:r>
            <a:endParaRPr lang="en-US" sz="900" dirty="0"/>
          </a:p>
        </p:txBody>
      </p:sp>
      <p:sp>
        <p:nvSpPr>
          <p:cNvPr id="10" name="Shape 8"/>
          <p:cNvSpPr/>
          <p:nvPr/>
        </p:nvSpPr>
        <p:spPr>
          <a:xfrm>
            <a:off x="2130552" y="1371600"/>
            <a:ext cx="1554480" cy="1463040"/>
          </a:xfrm>
          <a:prstGeom prst="roundRect">
            <a:avLst>
              <a:gd name="adj" fmla="val 5000"/>
            </a:avLst>
          </a:prstGeom>
          <a:solidFill>
            <a:srgbClr val="F3F4F6"/>
          </a:solidFill>
          <a:ln w="12700">
            <a:solidFill>
              <a:srgbClr val="F3F4F6"/>
            </a:solidFill>
            <a:prstDash val="solid"/>
          </a:ln>
        </p:spPr>
      </p:sp>
      <p:sp>
        <p:nvSpPr>
          <p:cNvPr id="11" name="Text 9"/>
          <p:cNvSpPr txBox="1"/>
          <p:nvPr/>
        </p:nvSpPr>
        <p:spPr>
          <a:xfrm>
            <a:off x="2267712" y="1481328"/>
            <a:ext cx="731520" cy="320040"/>
          </a:xfrm>
          <a:prstGeom prst="rect">
            <a:avLst/>
          </a:prstGeom>
          <a:noFill/>
          <a:ln/>
        </p:spPr>
        <p:txBody>
          <a:bodyPr wrap="square" lIns="0" tIns="0" rIns="0" bIns="0" rtlCol="0" anchor="t"/>
          <a:lstStyle/>
          <a:p>
            <a:pPr indent="0" marL="0">
              <a:buNone/>
            </a:pPr>
            <a:r>
              <a:rPr lang="en-US" sz="1800" b="1" dirty="0">
                <a:solidFill>
                  <a:srgbClr val="B45309"/>
                </a:solidFill>
                <a:latin typeface="Cambria" pitchFamily="34" charset="0"/>
                <a:ea typeface="Cambria" pitchFamily="34" charset="-122"/>
                <a:cs typeface="Cambria" pitchFamily="34" charset="-120"/>
              </a:rPr>
              <a:t>02</a:t>
            </a:r>
            <a:endParaRPr lang="en-US" sz="1800" dirty="0"/>
          </a:p>
        </p:txBody>
      </p:sp>
      <p:sp>
        <p:nvSpPr>
          <p:cNvPr id="12" name="Text 10"/>
          <p:cNvSpPr txBox="1"/>
          <p:nvPr/>
        </p:nvSpPr>
        <p:spPr>
          <a:xfrm>
            <a:off x="2267712" y="1810512"/>
            <a:ext cx="1325880" cy="365760"/>
          </a:xfrm>
          <a:prstGeom prst="rect">
            <a:avLst/>
          </a:prstGeom>
          <a:noFill/>
          <a:ln/>
        </p:spPr>
        <p:txBody>
          <a:bodyPr wrap="square" lIns="0" tIns="0" rIns="0" bIns="0" rtlCol="0" anchor="t"/>
          <a:lstStyle/>
          <a:p>
            <a:pPr indent="0" marL="0">
              <a:buNone/>
            </a:pPr>
            <a:r>
              <a:rPr lang="en-US" sz="1100" b="1" dirty="0">
                <a:solidFill>
                  <a:srgbClr val="111827"/>
                </a:solidFill>
                <a:latin typeface="Calibri" pitchFamily="34" charset="0"/>
                <a:ea typeface="Calibri" pitchFamily="34" charset="-122"/>
                <a:cs typeface="Calibri" pitchFamily="34" charset="-120"/>
              </a:rPr>
              <a:t>Prove you are inside it</a:t>
            </a:r>
            <a:endParaRPr lang="en-US" sz="1100" dirty="0"/>
          </a:p>
        </p:txBody>
      </p:sp>
      <p:sp>
        <p:nvSpPr>
          <p:cNvPr id="13" name="Text 11"/>
          <p:cNvSpPr txBox="1"/>
          <p:nvPr/>
        </p:nvSpPr>
        <p:spPr>
          <a:xfrm>
            <a:off x="2267712" y="2194560"/>
            <a:ext cx="1325880" cy="594360"/>
          </a:xfrm>
          <a:prstGeom prst="rect">
            <a:avLst/>
          </a:prstGeom>
          <a:noFill/>
          <a:ln/>
        </p:spPr>
        <p:txBody>
          <a:bodyPr wrap="square" lIns="0" tIns="0" rIns="0" bIns="0" rtlCol="0" anchor="t"/>
          <a:lstStyle/>
          <a:p>
            <a:pPr indent="0" marL="0">
              <a:buNone/>
            </a:pPr>
            <a:r>
              <a:rPr lang="en-US" sz="900" dirty="0">
                <a:solidFill>
                  <a:srgbClr val="6B7280"/>
                </a:solidFill>
                <a:latin typeface="Calibri" pitchFamily="34" charset="0"/>
                <a:ea typeface="Calibri" pitchFamily="34" charset="-122"/>
                <a:cs typeface="Calibri" pitchFamily="34" charset="-120"/>
              </a:rPr>
              <a:t>which python on Mac, where python on Windows. The path must point into .venv.</a:t>
            </a:r>
            <a:endParaRPr lang="en-US" sz="900" dirty="0"/>
          </a:p>
        </p:txBody>
      </p:sp>
      <p:sp>
        <p:nvSpPr>
          <p:cNvPr id="14" name="Shape 12"/>
          <p:cNvSpPr/>
          <p:nvPr/>
        </p:nvSpPr>
        <p:spPr>
          <a:xfrm>
            <a:off x="3803904" y="1371600"/>
            <a:ext cx="1554480" cy="1463040"/>
          </a:xfrm>
          <a:prstGeom prst="roundRect">
            <a:avLst>
              <a:gd name="adj" fmla="val 5000"/>
            </a:avLst>
          </a:prstGeom>
          <a:solidFill>
            <a:srgbClr val="F3F4F6"/>
          </a:solidFill>
          <a:ln w="12700">
            <a:solidFill>
              <a:srgbClr val="F3F4F6"/>
            </a:solidFill>
            <a:prstDash val="solid"/>
          </a:ln>
        </p:spPr>
      </p:sp>
      <p:sp>
        <p:nvSpPr>
          <p:cNvPr id="15" name="Text 13"/>
          <p:cNvSpPr txBox="1"/>
          <p:nvPr/>
        </p:nvSpPr>
        <p:spPr>
          <a:xfrm>
            <a:off x="3941064" y="1481328"/>
            <a:ext cx="731520" cy="320040"/>
          </a:xfrm>
          <a:prstGeom prst="rect">
            <a:avLst/>
          </a:prstGeom>
          <a:noFill/>
          <a:ln/>
        </p:spPr>
        <p:txBody>
          <a:bodyPr wrap="square" lIns="0" tIns="0" rIns="0" bIns="0" rtlCol="0" anchor="t"/>
          <a:lstStyle/>
          <a:p>
            <a:pPr indent="0" marL="0">
              <a:buNone/>
            </a:pPr>
            <a:r>
              <a:rPr lang="en-US" sz="1800" b="1" dirty="0">
                <a:solidFill>
                  <a:srgbClr val="B45309"/>
                </a:solidFill>
                <a:latin typeface="Cambria" pitchFamily="34" charset="0"/>
                <a:ea typeface="Cambria" pitchFamily="34" charset="-122"/>
                <a:cs typeface="Cambria" pitchFamily="34" charset="-120"/>
              </a:rPr>
              <a:t>03</a:t>
            </a:r>
            <a:endParaRPr lang="en-US" sz="1800" dirty="0"/>
          </a:p>
        </p:txBody>
      </p:sp>
      <p:sp>
        <p:nvSpPr>
          <p:cNvPr id="16" name="Text 14"/>
          <p:cNvSpPr txBox="1"/>
          <p:nvPr/>
        </p:nvSpPr>
        <p:spPr>
          <a:xfrm>
            <a:off x="3941064" y="1810512"/>
            <a:ext cx="1325880" cy="365760"/>
          </a:xfrm>
          <a:prstGeom prst="rect">
            <a:avLst/>
          </a:prstGeom>
          <a:noFill/>
          <a:ln/>
        </p:spPr>
        <p:txBody>
          <a:bodyPr wrap="square" lIns="0" tIns="0" rIns="0" bIns="0" rtlCol="0" anchor="t"/>
          <a:lstStyle/>
          <a:p>
            <a:pPr indent="0" marL="0">
              <a:buNone/>
            </a:pPr>
            <a:r>
              <a:rPr lang="en-US" sz="1100" b="1" dirty="0">
                <a:solidFill>
                  <a:srgbClr val="111827"/>
                </a:solidFill>
                <a:latin typeface="Calibri" pitchFamily="34" charset="0"/>
                <a:ea typeface="Calibri" pitchFamily="34" charset="-122"/>
                <a:cs typeface="Calibri" pitchFamily="34" charset="-120"/>
              </a:rPr>
              <a:t>Find the receipt</a:t>
            </a:r>
            <a:endParaRPr lang="en-US" sz="1100" dirty="0"/>
          </a:p>
        </p:txBody>
      </p:sp>
      <p:sp>
        <p:nvSpPr>
          <p:cNvPr id="17" name="Text 15"/>
          <p:cNvSpPr txBox="1"/>
          <p:nvPr/>
        </p:nvSpPr>
        <p:spPr>
          <a:xfrm>
            <a:off x="3941064" y="2194560"/>
            <a:ext cx="1325880" cy="594360"/>
          </a:xfrm>
          <a:prstGeom prst="rect">
            <a:avLst/>
          </a:prstGeom>
          <a:noFill/>
          <a:ln/>
        </p:spPr>
        <p:txBody>
          <a:bodyPr wrap="square" lIns="0" tIns="0" rIns="0" bIns="0" rtlCol="0" anchor="t"/>
          <a:lstStyle/>
          <a:p>
            <a:pPr indent="0" marL="0">
              <a:buNone/>
            </a:pPr>
            <a:r>
              <a:rPr lang="en-US" sz="900" dirty="0">
                <a:solidFill>
                  <a:srgbClr val="6B7280"/>
                </a:solidFill>
                <a:latin typeface="Calibri" pitchFamily="34" charset="0"/>
                <a:ea typeface="Calibri" pitchFamily="34" charset="-122"/>
                <a:cs typeface="Calibri" pitchFamily="34" charset="-120"/>
              </a:rPr>
              <a:t>Print a whole response object and find the usage block with your own eyes.</a:t>
            </a:r>
            <a:endParaRPr lang="en-US" sz="900" dirty="0"/>
          </a:p>
        </p:txBody>
      </p:sp>
      <p:sp>
        <p:nvSpPr>
          <p:cNvPr id="18" name="Shape 16"/>
          <p:cNvSpPr/>
          <p:nvPr/>
        </p:nvSpPr>
        <p:spPr>
          <a:xfrm>
            <a:off x="5477256" y="1371600"/>
            <a:ext cx="1554480" cy="1463040"/>
          </a:xfrm>
          <a:prstGeom prst="roundRect">
            <a:avLst>
              <a:gd name="adj" fmla="val 5000"/>
            </a:avLst>
          </a:prstGeom>
          <a:solidFill>
            <a:srgbClr val="F3F4F6"/>
          </a:solidFill>
          <a:ln w="12700">
            <a:solidFill>
              <a:srgbClr val="F3F4F6"/>
            </a:solidFill>
            <a:prstDash val="solid"/>
          </a:ln>
        </p:spPr>
      </p:sp>
      <p:sp>
        <p:nvSpPr>
          <p:cNvPr id="19" name="Text 17"/>
          <p:cNvSpPr txBox="1"/>
          <p:nvPr/>
        </p:nvSpPr>
        <p:spPr>
          <a:xfrm>
            <a:off x="5614416" y="1481328"/>
            <a:ext cx="731520" cy="320040"/>
          </a:xfrm>
          <a:prstGeom prst="rect">
            <a:avLst/>
          </a:prstGeom>
          <a:noFill/>
          <a:ln/>
        </p:spPr>
        <p:txBody>
          <a:bodyPr wrap="square" lIns="0" tIns="0" rIns="0" bIns="0" rtlCol="0" anchor="t"/>
          <a:lstStyle/>
          <a:p>
            <a:pPr indent="0" marL="0">
              <a:buNone/>
            </a:pPr>
            <a:r>
              <a:rPr lang="en-US" sz="1800" b="1" dirty="0">
                <a:solidFill>
                  <a:srgbClr val="B45309"/>
                </a:solidFill>
                <a:latin typeface="Cambria" pitchFamily="34" charset="0"/>
                <a:ea typeface="Cambria" pitchFamily="34" charset="-122"/>
                <a:cs typeface="Cambria" pitchFamily="34" charset="-120"/>
              </a:rPr>
              <a:t>04</a:t>
            </a:r>
            <a:endParaRPr lang="en-US" sz="1800" dirty="0"/>
          </a:p>
        </p:txBody>
      </p:sp>
      <p:sp>
        <p:nvSpPr>
          <p:cNvPr id="20" name="Text 18"/>
          <p:cNvSpPr txBox="1"/>
          <p:nvPr/>
        </p:nvSpPr>
        <p:spPr>
          <a:xfrm>
            <a:off x="5614416" y="1810512"/>
            <a:ext cx="1325880" cy="365760"/>
          </a:xfrm>
          <a:prstGeom prst="rect">
            <a:avLst/>
          </a:prstGeom>
          <a:noFill/>
          <a:ln/>
        </p:spPr>
        <p:txBody>
          <a:bodyPr wrap="square" lIns="0" tIns="0" rIns="0" bIns="0" rtlCol="0" anchor="t"/>
          <a:lstStyle/>
          <a:p>
            <a:pPr indent="0" marL="0">
              <a:buNone/>
            </a:pPr>
            <a:r>
              <a:rPr lang="en-US" sz="1100" b="1" dirty="0">
                <a:solidFill>
                  <a:srgbClr val="111827"/>
                </a:solidFill>
                <a:latin typeface="Calibri" pitchFamily="34" charset="0"/>
                <a:ea typeface="Calibri" pitchFamily="34" charset="-122"/>
                <a:cs typeface="Calibri" pitchFamily="34" charset="-120"/>
              </a:rPr>
              <a:t>Build the envelope</a:t>
            </a:r>
            <a:endParaRPr lang="en-US" sz="1100" dirty="0"/>
          </a:p>
        </p:txBody>
      </p:sp>
      <p:sp>
        <p:nvSpPr>
          <p:cNvPr id="21" name="Text 19"/>
          <p:cNvSpPr txBox="1"/>
          <p:nvPr/>
        </p:nvSpPr>
        <p:spPr>
          <a:xfrm>
            <a:off x="5614416" y="2194560"/>
            <a:ext cx="1325880" cy="594360"/>
          </a:xfrm>
          <a:prstGeom prst="rect">
            <a:avLst/>
          </a:prstGeom>
          <a:noFill/>
          <a:ln/>
        </p:spPr>
        <p:txBody>
          <a:bodyPr wrap="square" lIns="0" tIns="0" rIns="0" bIns="0" rtlCol="0" anchor="t"/>
          <a:lstStyle/>
          <a:p>
            <a:pPr indent="0" marL="0">
              <a:buNone/>
            </a:pPr>
            <a:r>
              <a:rPr lang="en-US" sz="900" dirty="0">
                <a:solidFill>
                  <a:srgbClr val="6B7280"/>
                </a:solidFill>
                <a:latin typeface="Calibri" pitchFamily="34" charset="0"/>
                <a:ea typeface="Calibri" pitchFamily="34" charset="-122"/>
                <a:cs typeface="Calibri" pitchFamily="34" charset="-120"/>
              </a:rPr>
              <a:t>Wrap the call; print the two counts. Same answers, same speed as before.</a:t>
            </a:r>
            <a:endParaRPr lang="en-US" sz="900" dirty="0"/>
          </a:p>
        </p:txBody>
      </p:sp>
      <p:sp>
        <p:nvSpPr>
          <p:cNvPr id="22" name="Shape 20"/>
          <p:cNvSpPr/>
          <p:nvPr/>
        </p:nvSpPr>
        <p:spPr>
          <a:xfrm>
            <a:off x="7150608" y="1371600"/>
            <a:ext cx="1554480" cy="1463040"/>
          </a:xfrm>
          <a:prstGeom prst="roundRect">
            <a:avLst>
              <a:gd name="adj" fmla="val 5000"/>
            </a:avLst>
          </a:prstGeom>
          <a:solidFill>
            <a:srgbClr val="F3F4F6"/>
          </a:solidFill>
          <a:ln w="12700">
            <a:solidFill>
              <a:srgbClr val="F3F4F6"/>
            </a:solidFill>
            <a:prstDash val="solid"/>
          </a:ln>
        </p:spPr>
      </p:sp>
      <p:sp>
        <p:nvSpPr>
          <p:cNvPr id="23" name="Text 21"/>
          <p:cNvSpPr txBox="1"/>
          <p:nvPr/>
        </p:nvSpPr>
        <p:spPr>
          <a:xfrm>
            <a:off x="7287768" y="1481328"/>
            <a:ext cx="731520" cy="320040"/>
          </a:xfrm>
          <a:prstGeom prst="rect">
            <a:avLst/>
          </a:prstGeom>
          <a:noFill/>
          <a:ln/>
        </p:spPr>
        <p:txBody>
          <a:bodyPr wrap="square" lIns="0" tIns="0" rIns="0" bIns="0" rtlCol="0" anchor="t"/>
          <a:lstStyle/>
          <a:p>
            <a:pPr indent="0" marL="0">
              <a:buNone/>
            </a:pPr>
            <a:r>
              <a:rPr lang="en-US" sz="1800" b="1" dirty="0">
                <a:solidFill>
                  <a:srgbClr val="B45309"/>
                </a:solidFill>
                <a:latin typeface="Cambria" pitchFamily="34" charset="0"/>
                <a:ea typeface="Cambria" pitchFamily="34" charset="-122"/>
                <a:cs typeface="Cambria" pitchFamily="34" charset="-120"/>
              </a:rPr>
              <a:t>05</a:t>
            </a:r>
            <a:endParaRPr lang="en-US" sz="1800" dirty="0"/>
          </a:p>
        </p:txBody>
      </p:sp>
      <p:sp>
        <p:nvSpPr>
          <p:cNvPr id="24" name="Text 22"/>
          <p:cNvSpPr txBox="1"/>
          <p:nvPr/>
        </p:nvSpPr>
        <p:spPr>
          <a:xfrm>
            <a:off x="7287768" y="1810512"/>
            <a:ext cx="1325880" cy="365760"/>
          </a:xfrm>
          <a:prstGeom prst="rect">
            <a:avLst/>
          </a:prstGeom>
          <a:noFill/>
          <a:ln/>
        </p:spPr>
        <p:txBody>
          <a:bodyPr wrap="square" lIns="0" tIns="0" rIns="0" bIns="0" rtlCol="0" anchor="t"/>
          <a:lstStyle/>
          <a:p>
            <a:pPr indent="0" marL="0">
              <a:buNone/>
            </a:pPr>
            <a:r>
              <a:rPr lang="en-US" sz="1100" b="1" dirty="0">
                <a:solidFill>
                  <a:srgbClr val="111827"/>
                </a:solidFill>
                <a:latin typeface="Calibri" pitchFamily="34" charset="0"/>
                <a:ea typeface="Calibri" pitchFamily="34" charset="-122"/>
                <a:cs typeface="Calibri" pitchFamily="34" charset="-120"/>
              </a:rPr>
              <a:t>Turn tokens into money</a:t>
            </a:r>
            <a:endParaRPr lang="en-US" sz="1100" dirty="0"/>
          </a:p>
        </p:txBody>
      </p:sp>
      <p:sp>
        <p:nvSpPr>
          <p:cNvPr id="25" name="Text 23"/>
          <p:cNvSpPr txBox="1"/>
          <p:nvPr/>
        </p:nvSpPr>
        <p:spPr>
          <a:xfrm>
            <a:off x="7287768" y="2194560"/>
            <a:ext cx="1325880" cy="594360"/>
          </a:xfrm>
          <a:prstGeom prst="rect">
            <a:avLst/>
          </a:prstGeom>
          <a:noFill/>
          <a:ln/>
        </p:spPr>
        <p:txBody>
          <a:bodyPr wrap="square" lIns="0" tIns="0" rIns="0" bIns="0" rtlCol="0" anchor="t"/>
          <a:lstStyle/>
          <a:p>
            <a:pPr indent="0" marL="0">
              <a:buNone/>
            </a:pPr>
            <a:r>
              <a:rPr lang="en-US" sz="900" dirty="0">
                <a:solidFill>
                  <a:srgbClr val="6B7280"/>
                </a:solidFill>
                <a:latin typeface="Calibri" pitchFamily="34" charset="0"/>
                <a:ea typeface="Calibri" pitchFamily="34" charset="-122"/>
                <a:cs typeface="Calibri" pitchFamily="34" charset="-120"/>
              </a:rPr>
              <a:t>Add the rates. Compare one run against your module 1 hand calculation.</a:t>
            </a:r>
            <a:endParaRPr lang="en-US" sz="900" dirty="0"/>
          </a:p>
        </p:txBody>
      </p:sp>
      <p:sp>
        <p:nvSpPr>
          <p:cNvPr id="26" name="Shape 24"/>
          <p:cNvSpPr/>
          <p:nvPr/>
        </p:nvSpPr>
        <p:spPr>
          <a:xfrm>
            <a:off x="457200" y="2971800"/>
            <a:ext cx="1554480" cy="1463040"/>
          </a:xfrm>
          <a:prstGeom prst="roundRect">
            <a:avLst>
              <a:gd name="adj" fmla="val 5000"/>
            </a:avLst>
          </a:prstGeom>
          <a:solidFill>
            <a:srgbClr val="F3F4F6"/>
          </a:solidFill>
          <a:ln w="12700">
            <a:solidFill>
              <a:srgbClr val="F3F4F6"/>
            </a:solidFill>
            <a:prstDash val="solid"/>
          </a:ln>
        </p:spPr>
      </p:sp>
      <p:sp>
        <p:nvSpPr>
          <p:cNvPr id="27" name="Text 25"/>
          <p:cNvSpPr txBox="1"/>
          <p:nvPr/>
        </p:nvSpPr>
        <p:spPr>
          <a:xfrm>
            <a:off x="594360" y="3081528"/>
            <a:ext cx="731520" cy="320040"/>
          </a:xfrm>
          <a:prstGeom prst="rect">
            <a:avLst/>
          </a:prstGeom>
          <a:noFill/>
          <a:ln/>
        </p:spPr>
        <p:txBody>
          <a:bodyPr wrap="square" lIns="0" tIns="0" rIns="0" bIns="0" rtlCol="0" anchor="t"/>
          <a:lstStyle/>
          <a:p>
            <a:pPr indent="0" marL="0">
              <a:buNone/>
            </a:pPr>
            <a:r>
              <a:rPr lang="en-US" sz="1800" b="1" dirty="0">
                <a:solidFill>
                  <a:srgbClr val="B45309"/>
                </a:solidFill>
                <a:latin typeface="Cambria" pitchFamily="34" charset="0"/>
                <a:ea typeface="Cambria" pitchFamily="34" charset="-122"/>
                <a:cs typeface="Cambria" pitchFamily="34" charset="-120"/>
              </a:rPr>
              <a:t>06</a:t>
            </a:r>
            <a:endParaRPr lang="en-US" sz="1800" dirty="0"/>
          </a:p>
        </p:txBody>
      </p:sp>
      <p:sp>
        <p:nvSpPr>
          <p:cNvPr id="28" name="Text 26"/>
          <p:cNvSpPr txBox="1"/>
          <p:nvPr/>
        </p:nvSpPr>
        <p:spPr>
          <a:xfrm>
            <a:off x="594360" y="3410712"/>
            <a:ext cx="1325880" cy="365760"/>
          </a:xfrm>
          <a:prstGeom prst="rect">
            <a:avLst/>
          </a:prstGeom>
          <a:noFill/>
          <a:ln/>
        </p:spPr>
        <p:txBody>
          <a:bodyPr wrap="square" lIns="0" tIns="0" rIns="0" bIns="0" rtlCol="0" anchor="t"/>
          <a:lstStyle/>
          <a:p>
            <a:pPr indent="0" marL="0">
              <a:buNone/>
            </a:pPr>
            <a:r>
              <a:rPr lang="en-US" sz="1100" b="1" dirty="0">
                <a:solidFill>
                  <a:srgbClr val="111827"/>
                </a:solidFill>
                <a:latin typeface="Calibri" pitchFamily="34" charset="0"/>
                <a:ea typeface="Calibri" pitchFamily="34" charset="-122"/>
                <a:cs typeface="Calibri" pitchFamily="34" charset="-120"/>
              </a:rPr>
              <a:t>Add the four labels</a:t>
            </a:r>
            <a:endParaRPr lang="en-US" sz="1100" dirty="0"/>
          </a:p>
        </p:txBody>
      </p:sp>
      <p:sp>
        <p:nvSpPr>
          <p:cNvPr id="29" name="Text 27"/>
          <p:cNvSpPr txBox="1"/>
          <p:nvPr/>
        </p:nvSpPr>
        <p:spPr>
          <a:xfrm>
            <a:off x="594360" y="3794760"/>
            <a:ext cx="1325880" cy="594360"/>
          </a:xfrm>
          <a:prstGeom prst="rect">
            <a:avLst/>
          </a:prstGeom>
          <a:noFill/>
          <a:ln/>
        </p:spPr>
        <p:txBody>
          <a:bodyPr wrap="square" lIns="0" tIns="0" rIns="0" bIns="0" rtlCol="0" anchor="t"/>
          <a:lstStyle/>
          <a:p>
            <a:pPr indent="0" marL="0">
              <a:buNone/>
            </a:pPr>
            <a:r>
              <a:rPr lang="en-US" sz="900" dirty="0">
                <a:solidFill>
                  <a:srgbClr val="6B7280"/>
                </a:solidFill>
                <a:latin typeface="Calibri" pitchFamily="34" charset="0"/>
                <a:ea typeface="Calibri" pitchFamily="34" charset="-122"/>
                <a:cs typeface="Calibri" pitchFamily="34" charset="-120"/>
              </a:rPr>
              <a:t>agent, team, run, result. Check the run ID stays the same across one run.</a:t>
            </a:r>
            <a:endParaRPr lang="en-US" sz="900" dirty="0"/>
          </a:p>
        </p:txBody>
      </p:sp>
      <p:sp>
        <p:nvSpPr>
          <p:cNvPr id="30" name="Shape 28"/>
          <p:cNvSpPr/>
          <p:nvPr/>
        </p:nvSpPr>
        <p:spPr>
          <a:xfrm>
            <a:off x="2130552" y="2971800"/>
            <a:ext cx="1554480" cy="1463040"/>
          </a:xfrm>
          <a:prstGeom prst="roundRect">
            <a:avLst>
              <a:gd name="adj" fmla="val 5000"/>
            </a:avLst>
          </a:prstGeom>
          <a:solidFill>
            <a:srgbClr val="F3F4F6"/>
          </a:solidFill>
          <a:ln w="12700">
            <a:solidFill>
              <a:srgbClr val="F3F4F6"/>
            </a:solidFill>
            <a:prstDash val="solid"/>
          </a:ln>
        </p:spPr>
      </p:sp>
      <p:sp>
        <p:nvSpPr>
          <p:cNvPr id="31" name="Text 29"/>
          <p:cNvSpPr txBox="1"/>
          <p:nvPr/>
        </p:nvSpPr>
        <p:spPr>
          <a:xfrm>
            <a:off x="2267712" y="3081528"/>
            <a:ext cx="731520" cy="320040"/>
          </a:xfrm>
          <a:prstGeom prst="rect">
            <a:avLst/>
          </a:prstGeom>
          <a:noFill/>
          <a:ln/>
        </p:spPr>
        <p:txBody>
          <a:bodyPr wrap="square" lIns="0" tIns="0" rIns="0" bIns="0" rtlCol="0" anchor="t"/>
          <a:lstStyle/>
          <a:p>
            <a:pPr indent="0" marL="0">
              <a:buNone/>
            </a:pPr>
            <a:r>
              <a:rPr lang="en-US" sz="1800" b="1" dirty="0">
                <a:solidFill>
                  <a:srgbClr val="B45309"/>
                </a:solidFill>
                <a:latin typeface="Cambria" pitchFamily="34" charset="0"/>
                <a:ea typeface="Cambria" pitchFamily="34" charset="-122"/>
                <a:cs typeface="Cambria" pitchFamily="34" charset="-120"/>
              </a:rPr>
              <a:t>07</a:t>
            </a:r>
            <a:endParaRPr lang="en-US" sz="1800" dirty="0"/>
          </a:p>
        </p:txBody>
      </p:sp>
      <p:sp>
        <p:nvSpPr>
          <p:cNvPr id="32" name="Text 30"/>
          <p:cNvSpPr txBox="1"/>
          <p:nvPr/>
        </p:nvSpPr>
        <p:spPr>
          <a:xfrm>
            <a:off x="2267712" y="3410712"/>
            <a:ext cx="1325880" cy="365760"/>
          </a:xfrm>
          <a:prstGeom prst="rect">
            <a:avLst/>
          </a:prstGeom>
          <a:noFill/>
          <a:ln/>
        </p:spPr>
        <p:txBody>
          <a:bodyPr wrap="square" lIns="0" tIns="0" rIns="0" bIns="0" rtlCol="0" anchor="t"/>
          <a:lstStyle/>
          <a:p>
            <a:pPr indent="0" marL="0">
              <a:buNone/>
            </a:pPr>
            <a:r>
              <a:rPr lang="en-US" sz="1100" b="1" dirty="0">
                <a:solidFill>
                  <a:srgbClr val="111827"/>
                </a:solidFill>
                <a:latin typeface="Calibri" pitchFamily="34" charset="0"/>
                <a:ea typeface="Calibri" pitchFamily="34" charset="-122"/>
                <a:cs typeface="Calibri" pitchFamily="34" charset="-120"/>
              </a:rPr>
              <a:t>Make the counter</a:t>
            </a:r>
            <a:endParaRPr lang="en-US" sz="1100" dirty="0"/>
          </a:p>
        </p:txBody>
      </p:sp>
      <p:sp>
        <p:nvSpPr>
          <p:cNvPr id="33" name="Text 31"/>
          <p:cNvSpPr txBox="1"/>
          <p:nvPr/>
        </p:nvSpPr>
        <p:spPr>
          <a:xfrm>
            <a:off x="2267712" y="3794760"/>
            <a:ext cx="1325880" cy="594360"/>
          </a:xfrm>
          <a:prstGeom prst="rect">
            <a:avLst/>
          </a:prstGeom>
          <a:noFill/>
          <a:ln/>
        </p:spPr>
        <p:txBody>
          <a:bodyPr wrap="square" lIns="0" tIns="0" rIns="0" bIns="0" rtlCol="0" anchor="t"/>
          <a:lstStyle/>
          <a:p>
            <a:pPr indent="0" marL="0">
              <a:buNone/>
            </a:pPr>
            <a:r>
              <a:rPr lang="en-US" sz="900" dirty="0">
                <a:solidFill>
                  <a:srgbClr val="6B7280"/>
                </a:solidFill>
                <a:latin typeface="Calibri" pitchFamily="34" charset="0"/>
                <a:ea typeface="Calibri" pitchFamily="34" charset="-122"/>
                <a:cs typeface="Calibri" pitchFamily="34" charset="-120"/>
              </a:rPr>
              <a:t>Create the counters, add to them in the envelope, expose /metrics, curl it.</a:t>
            </a:r>
            <a:endParaRPr lang="en-US" sz="900" dirty="0"/>
          </a:p>
        </p:txBody>
      </p:sp>
      <p:sp>
        <p:nvSpPr>
          <p:cNvPr id="34" name="Shape 32"/>
          <p:cNvSpPr/>
          <p:nvPr/>
        </p:nvSpPr>
        <p:spPr>
          <a:xfrm>
            <a:off x="3803904" y="2971800"/>
            <a:ext cx="1554480" cy="1463040"/>
          </a:xfrm>
          <a:prstGeom prst="roundRect">
            <a:avLst>
              <a:gd name="adj" fmla="val 5000"/>
            </a:avLst>
          </a:prstGeom>
          <a:solidFill>
            <a:srgbClr val="F3F4F6"/>
          </a:solidFill>
          <a:ln w="12700">
            <a:solidFill>
              <a:srgbClr val="F3F4F6"/>
            </a:solidFill>
            <a:prstDash val="solid"/>
          </a:ln>
        </p:spPr>
      </p:sp>
      <p:sp>
        <p:nvSpPr>
          <p:cNvPr id="35" name="Text 33"/>
          <p:cNvSpPr txBox="1"/>
          <p:nvPr/>
        </p:nvSpPr>
        <p:spPr>
          <a:xfrm>
            <a:off x="3941064" y="3081528"/>
            <a:ext cx="731520" cy="320040"/>
          </a:xfrm>
          <a:prstGeom prst="rect">
            <a:avLst/>
          </a:prstGeom>
          <a:noFill/>
          <a:ln/>
        </p:spPr>
        <p:txBody>
          <a:bodyPr wrap="square" lIns="0" tIns="0" rIns="0" bIns="0" rtlCol="0" anchor="t"/>
          <a:lstStyle/>
          <a:p>
            <a:pPr indent="0" marL="0">
              <a:buNone/>
            </a:pPr>
            <a:r>
              <a:rPr lang="en-US" sz="1800" b="1" dirty="0">
                <a:solidFill>
                  <a:srgbClr val="B45309"/>
                </a:solidFill>
                <a:latin typeface="Cambria" pitchFamily="34" charset="0"/>
                <a:ea typeface="Cambria" pitchFamily="34" charset="-122"/>
                <a:cs typeface="Cambria" pitchFamily="34" charset="-120"/>
              </a:rPr>
              <a:t>08</a:t>
            </a:r>
            <a:endParaRPr lang="en-US" sz="1800" dirty="0"/>
          </a:p>
        </p:txBody>
      </p:sp>
      <p:sp>
        <p:nvSpPr>
          <p:cNvPr id="36" name="Text 34"/>
          <p:cNvSpPr txBox="1"/>
          <p:nvPr/>
        </p:nvSpPr>
        <p:spPr>
          <a:xfrm>
            <a:off x="3941064" y="3410712"/>
            <a:ext cx="1325880" cy="365760"/>
          </a:xfrm>
          <a:prstGeom prst="rect">
            <a:avLst/>
          </a:prstGeom>
          <a:noFill/>
          <a:ln/>
        </p:spPr>
        <p:txBody>
          <a:bodyPr wrap="square" lIns="0" tIns="0" rIns="0" bIns="0" rtlCol="0" anchor="t"/>
          <a:lstStyle/>
          <a:p>
            <a:pPr indent="0" marL="0">
              <a:buNone/>
            </a:pPr>
            <a:r>
              <a:rPr lang="en-US" sz="1100" b="1" dirty="0">
                <a:solidFill>
                  <a:srgbClr val="111827"/>
                </a:solidFill>
                <a:latin typeface="Calibri" pitchFamily="34" charset="0"/>
                <a:ea typeface="Calibri" pitchFamily="34" charset="-122"/>
                <a:cs typeface="Calibri" pitchFamily="34" charset="-120"/>
              </a:rPr>
              <a:t>Watch a tally grow</a:t>
            </a:r>
            <a:endParaRPr lang="en-US" sz="1100" dirty="0"/>
          </a:p>
        </p:txBody>
      </p:sp>
      <p:sp>
        <p:nvSpPr>
          <p:cNvPr id="37" name="Text 35"/>
          <p:cNvSpPr txBox="1"/>
          <p:nvPr/>
        </p:nvSpPr>
        <p:spPr>
          <a:xfrm>
            <a:off x="3941064" y="3794760"/>
            <a:ext cx="1325880" cy="594360"/>
          </a:xfrm>
          <a:prstGeom prst="rect">
            <a:avLst/>
          </a:prstGeom>
          <a:noFill/>
          <a:ln/>
        </p:spPr>
        <p:txBody>
          <a:bodyPr wrap="square" lIns="0" tIns="0" rIns="0" bIns="0" rtlCol="0" anchor="t"/>
          <a:lstStyle/>
          <a:p>
            <a:pPr indent="0" marL="0">
              <a:buNone/>
            </a:pPr>
            <a:r>
              <a:rPr lang="en-US" sz="900" dirty="0">
                <a:solidFill>
                  <a:srgbClr val="6B7280"/>
                </a:solidFill>
                <a:latin typeface="Calibri" pitchFamily="34" charset="0"/>
                <a:ea typeface="Calibri" pitchFamily="34" charset="-122"/>
                <a:cs typeface="Calibri" pitchFamily="34" charset="-120"/>
              </a:rPr>
              <a:t>Run five times, curl between each. Write the number down. It only goes up.</a:t>
            </a:r>
            <a:endParaRPr lang="en-US" sz="900" dirty="0"/>
          </a:p>
        </p:txBody>
      </p:sp>
      <p:sp>
        <p:nvSpPr>
          <p:cNvPr id="38" name="Shape 36"/>
          <p:cNvSpPr/>
          <p:nvPr/>
        </p:nvSpPr>
        <p:spPr>
          <a:xfrm>
            <a:off x="5477256" y="2971800"/>
            <a:ext cx="1554480" cy="1463040"/>
          </a:xfrm>
          <a:prstGeom prst="roundRect">
            <a:avLst>
              <a:gd name="adj" fmla="val 5000"/>
            </a:avLst>
          </a:prstGeom>
          <a:solidFill>
            <a:srgbClr val="111827"/>
          </a:solidFill>
          <a:ln w="12700">
            <a:solidFill>
              <a:srgbClr val="111827"/>
            </a:solidFill>
            <a:prstDash val="solid"/>
          </a:ln>
        </p:spPr>
      </p:sp>
      <p:sp>
        <p:nvSpPr>
          <p:cNvPr id="39" name="Text 37"/>
          <p:cNvSpPr txBox="1"/>
          <p:nvPr/>
        </p:nvSpPr>
        <p:spPr>
          <a:xfrm>
            <a:off x="5614416" y="3081528"/>
            <a:ext cx="731520" cy="320040"/>
          </a:xfrm>
          <a:prstGeom prst="rect">
            <a:avLst/>
          </a:prstGeom>
          <a:noFill/>
          <a:ln/>
        </p:spPr>
        <p:txBody>
          <a:bodyPr wrap="square" lIns="0" tIns="0" rIns="0" bIns="0" rtlCol="0" anchor="t"/>
          <a:lstStyle/>
          <a:p>
            <a:pPr indent="0" marL="0">
              <a:buNone/>
            </a:pPr>
            <a:r>
              <a:rPr lang="en-US" sz="1800" b="1" dirty="0">
                <a:solidFill>
                  <a:srgbClr val="F59E0B"/>
                </a:solidFill>
                <a:latin typeface="Cambria" pitchFamily="34" charset="0"/>
                <a:ea typeface="Cambria" pitchFamily="34" charset="-122"/>
                <a:cs typeface="Cambria" pitchFamily="34" charset="-120"/>
              </a:rPr>
              <a:t>09</a:t>
            </a:r>
            <a:endParaRPr lang="en-US" sz="1800" dirty="0"/>
          </a:p>
        </p:txBody>
      </p:sp>
      <p:sp>
        <p:nvSpPr>
          <p:cNvPr id="40" name="Text 38"/>
          <p:cNvSpPr txBox="1"/>
          <p:nvPr/>
        </p:nvSpPr>
        <p:spPr>
          <a:xfrm>
            <a:off x="5614416" y="3410712"/>
            <a:ext cx="1325880" cy="365760"/>
          </a:xfrm>
          <a:prstGeom prst="rect">
            <a:avLst/>
          </a:prstGeom>
          <a:noFill/>
          <a:ln/>
        </p:spPr>
        <p:txBody>
          <a:bodyPr wrap="square" lIns="0" tIns="0" rIns="0" bIns="0" rtlCol="0" anchor="t"/>
          <a:lstStyle/>
          <a:p>
            <a:pPr indent="0" marL="0">
              <a:buNone/>
            </a:pPr>
            <a:r>
              <a:rPr lang="en-US" sz="1100" b="1" dirty="0">
                <a:solidFill>
                  <a:srgbClr val="FFFFFF"/>
                </a:solidFill>
                <a:latin typeface="Calibri" pitchFamily="34" charset="0"/>
                <a:ea typeface="Calibri" pitchFamily="34" charset="-122"/>
                <a:cs typeface="Calibri" pitchFamily="34" charset="-120"/>
              </a:rPr>
              <a:t>Instrument the runaway</a:t>
            </a:r>
            <a:endParaRPr lang="en-US" sz="1100" dirty="0"/>
          </a:p>
        </p:txBody>
      </p:sp>
      <p:sp>
        <p:nvSpPr>
          <p:cNvPr id="41" name="Text 39"/>
          <p:cNvSpPr txBox="1"/>
          <p:nvPr/>
        </p:nvSpPr>
        <p:spPr>
          <a:xfrm>
            <a:off x="5614416" y="3794760"/>
            <a:ext cx="1325880" cy="594360"/>
          </a:xfrm>
          <a:prstGeom prst="rect">
            <a:avLst/>
          </a:prstGeom>
          <a:noFill/>
          <a:ln/>
        </p:spPr>
        <p:txBody>
          <a:bodyPr wrap="square" lIns="0" tIns="0" rIns="0" bIns="0" rtlCol="0" anchor="t"/>
          <a:lstStyle/>
          <a:p>
            <a:pPr indent="0" marL="0">
              <a:buNone/>
            </a:pPr>
            <a:r>
              <a:rPr lang="en-US" sz="900" dirty="0">
                <a:solidFill>
                  <a:srgbClr val="9CA3AF"/>
                </a:solidFill>
                <a:latin typeface="Calibri" pitchFamily="34" charset="0"/>
                <a:ea typeface="Calibri" pitchFamily="34" charset="-122"/>
                <a:cs typeface="Calibri" pitchFamily="34" charset="-120"/>
              </a:rPr>
              <a:t>Malformed input, 120-second timeout, instrumentation on. Watch cost climb.</a:t>
            </a:r>
            <a:endParaRPr lang="en-US" sz="900" dirty="0"/>
          </a:p>
        </p:txBody>
      </p:sp>
      <p:sp>
        <p:nvSpPr>
          <p:cNvPr id="42" name="Shape 40"/>
          <p:cNvSpPr/>
          <p:nvPr/>
        </p:nvSpPr>
        <p:spPr>
          <a:xfrm>
            <a:off x="7150608" y="2971800"/>
            <a:ext cx="1554480" cy="1463040"/>
          </a:xfrm>
          <a:prstGeom prst="roundRect">
            <a:avLst>
              <a:gd name="adj" fmla="val 5000"/>
            </a:avLst>
          </a:prstGeom>
          <a:solidFill>
            <a:srgbClr val="F3F4F6"/>
          </a:solidFill>
          <a:ln w="12700">
            <a:solidFill>
              <a:srgbClr val="F3F4F6"/>
            </a:solidFill>
            <a:prstDash val="solid"/>
          </a:ln>
        </p:spPr>
      </p:sp>
      <p:sp>
        <p:nvSpPr>
          <p:cNvPr id="43" name="Text 41"/>
          <p:cNvSpPr txBox="1"/>
          <p:nvPr/>
        </p:nvSpPr>
        <p:spPr>
          <a:xfrm>
            <a:off x="7287768" y="3081528"/>
            <a:ext cx="731520" cy="320040"/>
          </a:xfrm>
          <a:prstGeom prst="rect">
            <a:avLst/>
          </a:prstGeom>
          <a:noFill/>
          <a:ln/>
        </p:spPr>
        <p:txBody>
          <a:bodyPr wrap="square" lIns="0" tIns="0" rIns="0" bIns="0" rtlCol="0" anchor="t"/>
          <a:lstStyle/>
          <a:p>
            <a:pPr indent="0" marL="0">
              <a:buNone/>
            </a:pPr>
            <a:r>
              <a:rPr lang="en-US" sz="1800" b="1" dirty="0">
                <a:solidFill>
                  <a:srgbClr val="B45309"/>
                </a:solidFill>
                <a:latin typeface="Cambria" pitchFamily="34" charset="0"/>
                <a:ea typeface="Cambria" pitchFamily="34" charset="-122"/>
                <a:cs typeface="Cambria" pitchFamily="34" charset="-120"/>
              </a:rPr>
              <a:t>10</a:t>
            </a:r>
            <a:endParaRPr lang="en-US" sz="1800" dirty="0"/>
          </a:p>
        </p:txBody>
      </p:sp>
      <p:sp>
        <p:nvSpPr>
          <p:cNvPr id="44" name="Text 42"/>
          <p:cNvSpPr txBox="1"/>
          <p:nvPr/>
        </p:nvSpPr>
        <p:spPr>
          <a:xfrm>
            <a:off x="7287768" y="3410712"/>
            <a:ext cx="1325880" cy="365760"/>
          </a:xfrm>
          <a:prstGeom prst="rect">
            <a:avLst/>
          </a:prstGeom>
          <a:noFill/>
          <a:ln/>
        </p:spPr>
        <p:txBody>
          <a:bodyPr wrap="square" lIns="0" tIns="0" rIns="0" bIns="0" rtlCol="0" anchor="t"/>
          <a:lstStyle/>
          <a:p>
            <a:pPr indent="0" marL="0">
              <a:buNone/>
            </a:pPr>
            <a:r>
              <a:rPr lang="en-US" sz="1100" b="1" dirty="0">
                <a:solidFill>
                  <a:srgbClr val="111827"/>
                </a:solidFill>
                <a:latin typeface="Calibri" pitchFamily="34" charset="0"/>
                <a:ea typeface="Calibri" pitchFamily="34" charset="-122"/>
                <a:cs typeface="Calibri" pitchFamily="34" charset="-120"/>
              </a:rPr>
              <a:t>Try a bad label</a:t>
            </a:r>
            <a:endParaRPr lang="en-US" sz="1100" dirty="0"/>
          </a:p>
        </p:txBody>
      </p:sp>
      <p:sp>
        <p:nvSpPr>
          <p:cNvPr id="45" name="Text 43"/>
          <p:cNvSpPr txBox="1"/>
          <p:nvPr/>
        </p:nvSpPr>
        <p:spPr>
          <a:xfrm>
            <a:off x="7287768" y="3794760"/>
            <a:ext cx="1325880" cy="594360"/>
          </a:xfrm>
          <a:prstGeom prst="rect">
            <a:avLst/>
          </a:prstGeom>
          <a:noFill/>
          <a:ln/>
        </p:spPr>
        <p:txBody>
          <a:bodyPr wrap="square" lIns="0" tIns="0" rIns="0" bIns="0" rtlCol="0" anchor="t"/>
          <a:lstStyle/>
          <a:p>
            <a:pPr indent="0" marL="0">
              <a:buNone/>
            </a:pPr>
            <a:r>
              <a:rPr lang="en-US" sz="900" dirty="0">
                <a:solidFill>
                  <a:srgbClr val="6B7280"/>
                </a:solidFill>
                <a:latin typeface="Calibri" pitchFamily="34" charset="0"/>
                <a:ea typeface="Calibri" pitchFamily="34" charset="-122"/>
                <a:cs typeface="Calibri" pitchFamily="34" charset="-120"/>
              </a:rPr>
              <a:t>Add a timestamp label on purpose, run twenty times, watch the output grow. Then remove it.</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APPENDIX B · EVERY WORD WE USED, IN PLAIN ENGLISH</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Glossary: the receipt</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2</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40</a:t>
            </a:r>
            <a:endParaRPr lang="en-US" sz="900" dirty="0"/>
          </a:p>
        </p:txBody>
      </p:sp>
      <p:sp>
        <p:nvSpPr>
          <p:cNvPr id="6" name="Shape 4"/>
          <p:cNvSpPr/>
          <p:nvPr/>
        </p:nvSpPr>
        <p:spPr>
          <a:xfrm>
            <a:off x="457200" y="1325880"/>
            <a:ext cx="1938528" cy="1481328"/>
          </a:xfrm>
          <a:prstGeom prst="roundRect">
            <a:avLst>
              <a:gd name="adj" fmla="val 4938"/>
            </a:avLst>
          </a:prstGeom>
          <a:solidFill>
            <a:srgbClr val="F3F4F6"/>
          </a:solidFill>
          <a:ln w="12700">
            <a:solidFill>
              <a:srgbClr val="F3F4F6"/>
            </a:solidFill>
            <a:prstDash val="solid"/>
          </a:ln>
        </p:spPr>
      </p:sp>
      <p:sp>
        <p:nvSpPr>
          <p:cNvPr id="7" name="Text 5"/>
          <p:cNvSpPr txBox="1"/>
          <p:nvPr/>
        </p:nvSpPr>
        <p:spPr>
          <a:xfrm>
            <a:off x="621792" y="1435608"/>
            <a:ext cx="548640" cy="274320"/>
          </a:xfrm>
          <a:prstGeom prst="rect">
            <a:avLst/>
          </a:prstGeom>
          <a:noFill/>
          <a:ln/>
        </p:spPr>
        <p:txBody>
          <a:bodyPr wrap="square" lIns="0" tIns="0" rIns="0" bIns="0" rtlCol="0" anchor="t"/>
          <a:lstStyle/>
          <a:p>
            <a:pPr indent="0" marL="0">
              <a:buNone/>
            </a:pPr>
            <a:r>
              <a:rPr lang="en-US" sz="1100" b="1" dirty="0">
                <a:solidFill>
                  <a:srgbClr val="B45309"/>
                </a:solidFill>
                <a:latin typeface="Calibri" pitchFamily="34" charset="0"/>
                <a:ea typeface="Calibri" pitchFamily="34" charset="-122"/>
                <a:cs typeface="Calibri" pitchFamily="34" charset="-120"/>
              </a:rPr>
              <a:t>01</a:t>
            </a:r>
            <a:endParaRPr lang="en-US" sz="1100" dirty="0"/>
          </a:p>
        </p:txBody>
      </p:sp>
      <p:sp>
        <p:nvSpPr>
          <p:cNvPr id="8" name="Text 6"/>
          <p:cNvSpPr txBox="1"/>
          <p:nvPr/>
        </p:nvSpPr>
        <p:spPr>
          <a:xfrm>
            <a:off x="621792" y="1709928"/>
            <a:ext cx="1691640" cy="411480"/>
          </a:xfrm>
          <a:prstGeom prst="rect">
            <a:avLst/>
          </a:prstGeom>
          <a:noFill/>
          <a:ln/>
        </p:spPr>
        <p:txBody>
          <a:bodyPr wrap="square" lIns="0" tIns="0" rIns="0" bIns="0" rtlCol="0" anchor="t"/>
          <a:lstStyle/>
          <a:p>
            <a:pPr indent="0" marL="0">
              <a:buNone/>
            </a:pPr>
            <a:r>
              <a:rPr lang="en-US" sz="1250" b="1" dirty="0">
                <a:solidFill>
                  <a:srgbClr val="111827"/>
                </a:solidFill>
                <a:latin typeface="Calibri" pitchFamily="34" charset="0"/>
                <a:ea typeface="Calibri" pitchFamily="34" charset="-122"/>
                <a:cs typeface="Calibri" pitchFamily="34" charset="-120"/>
              </a:rPr>
              <a:t>Instrumentation</a:t>
            </a:r>
            <a:endParaRPr lang="en-US" sz="1250" dirty="0"/>
          </a:p>
        </p:txBody>
      </p:sp>
      <p:sp>
        <p:nvSpPr>
          <p:cNvPr id="9" name="Text 7"/>
          <p:cNvSpPr txBox="1"/>
          <p:nvPr/>
        </p:nvSpPr>
        <p:spPr>
          <a:xfrm>
            <a:off x="621792" y="2148840"/>
            <a:ext cx="1664208" cy="621792"/>
          </a:xfrm>
          <a:prstGeom prst="rect">
            <a:avLst/>
          </a:prstGeom>
          <a:noFill/>
          <a:ln/>
        </p:spPr>
        <p:txBody>
          <a:bodyPr wrap="square" lIns="0" tIns="0" rIns="0" bIns="0" rtlCol="0" anchor="t"/>
          <a:lstStyle/>
          <a:p>
            <a:pPr indent="0" marL="0">
              <a:buNone/>
            </a:pPr>
            <a:r>
              <a:rPr lang="en-US" sz="950" dirty="0">
                <a:solidFill>
                  <a:srgbClr val="6B7280"/>
                </a:solidFill>
                <a:latin typeface="Calibri" pitchFamily="34" charset="0"/>
                <a:ea typeface="Calibri" pitchFamily="34" charset="-122"/>
                <a:cs typeface="Calibri" pitchFamily="34" charset="-120"/>
              </a:rPr>
              <a:t>Code that records facts about your program's own behaviour; here, a receipt each time money is spent.</a:t>
            </a:r>
            <a:endParaRPr lang="en-US" sz="950" dirty="0"/>
          </a:p>
        </p:txBody>
      </p:sp>
      <p:sp>
        <p:nvSpPr>
          <p:cNvPr id="10" name="Shape 8"/>
          <p:cNvSpPr/>
          <p:nvPr/>
        </p:nvSpPr>
        <p:spPr>
          <a:xfrm>
            <a:off x="2542032" y="1325880"/>
            <a:ext cx="1938528" cy="1481328"/>
          </a:xfrm>
          <a:prstGeom prst="roundRect">
            <a:avLst>
              <a:gd name="adj" fmla="val 4938"/>
            </a:avLst>
          </a:prstGeom>
          <a:solidFill>
            <a:srgbClr val="F3F4F6"/>
          </a:solidFill>
          <a:ln w="12700">
            <a:solidFill>
              <a:srgbClr val="F3F4F6"/>
            </a:solidFill>
            <a:prstDash val="solid"/>
          </a:ln>
        </p:spPr>
      </p:sp>
      <p:sp>
        <p:nvSpPr>
          <p:cNvPr id="11" name="Text 9"/>
          <p:cNvSpPr txBox="1"/>
          <p:nvPr/>
        </p:nvSpPr>
        <p:spPr>
          <a:xfrm>
            <a:off x="2706624" y="1435608"/>
            <a:ext cx="548640" cy="274320"/>
          </a:xfrm>
          <a:prstGeom prst="rect">
            <a:avLst/>
          </a:prstGeom>
          <a:noFill/>
          <a:ln/>
        </p:spPr>
        <p:txBody>
          <a:bodyPr wrap="square" lIns="0" tIns="0" rIns="0" bIns="0" rtlCol="0" anchor="t"/>
          <a:lstStyle/>
          <a:p>
            <a:pPr indent="0" marL="0">
              <a:buNone/>
            </a:pPr>
            <a:r>
              <a:rPr lang="en-US" sz="1100" b="1" dirty="0">
                <a:solidFill>
                  <a:srgbClr val="B45309"/>
                </a:solidFill>
                <a:latin typeface="Calibri" pitchFamily="34" charset="0"/>
                <a:ea typeface="Calibri" pitchFamily="34" charset="-122"/>
                <a:cs typeface="Calibri" pitchFamily="34" charset="-120"/>
              </a:rPr>
              <a:t>02</a:t>
            </a:r>
            <a:endParaRPr lang="en-US" sz="1100" dirty="0"/>
          </a:p>
        </p:txBody>
      </p:sp>
      <p:sp>
        <p:nvSpPr>
          <p:cNvPr id="12" name="Text 10"/>
          <p:cNvSpPr txBox="1"/>
          <p:nvPr/>
        </p:nvSpPr>
        <p:spPr>
          <a:xfrm>
            <a:off x="2706624" y="1709928"/>
            <a:ext cx="1691640" cy="411480"/>
          </a:xfrm>
          <a:prstGeom prst="rect">
            <a:avLst/>
          </a:prstGeom>
          <a:noFill/>
          <a:ln/>
        </p:spPr>
        <p:txBody>
          <a:bodyPr wrap="square" lIns="0" tIns="0" rIns="0" bIns="0" rtlCol="0" anchor="t"/>
          <a:lstStyle/>
          <a:p>
            <a:pPr indent="0" marL="0">
              <a:buNone/>
            </a:pPr>
            <a:r>
              <a:rPr lang="en-US" sz="1250" b="1" dirty="0">
                <a:solidFill>
                  <a:srgbClr val="111827"/>
                </a:solidFill>
                <a:latin typeface="Calibri" pitchFamily="34" charset="0"/>
                <a:ea typeface="Calibri" pitchFamily="34" charset="-122"/>
                <a:cs typeface="Calibri" pitchFamily="34" charset="-120"/>
              </a:rPr>
              <a:t>Token</a:t>
            </a:r>
            <a:endParaRPr lang="en-US" sz="1250" dirty="0"/>
          </a:p>
        </p:txBody>
      </p:sp>
      <p:sp>
        <p:nvSpPr>
          <p:cNvPr id="13" name="Text 11"/>
          <p:cNvSpPr txBox="1"/>
          <p:nvPr/>
        </p:nvSpPr>
        <p:spPr>
          <a:xfrm>
            <a:off x="2706624" y="2148840"/>
            <a:ext cx="1664208" cy="621792"/>
          </a:xfrm>
          <a:prstGeom prst="rect">
            <a:avLst/>
          </a:prstGeom>
          <a:noFill/>
          <a:ln/>
        </p:spPr>
        <p:txBody>
          <a:bodyPr wrap="square" lIns="0" tIns="0" rIns="0" bIns="0" rtlCol="0" anchor="t"/>
          <a:lstStyle/>
          <a:p>
            <a:pPr indent="0" marL="0">
              <a:buNone/>
            </a:pPr>
            <a:r>
              <a:rPr lang="en-US" sz="950" dirty="0">
                <a:solidFill>
                  <a:srgbClr val="6B7280"/>
                </a:solidFill>
                <a:latin typeface="Calibri" pitchFamily="34" charset="0"/>
                <a:ea typeface="Calibri" pitchFamily="34" charset="-122"/>
                <a:cs typeface="Calibri" pitchFamily="34" charset="-120"/>
              </a:rPr>
              <a:t>Roughly a piece of a word; about four characters of English. The model charges by how many it handles.</a:t>
            </a:r>
            <a:endParaRPr lang="en-US" sz="950" dirty="0"/>
          </a:p>
        </p:txBody>
      </p:sp>
      <p:sp>
        <p:nvSpPr>
          <p:cNvPr id="14" name="Shape 12"/>
          <p:cNvSpPr/>
          <p:nvPr/>
        </p:nvSpPr>
        <p:spPr>
          <a:xfrm>
            <a:off x="4626864" y="1325880"/>
            <a:ext cx="1938528" cy="1481328"/>
          </a:xfrm>
          <a:prstGeom prst="roundRect">
            <a:avLst>
              <a:gd name="adj" fmla="val 4938"/>
            </a:avLst>
          </a:prstGeom>
          <a:solidFill>
            <a:srgbClr val="F3F4F6"/>
          </a:solidFill>
          <a:ln w="12700">
            <a:solidFill>
              <a:srgbClr val="F3F4F6"/>
            </a:solidFill>
            <a:prstDash val="solid"/>
          </a:ln>
        </p:spPr>
      </p:sp>
      <p:sp>
        <p:nvSpPr>
          <p:cNvPr id="15" name="Text 13"/>
          <p:cNvSpPr txBox="1"/>
          <p:nvPr/>
        </p:nvSpPr>
        <p:spPr>
          <a:xfrm>
            <a:off x="4791456" y="1435608"/>
            <a:ext cx="548640" cy="274320"/>
          </a:xfrm>
          <a:prstGeom prst="rect">
            <a:avLst/>
          </a:prstGeom>
          <a:noFill/>
          <a:ln/>
        </p:spPr>
        <p:txBody>
          <a:bodyPr wrap="square" lIns="0" tIns="0" rIns="0" bIns="0" rtlCol="0" anchor="t"/>
          <a:lstStyle/>
          <a:p>
            <a:pPr indent="0" marL="0">
              <a:buNone/>
            </a:pPr>
            <a:r>
              <a:rPr lang="en-US" sz="1100" b="1" dirty="0">
                <a:solidFill>
                  <a:srgbClr val="B45309"/>
                </a:solidFill>
                <a:latin typeface="Calibri" pitchFamily="34" charset="0"/>
                <a:ea typeface="Calibri" pitchFamily="34" charset="-122"/>
                <a:cs typeface="Calibri" pitchFamily="34" charset="-120"/>
              </a:rPr>
              <a:t>03</a:t>
            </a:r>
            <a:endParaRPr lang="en-US" sz="1100" dirty="0"/>
          </a:p>
        </p:txBody>
      </p:sp>
      <p:sp>
        <p:nvSpPr>
          <p:cNvPr id="16" name="Text 14"/>
          <p:cNvSpPr txBox="1"/>
          <p:nvPr/>
        </p:nvSpPr>
        <p:spPr>
          <a:xfrm>
            <a:off x="4791456" y="1709928"/>
            <a:ext cx="1691640" cy="411480"/>
          </a:xfrm>
          <a:prstGeom prst="rect">
            <a:avLst/>
          </a:prstGeom>
          <a:noFill/>
          <a:ln/>
        </p:spPr>
        <p:txBody>
          <a:bodyPr wrap="square" lIns="0" tIns="0" rIns="0" bIns="0" rtlCol="0" anchor="t"/>
          <a:lstStyle/>
          <a:p>
            <a:pPr indent="0" marL="0">
              <a:buNone/>
            </a:pPr>
            <a:r>
              <a:rPr lang="en-US" sz="1250" b="1" dirty="0">
                <a:solidFill>
                  <a:srgbClr val="111827"/>
                </a:solidFill>
                <a:latin typeface="Calibri" pitchFamily="34" charset="0"/>
                <a:ea typeface="Calibri" pitchFamily="34" charset="-122"/>
                <a:cs typeface="Calibri" pitchFamily="34" charset="-120"/>
              </a:rPr>
              <a:t>Input / output tokens</a:t>
            </a:r>
            <a:endParaRPr lang="en-US" sz="1250" dirty="0"/>
          </a:p>
        </p:txBody>
      </p:sp>
      <p:sp>
        <p:nvSpPr>
          <p:cNvPr id="17" name="Text 15"/>
          <p:cNvSpPr txBox="1"/>
          <p:nvPr/>
        </p:nvSpPr>
        <p:spPr>
          <a:xfrm>
            <a:off x="4791456" y="2148840"/>
            <a:ext cx="1664208" cy="621792"/>
          </a:xfrm>
          <a:prstGeom prst="rect">
            <a:avLst/>
          </a:prstGeom>
          <a:noFill/>
          <a:ln/>
        </p:spPr>
        <p:txBody>
          <a:bodyPr wrap="square" lIns="0" tIns="0" rIns="0" bIns="0" rtlCol="0" anchor="t"/>
          <a:lstStyle/>
          <a:p>
            <a:pPr indent="0" marL="0">
              <a:buNone/>
            </a:pPr>
            <a:r>
              <a:rPr lang="en-US" sz="950" dirty="0">
                <a:solidFill>
                  <a:srgbClr val="6B7280"/>
                </a:solidFill>
                <a:latin typeface="Calibri" pitchFamily="34" charset="0"/>
                <a:ea typeface="Calibri" pitchFamily="34" charset="-122"/>
                <a:cs typeface="Calibri" pitchFamily="34" charset="-120"/>
              </a:rPr>
              <a:t>Input is everything you sent; output is everything it wrote back. Counted separately, priced differently.</a:t>
            </a:r>
            <a:endParaRPr lang="en-US" sz="950" dirty="0"/>
          </a:p>
        </p:txBody>
      </p:sp>
      <p:sp>
        <p:nvSpPr>
          <p:cNvPr id="18" name="Shape 16"/>
          <p:cNvSpPr/>
          <p:nvPr/>
        </p:nvSpPr>
        <p:spPr>
          <a:xfrm>
            <a:off x="6711696" y="1325880"/>
            <a:ext cx="1938528" cy="1481328"/>
          </a:xfrm>
          <a:prstGeom prst="roundRect">
            <a:avLst>
              <a:gd name="adj" fmla="val 4938"/>
            </a:avLst>
          </a:prstGeom>
          <a:solidFill>
            <a:srgbClr val="F3F4F6"/>
          </a:solidFill>
          <a:ln w="12700">
            <a:solidFill>
              <a:srgbClr val="F3F4F6"/>
            </a:solidFill>
            <a:prstDash val="solid"/>
          </a:ln>
        </p:spPr>
      </p:sp>
      <p:sp>
        <p:nvSpPr>
          <p:cNvPr id="19" name="Text 17"/>
          <p:cNvSpPr txBox="1"/>
          <p:nvPr/>
        </p:nvSpPr>
        <p:spPr>
          <a:xfrm>
            <a:off x="6876288" y="1435608"/>
            <a:ext cx="548640" cy="274320"/>
          </a:xfrm>
          <a:prstGeom prst="rect">
            <a:avLst/>
          </a:prstGeom>
          <a:noFill/>
          <a:ln/>
        </p:spPr>
        <p:txBody>
          <a:bodyPr wrap="square" lIns="0" tIns="0" rIns="0" bIns="0" rtlCol="0" anchor="t"/>
          <a:lstStyle/>
          <a:p>
            <a:pPr indent="0" marL="0">
              <a:buNone/>
            </a:pPr>
            <a:r>
              <a:rPr lang="en-US" sz="1100" b="1" dirty="0">
                <a:solidFill>
                  <a:srgbClr val="B45309"/>
                </a:solidFill>
                <a:latin typeface="Calibri" pitchFamily="34" charset="0"/>
                <a:ea typeface="Calibri" pitchFamily="34" charset="-122"/>
                <a:cs typeface="Calibri" pitchFamily="34" charset="-120"/>
              </a:rPr>
              <a:t>04</a:t>
            </a:r>
            <a:endParaRPr lang="en-US" sz="1100" dirty="0"/>
          </a:p>
        </p:txBody>
      </p:sp>
      <p:sp>
        <p:nvSpPr>
          <p:cNvPr id="20" name="Text 18"/>
          <p:cNvSpPr txBox="1"/>
          <p:nvPr/>
        </p:nvSpPr>
        <p:spPr>
          <a:xfrm>
            <a:off x="6876288" y="1709928"/>
            <a:ext cx="1691640" cy="411480"/>
          </a:xfrm>
          <a:prstGeom prst="rect">
            <a:avLst/>
          </a:prstGeom>
          <a:noFill/>
          <a:ln/>
        </p:spPr>
        <p:txBody>
          <a:bodyPr wrap="square" lIns="0" tIns="0" rIns="0" bIns="0" rtlCol="0" anchor="t"/>
          <a:lstStyle/>
          <a:p>
            <a:pPr indent="0" marL="0">
              <a:buNone/>
            </a:pPr>
            <a:r>
              <a:rPr lang="en-US" sz="1250" b="1" dirty="0">
                <a:solidFill>
                  <a:srgbClr val="111827"/>
                </a:solidFill>
                <a:latin typeface="Calibri" pitchFamily="34" charset="0"/>
                <a:ea typeface="Calibri" pitchFamily="34" charset="-122"/>
                <a:cs typeface="Calibri" pitchFamily="34" charset="-120"/>
              </a:rPr>
              <a:t>The usage block</a:t>
            </a:r>
            <a:endParaRPr lang="en-US" sz="1250" dirty="0"/>
          </a:p>
        </p:txBody>
      </p:sp>
      <p:sp>
        <p:nvSpPr>
          <p:cNvPr id="21" name="Text 19"/>
          <p:cNvSpPr txBox="1"/>
          <p:nvPr/>
        </p:nvSpPr>
        <p:spPr>
          <a:xfrm>
            <a:off x="6876288" y="2148840"/>
            <a:ext cx="1664208" cy="621792"/>
          </a:xfrm>
          <a:prstGeom prst="rect">
            <a:avLst/>
          </a:prstGeom>
          <a:noFill/>
          <a:ln/>
        </p:spPr>
        <p:txBody>
          <a:bodyPr wrap="square" lIns="0" tIns="0" rIns="0" bIns="0" rtlCol="0" anchor="t"/>
          <a:lstStyle/>
          <a:p>
            <a:pPr indent="0" marL="0">
              <a:buNone/>
            </a:pPr>
            <a:r>
              <a:rPr lang="en-US" sz="950" dirty="0">
                <a:solidFill>
                  <a:srgbClr val="6B7280"/>
                </a:solidFill>
                <a:latin typeface="Calibri" pitchFamily="34" charset="0"/>
                <a:ea typeface="Calibri" pitchFamily="34" charset="-122"/>
                <a:cs typeface="Calibri" pitchFamily="34" charset="-120"/>
              </a:rPr>
              <a:t>The small note on every response holding the two token counts. Most programs throw it away.</a:t>
            </a:r>
            <a:endParaRPr lang="en-US" sz="950" dirty="0"/>
          </a:p>
        </p:txBody>
      </p:sp>
      <p:sp>
        <p:nvSpPr>
          <p:cNvPr id="22" name="Shape 20"/>
          <p:cNvSpPr/>
          <p:nvPr/>
        </p:nvSpPr>
        <p:spPr>
          <a:xfrm>
            <a:off x="457200" y="2971800"/>
            <a:ext cx="1938528" cy="1481328"/>
          </a:xfrm>
          <a:prstGeom prst="roundRect">
            <a:avLst>
              <a:gd name="adj" fmla="val 4938"/>
            </a:avLst>
          </a:prstGeom>
          <a:solidFill>
            <a:srgbClr val="F3F4F6"/>
          </a:solidFill>
          <a:ln w="12700">
            <a:solidFill>
              <a:srgbClr val="F3F4F6"/>
            </a:solidFill>
            <a:prstDash val="solid"/>
          </a:ln>
        </p:spPr>
      </p:sp>
      <p:sp>
        <p:nvSpPr>
          <p:cNvPr id="23" name="Text 21"/>
          <p:cNvSpPr txBox="1"/>
          <p:nvPr/>
        </p:nvSpPr>
        <p:spPr>
          <a:xfrm>
            <a:off x="621792" y="3081528"/>
            <a:ext cx="548640" cy="274320"/>
          </a:xfrm>
          <a:prstGeom prst="rect">
            <a:avLst/>
          </a:prstGeom>
          <a:noFill/>
          <a:ln/>
        </p:spPr>
        <p:txBody>
          <a:bodyPr wrap="square" lIns="0" tIns="0" rIns="0" bIns="0" rtlCol="0" anchor="t"/>
          <a:lstStyle/>
          <a:p>
            <a:pPr indent="0" marL="0">
              <a:buNone/>
            </a:pPr>
            <a:r>
              <a:rPr lang="en-US" sz="1100" b="1" dirty="0">
                <a:solidFill>
                  <a:srgbClr val="B45309"/>
                </a:solidFill>
                <a:latin typeface="Calibri" pitchFamily="34" charset="0"/>
                <a:ea typeface="Calibri" pitchFamily="34" charset="-122"/>
                <a:cs typeface="Calibri" pitchFamily="34" charset="-120"/>
              </a:rPr>
              <a:t>05</a:t>
            </a:r>
            <a:endParaRPr lang="en-US" sz="1100" dirty="0"/>
          </a:p>
        </p:txBody>
      </p:sp>
      <p:sp>
        <p:nvSpPr>
          <p:cNvPr id="24" name="Text 22"/>
          <p:cNvSpPr txBox="1"/>
          <p:nvPr/>
        </p:nvSpPr>
        <p:spPr>
          <a:xfrm>
            <a:off x="621792" y="3355848"/>
            <a:ext cx="1691640" cy="411480"/>
          </a:xfrm>
          <a:prstGeom prst="rect">
            <a:avLst/>
          </a:prstGeom>
          <a:noFill/>
          <a:ln/>
        </p:spPr>
        <p:txBody>
          <a:bodyPr wrap="square" lIns="0" tIns="0" rIns="0" bIns="0" rtlCol="0" anchor="t"/>
          <a:lstStyle/>
          <a:p>
            <a:pPr indent="0" marL="0">
              <a:buNone/>
            </a:pPr>
            <a:r>
              <a:rPr lang="en-US" sz="1250" b="1" dirty="0">
                <a:solidFill>
                  <a:srgbClr val="111827"/>
                </a:solidFill>
                <a:latin typeface="Calibri" pitchFamily="34" charset="0"/>
                <a:ea typeface="Calibri" pitchFamily="34" charset="-122"/>
                <a:cs typeface="Calibri" pitchFamily="34" charset="-120"/>
              </a:rPr>
              <a:t>Wrapper (the envelope)</a:t>
            </a:r>
            <a:endParaRPr lang="en-US" sz="1250" dirty="0"/>
          </a:p>
        </p:txBody>
      </p:sp>
      <p:sp>
        <p:nvSpPr>
          <p:cNvPr id="25" name="Text 23"/>
          <p:cNvSpPr txBox="1"/>
          <p:nvPr/>
        </p:nvSpPr>
        <p:spPr>
          <a:xfrm>
            <a:off x="621792" y="3794760"/>
            <a:ext cx="1664208" cy="621792"/>
          </a:xfrm>
          <a:prstGeom prst="rect">
            <a:avLst/>
          </a:prstGeom>
          <a:noFill/>
          <a:ln/>
        </p:spPr>
        <p:txBody>
          <a:bodyPr wrap="square" lIns="0" tIns="0" rIns="0" bIns="0" rtlCol="0" anchor="t"/>
          <a:lstStyle/>
          <a:p>
            <a:pPr indent="0" marL="0">
              <a:buNone/>
            </a:pPr>
            <a:r>
              <a:rPr lang="en-US" sz="950" dirty="0">
                <a:solidFill>
                  <a:srgbClr val="6B7280"/>
                </a:solidFill>
                <a:latin typeface="Calibri" pitchFamily="34" charset="0"/>
                <a:ea typeface="Calibri" pitchFamily="34" charset="-122"/>
                <a:cs typeface="Calibri" pitchFamily="34" charset="-120"/>
              </a:rPr>
              <a:t>Code placed around an existing call, adding behaviour before and after. Wrap, do not rewrite.</a:t>
            </a:r>
            <a:endParaRPr lang="en-US" sz="950" dirty="0"/>
          </a:p>
        </p:txBody>
      </p:sp>
      <p:sp>
        <p:nvSpPr>
          <p:cNvPr id="26" name="Shape 24"/>
          <p:cNvSpPr/>
          <p:nvPr/>
        </p:nvSpPr>
        <p:spPr>
          <a:xfrm>
            <a:off x="2542032" y="2971800"/>
            <a:ext cx="1938528" cy="1481328"/>
          </a:xfrm>
          <a:prstGeom prst="roundRect">
            <a:avLst>
              <a:gd name="adj" fmla="val 4938"/>
            </a:avLst>
          </a:prstGeom>
          <a:solidFill>
            <a:srgbClr val="F3F4F6"/>
          </a:solidFill>
          <a:ln w="12700">
            <a:solidFill>
              <a:srgbClr val="F3F4F6"/>
            </a:solidFill>
            <a:prstDash val="solid"/>
          </a:ln>
        </p:spPr>
      </p:sp>
      <p:sp>
        <p:nvSpPr>
          <p:cNvPr id="27" name="Text 25"/>
          <p:cNvSpPr txBox="1"/>
          <p:nvPr/>
        </p:nvSpPr>
        <p:spPr>
          <a:xfrm>
            <a:off x="2706624" y="3081528"/>
            <a:ext cx="548640" cy="274320"/>
          </a:xfrm>
          <a:prstGeom prst="rect">
            <a:avLst/>
          </a:prstGeom>
          <a:noFill/>
          <a:ln/>
        </p:spPr>
        <p:txBody>
          <a:bodyPr wrap="square" lIns="0" tIns="0" rIns="0" bIns="0" rtlCol="0" anchor="t"/>
          <a:lstStyle/>
          <a:p>
            <a:pPr indent="0" marL="0">
              <a:buNone/>
            </a:pPr>
            <a:r>
              <a:rPr lang="en-US" sz="1100" b="1" dirty="0">
                <a:solidFill>
                  <a:srgbClr val="B45309"/>
                </a:solidFill>
                <a:latin typeface="Calibri" pitchFamily="34" charset="0"/>
                <a:ea typeface="Calibri" pitchFamily="34" charset="-122"/>
                <a:cs typeface="Calibri" pitchFamily="34" charset="-120"/>
              </a:rPr>
              <a:t>06</a:t>
            </a:r>
            <a:endParaRPr lang="en-US" sz="1100" dirty="0"/>
          </a:p>
        </p:txBody>
      </p:sp>
      <p:sp>
        <p:nvSpPr>
          <p:cNvPr id="28" name="Text 26"/>
          <p:cNvSpPr txBox="1"/>
          <p:nvPr/>
        </p:nvSpPr>
        <p:spPr>
          <a:xfrm>
            <a:off x="2706624" y="3355848"/>
            <a:ext cx="1691640" cy="411480"/>
          </a:xfrm>
          <a:prstGeom prst="rect">
            <a:avLst/>
          </a:prstGeom>
          <a:noFill/>
          <a:ln/>
        </p:spPr>
        <p:txBody>
          <a:bodyPr wrap="square" lIns="0" tIns="0" rIns="0" bIns="0" rtlCol="0" anchor="t"/>
          <a:lstStyle/>
          <a:p>
            <a:pPr indent="0" marL="0">
              <a:buNone/>
            </a:pPr>
            <a:r>
              <a:rPr lang="en-US" sz="1250" b="1" dirty="0">
                <a:solidFill>
                  <a:srgbClr val="111827"/>
                </a:solidFill>
                <a:latin typeface="Calibri" pitchFamily="34" charset="0"/>
                <a:ea typeface="Calibri" pitchFamily="34" charset="-122"/>
                <a:cs typeface="Calibri" pitchFamily="34" charset="-120"/>
              </a:rPr>
              <a:t>Label</a:t>
            </a:r>
            <a:endParaRPr lang="en-US" sz="1250" dirty="0"/>
          </a:p>
        </p:txBody>
      </p:sp>
      <p:sp>
        <p:nvSpPr>
          <p:cNvPr id="29" name="Text 27"/>
          <p:cNvSpPr txBox="1"/>
          <p:nvPr/>
        </p:nvSpPr>
        <p:spPr>
          <a:xfrm>
            <a:off x="2706624" y="3794760"/>
            <a:ext cx="1664208" cy="621792"/>
          </a:xfrm>
          <a:prstGeom prst="rect">
            <a:avLst/>
          </a:prstGeom>
          <a:noFill/>
          <a:ln/>
        </p:spPr>
        <p:txBody>
          <a:bodyPr wrap="square" lIns="0" tIns="0" rIns="0" bIns="0" rtlCol="0" anchor="t"/>
          <a:lstStyle/>
          <a:p>
            <a:pPr indent="0" marL="0">
              <a:buNone/>
            </a:pPr>
            <a:r>
              <a:rPr lang="en-US" sz="950" dirty="0">
                <a:solidFill>
                  <a:srgbClr val="6B7280"/>
                </a:solidFill>
                <a:latin typeface="Calibri" pitchFamily="34" charset="0"/>
                <a:ea typeface="Calibri" pitchFamily="34" charset="-122"/>
                <a:cs typeface="Calibri" pitchFamily="34" charset="-120"/>
              </a:rPr>
              <a:t>A word attached to a number saying what it was about. Four matter: agent, team, run, result.</a:t>
            </a:r>
            <a:endParaRPr lang="en-US" sz="950" dirty="0"/>
          </a:p>
        </p:txBody>
      </p:sp>
      <p:sp>
        <p:nvSpPr>
          <p:cNvPr id="30" name="Shape 28"/>
          <p:cNvSpPr/>
          <p:nvPr/>
        </p:nvSpPr>
        <p:spPr>
          <a:xfrm>
            <a:off x="4626864" y="2971800"/>
            <a:ext cx="1938528" cy="1481328"/>
          </a:xfrm>
          <a:prstGeom prst="roundRect">
            <a:avLst>
              <a:gd name="adj" fmla="val 4938"/>
            </a:avLst>
          </a:prstGeom>
          <a:solidFill>
            <a:srgbClr val="F3F4F6"/>
          </a:solidFill>
          <a:ln w="12700">
            <a:solidFill>
              <a:srgbClr val="F3F4F6"/>
            </a:solidFill>
            <a:prstDash val="solid"/>
          </a:ln>
        </p:spPr>
      </p:sp>
      <p:sp>
        <p:nvSpPr>
          <p:cNvPr id="31" name="Text 29"/>
          <p:cNvSpPr txBox="1"/>
          <p:nvPr/>
        </p:nvSpPr>
        <p:spPr>
          <a:xfrm>
            <a:off x="4791456" y="3081528"/>
            <a:ext cx="548640" cy="274320"/>
          </a:xfrm>
          <a:prstGeom prst="rect">
            <a:avLst/>
          </a:prstGeom>
          <a:noFill/>
          <a:ln/>
        </p:spPr>
        <p:txBody>
          <a:bodyPr wrap="square" lIns="0" tIns="0" rIns="0" bIns="0" rtlCol="0" anchor="t"/>
          <a:lstStyle/>
          <a:p>
            <a:pPr indent="0" marL="0">
              <a:buNone/>
            </a:pPr>
            <a:r>
              <a:rPr lang="en-US" sz="1100" b="1" dirty="0">
                <a:solidFill>
                  <a:srgbClr val="B45309"/>
                </a:solidFill>
                <a:latin typeface="Calibri" pitchFamily="34" charset="0"/>
                <a:ea typeface="Calibri" pitchFamily="34" charset="-122"/>
                <a:cs typeface="Calibri" pitchFamily="34" charset="-120"/>
              </a:rPr>
              <a:t>07</a:t>
            </a:r>
            <a:endParaRPr lang="en-US" sz="1100" dirty="0"/>
          </a:p>
        </p:txBody>
      </p:sp>
      <p:sp>
        <p:nvSpPr>
          <p:cNvPr id="32" name="Text 30"/>
          <p:cNvSpPr txBox="1"/>
          <p:nvPr/>
        </p:nvSpPr>
        <p:spPr>
          <a:xfrm>
            <a:off x="4791456" y="3355848"/>
            <a:ext cx="1691640" cy="411480"/>
          </a:xfrm>
          <a:prstGeom prst="rect">
            <a:avLst/>
          </a:prstGeom>
          <a:noFill/>
          <a:ln/>
        </p:spPr>
        <p:txBody>
          <a:bodyPr wrap="square" lIns="0" tIns="0" rIns="0" bIns="0" rtlCol="0" anchor="t"/>
          <a:lstStyle/>
          <a:p>
            <a:pPr indent="0" marL="0">
              <a:buNone/>
            </a:pPr>
            <a:r>
              <a:rPr lang="en-US" sz="1250" b="1" dirty="0">
                <a:solidFill>
                  <a:srgbClr val="111827"/>
                </a:solidFill>
                <a:latin typeface="Calibri" pitchFamily="34" charset="0"/>
                <a:ea typeface="Calibri" pitchFamily="34" charset="-122"/>
                <a:cs typeface="Calibri" pitchFamily="34" charset="-120"/>
              </a:rPr>
              <a:t>Run ID</a:t>
            </a:r>
            <a:endParaRPr lang="en-US" sz="1250" dirty="0"/>
          </a:p>
        </p:txBody>
      </p:sp>
      <p:sp>
        <p:nvSpPr>
          <p:cNvPr id="33" name="Text 31"/>
          <p:cNvSpPr txBox="1"/>
          <p:nvPr/>
        </p:nvSpPr>
        <p:spPr>
          <a:xfrm>
            <a:off x="4791456" y="3794760"/>
            <a:ext cx="1664208" cy="621792"/>
          </a:xfrm>
          <a:prstGeom prst="rect">
            <a:avLst/>
          </a:prstGeom>
          <a:noFill/>
          <a:ln/>
        </p:spPr>
        <p:txBody>
          <a:bodyPr wrap="square" lIns="0" tIns="0" rIns="0" bIns="0" rtlCol="0" anchor="t"/>
          <a:lstStyle/>
          <a:p>
            <a:pPr indent="0" marL="0">
              <a:buNone/>
            </a:pPr>
            <a:r>
              <a:rPr lang="en-US" sz="950" dirty="0">
                <a:solidFill>
                  <a:srgbClr val="6B7280"/>
                </a:solidFill>
                <a:latin typeface="Calibri" pitchFamily="34" charset="0"/>
                <a:ea typeface="Calibri" pitchFamily="34" charset="-122"/>
                <a:cs typeface="Calibri" pitchFamily="34" charset="-120"/>
              </a:rPr>
              <a:t>A short unique string made once at the start of a task and attached to every call it makes.</a:t>
            </a:r>
            <a:endParaRPr lang="en-US" sz="9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APPENDIX B · EVERY WORD WE USED, IN PLAIN ENGLISH</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Glossary: the tally</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2</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41</a:t>
            </a:r>
            <a:endParaRPr lang="en-US" sz="900" dirty="0"/>
          </a:p>
        </p:txBody>
      </p:sp>
      <p:sp>
        <p:nvSpPr>
          <p:cNvPr id="6" name="Shape 4"/>
          <p:cNvSpPr/>
          <p:nvPr/>
        </p:nvSpPr>
        <p:spPr>
          <a:xfrm>
            <a:off x="457200" y="1325880"/>
            <a:ext cx="1938528" cy="1481328"/>
          </a:xfrm>
          <a:prstGeom prst="roundRect">
            <a:avLst>
              <a:gd name="adj" fmla="val 4938"/>
            </a:avLst>
          </a:prstGeom>
          <a:solidFill>
            <a:srgbClr val="F3F4F6"/>
          </a:solidFill>
          <a:ln w="12700">
            <a:solidFill>
              <a:srgbClr val="F3F4F6"/>
            </a:solidFill>
            <a:prstDash val="solid"/>
          </a:ln>
        </p:spPr>
      </p:sp>
      <p:sp>
        <p:nvSpPr>
          <p:cNvPr id="7" name="Text 5"/>
          <p:cNvSpPr txBox="1"/>
          <p:nvPr/>
        </p:nvSpPr>
        <p:spPr>
          <a:xfrm>
            <a:off x="621792" y="1435608"/>
            <a:ext cx="548640" cy="274320"/>
          </a:xfrm>
          <a:prstGeom prst="rect">
            <a:avLst/>
          </a:prstGeom>
          <a:noFill/>
          <a:ln/>
        </p:spPr>
        <p:txBody>
          <a:bodyPr wrap="square" lIns="0" tIns="0" rIns="0" bIns="0" rtlCol="0" anchor="t"/>
          <a:lstStyle/>
          <a:p>
            <a:pPr indent="0" marL="0">
              <a:buNone/>
            </a:pPr>
            <a:r>
              <a:rPr lang="en-US" sz="1100" b="1" dirty="0">
                <a:solidFill>
                  <a:srgbClr val="B45309"/>
                </a:solidFill>
                <a:latin typeface="Calibri" pitchFamily="34" charset="0"/>
                <a:ea typeface="Calibri" pitchFamily="34" charset="-122"/>
                <a:cs typeface="Calibri" pitchFamily="34" charset="-120"/>
              </a:rPr>
              <a:t>08</a:t>
            </a:r>
            <a:endParaRPr lang="en-US" sz="1100" dirty="0"/>
          </a:p>
        </p:txBody>
      </p:sp>
      <p:sp>
        <p:nvSpPr>
          <p:cNvPr id="8" name="Text 6"/>
          <p:cNvSpPr txBox="1"/>
          <p:nvPr/>
        </p:nvSpPr>
        <p:spPr>
          <a:xfrm>
            <a:off x="621792" y="1709928"/>
            <a:ext cx="1691640" cy="411480"/>
          </a:xfrm>
          <a:prstGeom prst="rect">
            <a:avLst/>
          </a:prstGeom>
          <a:noFill/>
          <a:ln/>
        </p:spPr>
        <p:txBody>
          <a:bodyPr wrap="square" lIns="0" tIns="0" rIns="0" bIns="0" rtlCol="0" anchor="t"/>
          <a:lstStyle/>
          <a:p>
            <a:pPr indent="0" marL="0">
              <a:buNone/>
            </a:pPr>
            <a:r>
              <a:rPr lang="en-US" sz="1250" b="1" dirty="0">
                <a:solidFill>
                  <a:srgbClr val="111827"/>
                </a:solidFill>
                <a:latin typeface="Calibri" pitchFamily="34" charset="0"/>
                <a:ea typeface="Calibri" pitchFamily="34" charset="-122"/>
                <a:cs typeface="Calibri" pitchFamily="34" charset="-120"/>
              </a:rPr>
              <a:t>High-cardinality label</a:t>
            </a:r>
            <a:endParaRPr lang="en-US" sz="1250" dirty="0"/>
          </a:p>
        </p:txBody>
      </p:sp>
      <p:sp>
        <p:nvSpPr>
          <p:cNvPr id="9" name="Text 7"/>
          <p:cNvSpPr txBox="1"/>
          <p:nvPr/>
        </p:nvSpPr>
        <p:spPr>
          <a:xfrm>
            <a:off x="621792" y="2148840"/>
            <a:ext cx="1664208" cy="621792"/>
          </a:xfrm>
          <a:prstGeom prst="rect">
            <a:avLst/>
          </a:prstGeom>
          <a:noFill/>
          <a:ln/>
        </p:spPr>
        <p:txBody>
          <a:bodyPr wrap="square" lIns="0" tIns="0" rIns="0" bIns="0" rtlCol="0" anchor="t"/>
          <a:lstStyle/>
          <a:p>
            <a:pPr indent="0" marL="0">
              <a:buNone/>
            </a:pPr>
            <a:r>
              <a:rPr lang="en-US" sz="950" dirty="0">
                <a:solidFill>
                  <a:srgbClr val="6B7280"/>
                </a:solidFill>
                <a:latin typeface="Calibri" pitchFamily="34" charset="0"/>
                <a:ea typeface="Calibri" pitchFamily="34" charset="-122"/>
                <a:cs typeface="Calibri" pitchFamily="34" charset="-120"/>
              </a:rPr>
              <a:t>A label with unlimited values: an email, a timestamp. Makes monitoring slow and expensive.</a:t>
            </a:r>
            <a:endParaRPr lang="en-US" sz="950" dirty="0"/>
          </a:p>
        </p:txBody>
      </p:sp>
      <p:sp>
        <p:nvSpPr>
          <p:cNvPr id="10" name="Shape 8"/>
          <p:cNvSpPr/>
          <p:nvPr/>
        </p:nvSpPr>
        <p:spPr>
          <a:xfrm>
            <a:off x="2542032" y="1325880"/>
            <a:ext cx="1938528" cy="1481328"/>
          </a:xfrm>
          <a:prstGeom prst="roundRect">
            <a:avLst>
              <a:gd name="adj" fmla="val 4938"/>
            </a:avLst>
          </a:prstGeom>
          <a:solidFill>
            <a:srgbClr val="F3F4F6"/>
          </a:solidFill>
          <a:ln w="12700">
            <a:solidFill>
              <a:srgbClr val="F3F4F6"/>
            </a:solidFill>
            <a:prstDash val="solid"/>
          </a:ln>
        </p:spPr>
      </p:sp>
      <p:sp>
        <p:nvSpPr>
          <p:cNvPr id="11" name="Text 9"/>
          <p:cNvSpPr txBox="1"/>
          <p:nvPr/>
        </p:nvSpPr>
        <p:spPr>
          <a:xfrm>
            <a:off x="2706624" y="1435608"/>
            <a:ext cx="548640" cy="274320"/>
          </a:xfrm>
          <a:prstGeom prst="rect">
            <a:avLst/>
          </a:prstGeom>
          <a:noFill/>
          <a:ln/>
        </p:spPr>
        <p:txBody>
          <a:bodyPr wrap="square" lIns="0" tIns="0" rIns="0" bIns="0" rtlCol="0" anchor="t"/>
          <a:lstStyle/>
          <a:p>
            <a:pPr indent="0" marL="0">
              <a:buNone/>
            </a:pPr>
            <a:r>
              <a:rPr lang="en-US" sz="1100" b="1" dirty="0">
                <a:solidFill>
                  <a:srgbClr val="B45309"/>
                </a:solidFill>
                <a:latin typeface="Calibri" pitchFamily="34" charset="0"/>
                <a:ea typeface="Calibri" pitchFamily="34" charset="-122"/>
                <a:cs typeface="Calibri" pitchFamily="34" charset="-120"/>
              </a:rPr>
              <a:t>09</a:t>
            </a:r>
            <a:endParaRPr lang="en-US" sz="1100" dirty="0"/>
          </a:p>
        </p:txBody>
      </p:sp>
      <p:sp>
        <p:nvSpPr>
          <p:cNvPr id="12" name="Text 10"/>
          <p:cNvSpPr txBox="1"/>
          <p:nvPr/>
        </p:nvSpPr>
        <p:spPr>
          <a:xfrm>
            <a:off x="2706624" y="1709928"/>
            <a:ext cx="1691640" cy="411480"/>
          </a:xfrm>
          <a:prstGeom prst="rect">
            <a:avLst/>
          </a:prstGeom>
          <a:noFill/>
          <a:ln/>
        </p:spPr>
        <p:txBody>
          <a:bodyPr wrap="square" lIns="0" tIns="0" rIns="0" bIns="0" rtlCol="0" anchor="t"/>
          <a:lstStyle/>
          <a:p>
            <a:pPr indent="0" marL="0">
              <a:buNone/>
            </a:pPr>
            <a:r>
              <a:rPr lang="en-US" sz="1250" b="1" dirty="0">
                <a:solidFill>
                  <a:srgbClr val="111827"/>
                </a:solidFill>
                <a:latin typeface="Calibri" pitchFamily="34" charset="0"/>
                <a:ea typeface="Calibri" pitchFamily="34" charset="-122"/>
                <a:cs typeface="Calibri" pitchFamily="34" charset="-120"/>
              </a:rPr>
              <a:t>Counter</a:t>
            </a:r>
            <a:endParaRPr lang="en-US" sz="1250" dirty="0"/>
          </a:p>
        </p:txBody>
      </p:sp>
      <p:sp>
        <p:nvSpPr>
          <p:cNvPr id="13" name="Text 11"/>
          <p:cNvSpPr txBox="1"/>
          <p:nvPr/>
        </p:nvSpPr>
        <p:spPr>
          <a:xfrm>
            <a:off x="2706624" y="2148840"/>
            <a:ext cx="1664208" cy="621792"/>
          </a:xfrm>
          <a:prstGeom prst="rect">
            <a:avLst/>
          </a:prstGeom>
          <a:noFill/>
          <a:ln/>
        </p:spPr>
        <p:txBody>
          <a:bodyPr wrap="square" lIns="0" tIns="0" rIns="0" bIns="0" rtlCol="0" anchor="t"/>
          <a:lstStyle/>
          <a:p>
            <a:pPr indent="0" marL="0">
              <a:buNone/>
            </a:pPr>
            <a:r>
              <a:rPr lang="en-US" sz="950" dirty="0">
                <a:solidFill>
                  <a:srgbClr val="6B7280"/>
                </a:solidFill>
                <a:latin typeface="Calibri" pitchFamily="34" charset="0"/>
                <a:ea typeface="Calibri" pitchFamily="34" charset="-122"/>
                <a:cs typeface="Calibri" pitchFamily="34" charset="-120"/>
              </a:rPr>
              <a:t>A running total that only goes up. Never resets, so any window is two readings subtracted.</a:t>
            </a:r>
            <a:endParaRPr lang="en-US" sz="950" dirty="0"/>
          </a:p>
        </p:txBody>
      </p:sp>
      <p:sp>
        <p:nvSpPr>
          <p:cNvPr id="14" name="Shape 12"/>
          <p:cNvSpPr/>
          <p:nvPr/>
        </p:nvSpPr>
        <p:spPr>
          <a:xfrm>
            <a:off x="4626864" y="1325880"/>
            <a:ext cx="1938528" cy="1481328"/>
          </a:xfrm>
          <a:prstGeom prst="roundRect">
            <a:avLst>
              <a:gd name="adj" fmla="val 4938"/>
            </a:avLst>
          </a:prstGeom>
          <a:solidFill>
            <a:srgbClr val="F3F4F6"/>
          </a:solidFill>
          <a:ln w="12700">
            <a:solidFill>
              <a:srgbClr val="F3F4F6"/>
            </a:solidFill>
            <a:prstDash val="solid"/>
          </a:ln>
        </p:spPr>
      </p:sp>
      <p:sp>
        <p:nvSpPr>
          <p:cNvPr id="15" name="Text 13"/>
          <p:cNvSpPr txBox="1"/>
          <p:nvPr/>
        </p:nvSpPr>
        <p:spPr>
          <a:xfrm>
            <a:off x="4791456" y="1435608"/>
            <a:ext cx="548640" cy="274320"/>
          </a:xfrm>
          <a:prstGeom prst="rect">
            <a:avLst/>
          </a:prstGeom>
          <a:noFill/>
          <a:ln/>
        </p:spPr>
        <p:txBody>
          <a:bodyPr wrap="square" lIns="0" tIns="0" rIns="0" bIns="0" rtlCol="0" anchor="t"/>
          <a:lstStyle/>
          <a:p>
            <a:pPr indent="0" marL="0">
              <a:buNone/>
            </a:pPr>
            <a:r>
              <a:rPr lang="en-US" sz="1100" b="1" dirty="0">
                <a:solidFill>
                  <a:srgbClr val="B45309"/>
                </a:solidFill>
                <a:latin typeface="Calibri" pitchFamily="34" charset="0"/>
                <a:ea typeface="Calibri" pitchFamily="34" charset="-122"/>
                <a:cs typeface="Calibri" pitchFamily="34" charset="-120"/>
              </a:rPr>
              <a:t>10</a:t>
            </a:r>
            <a:endParaRPr lang="en-US" sz="1100" dirty="0"/>
          </a:p>
        </p:txBody>
      </p:sp>
      <p:sp>
        <p:nvSpPr>
          <p:cNvPr id="16" name="Text 14"/>
          <p:cNvSpPr txBox="1"/>
          <p:nvPr/>
        </p:nvSpPr>
        <p:spPr>
          <a:xfrm>
            <a:off x="4791456" y="1709928"/>
            <a:ext cx="1691640" cy="411480"/>
          </a:xfrm>
          <a:prstGeom prst="rect">
            <a:avLst/>
          </a:prstGeom>
          <a:noFill/>
          <a:ln/>
        </p:spPr>
        <p:txBody>
          <a:bodyPr wrap="square" lIns="0" tIns="0" rIns="0" bIns="0" rtlCol="0" anchor="t"/>
          <a:lstStyle/>
          <a:p>
            <a:pPr indent="0" marL="0">
              <a:buNone/>
            </a:pPr>
            <a:r>
              <a:rPr lang="en-US" sz="1250" b="1" dirty="0">
                <a:solidFill>
                  <a:srgbClr val="111827"/>
                </a:solidFill>
                <a:latin typeface="Calibri" pitchFamily="34" charset="0"/>
                <a:ea typeface="Calibri" pitchFamily="34" charset="-122"/>
                <a:cs typeface="Calibri" pitchFamily="34" charset="-120"/>
              </a:rPr>
              <a:t>Prometheus</a:t>
            </a:r>
            <a:endParaRPr lang="en-US" sz="1250" dirty="0"/>
          </a:p>
        </p:txBody>
      </p:sp>
      <p:sp>
        <p:nvSpPr>
          <p:cNvPr id="17" name="Text 15"/>
          <p:cNvSpPr txBox="1"/>
          <p:nvPr/>
        </p:nvSpPr>
        <p:spPr>
          <a:xfrm>
            <a:off x="4791456" y="2148840"/>
            <a:ext cx="1664208" cy="621792"/>
          </a:xfrm>
          <a:prstGeom prst="rect">
            <a:avLst/>
          </a:prstGeom>
          <a:noFill/>
          <a:ln/>
        </p:spPr>
        <p:txBody>
          <a:bodyPr wrap="square" lIns="0" tIns="0" rIns="0" bIns="0" rtlCol="0" anchor="t"/>
          <a:lstStyle/>
          <a:p>
            <a:pPr indent="0" marL="0">
              <a:buNone/>
            </a:pPr>
            <a:r>
              <a:rPr lang="en-US" sz="950" dirty="0">
                <a:solidFill>
                  <a:srgbClr val="6B7280"/>
                </a:solidFill>
                <a:latin typeface="Calibri" pitchFamily="34" charset="0"/>
                <a:ea typeface="Calibri" pitchFamily="34" charset="-122"/>
                <a:cs typeface="Calibri" pitchFamily="34" charset="-120"/>
              </a:rPr>
              <a:t>The standard program for remembering numbers over time, with timestamps.</a:t>
            </a:r>
            <a:endParaRPr lang="en-US" sz="950" dirty="0"/>
          </a:p>
        </p:txBody>
      </p:sp>
      <p:sp>
        <p:nvSpPr>
          <p:cNvPr id="18" name="Shape 16"/>
          <p:cNvSpPr/>
          <p:nvPr/>
        </p:nvSpPr>
        <p:spPr>
          <a:xfrm>
            <a:off x="6711696" y="1325880"/>
            <a:ext cx="1938528" cy="1481328"/>
          </a:xfrm>
          <a:prstGeom prst="roundRect">
            <a:avLst>
              <a:gd name="adj" fmla="val 4938"/>
            </a:avLst>
          </a:prstGeom>
          <a:solidFill>
            <a:srgbClr val="F3F4F6"/>
          </a:solidFill>
          <a:ln w="12700">
            <a:solidFill>
              <a:srgbClr val="F3F4F6"/>
            </a:solidFill>
            <a:prstDash val="solid"/>
          </a:ln>
        </p:spPr>
      </p:sp>
      <p:sp>
        <p:nvSpPr>
          <p:cNvPr id="19" name="Text 17"/>
          <p:cNvSpPr txBox="1"/>
          <p:nvPr/>
        </p:nvSpPr>
        <p:spPr>
          <a:xfrm>
            <a:off x="6876288" y="1435608"/>
            <a:ext cx="548640" cy="274320"/>
          </a:xfrm>
          <a:prstGeom prst="rect">
            <a:avLst/>
          </a:prstGeom>
          <a:noFill/>
          <a:ln/>
        </p:spPr>
        <p:txBody>
          <a:bodyPr wrap="square" lIns="0" tIns="0" rIns="0" bIns="0" rtlCol="0" anchor="t"/>
          <a:lstStyle/>
          <a:p>
            <a:pPr indent="0" marL="0">
              <a:buNone/>
            </a:pPr>
            <a:r>
              <a:rPr lang="en-US" sz="1100" b="1" dirty="0">
                <a:solidFill>
                  <a:srgbClr val="B45309"/>
                </a:solidFill>
                <a:latin typeface="Calibri" pitchFamily="34" charset="0"/>
                <a:ea typeface="Calibri" pitchFamily="34" charset="-122"/>
                <a:cs typeface="Calibri" pitchFamily="34" charset="-120"/>
              </a:rPr>
              <a:t>11</a:t>
            </a:r>
            <a:endParaRPr lang="en-US" sz="1100" dirty="0"/>
          </a:p>
        </p:txBody>
      </p:sp>
      <p:sp>
        <p:nvSpPr>
          <p:cNvPr id="20" name="Text 18"/>
          <p:cNvSpPr txBox="1"/>
          <p:nvPr/>
        </p:nvSpPr>
        <p:spPr>
          <a:xfrm>
            <a:off x="6876288" y="1709928"/>
            <a:ext cx="1691640" cy="411480"/>
          </a:xfrm>
          <a:prstGeom prst="rect">
            <a:avLst/>
          </a:prstGeom>
          <a:noFill/>
          <a:ln/>
        </p:spPr>
        <p:txBody>
          <a:bodyPr wrap="square" lIns="0" tIns="0" rIns="0" bIns="0" rtlCol="0" anchor="t"/>
          <a:lstStyle/>
          <a:p>
            <a:pPr indent="0" marL="0">
              <a:buNone/>
            </a:pPr>
            <a:r>
              <a:rPr lang="en-US" sz="1250" b="1" dirty="0">
                <a:solidFill>
                  <a:srgbClr val="111827"/>
                </a:solidFill>
                <a:latin typeface="Calibri" pitchFamily="34" charset="0"/>
                <a:ea typeface="Calibri" pitchFamily="34" charset="-122"/>
                <a:cs typeface="Calibri" pitchFamily="34" charset="-120"/>
              </a:rPr>
              <a:t>Grafana</a:t>
            </a:r>
            <a:endParaRPr lang="en-US" sz="1250" dirty="0"/>
          </a:p>
        </p:txBody>
      </p:sp>
      <p:sp>
        <p:nvSpPr>
          <p:cNvPr id="21" name="Text 19"/>
          <p:cNvSpPr txBox="1"/>
          <p:nvPr/>
        </p:nvSpPr>
        <p:spPr>
          <a:xfrm>
            <a:off x="6876288" y="2148840"/>
            <a:ext cx="1664208" cy="621792"/>
          </a:xfrm>
          <a:prstGeom prst="rect">
            <a:avLst/>
          </a:prstGeom>
          <a:noFill/>
          <a:ln/>
        </p:spPr>
        <p:txBody>
          <a:bodyPr wrap="square" lIns="0" tIns="0" rIns="0" bIns="0" rtlCol="0" anchor="t"/>
          <a:lstStyle/>
          <a:p>
            <a:pPr indent="0" marL="0">
              <a:buNone/>
            </a:pPr>
            <a:r>
              <a:rPr lang="en-US" sz="950" dirty="0">
                <a:solidFill>
                  <a:srgbClr val="6B7280"/>
                </a:solidFill>
                <a:latin typeface="Calibri" pitchFamily="34" charset="0"/>
                <a:ea typeface="Calibri" pitchFamily="34" charset="-122"/>
                <a:cs typeface="Calibri" pitchFamily="34" charset="-120"/>
              </a:rPr>
              <a:t>Asks Prometheus for numbers and draws them as lines a human can read at a glance.</a:t>
            </a:r>
            <a:endParaRPr lang="en-US" sz="950" dirty="0"/>
          </a:p>
        </p:txBody>
      </p:sp>
      <p:sp>
        <p:nvSpPr>
          <p:cNvPr id="22" name="Shape 20"/>
          <p:cNvSpPr/>
          <p:nvPr/>
        </p:nvSpPr>
        <p:spPr>
          <a:xfrm>
            <a:off x="457200" y="2971800"/>
            <a:ext cx="1938528" cy="1481328"/>
          </a:xfrm>
          <a:prstGeom prst="roundRect">
            <a:avLst>
              <a:gd name="adj" fmla="val 4938"/>
            </a:avLst>
          </a:prstGeom>
          <a:solidFill>
            <a:srgbClr val="F3F4F6"/>
          </a:solidFill>
          <a:ln w="12700">
            <a:solidFill>
              <a:srgbClr val="F3F4F6"/>
            </a:solidFill>
            <a:prstDash val="solid"/>
          </a:ln>
        </p:spPr>
      </p:sp>
      <p:sp>
        <p:nvSpPr>
          <p:cNvPr id="23" name="Text 21"/>
          <p:cNvSpPr txBox="1"/>
          <p:nvPr/>
        </p:nvSpPr>
        <p:spPr>
          <a:xfrm>
            <a:off x="621792" y="3081528"/>
            <a:ext cx="548640" cy="274320"/>
          </a:xfrm>
          <a:prstGeom prst="rect">
            <a:avLst/>
          </a:prstGeom>
          <a:noFill/>
          <a:ln/>
        </p:spPr>
        <p:txBody>
          <a:bodyPr wrap="square" lIns="0" tIns="0" rIns="0" bIns="0" rtlCol="0" anchor="t"/>
          <a:lstStyle/>
          <a:p>
            <a:pPr indent="0" marL="0">
              <a:buNone/>
            </a:pPr>
            <a:r>
              <a:rPr lang="en-US" sz="1100" b="1" dirty="0">
                <a:solidFill>
                  <a:srgbClr val="B45309"/>
                </a:solidFill>
                <a:latin typeface="Calibri" pitchFamily="34" charset="0"/>
                <a:ea typeface="Calibri" pitchFamily="34" charset="-122"/>
                <a:cs typeface="Calibri" pitchFamily="34" charset="-120"/>
              </a:rPr>
              <a:t>12</a:t>
            </a:r>
            <a:endParaRPr lang="en-US" sz="1100" dirty="0"/>
          </a:p>
        </p:txBody>
      </p:sp>
      <p:sp>
        <p:nvSpPr>
          <p:cNvPr id="24" name="Text 22"/>
          <p:cNvSpPr txBox="1"/>
          <p:nvPr/>
        </p:nvSpPr>
        <p:spPr>
          <a:xfrm>
            <a:off x="621792" y="3355848"/>
            <a:ext cx="1691640" cy="411480"/>
          </a:xfrm>
          <a:prstGeom prst="rect">
            <a:avLst/>
          </a:prstGeom>
          <a:noFill/>
          <a:ln/>
        </p:spPr>
        <p:txBody>
          <a:bodyPr wrap="square" lIns="0" tIns="0" rIns="0" bIns="0" rtlCol="0" anchor="t"/>
          <a:lstStyle/>
          <a:p>
            <a:pPr indent="0" marL="0">
              <a:buNone/>
            </a:pPr>
            <a:r>
              <a:rPr lang="en-US" sz="1250" b="1" dirty="0">
                <a:solidFill>
                  <a:srgbClr val="111827"/>
                </a:solidFill>
                <a:latin typeface="Calibri" pitchFamily="34" charset="0"/>
                <a:ea typeface="Calibri" pitchFamily="34" charset="-122"/>
                <a:cs typeface="Calibri" pitchFamily="34" charset="-120"/>
              </a:rPr>
              <a:t>The /metrics endpoint</a:t>
            </a:r>
            <a:endParaRPr lang="en-US" sz="1250" dirty="0"/>
          </a:p>
        </p:txBody>
      </p:sp>
      <p:sp>
        <p:nvSpPr>
          <p:cNvPr id="25" name="Text 23"/>
          <p:cNvSpPr txBox="1"/>
          <p:nvPr/>
        </p:nvSpPr>
        <p:spPr>
          <a:xfrm>
            <a:off x="621792" y="3794760"/>
            <a:ext cx="1664208" cy="621792"/>
          </a:xfrm>
          <a:prstGeom prst="rect">
            <a:avLst/>
          </a:prstGeom>
          <a:noFill/>
          <a:ln/>
        </p:spPr>
        <p:txBody>
          <a:bodyPr wrap="square" lIns="0" tIns="0" rIns="0" bIns="0" rtlCol="0" anchor="t"/>
          <a:lstStyle/>
          <a:p>
            <a:pPr indent="0" marL="0">
              <a:buNone/>
            </a:pPr>
            <a:r>
              <a:rPr lang="en-US" sz="950" dirty="0">
                <a:solidFill>
                  <a:srgbClr val="6B7280"/>
                </a:solidFill>
                <a:latin typeface="Calibri" pitchFamily="34" charset="0"/>
                <a:ea typeface="Calibri" pitchFamily="34" charset="-122"/>
                <a:cs typeface="Calibri" pitchFamily="34" charset="-120"/>
              </a:rPr>
              <a:t>A web address your program exposes where its current tallies can be read.</a:t>
            </a:r>
            <a:endParaRPr lang="en-US" sz="950" dirty="0"/>
          </a:p>
        </p:txBody>
      </p:sp>
      <p:sp>
        <p:nvSpPr>
          <p:cNvPr id="26" name="Shape 24"/>
          <p:cNvSpPr/>
          <p:nvPr/>
        </p:nvSpPr>
        <p:spPr>
          <a:xfrm>
            <a:off x="2542032" y="2971800"/>
            <a:ext cx="1938528" cy="1481328"/>
          </a:xfrm>
          <a:prstGeom prst="roundRect">
            <a:avLst>
              <a:gd name="adj" fmla="val 4938"/>
            </a:avLst>
          </a:prstGeom>
          <a:solidFill>
            <a:srgbClr val="F3F4F6"/>
          </a:solidFill>
          <a:ln w="12700">
            <a:solidFill>
              <a:srgbClr val="F3F4F6"/>
            </a:solidFill>
            <a:prstDash val="solid"/>
          </a:ln>
        </p:spPr>
      </p:sp>
      <p:sp>
        <p:nvSpPr>
          <p:cNvPr id="27" name="Text 25"/>
          <p:cNvSpPr txBox="1"/>
          <p:nvPr/>
        </p:nvSpPr>
        <p:spPr>
          <a:xfrm>
            <a:off x="2706624" y="3081528"/>
            <a:ext cx="548640" cy="274320"/>
          </a:xfrm>
          <a:prstGeom prst="rect">
            <a:avLst/>
          </a:prstGeom>
          <a:noFill/>
          <a:ln/>
        </p:spPr>
        <p:txBody>
          <a:bodyPr wrap="square" lIns="0" tIns="0" rIns="0" bIns="0" rtlCol="0" anchor="t"/>
          <a:lstStyle/>
          <a:p>
            <a:pPr indent="0" marL="0">
              <a:buNone/>
            </a:pPr>
            <a:r>
              <a:rPr lang="en-US" sz="1100" b="1" dirty="0">
                <a:solidFill>
                  <a:srgbClr val="B45309"/>
                </a:solidFill>
                <a:latin typeface="Calibri" pitchFamily="34" charset="0"/>
                <a:ea typeface="Calibri" pitchFamily="34" charset="-122"/>
                <a:cs typeface="Calibri" pitchFamily="34" charset="-120"/>
              </a:rPr>
              <a:t>13</a:t>
            </a:r>
            <a:endParaRPr lang="en-US" sz="1100" dirty="0"/>
          </a:p>
        </p:txBody>
      </p:sp>
      <p:sp>
        <p:nvSpPr>
          <p:cNvPr id="28" name="Text 26"/>
          <p:cNvSpPr txBox="1"/>
          <p:nvPr/>
        </p:nvSpPr>
        <p:spPr>
          <a:xfrm>
            <a:off x="2706624" y="3355848"/>
            <a:ext cx="1691640" cy="411480"/>
          </a:xfrm>
          <a:prstGeom prst="rect">
            <a:avLst/>
          </a:prstGeom>
          <a:noFill/>
          <a:ln/>
        </p:spPr>
        <p:txBody>
          <a:bodyPr wrap="square" lIns="0" tIns="0" rIns="0" bIns="0" rtlCol="0" anchor="t"/>
          <a:lstStyle/>
          <a:p>
            <a:pPr indent="0" marL="0">
              <a:buNone/>
            </a:pPr>
            <a:r>
              <a:rPr lang="en-US" sz="1250" b="1" dirty="0">
                <a:solidFill>
                  <a:srgbClr val="111827"/>
                </a:solidFill>
                <a:latin typeface="Calibri" pitchFamily="34" charset="0"/>
                <a:ea typeface="Calibri" pitchFamily="34" charset="-122"/>
                <a:cs typeface="Calibri" pitchFamily="34" charset="-120"/>
              </a:rPr>
              <a:t>Seeing comes first</a:t>
            </a:r>
            <a:endParaRPr lang="en-US" sz="1250" dirty="0"/>
          </a:p>
        </p:txBody>
      </p:sp>
      <p:sp>
        <p:nvSpPr>
          <p:cNvPr id="29" name="Text 27"/>
          <p:cNvSpPr txBox="1"/>
          <p:nvPr/>
        </p:nvSpPr>
        <p:spPr>
          <a:xfrm>
            <a:off x="2706624" y="3794760"/>
            <a:ext cx="1664208" cy="621792"/>
          </a:xfrm>
          <a:prstGeom prst="rect">
            <a:avLst/>
          </a:prstGeom>
          <a:noFill/>
          <a:ln/>
        </p:spPr>
        <p:txBody>
          <a:bodyPr wrap="square" lIns="0" tIns="0" rIns="0" bIns="0" rtlCol="0" anchor="t"/>
          <a:lstStyle/>
          <a:p>
            <a:pPr indent="0" marL="0">
              <a:buNone/>
            </a:pPr>
            <a:r>
              <a:rPr lang="en-US" sz="950" dirty="0">
                <a:solidFill>
                  <a:srgbClr val="6B7280"/>
                </a:solidFill>
                <a:latin typeface="Calibri" pitchFamily="34" charset="0"/>
                <a:ea typeface="Calibri" pitchFamily="34" charset="-122"/>
                <a:cs typeface="Calibri" pitchFamily="34" charset="-120"/>
              </a:rPr>
              <a:t>Why this module precedes the limits in module 3; you cannot choose a limit blind.</a:t>
            </a:r>
            <a:endParaRPr lang="en-US" sz="950" dirty="0"/>
          </a:p>
        </p:txBody>
      </p:sp>
      <p:sp>
        <p:nvSpPr>
          <p:cNvPr id="30" name="Shape 28"/>
          <p:cNvSpPr/>
          <p:nvPr/>
        </p:nvSpPr>
        <p:spPr>
          <a:xfrm>
            <a:off x="4626864" y="2971800"/>
            <a:ext cx="1938528" cy="1481328"/>
          </a:xfrm>
          <a:prstGeom prst="roundRect">
            <a:avLst>
              <a:gd name="adj" fmla="val 4938"/>
            </a:avLst>
          </a:prstGeom>
          <a:solidFill>
            <a:srgbClr val="F3F4F6"/>
          </a:solidFill>
          <a:ln w="12700">
            <a:solidFill>
              <a:srgbClr val="F3F4F6"/>
            </a:solidFill>
            <a:prstDash val="solid"/>
          </a:ln>
        </p:spPr>
      </p:sp>
      <p:sp>
        <p:nvSpPr>
          <p:cNvPr id="31" name="Text 29"/>
          <p:cNvSpPr txBox="1"/>
          <p:nvPr/>
        </p:nvSpPr>
        <p:spPr>
          <a:xfrm>
            <a:off x="4791456" y="3081528"/>
            <a:ext cx="548640" cy="274320"/>
          </a:xfrm>
          <a:prstGeom prst="rect">
            <a:avLst/>
          </a:prstGeom>
          <a:noFill/>
          <a:ln/>
        </p:spPr>
        <p:txBody>
          <a:bodyPr wrap="square" lIns="0" tIns="0" rIns="0" bIns="0" rtlCol="0" anchor="t"/>
          <a:lstStyle/>
          <a:p>
            <a:pPr indent="0" marL="0">
              <a:buNone/>
            </a:pPr>
            <a:r>
              <a:rPr lang="en-US" sz="1100" b="1" dirty="0">
                <a:solidFill>
                  <a:srgbClr val="B45309"/>
                </a:solidFill>
                <a:latin typeface="Calibri" pitchFamily="34" charset="0"/>
                <a:ea typeface="Calibri" pitchFamily="34" charset="-122"/>
                <a:cs typeface="Calibri" pitchFamily="34" charset="-120"/>
              </a:rPr>
              <a:t>14</a:t>
            </a:r>
            <a:endParaRPr lang="en-US" sz="1100" dirty="0"/>
          </a:p>
        </p:txBody>
      </p:sp>
      <p:sp>
        <p:nvSpPr>
          <p:cNvPr id="32" name="Text 30"/>
          <p:cNvSpPr txBox="1"/>
          <p:nvPr/>
        </p:nvSpPr>
        <p:spPr>
          <a:xfrm>
            <a:off x="4791456" y="3355848"/>
            <a:ext cx="1691640" cy="411480"/>
          </a:xfrm>
          <a:prstGeom prst="rect">
            <a:avLst/>
          </a:prstGeom>
          <a:noFill/>
          <a:ln/>
        </p:spPr>
        <p:txBody>
          <a:bodyPr wrap="square" lIns="0" tIns="0" rIns="0" bIns="0" rtlCol="0" anchor="t"/>
          <a:lstStyle/>
          <a:p>
            <a:pPr indent="0" marL="0">
              <a:buNone/>
            </a:pPr>
            <a:r>
              <a:rPr lang="en-US" sz="1250" b="1" dirty="0">
                <a:solidFill>
                  <a:srgbClr val="111827"/>
                </a:solidFill>
                <a:latin typeface="Calibri" pitchFamily="34" charset="0"/>
                <a:ea typeface="Calibri" pitchFamily="34" charset="-122"/>
                <a:cs typeface="Calibri" pitchFamily="34" charset="-120"/>
              </a:rPr>
              <a:t>Virtual environment (venv)</a:t>
            </a:r>
            <a:endParaRPr lang="en-US" sz="1250" dirty="0"/>
          </a:p>
        </p:txBody>
      </p:sp>
      <p:sp>
        <p:nvSpPr>
          <p:cNvPr id="33" name="Text 31"/>
          <p:cNvSpPr txBox="1"/>
          <p:nvPr/>
        </p:nvSpPr>
        <p:spPr>
          <a:xfrm>
            <a:off x="4791456" y="3794760"/>
            <a:ext cx="1664208" cy="621792"/>
          </a:xfrm>
          <a:prstGeom prst="rect">
            <a:avLst/>
          </a:prstGeom>
          <a:noFill/>
          <a:ln/>
        </p:spPr>
        <p:txBody>
          <a:bodyPr wrap="square" lIns="0" tIns="0" rIns="0" bIns="0" rtlCol="0" anchor="t"/>
          <a:lstStyle/>
          <a:p>
            <a:pPr indent="0" marL="0">
              <a:buNone/>
            </a:pPr>
            <a:r>
              <a:rPr lang="en-US" sz="950" dirty="0">
                <a:solidFill>
                  <a:srgbClr val="6B7280"/>
                </a:solidFill>
                <a:latin typeface="Calibri" pitchFamily="34" charset="0"/>
                <a:ea typeface="Calibri" pitchFamily="34" charset="-122"/>
                <a:cs typeface="Calibri" pitchFamily="34" charset="-120"/>
              </a:rPr>
              <a:t>A private box of Python packages for one project. Activate it before you work; deactivate when done.</a:t>
            </a:r>
            <a:endParaRPr lang="en-US" sz="9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APPENDIX C: THE COMMANDS, IN PLAIN ENGLISH</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Setting up</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2</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42</a:t>
            </a:r>
            <a:endParaRPr lang="en-US" sz="900" dirty="0"/>
          </a:p>
        </p:txBody>
      </p:sp>
      <p:sp>
        <p:nvSpPr>
          <p:cNvPr id="6" name="Shape 4"/>
          <p:cNvSpPr/>
          <p:nvPr/>
        </p:nvSpPr>
        <p:spPr>
          <a:xfrm>
            <a:off x="457200" y="1280160"/>
            <a:ext cx="8229600" cy="384048"/>
          </a:xfrm>
          <a:prstGeom prst="roundRect">
            <a:avLst>
              <a:gd name="adj" fmla="val 19048"/>
            </a:avLst>
          </a:prstGeom>
          <a:solidFill>
            <a:srgbClr val="F3F4F6"/>
          </a:solidFill>
          <a:ln w="12700">
            <a:solidFill>
              <a:srgbClr val="F3F4F6"/>
            </a:solidFill>
            <a:prstDash val="solid"/>
          </a:ln>
        </p:spPr>
      </p:sp>
      <p:sp>
        <p:nvSpPr>
          <p:cNvPr id="7" name="Text 5"/>
          <p:cNvSpPr txBox="1"/>
          <p:nvPr/>
        </p:nvSpPr>
        <p:spPr>
          <a:xfrm>
            <a:off x="594360" y="1280160"/>
            <a:ext cx="3200400" cy="384048"/>
          </a:xfrm>
          <a:prstGeom prst="rect">
            <a:avLst/>
          </a:prstGeom>
          <a:noFill/>
          <a:ln/>
        </p:spPr>
        <p:txBody>
          <a:bodyPr wrap="square" lIns="0" tIns="0" rIns="0" bIns="0" rtlCol="0" anchor="ctr"/>
          <a:lstStyle/>
          <a:p>
            <a:pPr indent="0" marL="0">
              <a:buNone/>
            </a:pPr>
            <a:r>
              <a:rPr lang="en-US" sz="950" b="1" dirty="0">
                <a:solidFill>
                  <a:srgbClr val="6D28D9"/>
                </a:solidFill>
                <a:latin typeface="Courier New" pitchFamily="34" charset="0"/>
                <a:ea typeface="Courier New" pitchFamily="34" charset="-122"/>
                <a:cs typeface="Courier New" pitchFamily="34" charset="-120"/>
              </a:rPr>
              <a:t>cd agent-cost-control</a:t>
            </a:r>
            <a:endParaRPr lang="en-US" sz="950" dirty="0"/>
          </a:p>
        </p:txBody>
      </p:sp>
      <p:sp>
        <p:nvSpPr>
          <p:cNvPr id="8" name="Text 6"/>
          <p:cNvSpPr txBox="1"/>
          <p:nvPr/>
        </p:nvSpPr>
        <p:spPr>
          <a:xfrm>
            <a:off x="3931920" y="1280160"/>
            <a:ext cx="4663440" cy="384048"/>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Move into the project folder. Every later command assumes you are in it.</a:t>
            </a:r>
            <a:endParaRPr lang="en-US" sz="1050" dirty="0"/>
          </a:p>
        </p:txBody>
      </p:sp>
      <p:sp>
        <p:nvSpPr>
          <p:cNvPr id="9" name="Shape 7"/>
          <p:cNvSpPr/>
          <p:nvPr/>
        </p:nvSpPr>
        <p:spPr>
          <a:xfrm>
            <a:off x="457200" y="1709928"/>
            <a:ext cx="8229600" cy="384048"/>
          </a:xfrm>
          <a:prstGeom prst="roundRect">
            <a:avLst>
              <a:gd name="adj" fmla="val 19048"/>
            </a:avLst>
          </a:prstGeom>
          <a:solidFill>
            <a:srgbClr val="FFFFFF"/>
          </a:solidFill>
          <a:ln w="12700">
            <a:solidFill>
              <a:srgbClr val="FFFFFF"/>
            </a:solidFill>
            <a:prstDash val="solid"/>
          </a:ln>
        </p:spPr>
      </p:sp>
      <p:sp>
        <p:nvSpPr>
          <p:cNvPr id="10" name="Text 8"/>
          <p:cNvSpPr txBox="1"/>
          <p:nvPr/>
        </p:nvSpPr>
        <p:spPr>
          <a:xfrm>
            <a:off x="594360" y="1709928"/>
            <a:ext cx="3200400" cy="384048"/>
          </a:xfrm>
          <a:prstGeom prst="rect">
            <a:avLst/>
          </a:prstGeom>
          <a:noFill/>
          <a:ln/>
        </p:spPr>
        <p:txBody>
          <a:bodyPr wrap="square" lIns="0" tIns="0" rIns="0" bIns="0" rtlCol="0" anchor="ctr"/>
          <a:lstStyle/>
          <a:p>
            <a:pPr indent="0" marL="0">
              <a:buNone/>
            </a:pPr>
            <a:r>
              <a:rPr lang="en-US" sz="950" b="1" dirty="0">
                <a:solidFill>
                  <a:srgbClr val="6D28D9"/>
                </a:solidFill>
                <a:latin typeface="Courier New" pitchFamily="34" charset="0"/>
                <a:ea typeface="Courier New" pitchFamily="34" charset="-122"/>
                <a:cs typeface="Courier New" pitchFamily="34" charset="-120"/>
              </a:rPr>
              <a:t>python3 -m venv .venv</a:t>
            </a:r>
            <a:endParaRPr lang="en-US" sz="950" dirty="0"/>
          </a:p>
        </p:txBody>
      </p:sp>
      <p:sp>
        <p:nvSpPr>
          <p:cNvPr id="11" name="Text 9"/>
          <p:cNvSpPr txBox="1"/>
          <p:nvPr/>
        </p:nvSpPr>
        <p:spPr>
          <a:xfrm>
            <a:off x="3931920" y="1709928"/>
            <a:ext cx="4663440" cy="384048"/>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Mac and Linux: build the private package box, in a folder called .venv.</a:t>
            </a:r>
            <a:endParaRPr lang="en-US" sz="1050" dirty="0"/>
          </a:p>
        </p:txBody>
      </p:sp>
      <p:sp>
        <p:nvSpPr>
          <p:cNvPr id="12" name="Shape 10"/>
          <p:cNvSpPr/>
          <p:nvPr/>
        </p:nvSpPr>
        <p:spPr>
          <a:xfrm>
            <a:off x="457200" y="2139696"/>
            <a:ext cx="8229600" cy="384048"/>
          </a:xfrm>
          <a:prstGeom prst="roundRect">
            <a:avLst>
              <a:gd name="adj" fmla="val 19048"/>
            </a:avLst>
          </a:prstGeom>
          <a:solidFill>
            <a:srgbClr val="F3F4F6"/>
          </a:solidFill>
          <a:ln w="12700">
            <a:solidFill>
              <a:srgbClr val="F3F4F6"/>
            </a:solidFill>
            <a:prstDash val="solid"/>
          </a:ln>
        </p:spPr>
      </p:sp>
      <p:sp>
        <p:nvSpPr>
          <p:cNvPr id="13" name="Text 11"/>
          <p:cNvSpPr txBox="1"/>
          <p:nvPr/>
        </p:nvSpPr>
        <p:spPr>
          <a:xfrm>
            <a:off x="594360" y="2139696"/>
            <a:ext cx="3200400" cy="384048"/>
          </a:xfrm>
          <a:prstGeom prst="rect">
            <a:avLst/>
          </a:prstGeom>
          <a:noFill/>
          <a:ln/>
        </p:spPr>
        <p:txBody>
          <a:bodyPr wrap="square" lIns="0" tIns="0" rIns="0" bIns="0" rtlCol="0" anchor="ctr"/>
          <a:lstStyle/>
          <a:p>
            <a:pPr indent="0" marL="0">
              <a:buNone/>
            </a:pPr>
            <a:r>
              <a:rPr lang="en-US" sz="950" b="1" dirty="0">
                <a:solidFill>
                  <a:srgbClr val="6D28D9"/>
                </a:solidFill>
                <a:latin typeface="Courier New" pitchFamily="34" charset="0"/>
                <a:ea typeface="Courier New" pitchFamily="34" charset="-122"/>
                <a:cs typeface="Courier New" pitchFamily="34" charset="-120"/>
              </a:rPr>
              <a:t>py -m venv .venv</a:t>
            </a:r>
            <a:endParaRPr lang="en-US" sz="950" dirty="0"/>
          </a:p>
        </p:txBody>
      </p:sp>
      <p:sp>
        <p:nvSpPr>
          <p:cNvPr id="14" name="Text 12"/>
          <p:cNvSpPr txBox="1"/>
          <p:nvPr/>
        </p:nvSpPr>
        <p:spPr>
          <a:xfrm>
            <a:off x="3931920" y="2139696"/>
            <a:ext cx="4663440" cy="384048"/>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Windows: the same thing. py is the Python launcher that ships with Windows.</a:t>
            </a:r>
            <a:endParaRPr lang="en-US" sz="1050" dirty="0"/>
          </a:p>
        </p:txBody>
      </p:sp>
      <p:sp>
        <p:nvSpPr>
          <p:cNvPr id="15" name="Shape 13"/>
          <p:cNvSpPr/>
          <p:nvPr/>
        </p:nvSpPr>
        <p:spPr>
          <a:xfrm>
            <a:off x="457200" y="2569464"/>
            <a:ext cx="8229600" cy="384048"/>
          </a:xfrm>
          <a:prstGeom prst="roundRect">
            <a:avLst>
              <a:gd name="adj" fmla="val 19048"/>
            </a:avLst>
          </a:prstGeom>
          <a:solidFill>
            <a:srgbClr val="FFFFFF"/>
          </a:solidFill>
          <a:ln w="12700">
            <a:solidFill>
              <a:srgbClr val="FFFFFF"/>
            </a:solidFill>
            <a:prstDash val="solid"/>
          </a:ln>
        </p:spPr>
      </p:sp>
      <p:sp>
        <p:nvSpPr>
          <p:cNvPr id="16" name="Text 14"/>
          <p:cNvSpPr txBox="1"/>
          <p:nvPr/>
        </p:nvSpPr>
        <p:spPr>
          <a:xfrm>
            <a:off x="594360" y="2569464"/>
            <a:ext cx="3200400" cy="384048"/>
          </a:xfrm>
          <a:prstGeom prst="rect">
            <a:avLst/>
          </a:prstGeom>
          <a:noFill/>
          <a:ln/>
        </p:spPr>
        <p:txBody>
          <a:bodyPr wrap="square" lIns="0" tIns="0" rIns="0" bIns="0" rtlCol="0" anchor="ctr"/>
          <a:lstStyle/>
          <a:p>
            <a:pPr indent="0" marL="0">
              <a:buNone/>
            </a:pPr>
            <a:r>
              <a:rPr lang="en-US" sz="950" b="1" dirty="0">
                <a:solidFill>
                  <a:srgbClr val="6D28D9"/>
                </a:solidFill>
                <a:latin typeface="Courier New" pitchFamily="34" charset="0"/>
                <a:ea typeface="Courier New" pitchFamily="34" charset="-122"/>
                <a:cs typeface="Courier New" pitchFamily="34" charset="-120"/>
              </a:rPr>
              <a:t>source .venv/bin/activate</a:t>
            </a:r>
            <a:endParaRPr lang="en-US" sz="950" dirty="0"/>
          </a:p>
        </p:txBody>
      </p:sp>
      <p:sp>
        <p:nvSpPr>
          <p:cNvPr id="17" name="Text 15"/>
          <p:cNvSpPr txBox="1"/>
          <p:nvPr/>
        </p:nvSpPr>
        <p:spPr>
          <a:xfrm>
            <a:off x="3931920" y="2569464"/>
            <a:ext cx="4663440" cy="384048"/>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Mac and Linux: step into the box. Your prompt gains a (.venv) marker.</a:t>
            </a:r>
            <a:endParaRPr lang="en-US" sz="1050" dirty="0"/>
          </a:p>
        </p:txBody>
      </p:sp>
      <p:sp>
        <p:nvSpPr>
          <p:cNvPr id="18" name="Shape 16"/>
          <p:cNvSpPr/>
          <p:nvPr/>
        </p:nvSpPr>
        <p:spPr>
          <a:xfrm>
            <a:off x="457200" y="2999232"/>
            <a:ext cx="8229600" cy="384048"/>
          </a:xfrm>
          <a:prstGeom prst="roundRect">
            <a:avLst>
              <a:gd name="adj" fmla="val 19048"/>
            </a:avLst>
          </a:prstGeom>
          <a:solidFill>
            <a:srgbClr val="F3F4F6"/>
          </a:solidFill>
          <a:ln w="12700">
            <a:solidFill>
              <a:srgbClr val="F3F4F6"/>
            </a:solidFill>
            <a:prstDash val="solid"/>
          </a:ln>
        </p:spPr>
      </p:sp>
      <p:sp>
        <p:nvSpPr>
          <p:cNvPr id="19" name="Text 17"/>
          <p:cNvSpPr txBox="1"/>
          <p:nvPr/>
        </p:nvSpPr>
        <p:spPr>
          <a:xfrm>
            <a:off x="594360" y="2999232"/>
            <a:ext cx="3200400" cy="384048"/>
          </a:xfrm>
          <a:prstGeom prst="rect">
            <a:avLst/>
          </a:prstGeom>
          <a:noFill/>
          <a:ln/>
        </p:spPr>
        <p:txBody>
          <a:bodyPr wrap="square" lIns="0" tIns="0" rIns="0" bIns="0" rtlCol="0" anchor="ctr"/>
          <a:lstStyle/>
          <a:p>
            <a:pPr indent="0" marL="0">
              <a:buNone/>
            </a:pPr>
            <a:r>
              <a:rPr lang="en-US" sz="950" b="1" dirty="0">
                <a:solidFill>
                  <a:srgbClr val="6D28D9"/>
                </a:solidFill>
                <a:latin typeface="Courier New" pitchFamily="34" charset="0"/>
                <a:ea typeface="Courier New" pitchFamily="34" charset="-122"/>
                <a:cs typeface="Courier New" pitchFamily="34" charset="-120"/>
              </a:rPr>
              <a:t>.venv\Scripts\Activate.ps1</a:t>
            </a:r>
            <a:endParaRPr lang="en-US" sz="950" dirty="0"/>
          </a:p>
        </p:txBody>
      </p:sp>
      <p:sp>
        <p:nvSpPr>
          <p:cNvPr id="20" name="Text 18"/>
          <p:cNvSpPr txBox="1"/>
          <p:nvPr/>
        </p:nvSpPr>
        <p:spPr>
          <a:xfrm>
            <a:off x="3931920" y="2999232"/>
            <a:ext cx="4663440" cy="384048"/>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Windows PowerShell: step into the box. In Command Prompt it is .venv\Scripts\activate.bat.</a:t>
            </a:r>
            <a:endParaRPr lang="en-US" sz="1050" dirty="0"/>
          </a:p>
        </p:txBody>
      </p:sp>
      <p:sp>
        <p:nvSpPr>
          <p:cNvPr id="21" name="Shape 19"/>
          <p:cNvSpPr/>
          <p:nvPr/>
        </p:nvSpPr>
        <p:spPr>
          <a:xfrm>
            <a:off x="457200" y="3429000"/>
            <a:ext cx="8229600" cy="384048"/>
          </a:xfrm>
          <a:prstGeom prst="roundRect">
            <a:avLst>
              <a:gd name="adj" fmla="val 19048"/>
            </a:avLst>
          </a:prstGeom>
          <a:solidFill>
            <a:srgbClr val="FFFFFF"/>
          </a:solidFill>
          <a:ln w="12700">
            <a:solidFill>
              <a:srgbClr val="FFFFFF"/>
            </a:solidFill>
            <a:prstDash val="solid"/>
          </a:ln>
        </p:spPr>
      </p:sp>
      <p:sp>
        <p:nvSpPr>
          <p:cNvPr id="22" name="Text 20"/>
          <p:cNvSpPr txBox="1"/>
          <p:nvPr/>
        </p:nvSpPr>
        <p:spPr>
          <a:xfrm>
            <a:off x="594360" y="3429000"/>
            <a:ext cx="3200400" cy="384048"/>
          </a:xfrm>
          <a:prstGeom prst="rect">
            <a:avLst/>
          </a:prstGeom>
          <a:noFill/>
          <a:ln/>
        </p:spPr>
        <p:txBody>
          <a:bodyPr wrap="square" lIns="0" tIns="0" rIns="0" bIns="0" rtlCol="0" anchor="ctr"/>
          <a:lstStyle/>
          <a:p>
            <a:pPr indent="0" marL="0">
              <a:buNone/>
            </a:pPr>
            <a:r>
              <a:rPr lang="en-US" sz="950" b="1" dirty="0">
                <a:solidFill>
                  <a:srgbClr val="6D28D9"/>
                </a:solidFill>
                <a:latin typeface="Courier New" pitchFamily="34" charset="0"/>
                <a:ea typeface="Courier New" pitchFamily="34" charset="-122"/>
                <a:cs typeface="Courier New" pitchFamily="34" charset="-120"/>
              </a:rPr>
              <a:t>pip install prometheus-client</a:t>
            </a:r>
            <a:endParaRPr lang="en-US" sz="950" dirty="0"/>
          </a:p>
        </p:txBody>
      </p:sp>
      <p:sp>
        <p:nvSpPr>
          <p:cNvPr id="23" name="Text 21"/>
          <p:cNvSpPr txBox="1"/>
          <p:nvPr/>
        </p:nvSpPr>
        <p:spPr>
          <a:xfrm>
            <a:off x="3931920" y="3429000"/>
            <a:ext cx="4663440" cy="384048"/>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Install the counter library. It lands inside .venv, not on the system Python.</a:t>
            </a:r>
            <a:endParaRPr lang="en-US" sz="1050" dirty="0"/>
          </a:p>
        </p:txBody>
      </p:sp>
      <p:sp>
        <p:nvSpPr>
          <p:cNvPr id="24" name="Shape 22"/>
          <p:cNvSpPr/>
          <p:nvPr/>
        </p:nvSpPr>
        <p:spPr>
          <a:xfrm>
            <a:off x="457200" y="3858768"/>
            <a:ext cx="8229600" cy="384048"/>
          </a:xfrm>
          <a:prstGeom prst="roundRect">
            <a:avLst>
              <a:gd name="adj" fmla="val 19048"/>
            </a:avLst>
          </a:prstGeom>
          <a:solidFill>
            <a:srgbClr val="F3F4F6"/>
          </a:solidFill>
          <a:ln w="12700">
            <a:solidFill>
              <a:srgbClr val="F3F4F6"/>
            </a:solidFill>
            <a:prstDash val="solid"/>
          </a:ln>
        </p:spPr>
      </p:sp>
      <p:sp>
        <p:nvSpPr>
          <p:cNvPr id="25" name="Text 23"/>
          <p:cNvSpPr txBox="1"/>
          <p:nvPr/>
        </p:nvSpPr>
        <p:spPr>
          <a:xfrm>
            <a:off x="594360" y="3858768"/>
            <a:ext cx="3200400" cy="384048"/>
          </a:xfrm>
          <a:prstGeom prst="rect">
            <a:avLst/>
          </a:prstGeom>
          <a:noFill/>
          <a:ln/>
        </p:spPr>
        <p:txBody>
          <a:bodyPr wrap="square" lIns="0" tIns="0" rIns="0" bIns="0" rtlCol="0" anchor="ctr"/>
          <a:lstStyle/>
          <a:p>
            <a:pPr indent="0" marL="0">
              <a:buNone/>
            </a:pPr>
            <a:r>
              <a:rPr lang="en-US" sz="950" b="1" dirty="0">
                <a:solidFill>
                  <a:srgbClr val="6D28D9"/>
                </a:solidFill>
                <a:latin typeface="Courier New" pitchFamily="34" charset="0"/>
                <a:ea typeface="Courier New" pitchFamily="34" charset="-122"/>
                <a:cs typeface="Courier New" pitchFamily="34" charset="-120"/>
              </a:rPr>
              <a:t>which python   /   where python</a:t>
            </a:r>
            <a:endParaRPr lang="en-US" sz="950" dirty="0"/>
          </a:p>
        </p:txBody>
      </p:sp>
      <p:sp>
        <p:nvSpPr>
          <p:cNvPr id="26" name="Text 24"/>
          <p:cNvSpPr txBox="1"/>
          <p:nvPr/>
        </p:nvSpPr>
        <p:spPr>
          <a:xfrm>
            <a:off x="3931920" y="3858768"/>
            <a:ext cx="4663440" cy="384048"/>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Print which Python you are using. The path should sit inside .venv.</a:t>
            </a:r>
            <a:endParaRPr lang="en-US" sz="1050" dirty="0"/>
          </a:p>
        </p:txBody>
      </p:sp>
      <p:sp>
        <p:nvSpPr>
          <p:cNvPr id="27" name="Shape 25"/>
          <p:cNvSpPr/>
          <p:nvPr/>
        </p:nvSpPr>
        <p:spPr>
          <a:xfrm>
            <a:off x="457200" y="4288536"/>
            <a:ext cx="8229600" cy="384048"/>
          </a:xfrm>
          <a:prstGeom prst="roundRect">
            <a:avLst>
              <a:gd name="adj" fmla="val 19048"/>
            </a:avLst>
          </a:prstGeom>
          <a:solidFill>
            <a:srgbClr val="FFFFFF"/>
          </a:solidFill>
          <a:ln w="12700">
            <a:solidFill>
              <a:srgbClr val="FFFFFF"/>
            </a:solidFill>
            <a:prstDash val="solid"/>
          </a:ln>
        </p:spPr>
      </p:sp>
      <p:sp>
        <p:nvSpPr>
          <p:cNvPr id="28" name="Text 26"/>
          <p:cNvSpPr txBox="1"/>
          <p:nvPr/>
        </p:nvSpPr>
        <p:spPr>
          <a:xfrm>
            <a:off x="594360" y="4288536"/>
            <a:ext cx="3200400" cy="384048"/>
          </a:xfrm>
          <a:prstGeom prst="rect">
            <a:avLst/>
          </a:prstGeom>
          <a:noFill/>
          <a:ln/>
        </p:spPr>
        <p:txBody>
          <a:bodyPr wrap="square" lIns="0" tIns="0" rIns="0" bIns="0" rtlCol="0" anchor="ctr"/>
          <a:lstStyle/>
          <a:p>
            <a:pPr indent="0" marL="0">
              <a:buNone/>
            </a:pPr>
            <a:r>
              <a:rPr lang="en-US" sz="950" b="1" dirty="0">
                <a:solidFill>
                  <a:srgbClr val="6D28D9"/>
                </a:solidFill>
                <a:latin typeface="Courier New" pitchFamily="34" charset="0"/>
                <a:ea typeface="Courier New" pitchFamily="34" charset="-122"/>
                <a:cs typeface="Courier New" pitchFamily="34" charset="-120"/>
              </a:rPr>
              <a:t>deactivate</a:t>
            </a:r>
            <a:endParaRPr lang="en-US" sz="950" dirty="0"/>
          </a:p>
        </p:txBody>
      </p:sp>
      <p:sp>
        <p:nvSpPr>
          <p:cNvPr id="29" name="Text 27"/>
          <p:cNvSpPr txBox="1"/>
          <p:nvPr/>
        </p:nvSpPr>
        <p:spPr>
          <a:xfrm>
            <a:off x="3931920" y="4288536"/>
            <a:ext cx="4663440" cy="384048"/>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Step back out of the box when you are done for the day.</a:t>
            </a:r>
            <a:endParaRPr lang="en-US" sz="10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74320"/>
            <a:ext cx="5943600" cy="274320"/>
          </a:xfrm>
          <a:prstGeom prst="rect">
            <a:avLst/>
          </a:prstGeom>
          <a:noFill/>
          <a:ln/>
        </p:spPr>
        <p:txBody>
          <a:bodyPr wrap="square" lIns="0" tIns="0" rIns="0" bIns="0" rtlCol="0" anchor="ctr"/>
          <a:lstStyle/>
          <a:p>
            <a:pPr indent="0" marL="0">
              <a:buNone/>
            </a:pPr>
            <a:r>
              <a:rPr lang="en-US" sz="1000" b="1" spc="200" kern="0" dirty="0">
                <a:solidFill>
                  <a:srgbClr val="B45309"/>
                </a:solidFill>
                <a:latin typeface="Calibri" pitchFamily="34" charset="0"/>
                <a:ea typeface="Calibri" pitchFamily="34" charset="-122"/>
                <a:cs typeface="Calibri" pitchFamily="34" charset="-120"/>
              </a:rPr>
              <a:t>APPENDIX C: THE COMMANDS, IN PLAIN ENGLISH</a:t>
            </a:r>
            <a:endParaRPr lang="en-US" sz="1000" dirty="0"/>
          </a:p>
        </p:txBody>
      </p:sp>
      <p:sp>
        <p:nvSpPr>
          <p:cNvPr id="3" name="Text 1"/>
          <p:cNvSpPr txBox="1"/>
          <p:nvPr/>
        </p:nvSpPr>
        <p:spPr>
          <a:xfrm>
            <a:off x="457200" y="548640"/>
            <a:ext cx="8229600" cy="640080"/>
          </a:xfrm>
          <a:prstGeom prst="rect">
            <a:avLst/>
          </a:prstGeom>
          <a:noFill/>
          <a:ln/>
        </p:spPr>
        <p:txBody>
          <a:bodyPr wrap="square" lIns="0" tIns="0" rIns="0" bIns="0" rtlCol="0" anchor="t"/>
          <a:lstStyle/>
          <a:p>
            <a:pPr indent="0" marL="0">
              <a:buNone/>
            </a:pPr>
            <a:r>
              <a:rPr lang="en-US" sz="2800" b="1" dirty="0">
                <a:solidFill>
                  <a:srgbClr val="111827"/>
                </a:solidFill>
                <a:latin typeface="Cambria" pitchFamily="34" charset="0"/>
                <a:ea typeface="Cambria" pitchFamily="34" charset="-122"/>
                <a:cs typeface="Cambria" pitchFamily="34" charset="-120"/>
              </a:rPr>
              <a:t>Running and reading</a:t>
            </a:r>
            <a:endParaRPr lang="en-US" sz="2800" dirty="0"/>
          </a:p>
        </p:txBody>
      </p:sp>
      <p:sp>
        <p:nvSpPr>
          <p:cNvPr id="4" name="Text 2"/>
          <p:cNvSpPr txBox="1"/>
          <p:nvPr/>
        </p:nvSpPr>
        <p:spPr>
          <a:xfrm>
            <a:off x="457200" y="4800600"/>
            <a:ext cx="4572000" cy="228600"/>
          </a:xfrm>
          <a:prstGeom prst="rect">
            <a:avLst/>
          </a:prstGeom>
          <a:noFill/>
          <a:ln/>
        </p:spPr>
        <p:txBody>
          <a:bodyPr wrap="square" lIns="0" tIns="0" rIns="0" bIns="0" rtlCol="0" anchor="ctr"/>
          <a:lstStyle/>
          <a:p>
            <a:pPr indent="0" marL="0">
              <a:buNone/>
            </a:pPr>
            <a:r>
              <a:rPr lang="en-US" sz="900" dirty="0">
                <a:solidFill>
                  <a:srgbClr val="9CA3AF"/>
                </a:solidFill>
                <a:latin typeface="Calibri" pitchFamily="34" charset="0"/>
                <a:ea typeface="Calibri" pitchFamily="34" charset="-122"/>
                <a:cs typeface="Calibri" pitchFamily="34" charset="-120"/>
              </a:rPr>
              <a:t>Agent Cost Control · Module 2</a:t>
            </a:r>
            <a:endParaRPr lang="en-US" sz="900" dirty="0"/>
          </a:p>
        </p:txBody>
      </p:sp>
      <p:sp>
        <p:nvSpPr>
          <p:cNvPr id="5" name="Text 3"/>
          <p:cNvSpPr txBox="1"/>
          <p:nvPr/>
        </p:nvSpPr>
        <p:spPr>
          <a:xfrm>
            <a:off x="7772400" y="4800600"/>
            <a:ext cx="914400" cy="228600"/>
          </a:xfrm>
          <a:prstGeom prst="rect">
            <a:avLst/>
          </a:prstGeom>
          <a:noFill/>
          <a:ln/>
        </p:spPr>
        <p:txBody>
          <a:bodyPr wrap="square" lIns="0" tIns="0" rIns="0" bIns="0" rtlCol="0" anchor="ctr"/>
          <a:lstStyle/>
          <a:p>
            <a:pPr algn="r" indent="0" marL="0">
              <a:buNone/>
            </a:pPr>
            <a:r>
              <a:rPr lang="en-US" sz="900" dirty="0">
                <a:solidFill>
                  <a:srgbClr val="9CA3AF"/>
                </a:solidFill>
                <a:latin typeface="Calibri" pitchFamily="34" charset="0"/>
                <a:ea typeface="Calibri" pitchFamily="34" charset="-122"/>
                <a:cs typeface="Calibri" pitchFamily="34" charset="-120"/>
              </a:rPr>
              <a:t>43</a:t>
            </a:r>
            <a:endParaRPr lang="en-US" sz="900" dirty="0"/>
          </a:p>
        </p:txBody>
      </p:sp>
      <p:sp>
        <p:nvSpPr>
          <p:cNvPr id="6" name="Shape 4"/>
          <p:cNvSpPr/>
          <p:nvPr/>
        </p:nvSpPr>
        <p:spPr>
          <a:xfrm>
            <a:off x="457200" y="1280160"/>
            <a:ext cx="8229600" cy="384048"/>
          </a:xfrm>
          <a:prstGeom prst="roundRect">
            <a:avLst>
              <a:gd name="adj" fmla="val 19048"/>
            </a:avLst>
          </a:prstGeom>
          <a:solidFill>
            <a:srgbClr val="F3F4F6"/>
          </a:solidFill>
          <a:ln w="12700">
            <a:solidFill>
              <a:srgbClr val="F3F4F6"/>
            </a:solidFill>
            <a:prstDash val="solid"/>
          </a:ln>
        </p:spPr>
      </p:sp>
      <p:sp>
        <p:nvSpPr>
          <p:cNvPr id="7" name="Text 5"/>
          <p:cNvSpPr txBox="1"/>
          <p:nvPr/>
        </p:nvSpPr>
        <p:spPr>
          <a:xfrm>
            <a:off x="594360" y="1280160"/>
            <a:ext cx="3200400" cy="384048"/>
          </a:xfrm>
          <a:prstGeom prst="rect">
            <a:avLst/>
          </a:prstGeom>
          <a:noFill/>
          <a:ln/>
        </p:spPr>
        <p:txBody>
          <a:bodyPr wrap="square" lIns="0" tIns="0" rIns="0" bIns="0" rtlCol="0" anchor="ctr"/>
          <a:lstStyle/>
          <a:p>
            <a:pPr indent="0" marL="0">
              <a:buNone/>
            </a:pPr>
            <a:r>
              <a:rPr lang="en-US" sz="950" b="1" dirty="0">
                <a:solidFill>
                  <a:srgbClr val="6D28D9"/>
                </a:solidFill>
                <a:latin typeface="Courier New" pitchFamily="34" charset="0"/>
                <a:ea typeface="Courier New" pitchFamily="34" charset="-122"/>
                <a:cs typeface="Courier New" pitchFamily="34" charset="-120"/>
              </a:rPr>
              <a:t>python3 run_agent.py --input samples/normal.json</a:t>
            </a:r>
            <a:endParaRPr lang="en-US" sz="950" dirty="0"/>
          </a:p>
        </p:txBody>
      </p:sp>
      <p:sp>
        <p:nvSpPr>
          <p:cNvPr id="8" name="Text 6"/>
          <p:cNvSpPr txBox="1"/>
          <p:nvPr/>
        </p:nvSpPr>
        <p:spPr>
          <a:xfrm>
            <a:off x="3931920" y="1280160"/>
            <a:ext cx="4663440" cy="384048"/>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Run the agent once on a well-formed record. This is the script you are instrumenting.</a:t>
            </a:r>
            <a:endParaRPr lang="en-US" sz="1050" dirty="0"/>
          </a:p>
        </p:txBody>
      </p:sp>
      <p:sp>
        <p:nvSpPr>
          <p:cNvPr id="9" name="Shape 7"/>
          <p:cNvSpPr/>
          <p:nvPr/>
        </p:nvSpPr>
        <p:spPr>
          <a:xfrm>
            <a:off x="457200" y="1709928"/>
            <a:ext cx="8229600" cy="384048"/>
          </a:xfrm>
          <a:prstGeom prst="roundRect">
            <a:avLst>
              <a:gd name="adj" fmla="val 19048"/>
            </a:avLst>
          </a:prstGeom>
          <a:solidFill>
            <a:srgbClr val="FFFFFF"/>
          </a:solidFill>
          <a:ln w="12700">
            <a:solidFill>
              <a:srgbClr val="FFFFFF"/>
            </a:solidFill>
            <a:prstDash val="solid"/>
          </a:ln>
        </p:spPr>
      </p:sp>
      <p:sp>
        <p:nvSpPr>
          <p:cNvPr id="10" name="Text 8"/>
          <p:cNvSpPr txBox="1"/>
          <p:nvPr/>
        </p:nvSpPr>
        <p:spPr>
          <a:xfrm>
            <a:off x="594360" y="1709928"/>
            <a:ext cx="3200400" cy="384048"/>
          </a:xfrm>
          <a:prstGeom prst="rect">
            <a:avLst/>
          </a:prstGeom>
          <a:noFill/>
          <a:ln/>
        </p:spPr>
        <p:txBody>
          <a:bodyPr wrap="square" lIns="0" tIns="0" rIns="0" bIns="0" rtlCol="0" anchor="ctr"/>
          <a:lstStyle/>
          <a:p>
            <a:pPr indent="0" marL="0">
              <a:buNone/>
            </a:pPr>
            <a:r>
              <a:rPr lang="en-US" sz="950" b="1" dirty="0">
                <a:solidFill>
                  <a:srgbClr val="6D28D9"/>
                </a:solidFill>
                <a:latin typeface="Courier New" pitchFamily="34" charset="0"/>
                <a:ea typeface="Courier New" pitchFamily="34" charset="-122"/>
                <a:cs typeface="Courier New" pitchFamily="34" charset="-120"/>
              </a:rPr>
              <a:t>--verbose</a:t>
            </a:r>
            <a:endParaRPr lang="en-US" sz="950" dirty="0"/>
          </a:p>
        </p:txBody>
      </p:sp>
      <p:sp>
        <p:nvSpPr>
          <p:cNvPr id="11" name="Text 9"/>
          <p:cNvSpPr txBox="1"/>
          <p:nvPr/>
        </p:nvSpPr>
        <p:spPr>
          <a:xfrm>
            <a:off x="3931920" y="1709928"/>
            <a:ext cx="4663440" cy="384048"/>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A flag on that script: print the raw usage block from each API response.</a:t>
            </a:r>
            <a:endParaRPr lang="en-US" sz="1050" dirty="0"/>
          </a:p>
        </p:txBody>
      </p:sp>
      <p:sp>
        <p:nvSpPr>
          <p:cNvPr id="12" name="Shape 10"/>
          <p:cNvSpPr/>
          <p:nvPr/>
        </p:nvSpPr>
        <p:spPr>
          <a:xfrm>
            <a:off x="457200" y="2139696"/>
            <a:ext cx="8229600" cy="384048"/>
          </a:xfrm>
          <a:prstGeom prst="roundRect">
            <a:avLst>
              <a:gd name="adj" fmla="val 19048"/>
            </a:avLst>
          </a:prstGeom>
          <a:solidFill>
            <a:srgbClr val="F3F4F6"/>
          </a:solidFill>
          <a:ln w="12700">
            <a:solidFill>
              <a:srgbClr val="F3F4F6"/>
            </a:solidFill>
            <a:prstDash val="solid"/>
          </a:ln>
        </p:spPr>
      </p:sp>
      <p:sp>
        <p:nvSpPr>
          <p:cNvPr id="13" name="Text 11"/>
          <p:cNvSpPr txBox="1"/>
          <p:nvPr/>
        </p:nvSpPr>
        <p:spPr>
          <a:xfrm>
            <a:off x="594360" y="2139696"/>
            <a:ext cx="3200400" cy="384048"/>
          </a:xfrm>
          <a:prstGeom prst="rect">
            <a:avLst/>
          </a:prstGeom>
          <a:noFill/>
          <a:ln/>
        </p:spPr>
        <p:txBody>
          <a:bodyPr wrap="square" lIns="0" tIns="0" rIns="0" bIns="0" rtlCol="0" anchor="ctr"/>
          <a:lstStyle/>
          <a:p>
            <a:pPr indent="0" marL="0">
              <a:buNone/>
            </a:pPr>
            <a:r>
              <a:rPr lang="en-US" sz="950" b="1" dirty="0">
                <a:solidFill>
                  <a:srgbClr val="6D28D9"/>
                </a:solidFill>
                <a:latin typeface="Courier New" pitchFamily="34" charset="0"/>
                <a:ea typeface="Courier New" pitchFamily="34" charset="-122"/>
                <a:cs typeface="Courier New" pitchFamily="34" charset="-120"/>
              </a:rPr>
              <a:t>| grep agent_cost</a:t>
            </a:r>
            <a:endParaRPr lang="en-US" sz="950" dirty="0"/>
          </a:p>
        </p:txBody>
      </p:sp>
      <p:sp>
        <p:nvSpPr>
          <p:cNvPr id="14" name="Text 12"/>
          <p:cNvSpPr txBox="1"/>
          <p:nvPr/>
        </p:nvSpPr>
        <p:spPr>
          <a:xfrm>
            <a:off x="3931920" y="2139696"/>
            <a:ext cx="4663440" cy="384048"/>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Send the output into grep, which keeps only the lines containing that text.</a:t>
            </a:r>
            <a:endParaRPr lang="en-US" sz="1050" dirty="0"/>
          </a:p>
        </p:txBody>
      </p:sp>
      <p:sp>
        <p:nvSpPr>
          <p:cNvPr id="15" name="Shape 13"/>
          <p:cNvSpPr/>
          <p:nvPr/>
        </p:nvSpPr>
        <p:spPr>
          <a:xfrm>
            <a:off x="457200" y="2569464"/>
            <a:ext cx="8229600" cy="384048"/>
          </a:xfrm>
          <a:prstGeom prst="roundRect">
            <a:avLst>
              <a:gd name="adj" fmla="val 19048"/>
            </a:avLst>
          </a:prstGeom>
          <a:solidFill>
            <a:srgbClr val="FFFFFF"/>
          </a:solidFill>
          <a:ln w="12700">
            <a:solidFill>
              <a:srgbClr val="FFFFFF"/>
            </a:solidFill>
            <a:prstDash val="solid"/>
          </a:ln>
        </p:spPr>
      </p:sp>
      <p:sp>
        <p:nvSpPr>
          <p:cNvPr id="16" name="Text 14"/>
          <p:cNvSpPr txBox="1"/>
          <p:nvPr/>
        </p:nvSpPr>
        <p:spPr>
          <a:xfrm>
            <a:off x="594360" y="2569464"/>
            <a:ext cx="3200400" cy="384048"/>
          </a:xfrm>
          <a:prstGeom prst="rect">
            <a:avLst/>
          </a:prstGeom>
          <a:noFill/>
          <a:ln/>
        </p:spPr>
        <p:txBody>
          <a:bodyPr wrap="square" lIns="0" tIns="0" rIns="0" bIns="0" rtlCol="0" anchor="ctr"/>
          <a:lstStyle/>
          <a:p>
            <a:pPr indent="0" marL="0">
              <a:buNone/>
            </a:pPr>
            <a:r>
              <a:rPr lang="en-US" sz="950" b="1" dirty="0">
                <a:solidFill>
                  <a:srgbClr val="6D28D9"/>
                </a:solidFill>
                <a:latin typeface="Courier New" pitchFamily="34" charset="0"/>
                <a:ea typeface="Courier New" pitchFamily="34" charset="-122"/>
                <a:cs typeface="Courier New" pitchFamily="34" charset="-120"/>
              </a:rPr>
              <a:t>| grep -c 'usage'</a:t>
            </a:r>
            <a:endParaRPr lang="en-US" sz="950" dirty="0"/>
          </a:p>
        </p:txBody>
      </p:sp>
      <p:sp>
        <p:nvSpPr>
          <p:cNvPr id="17" name="Text 15"/>
          <p:cNvSpPr txBox="1"/>
          <p:nvPr/>
        </p:nvSpPr>
        <p:spPr>
          <a:xfrm>
            <a:off x="3931920" y="2569464"/>
            <a:ext cx="4663440" cy="384048"/>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Same idea, but -c counts the matching lines instead of showing them.</a:t>
            </a:r>
            <a:endParaRPr lang="en-US" sz="1050" dirty="0"/>
          </a:p>
        </p:txBody>
      </p:sp>
      <p:sp>
        <p:nvSpPr>
          <p:cNvPr id="18" name="Shape 16"/>
          <p:cNvSpPr/>
          <p:nvPr/>
        </p:nvSpPr>
        <p:spPr>
          <a:xfrm>
            <a:off x="457200" y="2999232"/>
            <a:ext cx="8229600" cy="384048"/>
          </a:xfrm>
          <a:prstGeom prst="roundRect">
            <a:avLst>
              <a:gd name="adj" fmla="val 19048"/>
            </a:avLst>
          </a:prstGeom>
          <a:solidFill>
            <a:srgbClr val="F3F4F6"/>
          </a:solidFill>
          <a:ln w="12700">
            <a:solidFill>
              <a:srgbClr val="F3F4F6"/>
            </a:solidFill>
            <a:prstDash val="solid"/>
          </a:ln>
        </p:spPr>
      </p:sp>
      <p:sp>
        <p:nvSpPr>
          <p:cNvPr id="19" name="Text 17"/>
          <p:cNvSpPr txBox="1"/>
          <p:nvPr/>
        </p:nvSpPr>
        <p:spPr>
          <a:xfrm>
            <a:off x="594360" y="2999232"/>
            <a:ext cx="3200400" cy="384048"/>
          </a:xfrm>
          <a:prstGeom prst="rect">
            <a:avLst/>
          </a:prstGeom>
          <a:noFill/>
          <a:ln/>
        </p:spPr>
        <p:txBody>
          <a:bodyPr wrap="square" lIns="0" tIns="0" rIns="0" bIns="0" rtlCol="0" anchor="ctr"/>
          <a:lstStyle/>
          <a:p>
            <a:pPr indent="0" marL="0">
              <a:buNone/>
            </a:pPr>
            <a:r>
              <a:rPr lang="en-US" sz="950" b="1" dirty="0">
                <a:solidFill>
                  <a:srgbClr val="6D28D9"/>
                </a:solidFill>
                <a:latin typeface="Courier New" pitchFamily="34" charset="0"/>
                <a:ea typeface="Courier New" pitchFamily="34" charset="-122"/>
                <a:cs typeface="Courier New" pitchFamily="34" charset="-120"/>
              </a:rPr>
              <a:t>&amp;</a:t>
            </a:r>
            <a:endParaRPr lang="en-US" sz="950" dirty="0"/>
          </a:p>
        </p:txBody>
      </p:sp>
      <p:sp>
        <p:nvSpPr>
          <p:cNvPr id="20" name="Text 18"/>
          <p:cNvSpPr txBox="1"/>
          <p:nvPr/>
        </p:nvSpPr>
        <p:spPr>
          <a:xfrm>
            <a:off x="3931920" y="2999232"/>
            <a:ext cx="4663440" cy="384048"/>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At the end of a line: run it in the background so you get your prompt back.</a:t>
            </a:r>
            <a:endParaRPr lang="en-US" sz="1050" dirty="0"/>
          </a:p>
        </p:txBody>
      </p:sp>
      <p:sp>
        <p:nvSpPr>
          <p:cNvPr id="21" name="Shape 19"/>
          <p:cNvSpPr/>
          <p:nvPr/>
        </p:nvSpPr>
        <p:spPr>
          <a:xfrm>
            <a:off x="457200" y="3429000"/>
            <a:ext cx="8229600" cy="384048"/>
          </a:xfrm>
          <a:prstGeom prst="roundRect">
            <a:avLst>
              <a:gd name="adj" fmla="val 19048"/>
            </a:avLst>
          </a:prstGeom>
          <a:solidFill>
            <a:srgbClr val="FFFFFF"/>
          </a:solidFill>
          <a:ln w="12700">
            <a:solidFill>
              <a:srgbClr val="FFFFFF"/>
            </a:solidFill>
            <a:prstDash val="solid"/>
          </a:ln>
        </p:spPr>
      </p:sp>
      <p:sp>
        <p:nvSpPr>
          <p:cNvPr id="22" name="Text 20"/>
          <p:cNvSpPr txBox="1"/>
          <p:nvPr/>
        </p:nvSpPr>
        <p:spPr>
          <a:xfrm>
            <a:off x="594360" y="3429000"/>
            <a:ext cx="3200400" cy="384048"/>
          </a:xfrm>
          <a:prstGeom prst="rect">
            <a:avLst/>
          </a:prstGeom>
          <a:noFill/>
          <a:ln/>
        </p:spPr>
        <p:txBody>
          <a:bodyPr wrap="square" lIns="0" tIns="0" rIns="0" bIns="0" rtlCol="0" anchor="ctr"/>
          <a:lstStyle/>
          <a:p>
            <a:pPr indent="0" marL="0">
              <a:buNone/>
            </a:pPr>
            <a:r>
              <a:rPr lang="en-US" sz="950" b="1" dirty="0">
                <a:solidFill>
                  <a:srgbClr val="6D28D9"/>
                </a:solidFill>
                <a:latin typeface="Courier New" pitchFamily="34" charset="0"/>
                <a:ea typeface="Courier New" pitchFamily="34" charset="-122"/>
                <a:cs typeface="Courier New" pitchFamily="34" charset="-120"/>
              </a:rPr>
              <a:t>curl http://localhost:8000/metrics</a:t>
            </a:r>
            <a:endParaRPr lang="en-US" sz="950" dirty="0"/>
          </a:p>
        </p:txBody>
      </p:sp>
      <p:sp>
        <p:nvSpPr>
          <p:cNvPr id="23" name="Text 21"/>
          <p:cNvSpPr txBox="1"/>
          <p:nvPr/>
        </p:nvSpPr>
        <p:spPr>
          <a:xfrm>
            <a:off x="3931920" y="3429000"/>
            <a:ext cx="4663440" cy="384048"/>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Fetch the page your own program is now serving, and print it.</a:t>
            </a:r>
            <a:endParaRPr lang="en-US" sz="1050" dirty="0"/>
          </a:p>
        </p:txBody>
      </p:sp>
      <p:sp>
        <p:nvSpPr>
          <p:cNvPr id="24" name="Shape 22"/>
          <p:cNvSpPr/>
          <p:nvPr/>
        </p:nvSpPr>
        <p:spPr>
          <a:xfrm>
            <a:off x="457200" y="3858768"/>
            <a:ext cx="8229600" cy="384048"/>
          </a:xfrm>
          <a:prstGeom prst="roundRect">
            <a:avLst>
              <a:gd name="adj" fmla="val 19048"/>
            </a:avLst>
          </a:prstGeom>
          <a:solidFill>
            <a:srgbClr val="F3F4F6"/>
          </a:solidFill>
          <a:ln w="12700">
            <a:solidFill>
              <a:srgbClr val="F3F4F6"/>
            </a:solidFill>
            <a:prstDash val="solid"/>
          </a:ln>
        </p:spPr>
      </p:sp>
      <p:sp>
        <p:nvSpPr>
          <p:cNvPr id="25" name="Text 23"/>
          <p:cNvSpPr txBox="1"/>
          <p:nvPr/>
        </p:nvSpPr>
        <p:spPr>
          <a:xfrm>
            <a:off x="594360" y="3858768"/>
            <a:ext cx="3200400" cy="384048"/>
          </a:xfrm>
          <a:prstGeom prst="rect">
            <a:avLst/>
          </a:prstGeom>
          <a:noFill/>
          <a:ln/>
        </p:spPr>
        <p:txBody>
          <a:bodyPr wrap="square" lIns="0" tIns="0" rIns="0" bIns="0" rtlCol="0" anchor="ctr"/>
          <a:lstStyle/>
          <a:p>
            <a:pPr indent="0" marL="0">
              <a:buNone/>
            </a:pPr>
            <a:r>
              <a:rPr lang="en-US" sz="950" b="1" dirty="0">
                <a:solidFill>
                  <a:srgbClr val="6D28D9"/>
                </a:solidFill>
                <a:latin typeface="Courier New" pitchFamily="34" charset="0"/>
                <a:ea typeface="Courier New" pitchFamily="34" charset="-122"/>
                <a:cs typeface="Courier New" pitchFamily="34" charset="-120"/>
              </a:rPr>
              <a:t>curl -s</a:t>
            </a:r>
            <a:endParaRPr lang="en-US" sz="950" dirty="0"/>
          </a:p>
        </p:txBody>
      </p:sp>
      <p:sp>
        <p:nvSpPr>
          <p:cNvPr id="26" name="Text 24"/>
          <p:cNvSpPr txBox="1"/>
          <p:nvPr/>
        </p:nvSpPr>
        <p:spPr>
          <a:xfrm>
            <a:off x="3931920" y="3858768"/>
            <a:ext cx="4663440" cy="384048"/>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The -s flag: silent, so curl does not print its progress meter.</a:t>
            </a:r>
            <a:endParaRPr lang="en-US" sz="1050" dirty="0"/>
          </a:p>
        </p:txBody>
      </p:sp>
      <p:sp>
        <p:nvSpPr>
          <p:cNvPr id="27" name="Shape 25"/>
          <p:cNvSpPr/>
          <p:nvPr/>
        </p:nvSpPr>
        <p:spPr>
          <a:xfrm>
            <a:off x="457200" y="4288536"/>
            <a:ext cx="8229600" cy="384048"/>
          </a:xfrm>
          <a:prstGeom prst="roundRect">
            <a:avLst>
              <a:gd name="adj" fmla="val 19048"/>
            </a:avLst>
          </a:prstGeom>
          <a:solidFill>
            <a:srgbClr val="FFFFFF"/>
          </a:solidFill>
          <a:ln w="12700">
            <a:solidFill>
              <a:srgbClr val="FFFFFF"/>
            </a:solidFill>
            <a:prstDash val="solid"/>
          </a:ln>
        </p:spPr>
      </p:sp>
      <p:sp>
        <p:nvSpPr>
          <p:cNvPr id="28" name="Text 26"/>
          <p:cNvSpPr txBox="1"/>
          <p:nvPr/>
        </p:nvSpPr>
        <p:spPr>
          <a:xfrm>
            <a:off x="594360" y="4288536"/>
            <a:ext cx="3200400" cy="384048"/>
          </a:xfrm>
          <a:prstGeom prst="rect">
            <a:avLst/>
          </a:prstGeom>
          <a:noFill/>
          <a:ln/>
        </p:spPr>
        <p:txBody>
          <a:bodyPr wrap="square" lIns="0" tIns="0" rIns="0" bIns="0" rtlCol="0" anchor="ctr"/>
          <a:lstStyle/>
          <a:p>
            <a:pPr indent="0" marL="0">
              <a:buNone/>
            </a:pPr>
            <a:r>
              <a:rPr lang="en-US" sz="950" b="1" dirty="0">
                <a:solidFill>
                  <a:srgbClr val="6D28D9"/>
                </a:solidFill>
                <a:latin typeface="Courier New" pitchFamily="34" charset="0"/>
                <a:ea typeface="Courier New" pitchFamily="34" charset="-122"/>
                <a:cs typeface="Courier New" pitchFamily="34" charset="-120"/>
              </a:rPr>
              <a:t>A &amp;&amp; B</a:t>
            </a:r>
            <a:endParaRPr lang="en-US" sz="950" dirty="0"/>
          </a:p>
        </p:txBody>
      </p:sp>
      <p:sp>
        <p:nvSpPr>
          <p:cNvPr id="29" name="Text 27"/>
          <p:cNvSpPr txBox="1"/>
          <p:nvPr/>
        </p:nvSpPr>
        <p:spPr>
          <a:xfrm>
            <a:off x="3931920" y="4288536"/>
            <a:ext cx="4663440" cy="384048"/>
          </a:xfrm>
          <a:prstGeom prst="rect">
            <a:avLst/>
          </a:prstGeom>
          <a:noFill/>
          <a:ln/>
        </p:spPr>
        <p:txBody>
          <a:bodyPr wrap="square" lIns="0" tIns="0" rIns="0" bIns="0" rtlCol="0" anchor="ctr"/>
          <a:lstStyle/>
          <a:p>
            <a:pPr indent="0" marL="0">
              <a:buNone/>
            </a:pPr>
            <a:r>
              <a:rPr lang="en-US" sz="1050" dirty="0">
                <a:solidFill>
                  <a:srgbClr val="1F2937"/>
                </a:solidFill>
                <a:latin typeface="Calibri" pitchFamily="34" charset="0"/>
                <a:ea typeface="Calibri" pitchFamily="34" charset="-122"/>
                <a:cs typeface="Calibri" pitchFamily="34" charset="-120"/>
              </a:rPr>
              <a:t>Run A, and only if it succeeds, run B.</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43</Slides>
  <Notes>43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Module 2: Making Cost Visible</dc:title>
  <dc:subject>PptxGenJS Presentation</dc:subject>
  <dc:creator>Emmanuel Naweji</dc:creator>
  <cp:lastModifiedBy>Emmanuel Naweji</cp:lastModifiedBy>
  <cp:revision>1</cp:revision>
  <dcterms:created xsi:type="dcterms:W3CDTF">2026-09-23T12:50:41Z</dcterms:created>
  <dcterms:modified xsi:type="dcterms:W3CDTF">2026-09-23T12:50:41Z</dcterms:modified>
</cp:coreProperties>
</file>